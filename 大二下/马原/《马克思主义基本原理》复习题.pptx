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54" r:id="rId2"/>
    <p:sldId id="506" r:id="rId3"/>
    <p:sldId id="517" r:id="rId4"/>
    <p:sldId id="518" r:id="rId5"/>
    <p:sldId id="523" r:id="rId6"/>
    <p:sldId id="508" r:id="rId7"/>
    <p:sldId id="511" r:id="rId8"/>
    <p:sldId id="510" r:id="rId9"/>
    <p:sldId id="512" r:id="rId10"/>
    <p:sldId id="513" r:id="rId11"/>
    <p:sldId id="514" r:id="rId12"/>
    <p:sldId id="515" r:id="rId13"/>
    <p:sldId id="516" r:id="rId14"/>
    <p:sldId id="521" r:id="rId15"/>
  </p:sldIdLst>
  <p:sldSz cx="9144000" cy="5715000" type="screen16x10"/>
  <p:notesSz cx="9144000" cy="6858000"/>
  <p:custDataLst>
    <p:tags r:id="rId1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1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00"/>
    <a:srgbClr val="0000FF"/>
    <a:srgbClr val="FFCC66"/>
    <a:srgbClr val="66FF99"/>
    <a:srgbClr val="008000"/>
    <a:srgbClr val="99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3"/>
    <p:restoredTop sz="91529"/>
  </p:normalViewPr>
  <p:slideViewPr>
    <p:cSldViewPr showGuides="1">
      <p:cViewPr varScale="1">
        <p:scale>
          <a:sx n="78" d="100"/>
          <a:sy n="78" d="100"/>
        </p:scale>
        <p:origin x="978" y="78"/>
      </p:cViewPr>
      <p:guideLst>
        <p:guide orient="horz" pos="1901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70302E-9AD8-4870-BA2A-F30C8B22F2E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2025/5/30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‹#›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D92F50-BA34-41F5-BCE5-E3CE8E8E5DB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2025/5/30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514350"/>
            <a:ext cx="41148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‹#›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 rot="10800000">
            <a:off x="-36512" y="3530600"/>
            <a:ext cx="9180513" cy="22050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1" name="Picture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1863" y="4068763"/>
            <a:ext cx="3144837" cy="1666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7544" y="857895"/>
            <a:ext cx="7772400" cy="122552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03786" y="2457579"/>
            <a:ext cx="6400800" cy="14600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5203825"/>
            <a:ext cx="2133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5203825"/>
            <a:ext cx="2895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5203825"/>
            <a:ext cx="2133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 rot="10800000">
            <a:off x="-36512" y="1577975"/>
            <a:ext cx="9180513" cy="17700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5" name="Picture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11863" y="4068763"/>
            <a:ext cx="3144837" cy="1666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5203825"/>
            <a:ext cx="2133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 rot="10800000">
            <a:off x="0" y="160338"/>
            <a:ext cx="9144000" cy="10175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099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625" y="4413250"/>
            <a:ext cx="2492375" cy="1322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5203825"/>
            <a:ext cx="2133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5203825"/>
            <a:ext cx="2895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5203825"/>
            <a:ext cx="2133600" cy="3968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 rot="10800000">
            <a:off x="0" y="160338"/>
            <a:ext cx="9144000" cy="10175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257816"/>
            <a:ext cx="7772400" cy="3919226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0825" y="0"/>
            <a:ext cx="1044575" cy="5715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51625" y="4413250"/>
            <a:ext cx="2492375" cy="1322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128" y="229235"/>
            <a:ext cx="7391672" cy="95220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95128" y="1339107"/>
            <a:ext cx="7391672" cy="37717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8425"/>
            <a:ext cx="4040188" cy="534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719"/>
            <a:ext cx="4040188" cy="32921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8425"/>
            <a:ext cx="4041775" cy="534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719"/>
            <a:ext cx="4041775" cy="32921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472"/>
            <a:ext cx="3008313" cy="9680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472"/>
            <a:ext cx="5111750" cy="487741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548"/>
            <a:ext cx="3008313" cy="39093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1029"/>
            <a:ext cx="5486400" cy="4725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1370"/>
            <a:ext cx="5486400" cy="3427942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3605"/>
            <a:ext cx="5486400" cy="6700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9235"/>
            <a:ext cx="2057400" cy="48756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9235"/>
            <a:ext cx="6019800" cy="48756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52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5203825"/>
            <a:ext cx="21336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5203825"/>
            <a:ext cx="28956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5203825"/>
            <a:ext cx="213360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3" descr="C:\Users\sgk\Pictures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13" y="931863"/>
            <a:ext cx="2587625" cy="574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143000" y="1500188"/>
            <a:ext cx="700087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3600" b="1" dirty="0">
                <a:latin typeface="Arial" panose="020B0604020202020204" pitchFamily="34" charset="0"/>
              </a:rPr>
              <a:t>《</a:t>
            </a:r>
            <a:r>
              <a:rPr lang="zh-CN" altLang="en-US" sz="3600" b="1" dirty="0">
                <a:latin typeface="Arial" panose="020B0604020202020204" pitchFamily="34" charset="0"/>
              </a:rPr>
              <a:t>马克思主义基本原理</a:t>
            </a:r>
            <a:r>
              <a:rPr lang="en-US" altLang="zh-CN" sz="3600" b="1" dirty="0">
                <a:latin typeface="Arial" panose="020B0604020202020204" pitchFamily="34" charset="0"/>
              </a:rPr>
              <a:t>》</a:t>
            </a:r>
            <a:r>
              <a:rPr lang="zh-CN" altLang="en-US" sz="3600" b="1" dirty="0">
                <a:latin typeface="Arial" panose="020B0604020202020204" pitchFamily="34" charset="0"/>
              </a:rPr>
              <a:t>复习题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8938" y="3000375"/>
            <a:ext cx="3143250" cy="1262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lang="zh-CN" altLang="en-US" sz="2800" dirty="0">
                <a:latin typeface="Arial" panose="020B0604020202020204" pitchFamily="34" charset="0"/>
              </a:rPr>
              <a:t>  </a:t>
            </a:r>
            <a:r>
              <a:rPr lang="zh-CN" altLang="en-US" sz="2800" b="1" dirty="0">
                <a:latin typeface="Arial" panose="020B0604020202020204" pitchFamily="34" charset="0"/>
              </a:rPr>
              <a:t>马克思主义学院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algn="ctr"/>
            <a:endParaRPr lang="en-US" altLang="zh-CN" b="1" dirty="0">
              <a:latin typeface="Arial" panose="020B0604020202020204" pitchFamily="34" charset="0"/>
            </a:endParaRPr>
          </a:p>
          <a:p>
            <a:pPr algn="ctr"/>
            <a:r>
              <a:rPr lang="en-US" altLang="zh-CN" b="1" dirty="0">
                <a:latin typeface="Arial" panose="020B0604020202020204" pitchFamily="34" charset="0"/>
              </a:rPr>
              <a:t>《</a:t>
            </a:r>
            <a:r>
              <a:rPr lang="zh-CN" altLang="en-US" b="1" dirty="0">
                <a:latin typeface="Arial" panose="020B0604020202020204" pitchFamily="34" charset="0"/>
              </a:rPr>
              <a:t>原理</a:t>
            </a:r>
            <a:r>
              <a:rPr lang="en-US" altLang="zh-CN" b="1" dirty="0">
                <a:latin typeface="Arial" panose="020B0604020202020204" pitchFamily="34" charset="0"/>
              </a:rPr>
              <a:t>》</a:t>
            </a:r>
            <a:r>
              <a:rPr lang="zh-CN" altLang="en-US" b="1" dirty="0">
                <a:latin typeface="Arial" panose="020B0604020202020204" pitchFamily="34" charset="0"/>
              </a:rPr>
              <a:t>教研室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14313" y="214313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考试准备   </a:t>
            </a: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107315" y="1705610"/>
            <a:ext cx="27738070" cy="1914525"/>
          </a:xfrm>
        </p:spPr>
        <p:txBody>
          <a:bodyPr vert="horz" wrap="none" lIns="91440" tIns="45720" rIns="91440" bIns="45720" anchor="ctr" anchorCtr="0">
            <a:noAutofit/>
          </a:bodyPr>
          <a:lstStyle/>
          <a:p>
            <a:pPr marL="0" indent="0" algn="l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zh-CN" altLang="en-US" sz="18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原理课进行线上阅卷</a:t>
            </a:r>
          </a:p>
          <a:p>
            <a:pPr marL="0" indent="0" algn="l">
              <a:spcBef>
                <a:spcPct val="0"/>
              </a:spcBef>
              <a:buNone/>
            </a:pPr>
            <a:endParaRPr lang="en-US" altLang="zh-CN" sz="18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1.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考前准备：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2B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铅笔、橡皮、签字笔、学生证或一卡通</a:t>
            </a:r>
          </a:p>
          <a:p>
            <a:pPr marL="0" indent="0" algn="l"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签字笔尽量选择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0.5mm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、速干、浸润性弱一点的。</a:t>
            </a:r>
          </a:p>
          <a:p>
            <a:pPr marL="0" indent="0" algn="l">
              <a:spcBef>
                <a:spcPct val="0"/>
              </a:spcBef>
              <a:buNone/>
            </a:pPr>
            <a:endParaRPr lang="zh-CN" altLang="en-US" sz="16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2.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所有正式作答必须写在答题纸上，写在试卷上无效</a:t>
            </a:r>
          </a:p>
          <a:p>
            <a:pPr marL="0" indent="0" algn="l"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（线上阅卷系统只扫描答题纸）；</a:t>
            </a:r>
          </a:p>
          <a:p>
            <a:pPr marL="0" indent="0" algn="l">
              <a:spcBef>
                <a:spcPct val="0"/>
              </a:spcBef>
              <a:buNone/>
            </a:pPr>
            <a:endParaRPr lang="zh-CN" altLang="en-US" sz="16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3.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答题纸的学号信息务必用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2B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铅笔涂写准确；</a:t>
            </a:r>
          </a:p>
          <a:p>
            <a:pPr marL="0" indent="0" algn="l">
              <a:spcBef>
                <a:spcPct val="0"/>
              </a:spcBef>
              <a:buNone/>
            </a:pPr>
            <a:endParaRPr lang="zh-CN" altLang="en-US" sz="16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4.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客观题用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2B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铅笔涂写机读卡</a:t>
            </a:r>
          </a:p>
          <a:p>
            <a:pPr marL="0" indent="0" algn="l"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（可先在试卷纸上做题，确认后再涂答题纸。</a:t>
            </a:r>
          </a:p>
          <a:p>
            <a:pPr marL="0" indent="0" algn="l"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避免频繁涂改，修改时请注意不要损坏答题纸，否则可能导致扫描失败）；</a:t>
            </a:r>
          </a:p>
          <a:p>
            <a:pPr marL="0" indent="0" algn="l">
              <a:spcBef>
                <a:spcPct val="0"/>
              </a:spcBef>
              <a:buNone/>
            </a:pPr>
            <a:endParaRPr lang="zh-CN" altLang="en-US" sz="16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5.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主观题作答必须在答题框内，框外字迹无效；</a:t>
            </a:r>
          </a:p>
          <a:p>
            <a:pPr marL="0" indent="0" algn="l">
              <a:spcBef>
                <a:spcPct val="0"/>
              </a:spcBef>
              <a:buNone/>
            </a:pPr>
            <a:endParaRPr lang="zh-CN" altLang="en-US" sz="1600" dirty="0">
              <a:solidFill>
                <a:schemeClr val="tx1"/>
              </a:solidFill>
              <a:uFillTx/>
              <a:ea typeface="华文中宋" panose="02010600040101010101" pitchFamily="2" charset="-122"/>
            </a:endParaRPr>
          </a:p>
          <a:p>
            <a:pPr marL="0" indent="0" algn="l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6. 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答题纸尚在测试中，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6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9</a:t>
            </a: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日当天可能是正反双面一张答题纸，</a:t>
            </a:r>
          </a:p>
          <a:p>
            <a:pPr marL="0" indent="0" algn="l"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tx1"/>
                </a:solidFill>
                <a:uFillTx/>
                <a:ea typeface="华文中宋" panose="02010600040101010101" pitchFamily="2" charset="-122"/>
              </a:rPr>
              <a:t>也可能是单面印制的两张答题纸，若是两张，每张答题纸上均需涂写学号信息。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8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8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38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38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38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38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38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Grp="1" noRot="1" noChangeArrowheads="1"/>
          </p:cNvSpPr>
          <p:nvPr>
            <p:ph type="body" idx="1"/>
          </p:nvPr>
        </p:nvSpPr>
        <p:spPr>
          <a:xfrm>
            <a:off x="500063" y="1285875"/>
            <a:ext cx="8286750" cy="3919538"/>
          </a:xfrm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一、平时成绩（</a:t>
            </a:r>
            <a:r>
              <a:rPr kumimoji="0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分制）</a:t>
            </a:r>
            <a:endParaRPr kumimoji="0" lang="en-US" altLang="zh-CN" sz="28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考勤（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课堂表现和测验（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读经典著作（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（课堂积极参与加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分，课堂演讲外加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二、期末成绩（</a:t>
            </a:r>
            <a:r>
              <a:rPr kumimoji="0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分制，闭卷考试）</a:t>
            </a:r>
            <a:endParaRPr kumimoji="0" lang="en-US" altLang="zh-CN" sz="28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三、总成绩﹦平时成绩（</a:t>
            </a:r>
            <a:r>
              <a:rPr kumimoji="0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40%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）﹢期末成绩（</a:t>
            </a:r>
            <a:r>
              <a:rPr kumimoji="0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60%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800" b="0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57250" y="214313"/>
            <a:ext cx="7286625" cy="762000"/>
          </a:xfrm>
          <a:prstGeom prst="rect">
            <a:avLst/>
          </a:prstGeom>
        </p:spPr>
        <p:txBody>
          <a:bodyPr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b="1" kern="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成绩构成   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占位符 1"/>
          <p:cNvSpPr>
            <a:spLocks noGrp="1"/>
          </p:cNvSpPr>
          <p:nvPr>
            <p:ph type="body" idx="1"/>
          </p:nvPr>
        </p:nvSpPr>
        <p:spPr>
          <a:xfrm>
            <a:off x="722313" y="1257300"/>
            <a:ext cx="7772400" cy="3919538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b="1" dirty="0">
                <a:latin typeface="+mn-lt"/>
                <a:ea typeface="+mn-ea"/>
                <a:cs typeface="+mn-cs"/>
              </a:rPr>
              <a:t>单       选        </a:t>
            </a:r>
            <a:r>
              <a:rPr lang="en-US" altLang="zh-CN" b="1" u="sng" dirty="0">
                <a:latin typeface="+mn-lt"/>
                <a:ea typeface="+mn-ea"/>
                <a:cs typeface="+mn-cs"/>
              </a:rPr>
              <a:t>15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×2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（分）﹦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30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分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endParaRPr lang="en-US" altLang="zh-CN" b="1" dirty="0">
              <a:latin typeface="+mn-lt"/>
              <a:ea typeface="+mn-ea"/>
              <a:cs typeface="+mn-cs"/>
            </a:endParaRPr>
          </a:p>
          <a:p>
            <a:r>
              <a:rPr lang="zh-CN" altLang="en-US" b="1" dirty="0">
                <a:latin typeface="+mn-lt"/>
                <a:ea typeface="+mn-ea"/>
                <a:cs typeface="+mn-cs"/>
              </a:rPr>
              <a:t>多       选 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         </a:t>
            </a:r>
            <a:r>
              <a:rPr lang="en-US" altLang="zh-CN" b="1" u="sng" dirty="0">
                <a:latin typeface="+mn-lt"/>
                <a:ea typeface="+mn-ea"/>
                <a:cs typeface="+mn-cs"/>
              </a:rPr>
              <a:t>5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×2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（分）﹦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10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分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endParaRPr lang="en-US" altLang="zh-CN" b="1" dirty="0">
              <a:latin typeface="+mn-lt"/>
              <a:ea typeface="+mn-ea"/>
              <a:cs typeface="+mn-cs"/>
            </a:endParaRPr>
          </a:p>
          <a:p>
            <a:r>
              <a:rPr lang="zh-CN" altLang="en-US" b="1" dirty="0">
                <a:latin typeface="+mn-lt"/>
                <a:ea typeface="+mn-ea"/>
                <a:cs typeface="+mn-cs"/>
              </a:rPr>
              <a:t>判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       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断     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   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 </a:t>
            </a:r>
            <a:r>
              <a:rPr lang="en-US" altLang="zh-CN" b="1" u="sng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rPr>
              <a:t>10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×1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（分）﹦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10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分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endParaRPr lang="en-US" altLang="zh-CN" b="1" dirty="0">
              <a:latin typeface="+mn-lt"/>
              <a:ea typeface="+mn-ea"/>
              <a:cs typeface="+mn-cs"/>
            </a:endParaRPr>
          </a:p>
          <a:p>
            <a:r>
              <a:rPr lang="zh-CN" altLang="en-US" b="1" dirty="0">
                <a:latin typeface="+mn-lt"/>
                <a:ea typeface="+mn-ea"/>
                <a:cs typeface="+mn-cs"/>
              </a:rPr>
              <a:t>材料分析      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   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 三道，</a:t>
            </a:r>
            <a:r>
              <a:rPr lang="en-US" altLang="zh-CN" b="1" dirty="0">
                <a:latin typeface="+mn-lt"/>
                <a:ea typeface="+mn-ea"/>
                <a:cs typeface="+mn-cs"/>
              </a:rPr>
              <a:t>50</a:t>
            </a:r>
            <a:r>
              <a:rPr lang="zh-CN" altLang="en-US" b="1" dirty="0">
                <a:latin typeface="+mn-lt"/>
                <a:ea typeface="+mn-ea"/>
                <a:cs typeface="+mn-cs"/>
              </a:rPr>
              <a:t>分</a:t>
            </a:r>
            <a:endParaRPr lang="en-US" altLang="zh-CN" b="1" dirty="0">
              <a:latin typeface="+mn-lt"/>
              <a:ea typeface="+mn-ea"/>
              <a:cs typeface="+mn-cs"/>
            </a:endParaRPr>
          </a:p>
          <a:p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4313" y="214313"/>
            <a:ext cx="7286625" cy="762000"/>
          </a:xfrm>
          <a:prstGeom prst="rect">
            <a:avLst/>
          </a:prstGeom>
        </p:spPr>
        <p:txBody>
          <a:bodyPr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b="1" kern="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题型分布   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14313" y="214313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绪论   </a:t>
            </a: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1071563" y="1857375"/>
            <a:ext cx="4600575" cy="1077913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dirty="0">
                <a:latin typeface="Calibri" panose="020F0502020204030204" pitchFamily="34" charset="0"/>
                <a:ea typeface="华文中宋" panose="02010600040101010101" pitchFamily="2" charset="-122"/>
              </a:rPr>
              <a:t>1.</a:t>
            </a:r>
            <a:r>
              <a:rPr lang="zh-CN" altLang="en-US" dirty="0">
                <a:latin typeface="Calibri" panose="020F0502020204030204" pitchFamily="34" charset="0"/>
                <a:ea typeface="华文中宋" panose="02010600040101010101" pitchFamily="2" charset="-122"/>
              </a:rPr>
              <a:t>什么是马克思主义</a:t>
            </a:r>
            <a:endParaRPr lang="zh-CN" altLang="en-US" dirty="0">
              <a:ea typeface="华文中宋" panose="02010600040101010101" pitchFamily="2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dirty="0">
                <a:latin typeface="Calibri" panose="020F0502020204030204" pitchFamily="34" charset="0"/>
                <a:ea typeface="华文中宋" panose="02010600040101010101" pitchFamily="2" charset="-122"/>
              </a:rPr>
              <a:t>2.</a:t>
            </a:r>
            <a:r>
              <a:rPr lang="zh-CN" altLang="en-US" dirty="0">
                <a:latin typeface="Calibri" panose="020F0502020204030204" pitchFamily="34" charset="0"/>
                <a:ea typeface="华文中宋" panose="02010600040101010101" pitchFamily="2" charset="-122"/>
              </a:rPr>
              <a:t>马克思主义的鲜明特征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85750" y="642938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章世界的物质性及其发展规律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idx="1"/>
          </p:nvPr>
        </p:nvSpPr>
        <p:spPr>
          <a:xfrm>
            <a:off x="0" y="1545749"/>
            <a:ext cx="4690745" cy="2564765"/>
          </a:xfrm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1.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哲学与哲学的基本问题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2.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列宁的物质定义及其意义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3.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物质与运动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4.</a:t>
            </a: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宋体" panose="02010600040101010101" pitchFamily="2" charset="-122"/>
                <a:ea typeface="华文宋体" panose="02010600040101010101" pitchFamily="2" charset="-122"/>
                <a:cs typeface="+mn-cs"/>
              </a:rPr>
              <a:t>物质与意识的辩证关系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85750" y="571500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章世界的物质性及发展规律</a:t>
            </a: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214313" y="1929448"/>
            <a:ext cx="7184390" cy="2589530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5.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唯物辩证法的总特征</a:t>
            </a:r>
            <a:endParaRPr lang="zh-CN" altLang="zh-CN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6.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对立统一规律是唯物辩证法的实质和核心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7.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矛盾的同一性和斗争性的辩证关系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8.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矛盾的普遍性和特殊性的辩证关系</a:t>
            </a:r>
            <a:endParaRPr lang="zh-CN" altLang="zh-CN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9.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两点论和重点论相统一的方法论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14313" y="285750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实践与认识及其发展规律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285750" y="858203"/>
            <a:ext cx="7896860" cy="3106420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pPr>
              <a:buNone/>
            </a:pPr>
            <a:endParaRPr lang="zh-CN" altLang="zh-CN" sz="2800" dirty="0"/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认识的本质（不同的认识路线）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实践是认识的基础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认识的辩证过程（第一次飞跃和第二次飞跃）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4.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真理的客观性、绝对性和相对性的辩证关系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5.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为什么说</a:t>
            </a:r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“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实践检验真理的唯一标准</a:t>
            </a:r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”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2875" y="357188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人类社会及其发展规律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0" y="1643063"/>
            <a:ext cx="9394825" cy="2590800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历史观的基本问题（社会存在与社会意识的辩证关系）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社会基本矛盾运动（生产力和生产关系、</a:t>
            </a:r>
            <a:endParaRPr lang="en-US" altLang="zh-CN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经济基础和上层建筑的辩证关系）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人民群众是历史的创造者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4.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社会主要矛盾在历史发展中的作用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2875" y="357188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资本主义的本质及其规律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214313" y="1714500"/>
            <a:ext cx="7240587" cy="3108325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商品的二因素、劳动的二重性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商品价值量的规定（社会必要劳动时间）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货币的本质和职能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4.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价值规律及其作用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5.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以私有制为基础的商品经济的基本矛盾</a:t>
            </a:r>
          </a:p>
          <a:p>
            <a:endParaRPr lang="zh-CN" altLang="en-US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2875" y="357188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资本主义的本质及其规律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214313" y="1714500"/>
            <a:ext cx="7904162" cy="4143375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6.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劳动力成为商品的基本条件、</a:t>
            </a:r>
            <a:endParaRPr lang="en-US" altLang="zh-CN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buNone/>
            </a:pPr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    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劳动力商品的特点与货币转化为资本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7.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资本主义生产过程的二重性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8.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不变资本和可变资本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9.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剩余价值生产的两种方法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10.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资本积累及其后果</a:t>
            </a:r>
            <a:endParaRPr lang="en-US" altLang="zh-CN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>
              <a:buNone/>
            </a:pPr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  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（资本有机构成的提高和相对过剩人口的产生）</a:t>
            </a:r>
          </a:p>
          <a:p>
            <a:endParaRPr lang="zh-CN" altLang="en-US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2875" y="357188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资本主义的发展及其趋势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214313" y="1714500"/>
            <a:ext cx="9036050" cy="3108325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垄断及其产生的原因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金融资本在政治上和经济上的统治方式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国家垄断资本主义及其在资本主义经济发展中的作用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4.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经济全球化及其对发展中国家的作用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5.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当代资本主义的新变化</a:t>
            </a:r>
          </a:p>
          <a:p>
            <a:endParaRPr lang="zh-CN" altLang="en-US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2875" y="357188"/>
            <a:ext cx="7286625" cy="762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6-7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社会主义和共产主义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88" name="Rectangle 4"/>
          <p:cNvSpPr>
            <a:spLocks noGrp="1"/>
          </p:cNvSpPr>
          <p:nvPr>
            <p:ph idx="1"/>
          </p:nvPr>
        </p:nvSpPr>
        <p:spPr>
          <a:xfrm>
            <a:off x="214313" y="1973580"/>
            <a:ext cx="5759450" cy="2072640"/>
          </a:xfrm>
        </p:spPr>
        <p:txBody>
          <a:bodyPr vert="horz" wrap="none" lIns="91440" tIns="45720" rIns="91440" bIns="45720" anchor="ctr" anchorCtr="0">
            <a:spAutoFit/>
          </a:bodyPr>
          <a:lstStyle/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1.</a:t>
            </a:r>
            <a:r>
              <a:rPr lang="zh-CN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“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两个必然”和“两个决不会”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2.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社会主义发展道路的多样性</a:t>
            </a:r>
          </a:p>
          <a:p>
            <a:r>
              <a:rPr lang="en-US" altLang="zh-CN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3.</a:t>
            </a:r>
            <a:r>
              <a:rPr lang="zh-CN" altLang="en-US" sz="28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共产主义社会的基本特征</a:t>
            </a:r>
          </a:p>
          <a:p>
            <a:endParaRPr lang="zh-CN" altLang="en-US" sz="2800" b="1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8688" y="4357688"/>
            <a:ext cx="6143625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注：复习思考题中涉及到的概念都要掌握！</a:t>
            </a:r>
          </a:p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8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722313" y="1257300"/>
            <a:ext cx="7772400" cy="3919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材料分析</a:t>
            </a:r>
            <a:endParaRPr kumimoji="0" lang="en-US" altLang="zh-CN" sz="2000" b="1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1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习近平强调了在新形势下坚持群众路线的重要性。“群众路线是我们党的生命线和根本工作路线。开展党的群众路线教育实践活动，是我们党在新形势下坚持党要管党、从严治党的重大决策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 …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”请结合相关原理，对材料进行分析。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人民群众是历史的创造者</a:t>
            </a:r>
            <a:endParaRPr kumimoji="0" lang="en-US" altLang="zh-CN" sz="1800" b="0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人民群众是社会历史的主体，是历史的创造者，这是马克思主义最基本的观点之一。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人民群众是社会物质财富的创造者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人民群众是社会精神财富的创造者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人民群众是社会变革的决定力量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14313" y="214313"/>
            <a:ext cx="7286625" cy="762000"/>
          </a:xfrm>
          <a:prstGeom prst="rect">
            <a:avLst/>
          </a:prstGeom>
        </p:spPr>
        <p:txBody>
          <a:bodyPr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b="1" kern="0" cap="none" spc="0" normalizeH="0" baseline="0" noProof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答题示例   </a:t>
            </a: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2ODkzMWU4ZTViYzljMjlkYjQwNTVlNWU4OGFiYWQ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869</Words>
  <Application>Microsoft Office PowerPoint</Application>
  <PresentationFormat>全屏显示(16:10)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仿宋</vt:lpstr>
      <vt:lpstr>华文宋体</vt:lpstr>
      <vt:lpstr>微软雅黑</vt:lpstr>
      <vt:lpstr>Arial</vt:lpstr>
      <vt:lpstr>Calibri</vt:lpstr>
      <vt:lpstr>Wingdings</vt:lpstr>
      <vt:lpstr>默认设计模板</vt:lpstr>
      <vt:lpstr>PowerPoint 演示文稿</vt:lpstr>
      <vt:lpstr>考试准备   </vt:lpstr>
      <vt:lpstr>PowerPoint 演示文稿</vt:lpstr>
      <vt:lpstr>PowerPoint 演示文稿</vt:lpstr>
      <vt:lpstr>绪论   </vt:lpstr>
      <vt:lpstr>第1章世界的物质性及其发展规律    </vt:lpstr>
      <vt:lpstr>第1章世界的物质性及发展规律    </vt:lpstr>
      <vt:lpstr>第2章 实践与认识及其发展规律</vt:lpstr>
      <vt:lpstr>第3章 人类社会及其发展规律</vt:lpstr>
      <vt:lpstr>第4章 资本主义的本质及其规律</vt:lpstr>
      <vt:lpstr>第4章 资本主义的本质及其规律</vt:lpstr>
      <vt:lpstr>第5章 资本主义的发展及其趋势</vt:lpstr>
      <vt:lpstr>第6-7章 社会主义和共产主义</vt:lpstr>
      <vt:lpstr>PowerPoint 演示文稿</vt:lpstr>
    </vt:vector>
  </TitlesOfParts>
  <Company>www.ftpdown.com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yk</dc:creator>
  <cp:lastModifiedBy>Administrator</cp:lastModifiedBy>
  <cp:revision>798</cp:revision>
  <cp:lastPrinted>2015-03-17T07:58:00Z</cp:lastPrinted>
  <dcterms:created xsi:type="dcterms:W3CDTF">2011-07-02T04:59:00Z</dcterms:created>
  <dcterms:modified xsi:type="dcterms:W3CDTF">2025-05-30T07:05:24Z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E566FB36B13847DD9F3BA862232591BE_13</vt:lpwstr>
  </property>
  <property fmtid="{D5CDD505-2E9C-101B-9397-08002B2CF9AE}" pid="3" name="KSOProductBuildVer">
    <vt:lpwstr>2052-12.1.0.20784</vt:lpwstr>
  </property>
</Properties>
</file>