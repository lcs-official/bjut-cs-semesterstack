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31"/>
  </p:notesMasterIdLst>
  <p:handoutMasterIdLst>
    <p:handoutMasterId r:id="rId32"/>
  </p:handoutMasterIdLst>
  <p:sldIdLst>
    <p:sldId id="268" r:id="rId2"/>
    <p:sldId id="269" r:id="rId3"/>
    <p:sldId id="271" r:id="rId4"/>
    <p:sldId id="336" r:id="rId5"/>
    <p:sldId id="272" r:id="rId6"/>
    <p:sldId id="273" r:id="rId7"/>
    <p:sldId id="301" r:id="rId8"/>
    <p:sldId id="337" r:id="rId9"/>
    <p:sldId id="309" r:id="rId10"/>
    <p:sldId id="310" r:id="rId11"/>
    <p:sldId id="311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18" r:id="rId22"/>
    <p:sldId id="319" r:id="rId23"/>
    <p:sldId id="320" r:id="rId24"/>
    <p:sldId id="330" r:id="rId25"/>
    <p:sldId id="331" r:id="rId26"/>
    <p:sldId id="332" r:id="rId27"/>
    <p:sldId id="333" r:id="rId28"/>
    <p:sldId id="334" r:id="rId29"/>
    <p:sldId id="335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CC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88" d="100"/>
          <a:sy n="88" d="100"/>
        </p:scale>
        <p:origin x="1068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02BFD93-78AE-3504-4C3A-E4C91A24A2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9C29CBE-FBB4-3CF7-B619-91AD0164EBC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7032E77-6F62-DDD0-03F4-0FDF7DFBE24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D38BBFE-A44C-04F7-4BAD-CC9801CED7E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DBDC498-77B1-4753-9C5E-DBC28D0179C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6F4082C-7AF2-80BD-C1EA-2885E9D282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B8075EC-7FEC-5EAD-56EF-1710679618B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A0E0010-12C1-73CE-9A92-43D60DC006A2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DE67949-C8C5-E770-2298-081BE586029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2FFDFAC-1E35-8A12-CFE5-5C7F955F2F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8B74212-619E-4536-4E38-922FDD174C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033A2E2-F497-4BD8-B878-DEE8DD2AD4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FE135D37-727F-5EA7-B8A5-C07F0E3126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B12346-008F-458C-BE1C-4767151632C8}" type="slidenum">
              <a:rPr lang="zh-CN" altLang="en-US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806A096-1806-A6A9-9D4A-237CCD0FFE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07A0177-4919-31F9-B470-0A92ADD1B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717A0C3-FCEB-CBBD-DE7B-B36C333B73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4E765B-F2EC-456F-BEC2-0406A6F5C49F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FBC8CDE-B597-7175-97BB-0024F15AA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ED586B8-7253-5D76-4EF8-12DFD90FF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29E1E498-774C-F8B5-1B28-0D94FDF34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C90CD1E-FA4F-4FDE-850B-021EE58ABD6B}" type="slidenum">
              <a:rPr lang="zh-CN" altLang="en-US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0325C59-8326-8956-D7A4-0033DE3A4E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8130DAA-931A-16CA-5B1E-457E3FEF2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24EF2DD0-9F39-6B21-8E97-AF246D6527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6BD1520-A30B-46EE-B8D3-4C54B510601F}" type="slidenum">
              <a:rPr lang="zh-CN" altLang="en-US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8126CFA-CAB7-D505-9115-C25750BC81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6B1FB79-1D02-56A8-312F-BF2CEC88B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6A185D01-68E9-D35B-486A-E55DA833A8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4F4970-CA84-492E-B260-BCF1AAA39E9C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3A99468-DB18-20D2-EE9A-D619EA1ED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53B3443-B64F-5F86-FBA2-949568EA9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E43854C-76C2-8DB7-F6C2-D618A618A2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344486-9323-4A9E-B98D-911EEED75E35}" type="slidenum">
              <a:rPr lang="zh-CN" altLang="en-US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7EA1C05-158D-7917-CAA3-E9CA42C1C1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BE32E23-289B-F277-EF68-7ECB43D4A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E992DC71-6D7A-C34D-3B66-71D5C40B5B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7CC4DB-89B4-4193-A9D2-624A907C754C}" type="slidenum">
              <a:rPr lang="zh-CN" altLang="en-US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0C6DD76-4781-7749-34E5-153C0DEADB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6B0309D-C6DF-7BB9-28D8-438E3A2A5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CED98DC5-49AF-48BD-32DF-F528A5EE7A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76006AA-3324-436B-A23D-9DBDB9E8E801}" type="slidenum">
              <a:rPr lang="zh-CN" altLang="en-US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C95867C-091B-9612-C7E1-8C5E2EDBFA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FE46E84-C45A-27DE-FD8A-6F4681571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A17160FE-B503-C1B3-F4FD-53D908AE1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9A82C0-66DF-49C6-817F-B1286487638A}" type="slidenum">
              <a:rPr lang="zh-CN" altLang="en-US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A0B87ED-F82D-38CC-E78E-5CBB6E3A40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C2CA7EF-89DC-781F-662A-FC6AF1E86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6A99D8E-6D21-D497-8E06-9F5FC05725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B0E996C-1AB6-4BA2-9173-FFC7ACFF3411}" type="slidenum">
              <a:rPr lang="zh-CN" altLang="en-US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98A5CE5-D415-E104-9507-C90DF0E1E5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4D9E57C7-261A-70C0-9C58-E0A793250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92A03DA3-F223-47F7-6F87-AE7420AE45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9C47E66-7561-4DD0-8FF7-8E9D42563F69}" type="slidenum">
              <a:rPr lang="en-US" altLang="zh-CN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D845878-F33E-662F-4C4A-0D5872AC4F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2A6CD16-CAAC-2C9F-8BBC-D8E6C7E0F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6A4DC15-B27B-8DDB-1D00-6ABF5C917C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BD9030F-ED50-49F1-9EFD-A7F5B586495D}" type="slidenum">
              <a:rPr lang="en-US" altLang="zh-CN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2CB14B0-8D63-329B-5484-FBFC2B0361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24289E3-888F-0801-6C3C-E2B6A2B67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BBA5A1DD-6EE3-8408-1979-18B457B060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CB23D3-BDBB-4E93-845B-F64E01CEBFAF}" type="slidenum">
              <a:rPr lang="en-US" altLang="zh-CN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502364E4-B947-B0AF-0A85-873F4DA3A0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4553D6FF-B2D8-1FE1-AB41-E3B8EA17B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8BC0923C-E649-F383-4A1B-C51C380E3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49500"/>
            <a:ext cx="7391400" cy="3352800"/>
          </a:xfrm>
          <a:prstGeom prst="roundRect">
            <a:avLst>
              <a:gd name="adj" fmla="val 16667"/>
            </a:avLst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1DF45B-20A4-4E37-6317-9DBCC6C8BB2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28600" y="927100"/>
            <a:ext cx="7162800" cy="99060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F97C2E95-B613-5FA0-D5C5-03B4E0752FF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0" y="836613"/>
            <a:ext cx="8991600" cy="1828800"/>
          </a:xfrm>
          <a:custGeom>
            <a:avLst/>
            <a:gdLst>
              <a:gd name="T0" fmla="*/ 0 w 4917"/>
              <a:gd name="T1" fmla="*/ 0 h 1000"/>
              <a:gd name="T2" fmla="*/ 2147483646 w 4917"/>
              <a:gd name="T3" fmla="*/ 0 h 1000"/>
              <a:gd name="T4" fmla="*/ 2147483646 w 4917"/>
              <a:gd name="T5" fmla="*/ 2147483646 h 1000"/>
              <a:gd name="T6" fmla="*/ 2147483646 w 4917"/>
              <a:gd name="T7" fmla="*/ 2147483646 h 1000"/>
              <a:gd name="T8" fmla="*/ 0 w 4917"/>
              <a:gd name="T9" fmla="*/ 2147483646 h 1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17"/>
              <a:gd name="T16" fmla="*/ 0 h 1000"/>
              <a:gd name="T17" fmla="*/ 2459 w 4917"/>
              <a:gd name="T18" fmla="*/ 1000 h 1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17" h="1000">
                <a:moveTo>
                  <a:pt x="0" y="0"/>
                </a:moveTo>
                <a:lnTo>
                  <a:pt x="4416" y="0"/>
                </a:lnTo>
                <a:cubicBezTo>
                  <a:pt x="4693" y="0"/>
                  <a:pt x="4917" y="223"/>
                  <a:pt x="4917" y="500"/>
                </a:cubicBezTo>
                <a:cubicBezTo>
                  <a:pt x="4917" y="776"/>
                  <a:pt x="4693" y="999"/>
                  <a:pt x="4417" y="1000"/>
                </a:cubicBezTo>
                <a:lnTo>
                  <a:pt x="0" y="1000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0625BFD6-5DDE-1C66-9204-949E14717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13" y="2565400"/>
            <a:ext cx="8305800" cy="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908050"/>
            <a:ext cx="8077200" cy="1609725"/>
          </a:xfr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656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417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12521DA-CEFA-BB0B-3C08-531EE39F7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99E62D1-76F3-7278-5B15-9BE21AC084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0E563290-8316-B0F9-7409-BBF061B94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32029CD8-55DC-4473-A27D-F1E4EC40D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636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5682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0396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6218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8970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13818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49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45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798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7175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2405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3">
            <a:extLst>
              <a:ext uri="{FF2B5EF4-FFF2-40B4-BE49-F238E27FC236}">
                <a16:creationId xmlns:a16="http://schemas.microsoft.com/office/drawing/2014/main" id="{CAD167BF-5260-7D95-9487-C02DBFA22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58913"/>
            <a:ext cx="8640763" cy="5283200"/>
          </a:xfrm>
          <a:prstGeom prst="roundRect">
            <a:avLst>
              <a:gd name="adj" fmla="val 4958"/>
            </a:avLst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27" name="AutoShape 4">
            <a:extLst>
              <a:ext uri="{FF2B5EF4-FFF2-40B4-BE49-F238E27FC236}">
                <a16:creationId xmlns:a16="http://schemas.microsoft.com/office/drawing/2014/main" id="{97946D0C-9FF7-3FD3-B19D-35789B40DCE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0" y="0"/>
            <a:ext cx="9144000" cy="1412875"/>
          </a:xfrm>
          <a:custGeom>
            <a:avLst/>
            <a:gdLst>
              <a:gd name="T0" fmla="*/ 0 w 6472"/>
              <a:gd name="T1" fmla="*/ 0 h 1000"/>
              <a:gd name="T2" fmla="*/ 2147483646 w 6472"/>
              <a:gd name="T3" fmla="*/ 0 h 1000"/>
              <a:gd name="T4" fmla="*/ 2147483646 w 6472"/>
              <a:gd name="T5" fmla="*/ 2147483646 h 1000"/>
              <a:gd name="T6" fmla="*/ 2147483646 w 6472"/>
              <a:gd name="T7" fmla="*/ 2147483646 h 1000"/>
              <a:gd name="T8" fmla="*/ 0 w 6472"/>
              <a:gd name="T9" fmla="*/ 2147483646 h 1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72"/>
              <a:gd name="T16" fmla="*/ 0 h 1000"/>
              <a:gd name="T17" fmla="*/ 3236 w 6472"/>
              <a:gd name="T18" fmla="*/ 1000 h 1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72" h="1000">
                <a:moveTo>
                  <a:pt x="0" y="0"/>
                </a:moveTo>
                <a:lnTo>
                  <a:pt x="5971" y="0"/>
                </a:lnTo>
                <a:cubicBezTo>
                  <a:pt x="6248" y="0"/>
                  <a:pt x="6472" y="223"/>
                  <a:pt x="6472" y="500"/>
                </a:cubicBezTo>
                <a:cubicBezTo>
                  <a:pt x="6472" y="776"/>
                  <a:pt x="6248" y="999"/>
                  <a:pt x="5972" y="1000"/>
                </a:cubicBezTo>
                <a:lnTo>
                  <a:pt x="0" y="1000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E4AAD4C3-B7E9-97D2-9600-A61F5ABE5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B6A13954-ADEA-218A-0F15-183BA4770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itchFamily="34" charset="0"/>
          <a:ea typeface="华文新魏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itchFamily="34" charset="0"/>
          <a:ea typeface="华文新魏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itchFamily="34" charset="0"/>
          <a:ea typeface="华文新魏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itchFamily="34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itchFamily="34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itchFamily="34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itchFamily="34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>
            <a:extLst>
              <a:ext uri="{FF2B5EF4-FFF2-40B4-BE49-F238E27FC236}">
                <a16:creationId xmlns:a16="http://schemas.microsoft.com/office/drawing/2014/main" id="{7591FA7A-25FC-D6B1-2E20-4A2E173DE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49275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总复习</a:t>
            </a:r>
            <a:endParaRPr lang="en-US" altLang="zh-CN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Text Box 1035">
            <a:extLst>
              <a:ext uri="{FF2B5EF4-FFF2-40B4-BE49-F238E27FC236}">
                <a16:creationId xmlns:a16="http://schemas.microsoft.com/office/drawing/2014/main" id="{6FB5A1DC-0D41-BC56-2E75-700616D3E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00200"/>
            <a:ext cx="8208963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一、重点概念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lai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计算机系统的组成分为两大范畴：硬件和软件。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lai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机器基本字长：参与计算机运算的操作数的基本位数。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lai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冯 · 诺依曼计算机基本特点：用二进制代码表示指令和数据；计算机采用存储程序的工作方式；计算机硬件由存储器、运算器、控制器、输入设备和输出设备组成。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4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计算机软件可分为系统软件和应用软件两大类。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5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指令系统是指一台计算机所能执行的全部指令的集合。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5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计算机硬件的物理功能是执行机器语言，机器语言是能够被计算机硬件直接识别的语言。汇编语言是一种面向机器结构的低级程序设计语言。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5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1KB=2</a:t>
            </a:r>
            <a:r>
              <a:rPr lang="en-US" altLang="zh-CN" sz="2000" b="1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B; 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1MB=2</a:t>
            </a:r>
            <a:r>
              <a:rPr lang="en-US" altLang="zh-CN" sz="1800" b="1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B; 1GB=2</a:t>
            </a:r>
            <a:r>
              <a:rPr lang="en-US" altLang="zh-CN" sz="1800" b="1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B; 1TB=2</a:t>
            </a:r>
            <a:r>
              <a:rPr lang="en-US" altLang="zh-CN" sz="1800" b="1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EE87734-2B77-DF92-42DF-8DE5F1E9C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49275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总复习</a:t>
            </a:r>
            <a:endParaRPr lang="en-US" altLang="zh-CN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41891062-0B8E-4030-1148-29C7F0A43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484313"/>
            <a:ext cx="8208963" cy="563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8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一条指令实际上包括两种信息，即操作码和地址码。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8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的主要功能是从主存储器中取出指令、解释指令和执行指令。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8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：程序计数器，存放当前或下一条指令在主存中的地址。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8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浮点数的表示范围主要由阶码决定，精度则主要由尾数决定。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8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根据小数点位置是否固定，数的格式分为两种表示形式，分别是定点数和浮点数。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13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三级存储体系是指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Cache—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外存三层架构，通常内存（主存）和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由半导体存储器构成。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13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主存储器中通常用地址来区分各存储单元，可以按字节编址，也可以按字编址。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13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计算机中各个功能部件是通过总线连接的，它是各部件之间进行信息传输的公共线路。根据所传信息种类不同，通常系统总线可以分为三种，分别是：数据总线、地址总线和控制总线。 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13"/>
            </a:pP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E558998-7B06-C791-2F86-F8C458B8E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49275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总复习</a:t>
            </a:r>
            <a:endParaRPr lang="en-US" altLang="zh-CN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E79BDF59-BC53-35E1-A570-1EEB0D04A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484313"/>
            <a:ext cx="8424863" cy="55864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+mj-lt"/>
              <a:buAutoNum type="arabicPeriod" startAt="16"/>
              <a:defRPr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目前使用最广泛的字符编码方案是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码，一个字符的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码占用主存储器的一个字节单元，如果是字符序列，通常则占用主存多个连续的字节单元。</a:t>
            </a:r>
          </a:p>
          <a:p>
            <a:pPr eaLnBrk="1" hangingPunct="1">
              <a:spcBef>
                <a:spcPct val="50000"/>
              </a:spcBef>
              <a:buFont typeface="+mj-lt"/>
              <a:buAutoNum type="arabicPeriod" startAt="16"/>
              <a:defRPr/>
            </a:pP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动态随机访问存储器（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）由于存在电容电荷泄漏问题，必须定期动态刷新，刷新方式主要有三种，分别是集中刷新方式、分散刷新方式和异步刷新方式。</a:t>
            </a:r>
          </a:p>
          <a:p>
            <a:pPr eaLnBrk="1" hangingPunct="1">
              <a:spcBef>
                <a:spcPct val="50000"/>
              </a:spcBef>
              <a:buFont typeface="+mj-lt"/>
              <a:buAutoNum type="arabicPeriod" startAt="18"/>
              <a:defRPr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中断处理过程包括：中断请求、中断判优、中断响应、中断处理和中断返回。</a:t>
            </a:r>
          </a:p>
          <a:p>
            <a:pPr eaLnBrk="1" hangingPunct="1">
              <a:spcBef>
                <a:spcPct val="50000"/>
              </a:spcBef>
              <a:buFont typeface="+mj-lt"/>
              <a:buAutoNum type="arabicPeriod" startAt="18"/>
              <a:defRPr/>
            </a:pP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传送过程包括：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初始化、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请求、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响应、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传送和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结束。</a:t>
            </a:r>
            <a:endParaRPr lang="en-US" altLang="zh-CN" sz="17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Font typeface="+mj-lt"/>
              <a:buAutoNum type="arabicPeriod" startAt="18"/>
              <a:defRPr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存储器的主要技术指标有三个：容量、速度和位价格。</a:t>
            </a:r>
          </a:p>
          <a:p>
            <a:pPr eaLnBrk="1" hangingPunct="1">
              <a:spcBef>
                <a:spcPct val="50000"/>
              </a:spcBef>
              <a:buFont typeface="+mj-lt"/>
              <a:buAutoNum type="arabicPeriod" startAt="18"/>
              <a:defRPr/>
            </a:pPr>
            <a:r>
              <a:rPr kumimoji="1"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特点：存取速度快、集成度低、功耗大；</a:t>
            </a:r>
            <a:b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特点：存取速度较</a:t>
            </a:r>
            <a:r>
              <a:rPr kumimoji="1"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kumimoji="1"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慢、集成度高、功耗小。</a:t>
            </a:r>
            <a:endParaRPr kumimoji="1" lang="en-US" altLang="zh-CN" sz="17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Font typeface="+mj-lt"/>
              <a:buAutoNum type="arabicPeriod" startAt="18"/>
              <a:defRPr/>
            </a:pP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MIPS32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体系结构下处理器内部寄存器数量设定为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个，原因在于：计算机体系结构中速度与可用性之间的折衷；保证机器指令中寄存器编号字段的位数是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位，从而使得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位机器指令格式规整化。</a:t>
            </a:r>
            <a:endParaRPr lang="en-US" altLang="zh-CN" sz="17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Font typeface="+mj-lt"/>
              <a:buAutoNum type="arabicPeriod" startAt="18"/>
              <a:defRPr/>
            </a:pP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处理器中将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号通用寄存器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  <a:r>
              <a:rPr lang="zh-CN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固定设置为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的优缺点在于：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优势：该寄存器总是返回零，为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这个有用常数提供了一个简洁的编码形式。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劣势：占用了一个寄存器资源，只能返回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eaLnBrk="1" hangingPunct="1">
              <a:spcBef>
                <a:spcPct val="50000"/>
              </a:spcBef>
              <a:defRPr/>
            </a:pPr>
            <a:endParaRPr lang="en-US" altLang="zh-CN" sz="17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D236D78-4EB9-C1A4-49B9-BA1ED154E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49275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总复习</a:t>
            </a:r>
            <a:endParaRPr lang="en-US" altLang="zh-CN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19355001-C1F0-F3AC-5581-372E4E6AD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484313"/>
            <a:ext cx="8424863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24"/>
            </a:pP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浮点加减运算中的对阶规则是保留大阶，阶码小的数向阶码大的数对齐。原因是当阶码小的数将尾数右移并相应增加阶码时，舍去的仅是尾数低位部分，误差很小。若让阶码大的数将尾数左移并相应减少阶码，就会丢失尾数的高位部分，这会导致错误的结果。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 startAt="24"/>
            </a:pP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 MIPS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多周期处理器中增加写使能控制信号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PCWr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IRWr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的原因在于：增加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PCWr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信号的原因是：有效控制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内容仅在指令特定时钟周期内更新，从而避免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内容在指令多个时钟周期内不受控制地多次改写。增加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IRWr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信号的原因是：有效控制指令寄存器的内容仅在指令特定时钟周期内更新，从而保证当前指令执行完毕前，指令寄存器内容不会随着</a:t>
            </a:r>
            <a:r>
              <a:rPr lang="en-US" altLang="zh-CN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700" b="1">
                <a:latin typeface="微软雅黑" panose="020B0503020204020204" pitchFamily="34" charset="-122"/>
                <a:ea typeface="微软雅黑" panose="020B0503020204020204" pitchFamily="34" charset="-122"/>
              </a:rPr>
              <a:t>内容的改变而错误地存入新的后续指令。</a:t>
            </a:r>
            <a:endParaRPr lang="en-US" altLang="zh-CN" sz="17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5ED44BB-3474-3258-3869-A77707B62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49275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总复习</a:t>
            </a:r>
            <a:endParaRPr lang="en-US" altLang="zh-CN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B99D9098-0A2A-3AC4-1672-778D3A335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4675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二、重点计算及设计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2AA5FF2-839B-B38B-EB83-E535292B0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49275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br>
              <a:rPr lang="zh-CN" altLang="en-US" sz="29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9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-28.25</a:t>
            </a:r>
            <a:r>
              <a:rPr lang="zh-CN" altLang="en-US" sz="29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9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IEEE-754</a:t>
            </a:r>
            <a:r>
              <a:rPr lang="zh-CN" altLang="en-US" sz="29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单精度32位浮点数表示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8B3C67B4-8ADD-DF48-2AAB-56DCFBBAB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1484313"/>
            <a:ext cx="82184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	解:</a:t>
            </a:r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-28.25=-(11100.01)</a:t>
            </a:r>
            <a:r>
              <a:rPr lang="en-US" altLang="zh-CN" sz="2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=-(1.110001)×2</a:t>
            </a:r>
            <a:r>
              <a:rPr lang="en-US" altLang="zh-CN" sz="28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lang="en-US" altLang="zh-CN" sz="28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=-(1+0.110001) ×</a:t>
            </a:r>
            <a:r>
              <a:rPr lang="en-US" altLang="zh-CN" sz="2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S=1,    e=(4+127)</a:t>
            </a:r>
            <a:r>
              <a:rPr lang="en-US" altLang="zh-CN" sz="2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=131</a:t>
            </a:r>
            <a:r>
              <a:rPr lang="en-US" altLang="zh-CN" sz="2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10000011</a:t>
            </a:r>
            <a:r>
              <a:rPr lang="en-US" altLang="zh-CN" sz="2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m=0.11000100000000000000000</a:t>
            </a:r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A63F7305-B3E5-1130-2497-70A720BC15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495800"/>
          <a:ext cx="68437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856108" imgH="927347" progId="Word.Document.8">
                  <p:embed/>
                </p:oleObj>
              </mc:Choice>
              <mc:Fallback>
                <p:oleObj name="文档" r:id="rId2" imgW="6856108" imgH="927347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95800"/>
                        <a:ext cx="6843713" cy="609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Line 5">
            <a:extLst>
              <a:ext uri="{FF2B5EF4-FFF2-40B4-BE49-F238E27FC236}">
                <a16:creationId xmlns:a16="http://schemas.microsoft.com/office/drawing/2014/main" id="{6C535463-9A47-8C98-7C66-8587A97F1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9988" y="446563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5442B5AA-0E51-DB9E-DA8D-C8C22FBFE2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46563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5" name="Text Box 7">
            <a:extLst>
              <a:ext uri="{FF2B5EF4-FFF2-40B4-BE49-F238E27FC236}">
                <a16:creationId xmlns:a16="http://schemas.microsoft.com/office/drawing/2014/main" id="{2EF653E1-1F38-7720-A301-E1CB50E78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410200"/>
            <a:ext cx="7467600" cy="11382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45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1, 10000011, 11000100000000000000000</a:t>
            </a:r>
          </a:p>
          <a:p>
            <a:pPr eaLnBrk="1" hangingPunct="1">
              <a:spcBef>
                <a:spcPct val="45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or  C1E20000H</a:t>
            </a:r>
            <a:endParaRPr kumimoji="1" lang="zh-CN" altLang="en-US" sz="280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3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3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3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3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  <p:bldP spid="73731" grpId="0" build="p" autoUpdateAnimBg="0"/>
      <p:bldP spid="7373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>
            <a:extLst>
              <a:ext uri="{FF2B5EF4-FFF2-40B4-BE49-F238E27FC236}">
                <a16:creationId xmlns:a16="http://schemas.microsoft.com/office/drawing/2014/main" id="{AFA12637-9A01-7C6A-8323-164138DD8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12875"/>
            <a:ext cx="771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>
                <a:latin typeface="宋体" panose="02010600030101010101" pitchFamily="2" charset="-122"/>
              </a:rPr>
              <a:t> 浮点格式如下：</a:t>
            </a:r>
          </a:p>
        </p:txBody>
      </p:sp>
      <p:grpSp>
        <p:nvGrpSpPr>
          <p:cNvPr id="138243" name="Group 3">
            <a:extLst>
              <a:ext uri="{FF2B5EF4-FFF2-40B4-BE49-F238E27FC236}">
                <a16:creationId xmlns:a16="http://schemas.microsoft.com/office/drawing/2014/main" id="{A11C131E-15AC-C115-8608-2963B88595A4}"/>
              </a:ext>
            </a:extLst>
          </p:cNvPr>
          <p:cNvGrpSpPr>
            <a:grpSpLocks/>
          </p:cNvGrpSpPr>
          <p:nvPr/>
        </p:nvGrpSpPr>
        <p:grpSpPr bwMode="auto">
          <a:xfrm>
            <a:off x="1277938" y="1981200"/>
            <a:ext cx="6102350" cy="1447800"/>
            <a:chOff x="720" y="1920"/>
            <a:chExt cx="3844" cy="912"/>
          </a:xfrm>
        </p:grpSpPr>
        <p:grpSp>
          <p:nvGrpSpPr>
            <p:cNvPr id="11298" name="Group 4">
              <a:extLst>
                <a:ext uri="{FF2B5EF4-FFF2-40B4-BE49-F238E27FC236}">
                  <a16:creationId xmlns:a16="http://schemas.microsoft.com/office/drawing/2014/main" id="{9E239FD1-58E1-46D4-0032-F14907FBF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160"/>
              <a:ext cx="3840" cy="368"/>
              <a:chOff x="912" y="960"/>
              <a:chExt cx="3840" cy="368"/>
            </a:xfrm>
          </p:grpSpPr>
          <p:sp>
            <p:nvSpPr>
              <p:cNvPr id="11313" name="Rectangle 5">
                <a:extLst>
                  <a:ext uri="{FF2B5EF4-FFF2-40B4-BE49-F238E27FC236}">
                    <a16:creationId xmlns:a16="http://schemas.microsoft.com/office/drawing/2014/main" id="{185FA054-C6E1-B6BD-3B5E-1A13B9E959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960"/>
                <a:ext cx="288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sz="2800"/>
              </a:p>
            </p:txBody>
          </p:sp>
          <p:sp>
            <p:nvSpPr>
              <p:cNvPr id="11314" name="Rectangle 6">
                <a:extLst>
                  <a:ext uri="{FF2B5EF4-FFF2-40B4-BE49-F238E27FC236}">
                    <a16:creationId xmlns:a16="http://schemas.microsoft.com/office/drawing/2014/main" id="{B8B867E9-2A1E-1EB5-2838-92B708F39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960"/>
                <a:ext cx="1008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sz="2800"/>
              </a:p>
            </p:txBody>
          </p:sp>
          <p:sp>
            <p:nvSpPr>
              <p:cNvPr id="11315" name="Rectangle 7">
                <a:extLst>
                  <a:ext uri="{FF2B5EF4-FFF2-40B4-BE49-F238E27FC236}">
                    <a16:creationId xmlns:a16="http://schemas.microsoft.com/office/drawing/2014/main" id="{7E36B9A8-306F-A97A-C638-C4FDE0A88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6" y="960"/>
                <a:ext cx="350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sz="2800"/>
              </a:p>
            </p:txBody>
          </p:sp>
          <p:sp>
            <p:nvSpPr>
              <p:cNvPr id="11316" name="Rectangle 8">
                <a:extLst>
                  <a:ext uri="{FF2B5EF4-FFF2-40B4-BE49-F238E27FC236}">
                    <a16:creationId xmlns:a16="http://schemas.microsoft.com/office/drawing/2014/main" id="{50AD9F90-0A68-107C-DD86-5C1F3D513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960"/>
                <a:ext cx="370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sz="2800"/>
              </a:p>
            </p:txBody>
          </p:sp>
          <p:sp>
            <p:nvSpPr>
              <p:cNvPr id="11317" name="Rectangle 9">
                <a:extLst>
                  <a:ext uri="{FF2B5EF4-FFF2-40B4-BE49-F238E27FC236}">
                    <a16:creationId xmlns:a16="http://schemas.microsoft.com/office/drawing/2014/main" id="{F0C858A2-1217-AD22-1FCA-1DAC2A169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960"/>
                <a:ext cx="1200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sz="2800"/>
              </a:p>
            </p:txBody>
          </p:sp>
          <p:sp>
            <p:nvSpPr>
              <p:cNvPr id="11318" name="Rectangle 10">
                <a:extLst>
                  <a:ext uri="{FF2B5EF4-FFF2-40B4-BE49-F238E27FC236}">
                    <a16:creationId xmlns:a16="http://schemas.microsoft.com/office/drawing/2014/main" id="{FF2E6BA0-A676-6E4E-BBB5-0A3961EBA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960"/>
                <a:ext cx="336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sz="2800"/>
              </a:p>
            </p:txBody>
          </p:sp>
          <p:sp>
            <p:nvSpPr>
              <p:cNvPr id="11319" name="Rectangle 11">
                <a:extLst>
                  <a:ext uri="{FF2B5EF4-FFF2-40B4-BE49-F238E27FC236}">
                    <a16:creationId xmlns:a16="http://schemas.microsoft.com/office/drawing/2014/main" id="{8A713F96-5523-2162-EB7D-A3C64BB6F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960"/>
                <a:ext cx="288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4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sz="2800">
                  <a:ea typeface="幼圆" panose="02010509060101010101" pitchFamily="49" charset="-122"/>
                </a:endParaRPr>
              </a:p>
            </p:txBody>
          </p:sp>
          <p:sp>
            <p:nvSpPr>
              <p:cNvPr id="11320" name="Line 12">
                <a:extLst>
                  <a:ext uri="{FF2B5EF4-FFF2-40B4-BE49-F238E27FC236}">
                    <a16:creationId xmlns:a16="http://schemas.microsoft.com/office/drawing/2014/main" id="{1E8DA366-8FED-E9FA-9177-9CAF3AE565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960"/>
                <a:ext cx="384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1" name="Line 13">
                <a:extLst>
                  <a:ext uri="{FF2B5EF4-FFF2-40B4-BE49-F238E27FC236}">
                    <a16:creationId xmlns:a16="http://schemas.microsoft.com/office/drawing/2014/main" id="{7B4AE0FC-C104-DFE5-C32F-F9077AEA0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328"/>
                <a:ext cx="384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2" name="Line 14">
                <a:extLst>
                  <a:ext uri="{FF2B5EF4-FFF2-40B4-BE49-F238E27FC236}">
                    <a16:creationId xmlns:a16="http://schemas.microsoft.com/office/drawing/2014/main" id="{2761F395-2101-2EA8-7501-58E50EAC0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960"/>
                <a:ext cx="0" cy="3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3" name="Line 15">
                <a:extLst>
                  <a:ext uri="{FF2B5EF4-FFF2-40B4-BE49-F238E27FC236}">
                    <a16:creationId xmlns:a16="http://schemas.microsoft.com/office/drawing/2014/main" id="{78DF3B82-0E4D-C0BE-82C7-7019BA759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960"/>
                <a:ext cx="0" cy="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4" name="Line 16">
                <a:extLst>
                  <a:ext uri="{FF2B5EF4-FFF2-40B4-BE49-F238E27FC236}">
                    <a16:creationId xmlns:a16="http://schemas.microsoft.com/office/drawing/2014/main" id="{42B1640A-5738-0E2F-9275-73F3C3EAE7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960"/>
                <a:ext cx="0" cy="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5" name="Line 17">
                <a:extLst>
                  <a:ext uri="{FF2B5EF4-FFF2-40B4-BE49-F238E27FC236}">
                    <a16:creationId xmlns:a16="http://schemas.microsoft.com/office/drawing/2014/main" id="{B4E5D937-DE16-0A5E-2704-B27A433736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960"/>
                <a:ext cx="0" cy="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6" name="Line 18">
                <a:extLst>
                  <a:ext uri="{FF2B5EF4-FFF2-40B4-BE49-F238E27FC236}">
                    <a16:creationId xmlns:a16="http://schemas.microsoft.com/office/drawing/2014/main" id="{88F9B9EE-3C3E-62E8-AB12-FC6846BE1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960"/>
                <a:ext cx="0" cy="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7" name="Line 19">
                <a:extLst>
                  <a:ext uri="{FF2B5EF4-FFF2-40B4-BE49-F238E27FC236}">
                    <a16:creationId xmlns:a16="http://schemas.microsoft.com/office/drawing/2014/main" id="{E96E2CEA-7E78-89CD-AF21-B61B45ECF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960"/>
                <a:ext cx="0" cy="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8" name="Line 20">
                <a:extLst>
                  <a:ext uri="{FF2B5EF4-FFF2-40B4-BE49-F238E27FC236}">
                    <a16:creationId xmlns:a16="http://schemas.microsoft.com/office/drawing/2014/main" id="{1F1E300F-690A-AEDD-4D5E-C2757B763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960"/>
                <a:ext cx="0" cy="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9" name="Line 21">
                <a:extLst>
                  <a:ext uri="{FF2B5EF4-FFF2-40B4-BE49-F238E27FC236}">
                    <a16:creationId xmlns:a16="http://schemas.microsoft.com/office/drawing/2014/main" id="{E357832C-2E21-B9F5-1487-A2020F603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960"/>
                <a:ext cx="0" cy="36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299" name="Text Box 22">
              <a:extLst>
                <a:ext uri="{FF2B5EF4-FFF2-40B4-BE49-F238E27FC236}">
                  <a16:creationId xmlns:a16="http://schemas.microsoft.com/office/drawing/2014/main" id="{C49B70AD-4913-2E56-66D6-2A7F65E39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968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  <a:ea typeface="幼圆" panose="02010509060101010101" pitchFamily="49" charset="-122"/>
                </a:rPr>
                <a:t>0</a:t>
              </a:r>
            </a:p>
          </p:txBody>
        </p:sp>
        <p:sp>
          <p:nvSpPr>
            <p:cNvPr id="11300" name="Text Box 23">
              <a:extLst>
                <a:ext uri="{FF2B5EF4-FFF2-40B4-BE49-F238E27FC236}">
                  <a16:creationId xmlns:a16="http://schemas.microsoft.com/office/drawing/2014/main" id="{D585E89E-F9BB-671D-5F1E-4F9852324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92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  <a:ea typeface="幼圆" panose="02010509060101010101" pitchFamily="49" charset="-122"/>
                </a:rPr>
                <a:t>5</a:t>
              </a:r>
            </a:p>
          </p:txBody>
        </p:sp>
        <p:sp>
          <p:nvSpPr>
            <p:cNvPr id="11301" name="Text Box 24">
              <a:extLst>
                <a:ext uri="{FF2B5EF4-FFF2-40B4-BE49-F238E27FC236}">
                  <a16:creationId xmlns:a16="http://schemas.microsoft.com/office/drawing/2014/main" id="{76D349F0-5FD2-F516-6FB8-B66AFB8FD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92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  <a:ea typeface="幼圆" panose="02010509060101010101" pitchFamily="49" charset="-122"/>
                </a:rPr>
                <a:t>6</a:t>
              </a:r>
            </a:p>
          </p:txBody>
        </p:sp>
        <p:sp>
          <p:nvSpPr>
            <p:cNvPr id="11302" name="Text Box 25">
              <a:extLst>
                <a:ext uri="{FF2B5EF4-FFF2-40B4-BE49-F238E27FC236}">
                  <a16:creationId xmlns:a16="http://schemas.microsoft.com/office/drawing/2014/main" id="{6B960FE2-5F18-3425-7DF6-C7334AB25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920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  <a:ea typeface="幼圆" panose="02010509060101010101" pitchFamily="49" charset="-122"/>
                </a:rPr>
                <a:t>15</a:t>
              </a:r>
            </a:p>
          </p:txBody>
        </p:sp>
        <p:sp>
          <p:nvSpPr>
            <p:cNvPr id="11303" name="Line 26">
              <a:extLst>
                <a:ext uri="{FF2B5EF4-FFF2-40B4-BE49-F238E27FC236}">
                  <a16:creationId xmlns:a16="http://schemas.microsoft.com/office/drawing/2014/main" id="{32C3A9A1-B256-6F63-BDA7-79BA4DEFF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44"/>
              <a:ext cx="96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4" name="Line 27">
              <a:extLst>
                <a:ext uri="{FF2B5EF4-FFF2-40B4-BE49-F238E27FC236}">
                  <a16:creationId xmlns:a16="http://schemas.microsoft.com/office/drawing/2014/main" id="{D0B83E09-974F-1883-64F2-D1A287BDC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96"/>
              <a:ext cx="96" cy="96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5" name="Line 28">
              <a:extLst>
                <a:ext uri="{FF2B5EF4-FFF2-40B4-BE49-F238E27FC236}">
                  <a16:creationId xmlns:a16="http://schemas.microsoft.com/office/drawing/2014/main" id="{B83D4369-153B-59F4-BC6A-39052237E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640"/>
              <a:ext cx="864" cy="192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6" name="Line 29">
              <a:extLst>
                <a:ext uri="{FF2B5EF4-FFF2-40B4-BE49-F238E27FC236}">
                  <a16:creationId xmlns:a16="http://schemas.microsoft.com/office/drawing/2014/main" id="{17FDAAC1-CAA1-BA39-E6E4-4503DB103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544"/>
              <a:ext cx="14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7" name="Line 30">
              <a:extLst>
                <a:ext uri="{FF2B5EF4-FFF2-40B4-BE49-F238E27FC236}">
                  <a16:creationId xmlns:a16="http://schemas.microsoft.com/office/drawing/2014/main" id="{E409F977-43B3-E92C-E87F-7684F96DE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59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8" name="Line 31">
              <a:extLst>
                <a:ext uri="{FF2B5EF4-FFF2-40B4-BE49-F238E27FC236}">
                  <a16:creationId xmlns:a16="http://schemas.microsoft.com/office/drawing/2014/main" id="{5F78DCC9-3B2A-E135-17C3-85F7BAC83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544"/>
              <a:ext cx="14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9" name="Text Box 32">
              <a:extLst>
                <a:ext uri="{FF2B5EF4-FFF2-40B4-BE49-F238E27FC236}">
                  <a16:creationId xmlns:a16="http://schemas.microsoft.com/office/drawing/2014/main" id="{D3A64A19-F870-B37F-0096-25ED46402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592"/>
              <a:ext cx="3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  <a:ea typeface="幼圆" panose="02010509060101010101" pitchFamily="49" charset="-122"/>
                </a:rPr>
                <a:t>数符</a:t>
              </a:r>
            </a:p>
          </p:txBody>
        </p:sp>
        <p:sp>
          <p:nvSpPr>
            <p:cNvPr id="11310" name="Text Box 33">
              <a:extLst>
                <a:ext uri="{FF2B5EF4-FFF2-40B4-BE49-F238E27FC236}">
                  <a16:creationId xmlns:a16="http://schemas.microsoft.com/office/drawing/2014/main" id="{91C396DF-968E-3D86-5517-589ED4B7F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256"/>
              <a:ext cx="3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  <a:ea typeface="幼圆" panose="02010509060101010101" pitchFamily="49" charset="-122"/>
                </a:rPr>
                <a:t>阶码</a:t>
              </a:r>
            </a:p>
          </p:txBody>
        </p:sp>
        <p:sp>
          <p:nvSpPr>
            <p:cNvPr id="11311" name="Text Box 34">
              <a:extLst>
                <a:ext uri="{FF2B5EF4-FFF2-40B4-BE49-F238E27FC236}">
                  <a16:creationId xmlns:a16="http://schemas.microsoft.com/office/drawing/2014/main" id="{3D0CC646-D2F3-484F-5B88-E5EA91723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256"/>
              <a:ext cx="3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  <a:ea typeface="幼圆" panose="02010509060101010101" pitchFamily="49" charset="-122"/>
                </a:rPr>
                <a:t>尾数</a:t>
              </a:r>
            </a:p>
          </p:txBody>
        </p:sp>
        <p:sp>
          <p:nvSpPr>
            <p:cNvPr id="11312" name="Text Box 35">
              <a:extLst>
                <a:ext uri="{FF2B5EF4-FFF2-40B4-BE49-F238E27FC236}">
                  <a16:creationId xmlns:a16="http://schemas.microsoft.com/office/drawing/2014/main" id="{542622D4-3F08-AFAC-C8F4-895190BC3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20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endParaRPr kumimoji="1" lang="en-US" altLang="zh-CN" sz="2400"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grpSp>
        <p:nvGrpSpPr>
          <p:cNvPr id="138276" name="Group 36">
            <a:extLst>
              <a:ext uri="{FF2B5EF4-FFF2-40B4-BE49-F238E27FC236}">
                <a16:creationId xmlns:a16="http://schemas.microsoft.com/office/drawing/2014/main" id="{C4C0AF64-FC8B-2052-B91D-A5C4882B46DF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635375"/>
            <a:ext cx="7991475" cy="2773363"/>
            <a:chOff x="431" y="2290"/>
            <a:chExt cx="5034" cy="1747"/>
          </a:xfrm>
        </p:grpSpPr>
        <p:sp>
          <p:nvSpPr>
            <p:cNvPr id="11270" name="Text Box 37">
              <a:extLst>
                <a:ext uri="{FF2B5EF4-FFF2-40B4-BE49-F238E27FC236}">
                  <a16:creationId xmlns:a16="http://schemas.microsoft.com/office/drawing/2014/main" id="{F7994106-CA24-6999-232A-274BDB6DB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3034"/>
              <a:ext cx="45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1" name="Rectangle 38">
              <a:extLst>
                <a:ext uri="{FF2B5EF4-FFF2-40B4-BE49-F238E27FC236}">
                  <a16:creationId xmlns:a16="http://schemas.microsoft.com/office/drawing/2014/main" id="{877BF778-1E7D-A7E7-1A0D-D1FDF8D45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3748"/>
              <a:ext cx="158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(2</a:t>
              </a:r>
              <a:r>
                <a:rPr lang="zh-CN" altLang="en-US" sz="2800" baseline="30000">
                  <a:latin typeface="Times New Roman" panose="02020603050405020304" pitchFamily="18" charset="0"/>
                </a:rPr>
                <a:t>2</a:t>
              </a:r>
              <a:r>
                <a:rPr lang="en-US" altLang="zh-CN" sz="2800" baseline="60000">
                  <a:latin typeface="Times New Roman" panose="02020603050405020304" pitchFamily="18" charset="0"/>
                </a:rPr>
                <a:t>7</a:t>
              </a:r>
              <a:r>
                <a:rPr lang="en-US" altLang="zh-CN" sz="2800" baseline="30000">
                  <a:latin typeface="Times New Roman" panose="02020603050405020304" pitchFamily="18" charset="0"/>
                </a:rPr>
                <a:t>-1</a:t>
              </a:r>
              <a:r>
                <a:rPr lang="en-US" altLang="zh-CN" sz="2800">
                  <a:latin typeface="Times New Roman" panose="02020603050405020304" pitchFamily="18" charset="0"/>
                </a:rPr>
                <a:t>)(-1)</a:t>
              </a:r>
            </a:p>
          </p:txBody>
        </p:sp>
        <p:sp>
          <p:nvSpPr>
            <p:cNvPr id="11272" name="Rectangle 39">
              <a:extLst>
                <a:ext uri="{FF2B5EF4-FFF2-40B4-BE49-F238E27FC236}">
                  <a16:creationId xmlns:a16="http://schemas.microsoft.com/office/drawing/2014/main" id="{203CAEB9-103F-3C67-DADB-F2AC76EB5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3750"/>
              <a:ext cx="207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  </a:t>
              </a:r>
              <a:r>
                <a:rPr lang="en-US" altLang="zh-CN" sz="2800">
                  <a:latin typeface="Times New Roman" panose="02020603050405020304" pitchFamily="18" charset="0"/>
                </a:rPr>
                <a:t>01…1,        1.00…0</a:t>
              </a:r>
            </a:p>
          </p:txBody>
        </p:sp>
        <p:sp>
          <p:nvSpPr>
            <p:cNvPr id="11273" name="Rectangle 40">
              <a:extLst>
                <a:ext uri="{FF2B5EF4-FFF2-40B4-BE49-F238E27FC236}">
                  <a16:creationId xmlns:a16="http://schemas.microsoft.com/office/drawing/2014/main" id="{9C150F1E-30A4-CD99-B2CB-110D7EA9D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3750"/>
              <a:ext cx="14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最小负数</a:t>
              </a:r>
            </a:p>
          </p:txBody>
        </p:sp>
        <p:sp>
          <p:nvSpPr>
            <p:cNvPr id="11274" name="Rectangle 41">
              <a:extLst>
                <a:ext uri="{FF2B5EF4-FFF2-40B4-BE49-F238E27FC236}">
                  <a16:creationId xmlns:a16="http://schemas.microsoft.com/office/drawing/2014/main" id="{E871BA25-63A1-542F-9A9B-340F9FDB5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3461"/>
              <a:ext cx="138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(2</a:t>
              </a:r>
              <a:r>
                <a:rPr lang="en-US" altLang="zh-CN" sz="2800" baseline="30000">
                  <a:latin typeface="Times New Roman" panose="02020603050405020304" pitchFamily="18" charset="0"/>
                </a:rPr>
                <a:t>-2</a:t>
              </a:r>
              <a:r>
                <a:rPr lang="en-US" altLang="zh-CN" sz="2800" baseline="60000">
                  <a:latin typeface="Times New Roman" panose="02020603050405020304" pitchFamily="18" charset="0"/>
                </a:rPr>
                <a:t>7</a:t>
              </a:r>
              <a:r>
                <a:rPr lang="en-US" altLang="zh-CN" sz="2800">
                  <a:latin typeface="Times New Roman" panose="02020603050405020304" pitchFamily="18" charset="0"/>
                </a:rPr>
                <a:t>)(-2</a:t>
              </a:r>
              <a:r>
                <a:rPr lang="en-US" altLang="zh-CN" sz="2800" baseline="30000">
                  <a:latin typeface="Times New Roman" panose="02020603050405020304" pitchFamily="18" charset="0"/>
                </a:rPr>
                <a:t>-1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75" name="Rectangle 42">
              <a:extLst>
                <a:ext uri="{FF2B5EF4-FFF2-40B4-BE49-F238E27FC236}">
                  <a16:creationId xmlns:a16="http://schemas.microsoft.com/office/drawing/2014/main" id="{A5EB3BA5-867C-E913-9B24-0DDD30FC1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3463"/>
              <a:ext cx="207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  </a:t>
              </a:r>
              <a:r>
                <a:rPr lang="en-US" altLang="zh-CN" sz="2800">
                  <a:latin typeface="Times New Roman" panose="02020603050405020304" pitchFamily="18" charset="0"/>
                </a:rPr>
                <a:t>10…0,        1.10…0</a:t>
              </a:r>
            </a:p>
          </p:txBody>
        </p:sp>
        <p:sp>
          <p:nvSpPr>
            <p:cNvPr id="11276" name="Rectangle 43">
              <a:extLst>
                <a:ext uri="{FF2B5EF4-FFF2-40B4-BE49-F238E27FC236}">
                  <a16:creationId xmlns:a16="http://schemas.microsoft.com/office/drawing/2014/main" id="{12743911-2D36-08E3-6C65-64C28F87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3463"/>
              <a:ext cx="14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最大负数</a:t>
              </a:r>
            </a:p>
          </p:txBody>
        </p:sp>
        <p:sp>
          <p:nvSpPr>
            <p:cNvPr id="11277" name="Rectangle 44">
              <a:extLst>
                <a:ext uri="{FF2B5EF4-FFF2-40B4-BE49-F238E27FC236}">
                  <a16:creationId xmlns:a16="http://schemas.microsoft.com/office/drawing/2014/main" id="{2DE58ABC-7F4D-DB7E-45EC-365C80BBC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3151"/>
              <a:ext cx="1384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(2</a:t>
              </a:r>
              <a:r>
                <a:rPr lang="zh-CN" altLang="en-US" sz="2800" baseline="30000">
                  <a:latin typeface="Times New Roman" panose="02020603050405020304" pitchFamily="18" charset="0"/>
                </a:rPr>
                <a:t>2</a:t>
              </a:r>
              <a:r>
                <a:rPr lang="en-US" altLang="zh-CN" sz="2800" baseline="60000">
                  <a:latin typeface="Times New Roman" panose="02020603050405020304" pitchFamily="18" charset="0"/>
                </a:rPr>
                <a:t>7</a:t>
              </a:r>
              <a:r>
                <a:rPr lang="en-US" altLang="zh-CN" sz="2800" baseline="30000">
                  <a:latin typeface="Times New Roman" panose="02020603050405020304" pitchFamily="18" charset="0"/>
                </a:rPr>
                <a:t>-1</a:t>
              </a:r>
              <a:r>
                <a:rPr lang="en-US" altLang="zh-CN" sz="2800">
                  <a:latin typeface="Times New Roman" panose="02020603050405020304" pitchFamily="18" charset="0"/>
                </a:rPr>
                <a:t>)(1-2</a:t>
              </a:r>
              <a:r>
                <a:rPr lang="en-US" altLang="zh-CN" sz="2800" baseline="30000">
                  <a:latin typeface="Times New Roman" panose="02020603050405020304" pitchFamily="18" charset="0"/>
                </a:rPr>
                <a:t>-23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1278" name="Rectangle 45">
              <a:extLst>
                <a:ext uri="{FF2B5EF4-FFF2-40B4-BE49-F238E27FC236}">
                  <a16:creationId xmlns:a16="http://schemas.microsoft.com/office/drawing/2014/main" id="{62A97375-26D8-2FCE-9010-9EDC80DC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3151"/>
              <a:ext cx="2072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  </a:t>
              </a:r>
              <a:r>
                <a:rPr lang="en-US" altLang="zh-CN" sz="2800">
                  <a:latin typeface="Times New Roman" panose="02020603050405020304" pitchFamily="18" charset="0"/>
                </a:rPr>
                <a:t>01…1,        0.11…1</a:t>
              </a:r>
            </a:p>
          </p:txBody>
        </p:sp>
        <p:sp>
          <p:nvSpPr>
            <p:cNvPr id="11279" name="Rectangle 46">
              <a:extLst>
                <a:ext uri="{FF2B5EF4-FFF2-40B4-BE49-F238E27FC236}">
                  <a16:creationId xmlns:a16="http://schemas.microsoft.com/office/drawing/2014/main" id="{0670ABD1-E0E9-445C-9A07-9D4F5723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3151"/>
              <a:ext cx="14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最大正数</a:t>
              </a:r>
            </a:p>
          </p:txBody>
        </p:sp>
        <p:sp>
          <p:nvSpPr>
            <p:cNvPr id="11280" name="Rectangle 47">
              <a:extLst>
                <a:ext uri="{FF2B5EF4-FFF2-40B4-BE49-F238E27FC236}">
                  <a16:creationId xmlns:a16="http://schemas.microsoft.com/office/drawing/2014/main" id="{607D8359-DC90-B6B6-D284-A5BB4FC4F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2866"/>
              <a:ext cx="1384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(2</a:t>
              </a:r>
              <a:r>
                <a:rPr lang="en-US" altLang="zh-CN" sz="2800" baseline="30000">
                  <a:latin typeface="Times New Roman" panose="02020603050405020304" pitchFamily="18" charset="0"/>
                </a:rPr>
                <a:t>-2</a:t>
              </a:r>
              <a:r>
                <a:rPr lang="en-US" altLang="zh-CN" sz="2800" baseline="60000">
                  <a:latin typeface="Times New Roman" panose="02020603050405020304" pitchFamily="18" charset="0"/>
                </a:rPr>
                <a:t>7</a:t>
              </a:r>
              <a:r>
                <a:rPr lang="en-US" altLang="zh-CN" sz="2800">
                  <a:latin typeface="Times New Roman" panose="02020603050405020304" pitchFamily="18" charset="0"/>
                </a:rPr>
                <a:t>)(2</a:t>
              </a:r>
              <a:r>
                <a:rPr lang="en-US" altLang="zh-CN" sz="2800" baseline="30000">
                  <a:latin typeface="Times New Roman" panose="02020603050405020304" pitchFamily="18" charset="0"/>
                </a:rPr>
                <a:t>-1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1281" name="Rectangle 48">
              <a:extLst>
                <a:ext uri="{FF2B5EF4-FFF2-40B4-BE49-F238E27FC236}">
                  <a16:creationId xmlns:a16="http://schemas.microsoft.com/office/drawing/2014/main" id="{1E222F23-501C-2A1B-AF46-EAA3E93C3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864"/>
              <a:ext cx="207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  </a:t>
              </a:r>
              <a:r>
                <a:rPr lang="en-US" altLang="zh-CN" sz="2800">
                  <a:latin typeface="Times New Roman" panose="02020603050405020304" pitchFamily="18" charset="0"/>
                </a:rPr>
                <a:t>10…0,        0.10…0</a:t>
              </a:r>
            </a:p>
          </p:txBody>
        </p:sp>
        <p:sp>
          <p:nvSpPr>
            <p:cNvPr id="11282" name="Rectangle 49">
              <a:extLst>
                <a:ext uri="{FF2B5EF4-FFF2-40B4-BE49-F238E27FC236}">
                  <a16:creationId xmlns:a16="http://schemas.microsoft.com/office/drawing/2014/main" id="{2F8A4F41-7B0F-7637-7B39-05CD86373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2864"/>
              <a:ext cx="14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最小正数</a:t>
              </a:r>
            </a:p>
          </p:txBody>
        </p:sp>
        <p:sp>
          <p:nvSpPr>
            <p:cNvPr id="11283" name="Rectangle 50">
              <a:extLst>
                <a:ext uri="{FF2B5EF4-FFF2-40B4-BE49-F238E27FC236}">
                  <a16:creationId xmlns:a16="http://schemas.microsoft.com/office/drawing/2014/main" id="{EE31CDCF-AF44-FEF5-EC4D-B142AF5A8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577"/>
              <a:ext cx="207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    阶码            尾数</a:t>
              </a:r>
            </a:p>
          </p:txBody>
        </p:sp>
        <p:sp>
          <p:nvSpPr>
            <p:cNvPr id="11284" name="Rectangle 51">
              <a:extLst>
                <a:ext uri="{FF2B5EF4-FFF2-40B4-BE49-F238E27FC236}">
                  <a16:creationId xmlns:a16="http://schemas.microsoft.com/office/drawing/2014/main" id="{68C38200-2262-5B29-BCD5-054A37228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290"/>
              <a:ext cx="1384" cy="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真值</a:t>
              </a:r>
            </a:p>
          </p:txBody>
        </p:sp>
        <p:sp>
          <p:nvSpPr>
            <p:cNvPr id="11285" name="Rectangle 52">
              <a:extLst>
                <a:ext uri="{FF2B5EF4-FFF2-40B4-BE49-F238E27FC236}">
                  <a16:creationId xmlns:a16="http://schemas.microsoft.com/office/drawing/2014/main" id="{11D6747E-9268-74D7-B182-377858441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90"/>
              <a:ext cx="207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800"/>
                <a:t>浮点数代码</a:t>
              </a:r>
            </a:p>
          </p:txBody>
        </p:sp>
        <p:sp>
          <p:nvSpPr>
            <p:cNvPr id="11286" name="Rectangle 53">
              <a:extLst>
                <a:ext uri="{FF2B5EF4-FFF2-40B4-BE49-F238E27FC236}">
                  <a16:creationId xmlns:a16="http://schemas.microsoft.com/office/drawing/2014/main" id="{5FC91E8C-0231-FD08-8F36-AAAD9BDA2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2290"/>
              <a:ext cx="1488" cy="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339933"/>
                  </a:solidFill>
                </a:rPr>
                <a:t>用补码表示</a:t>
              </a:r>
            </a:p>
          </p:txBody>
        </p:sp>
        <p:sp>
          <p:nvSpPr>
            <p:cNvPr id="11287" name="Line 54">
              <a:extLst>
                <a:ext uri="{FF2B5EF4-FFF2-40B4-BE49-F238E27FC236}">
                  <a16:creationId xmlns:a16="http://schemas.microsoft.com/office/drawing/2014/main" id="{B5CA492D-B394-06D1-3D60-C8C904B2F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290"/>
              <a:ext cx="49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8" name="Line 55">
              <a:extLst>
                <a:ext uri="{FF2B5EF4-FFF2-40B4-BE49-F238E27FC236}">
                  <a16:creationId xmlns:a16="http://schemas.microsoft.com/office/drawing/2014/main" id="{991F03C6-E84F-79E4-D29A-6B915CBF0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864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9" name="Line 56">
              <a:extLst>
                <a:ext uri="{FF2B5EF4-FFF2-40B4-BE49-F238E27FC236}">
                  <a16:creationId xmlns:a16="http://schemas.microsoft.com/office/drawing/2014/main" id="{7D109804-62FA-B4C3-9AE1-7F347C35A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3151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0" name="Line 57">
              <a:extLst>
                <a:ext uri="{FF2B5EF4-FFF2-40B4-BE49-F238E27FC236}">
                  <a16:creationId xmlns:a16="http://schemas.microsoft.com/office/drawing/2014/main" id="{4BC1D274-9321-9A3F-6BEE-AC4B37D3E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3463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1" name="Line 58">
              <a:extLst>
                <a:ext uri="{FF2B5EF4-FFF2-40B4-BE49-F238E27FC236}">
                  <a16:creationId xmlns:a16="http://schemas.microsoft.com/office/drawing/2014/main" id="{8F8EA84F-DA93-3B72-9899-F89FCB80E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3748"/>
              <a:ext cx="49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2" name="Line 59">
              <a:extLst>
                <a:ext uri="{FF2B5EF4-FFF2-40B4-BE49-F238E27FC236}">
                  <a16:creationId xmlns:a16="http://schemas.microsoft.com/office/drawing/2014/main" id="{43D94C0B-5515-228C-67C6-18CADB81C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4037"/>
              <a:ext cx="49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3" name="Line 60">
              <a:extLst>
                <a:ext uri="{FF2B5EF4-FFF2-40B4-BE49-F238E27FC236}">
                  <a16:creationId xmlns:a16="http://schemas.microsoft.com/office/drawing/2014/main" id="{278F3E07-4831-F6C5-15EF-27117FFDB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290"/>
              <a:ext cx="0" cy="1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4" name="Line 61">
              <a:extLst>
                <a:ext uri="{FF2B5EF4-FFF2-40B4-BE49-F238E27FC236}">
                  <a16:creationId xmlns:a16="http://schemas.microsoft.com/office/drawing/2014/main" id="{2C8C7FE5-8B80-2614-A528-0078EBE0E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2290"/>
              <a:ext cx="0" cy="1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5" name="Line 62">
              <a:extLst>
                <a:ext uri="{FF2B5EF4-FFF2-40B4-BE49-F238E27FC236}">
                  <a16:creationId xmlns:a16="http://schemas.microsoft.com/office/drawing/2014/main" id="{5D16DBAA-0D49-1C5B-71B7-A622B3C94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290"/>
              <a:ext cx="0" cy="1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6" name="Line 63">
              <a:extLst>
                <a:ext uri="{FF2B5EF4-FFF2-40B4-BE49-F238E27FC236}">
                  <a16:creationId xmlns:a16="http://schemas.microsoft.com/office/drawing/2014/main" id="{0B5FEB6B-177E-E56C-BDA3-609E696B2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5" y="2290"/>
              <a:ext cx="0" cy="1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7" name="Line 64">
              <a:extLst>
                <a:ext uri="{FF2B5EF4-FFF2-40B4-BE49-F238E27FC236}">
                  <a16:creationId xmlns:a16="http://schemas.microsoft.com/office/drawing/2014/main" id="{1EB71ED4-8EAB-C27A-57DB-D318E33E0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2577"/>
              <a:ext cx="2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8306" name="Text Box 66">
            <a:extLst>
              <a:ext uri="{FF2B5EF4-FFF2-40B4-BE49-F238E27FC236}">
                <a16:creationId xmlns:a16="http://schemas.microsoft.com/office/drawing/2014/main" id="{E9F4D66F-679D-33F3-0FCD-CAB77300D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5888"/>
            <a:ext cx="78486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设浮点字长为</a:t>
            </a:r>
            <a:r>
              <a:rPr kumimoji="1"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位，其中阶码</a:t>
            </a:r>
            <a:r>
              <a:rPr kumimoji="1"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位（含</a:t>
            </a:r>
            <a:r>
              <a:rPr kumimoji="1"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位阶符），基值为</a:t>
            </a:r>
            <a:r>
              <a:rPr kumimoji="1"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，尾数</a:t>
            </a:r>
            <a:r>
              <a:rPr kumimoji="1"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kumimoji="1"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位（含</a:t>
            </a:r>
            <a:r>
              <a:rPr kumimoji="1"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位数符），若阶码和尾数采用同一种机器数形式，试问当该浮点数用补码表示时，且尾数为规格化形式，分别写出它们所对应的最大正数、最小正数、最大负数和最小负数的机器数形式及十进制真值。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 autoUpdateAnimBg="0"/>
      <p:bldP spid="138306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>
            <a:extLst>
              <a:ext uri="{FF2B5EF4-FFF2-40B4-BE49-F238E27FC236}">
                <a16:creationId xmlns:a16="http://schemas.microsoft.com/office/drawing/2014/main" id="{31BD8616-018D-7E3C-C825-8BA76660A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25575"/>
            <a:ext cx="83534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5000"/>
              </a:spcBef>
            </a:pP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补码加减法判断溢出</a:t>
            </a: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X=11/16， Y  = 9/16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[X]</a:t>
            </a:r>
            <a:r>
              <a:rPr lang="zh-CN" altLang="en-US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补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 =00.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1011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[Y]</a:t>
            </a:r>
            <a:r>
              <a:rPr lang="zh-CN" altLang="en-US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补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 =00.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1001</a:t>
            </a:r>
          </a:p>
          <a:p>
            <a:pPr eaLnBrk="1" hangingPunct="1">
              <a:spcBef>
                <a:spcPct val="45000"/>
              </a:spcBef>
            </a:pP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加法计算过程如下：</a:t>
            </a: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计算结果的符号位为“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01”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，按照两位符号位运算规则，产生了溢出，且为正溢出。</a:t>
            </a: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1C921AC-45E2-4BF3-F13C-9717E237FB1F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4076700"/>
          <a:ext cx="6624639" cy="14636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6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3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3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 dirty="0">
                          <a:effectLst/>
                        </a:rPr>
                        <a:t>0.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>
                          <a:effectLst/>
                        </a:rPr>
                        <a:t>+</a:t>
                      </a:r>
                      <a:r>
                        <a:rPr lang="zh-CN" sz="3200" kern="100">
                          <a:effectLst/>
                        </a:rPr>
                        <a:t>）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 dirty="0">
                          <a:effectLst/>
                        </a:rPr>
                        <a:t>0.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>
                          <a:effectLst/>
                        </a:rPr>
                        <a:t>0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>
                          <a:effectLst/>
                        </a:rPr>
                        <a:t>1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 dirty="0">
                          <a:effectLst/>
                        </a:rPr>
                        <a:t>1.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3200" kern="100">
                          <a:effectLst/>
                        </a:rPr>
                        <a:t>0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>
            <a:extLst>
              <a:ext uri="{FF2B5EF4-FFF2-40B4-BE49-F238E27FC236}">
                <a16:creationId xmlns:a16="http://schemas.microsoft.com/office/drawing/2014/main" id="{08BFBE04-0E20-632D-B28F-93435EA7C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62125"/>
            <a:ext cx="83534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5000"/>
              </a:spcBef>
            </a:pP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浮点数加减法（阶码、尾数8位，均用双符号位补码表示）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X=2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-4  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×（11/16）， Y  = 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-3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 ×（9/16）；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[X+Y]</a:t>
            </a:r>
            <a:r>
              <a:rPr lang="zh-CN" altLang="en-US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补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 =11，1111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01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； 00.1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11010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X+Y = 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-3 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×（0.111010）</a:t>
            </a:r>
            <a:r>
              <a:rPr lang="en-US" altLang="zh-CN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  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= 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-3 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×（29/32）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[X-Y]</a:t>
            </a:r>
            <a:r>
              <a:rPr lang="zh-CN" altLang="en-US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补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 =11，111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011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； 11.00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1000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X-Y = - 2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-5 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×（0.111000）</a:t>
            </a:r>
            <a:r>
              <a:rPr lang="en-US" altLang="zh-CN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   = - 2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-5 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×（7/8）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F3DF3001-F93F-6D3E-3827-B280A1676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8913"/>
            <a:ext cx="84391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=11,111100      [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=11,111101     [-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=00,000011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=00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.101100     [M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=00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.100100    [- 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=11.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011100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FE13510F-4285-13C6-0859-8FCDCB518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1527175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/>
              <a:t>①对阶 [△</a:t>
            </a:r>
            <a:r>
              <a:rPr lang="en-US" altLang="zh-CN"/>
              <a:t>E]</a:t>
            </a:r>
            <a:r>
              <a:rPr lang="zh-CN" altLang="en-US" baseline="-25000"/>
              <a:t>补</a:t>
            </a:r>
            <a:r>
              <a:rPr lang="zh-CN" altLang="en-US"/>
              <a:t>= [</a:t>
            </a:r>
            <a:r>
              <a:rPr lang="en-US" altLang="zh-CN"/>
              <a:t>E</a:t>
            </a:r>
            <a:r>
              <a:rPr lang="en-US" altLang="zh-CN" baseline="-25000"/>
              <a:t>x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 sz="2000"/>
              <a:t>+</a:t>
            </a:r>
            <a:r>
              <a:rPr lang="zh-CN" altLang="en-US"/>
              <a:t>[-</a:t>
            </a:r>
            <a:r>
              <a:rPr lang="en-US" altLang="zh-CN"/>
              <a:t>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zh-CN" baseline="-25000"/>
              <a:t>补</a:t>
            </a:r>
            <a:endParaRPr lang="zh-CN" altLang="en-US" baseline="-25000"/>
          </a:p>
        </p:txBody>
      </p:sp>
      <p:sp>
        <p:nvSpPr>
          <p:cNvPr id="162820" name="Rectangle 4">
            <a:extLst>
              <a:ext uri="{FF2B5EF4-FFF2-40B4-BE49-F238E27FC236}">
                <a16:creationId xmlns:a16="http://schemas.microsoft.com/office/drawing/2014/main" id="{562528A7-BED5-C661-03DB-670EA418E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973263"/>
            <a:ext cx="5029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   [</a:t>
            </a:r>
            <a:r>
              <a:rPr lang="en-US" altLang="zh-CN"/>
              <a:t>E</a:t>
            </a:r>
            <a:r>
              <a:rPr lang="en-US" altLang="zh-CN" baseline="-25000"/>
              <a:t>x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        11,111100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+[-</a:t>
            </a:r>
            <a:r>
              <a:rPr lang="en-US" altLang="zh-CN"/>
              <a:t>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   </a:t>
            </a:r>
            <a:r>
              <a:rPr lang="zh-CN" altLang="en-US"/>
              <a:t>      00,000011</a:t>
            </a:r>
          </a:p>
          <a:p>
            <a:pPr lvl="2" eaLnBrk="1" hangingPunct="1">
              <a:lnSpc>
                <a:spcPct val="6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—————————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[△</a:t>
            </a:r>
            <a:r>
              <a:rPr lang="en-US" altLang="zh-CN"/>
              <a:t>E]</a:t>
            </a:r>
            <a:r>
              <a:rPr lang="zh-CN" altLang="en-US" baseline="-25000"/>
              <a:t>补</a:t>
            </a:r>
            <a:r>
              <a:rPr lang="zh-CN" altLang="en-US"/>
              <a:t>=   </a:t>
            </a:r>
            <a:r>
              <a:rPr lang="zh-CN" altLang="en-US" baseline="-25000"/>
              <a:t>     </a:t>
            </a:r>
            <a:r>
              <a:rPr lang="zh-CN" altLang="en-US"/>
              <a:t>11,111111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62821" name="Text Box 5">
            <a:extLst>
              <a:ext uri="{FF2B5EF4-FFF2-40B4-BE49-F238E27FC236}">
                <a16:creationId xmlns:a16="http://schemas.microsoft.com/office/drawing/2014/main" id="{E649D2E0-B35D-2A95-70AF-D83B0538A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573463"/>
            <a:ext cx="7848600" cy="13700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2" eaLnBrk="1" hangingPunct="1">
              <a:spcBef>
                <a:spcPct val="50000"/>
              </a:spcBef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即 △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E = -1，x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阶码 &lt; 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y</a:t>
            </a:r>
            <a:r>
              <a:rPr kumimoji="1" lang="zh-CN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阶码，将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x</a:t>
            </a:r>
            <a:r>
              <a:rPr kumimoji="1" lang="zh-CN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的尾数右移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一</a:t>
            </a:r>
            <a:r>
              <a:rPr kumimoji="1" lang="zh-CN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位，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E</a:t>
            </a:r>
            <a:r>
              <a:rPr kumimoji="1" lang="en-US" altLang="zh-CN" sz="2400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x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+1， |△E| = 0，</a:t>
            </a:r>
            <a:r>
              <a:rPr kumimoji="1" lang="zh-CN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对阶完毕。</a:t>
            </a:r>
          </a:p>
          <a:p>
            <a:pPr lvl="2" eaLnBrk="1" hangingPunct="1">
              <a:spcBef>
                <a:spcPct val="50000"/>
              </a:spcBef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[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E</a:t>
            </a:r>
            <a:r>
              <a:rPr kumimoji="1" lang="en-US" altLang="zh-CN" sz="2400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x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]</a:t>
            </a:r>
            <a:r>
              <a:rPr kumimoji="1" lang="zh-CN" altLang="en-US" sz="2400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补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′= 11,111101       [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M</a:t>
            </a:r>
            <a:r>
              <a:rPr kumimoji="1" lang="en-US" altLang="zh-CN" sz="2400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x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]</a:t>
            </a:r>
            <a:r>
              <a:rPr kumimoji="1" lang="zh-CN" altLang="en-US" sz="2400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补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′</a:t>
            </a:r>
            <a:r>
              <a:rPr kumimoji="1" lang="zh-CN" altLang="en-US" sz="2400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 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=00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.010110</a:t>
            </a:r>
            <a:r>
              <a:rPr kumimoji="1" lang="en-US" altLang="zh-CN" sz="2400">
                <a:latin typeface="Times New Roman" pitchFamily="18" charset="0"/>
                <a:ea typeface="华文新魏" pitchFamily="2" charset="-122"/>
              </a:rPr>
              <a:t> </a:t>
            </a:r>
          </a:p>
        </p:txBody>
      </p:sp>
      <p:sp>
        <p:nvSpPr>
          <p:cNvPr id="162822" name="Rectangle 6">
            <a:extLst>
              <a:ext uri="{FF2B5EF4-FFF2-40B4-BE49-F238E27FC236}">
                <a16:creationId xmlns:a16="http://schemas.microsoft.com/office/drawing/2014/main" id="{FE488B0D-9CA8-7C0C-2704-235E1887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5040313"/>
            <a:ext cx="7772400" cy="112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/>
              <a:t>②尾数相加           [</a:t>
            </a:r>
            <a:r>
              <a:rPr lang="en-US" altLang="zh-CN"/>
              <a:t>M</a:t>
            </a:r>
            <a:r>
              <a:rPr lang="en-US" altLang="zh-CN" baseline="-25000"/>
              <a:t>x</a:t>
            </a:r>
            <a:r>
              <a:rPr lang="en-US" altLang="zh-CN"/>
              <a:t>+M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=0</a:t>
            </a:r>
            <a:r>
              <a:rPr lang="en-US" altLang="zh-CN"/>
              <a:t>0.111010</a:t>
            </a: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/>
              <a:t>X+Y = 2</a:t>
            </a:r>
            <a:r>
              <a:rPr lang="en-US" altLang="zh-CN" baseline="30000"/>
              <a:t>-3 </a:t>
            </a:r>
            <a:r>
              <a:rPr lang="en-US" altLang="zh-CN"/>
              <a:t>×（0.111010）</a:t>
            </a:r>
            <a:r>
              <a:rPr lang="en-US" altLang="zh-CN" baseline="-25000"/>
              <a:t>2  </a:t>
            </a:r>
            <a:r>
              <a:rPr lang="en-US" altLang="zh-CN"/>
              <a:t>= 2</a:t>
            </a:r>
            <a:r>
              <a:rPr lang="en-US" altLang="zh-CN" baseline="30000"/>
              <a:t>-3 </a:t>
            </a:r>
            <a:r>
              <a:rPr lang="en-US" altLang="zh-CN"/>
              <a:t>×（29/32）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2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2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8" grpId="0" build="p" bldLvl="2" autoUpdateAnimBg="0"/>
      <p:bldP spid="162819" grpId="0" build="p" autoUpdateAnimBg="0"/>
      <p:bldP spid="162820" grpId="0" autoUpdateAnimBg="0"/>
      <p:bldP spid="162821" grpId="0"/>
      <p:bldP spid="162822" grpId="0" build="p" bldLvl="3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1189DF30-2037-247A-B67F-8455B11D6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773238"/>
            <a:ext cx="77724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  <a:ea typeface="华文新魏" panose="02010800040101010101" pitchFamily="2" charset="-122"/>
              </a:rPr>
              <a:t>② ′尾数相减</a:t>
            </a:r>
            <a:endParaRPr lang="en-US" altLang="zh-CN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  <a:ea typeface="华文新魏" panose="02010800040101010101" pitchFamily="2" charset="-122"/>
              </a:rPr>
              <a:t>              [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M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-M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y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补</a:t>
            </a:r>
            <a:r>
              <a:rPr lang="zh-CN" altLang="en-US">
                <a:latin typeface="Times New Roman" panose="02020603050405020304" pitchFamily="18" charset="0"/>
                <a:ea typeface="华文新魏" panose="02010800040101010101" pitchFamily="2" charset="-122"/>
              </a:rPr>
              <a:t>=11.1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10010</a:t>
            </a: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  <a:ea typeface="华文新魏" panose="02010800040101010101" pitchFamily="2" charset="-122"/>
              </a:rPr>
              <a:t>③ ′左规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：[M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-M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y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补</a:t>
            </a:r>
            <a:r>
              <a:rPr lang="zh-CN" altLang="en-US">
                <a:latin typeface="Times New Roman" panose="02020603050405020304" pitchFamily="18" charset="0"/>
                <a:ea typeface="华文新魏" panose="02010800040101010101" pitchFamily="2" charset="-122"/>
              </a:rPr>
              <a:t>=11.00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1000   [E]</a:t>
            </a:r>
            <a:r>
              <a:rPr lang="zh-CN" altLang="en-US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补</a:t>
            </a:r>
            <a:r>
              <a:rPr lang="zh-CN" altLang="en-US">
                <a:latin typeface="Times New Roman" panose="02020603050405020304" pitchFamily="18" charset="0"/>
                <a:ea typeface="华文新魏" panose="02010800040101010101" pitchFamily="2" charset="-122"/>
              </a:rPr>
              <a:t>=11.111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011 </a:t>
            </a: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X-Y = -2</a:t>
            </a:r>
            <a:r>
              <a:rPr lang="en-US" altLang="zh-CN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-5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×（0.111000）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 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= -2</a:t>
            </a:r>
            <a:r>
              <a:rPr lang="en-US" altLang="zh-CN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-5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×（7/8）</a:t>
            </a:r>
            <a:endParaRPr lang="zh-CN" altLang="en-US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6" grpId="0" build="p" bldLvl="3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>
            <a:extLst>
              <a:ext uri="{FF2B5EF4-FFF2-40B4-BE49-F238E27FC236}">
                <a16:creationId xmlns:a16="http://schemas.microsoft.com/office/drawing/2014/main" id="{B1B3EBA3-2761-92AE-D306-5142E0123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62125"/>
            <a:ext cx="867568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5000"/>
              </a:spcBef>
            </a:pP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浮点数乘法（阶码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位，补码表示；尾数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6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位，补码表示，均包含一个符号位）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X=2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-1  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×(-0.11001)</a:t>
            </a:r>
            <a:r>
              <a:rPr lang="en-US" altLang="zh-CN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， Y  = 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+5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×(0.10011)</a:t>
            </a:r>
            <a:r>
              <a:rPr lang="en-US" altLang="zh-CN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60898A49-C15C-213A-E76A-D438622EA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8913"/>
            <a:ext cx="84391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=1,111      [E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0,101</a:t>
            </a:r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111.00111     [M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=0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.10011    [- 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000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11001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0844364-91C1-667D-7494-1DC7BB5AB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1527175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/>
              <a:t>①阶码相加 [</a:t>
            </a:r>
            <a:r>
              <a:rPr lang="en-US" altLang="zh-CN"/>
              <a:t>E</a:t>
            </a:r>
            <a:r>
              <a:rPr lang="en-US" altLang="zh-CN" baseline="-25000"/>
              <a:t>x</a:t>
            </a:r>
            <a:r>
              <a:rPr lang="en-US" altLang="zh-CN"/>
              <a:t>+E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en-US" altLang="zh-CN"/>
              <a:t>= [E</a:t>
            </a:r>
            <a:r>
              <a:rPr lang="en-US" altLang="zh-CN" baseline="-25000"/>
              <a:t>x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en-US" altLang="zh-CN" sz="2000"/>
              <a:t>+</a:t>
            </a:r>
            <a:r>
              <a:rPr lang="en-US" altLang="zh-CN"/>
              <a:t>[E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zh-CN" baseline="-25000"/>
              <a:t>补</a:t>
            </a:r>
            <a:endParaRPr lang="zh-CN" altLang="en-US" baseline="-25000"/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A2983F5B-4D08-FE58-5B11-B22B11E0C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438" y="1973263"/>
            <a:ext cx="5246687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   [</a:t>
            </a:r>
            <a:r>
              <a:rPr lang="en-US" altLang="zh-CN"/>
              <a:t>E</a:t>
            </a:r>
            <a:r>
              <a:rPr lang="en-US" altLang="zh-CN" baseline="-25000"/>
              <a:t>x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        </a:t>
            </a:r>
            <a:r>
              <a:rPr lang="en-US" altLang="zh-CN"/>
              <a:t>1,111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+ [</a:t>
            </a:r>
            <a:r>
              <a:rPr lang="en-US" altLang="zh-CN"/>
              <a:t>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   </a:t>
            </a:r>
            <a:r>
              <a:rPr lang="zh-CN" altLang="en-US"/>
              <a:t>      </a:t>
            </a:r>
            <a:r>
              <a:rPr lang="en-US" altLang="zh-CN"/>
              <a:t>0,101</a:t>
            </a:r>
          </a:p>
          <a:p>
            <a:pPr lvl="2" eaLnBrk="1" hangingPunct="1">
              <a:lnSpc>
                <a:spcPct val="6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—————————</a:t>
            </a:r>
          </a:p>
          <a:p>
            <a:pPr lvl="2" eaLnBrk="1" hangingPunct="1">
              <a:lnSpc>
                <a:spcPct val="6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[</a:t>
            </a:r>
            <a:r>
              <a:rPr lang="en-US" altLang="zh-CN"/>
              <a:t>E</a:t>
            </a:r>
            <a:r>
              <a:rPr lang="en-US" altLang="zh-CN" baseline="-25000"/>
              <a:t>x</a:t>
            </a:r>
            <a:r>
              <a:rPr lang="en-US" altLang="zh-CN"/>
              <a:t>+E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en-US" altLang="zh-CN"/>
              <a:t>=   0,100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endParaRPr lang="zh-CN" altLang="en-US"/>
          </a:p>
        </p:txBody>
      </p:sp>
      <p:sp>
        <p:nvSpPr>
          <p:cNvPr id="108550" name="Rectangle 6">
            <a:extLst>
              <a:ext uri="{FF2B5EF4-FFF2-40B4-BE49-F238E27FC236}">
                <a16:creationId xmlns:a16="http://schemas.microsoft.com/office/drawing/2014/main" id="{420E5D5C-9744-A4E5-E2A0-267E7B9A1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573463"/>
            <a:ext cx="77724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/>
              <a:t>②尾数相乘：采用补码两位乘</a:t>
            </a:r>
            <a:endParaRPr lang="en-US" altLang="zh-CN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                             [</a:t>
            </a:r>
            <a:r>
              <a:rPr lang="en-US" altLang="zh-CN" sz="2400"/>
              <a:t>M</a:t>
            </a:r>
            <a:r>
              <a:rPr lang="en-US" altLang="zh-CN" sz="2400" baseline="-25000"/>
              <a:t>x</a:t>
            </a:r>
            <a:r>
              <a:rPr lang="en-US" altLang="zh-CN" sz="2400"/>
              <a:t>* M</a:t>
            </a:r>
            <a:r>
              <a:rPr lang="en-US" altLang="zh-CN" sz="2400" baseline="-25000"/>
              <a:t>y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=</a:t>
            </a:r>
            <a:r>
              <a:rPr lang="en-US" altLang="zh-CN" sz="2400"/>
              <a:t>1.1000100101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6" grpId="0" build="p" bldLvl="2" autoUpdateAnimBg="0"/>
      <p:bldP spid="108547" grpId="0" build="p" autoUpdateAnimBg="0"/>
      <p:bldP spid="108548" grpId="0" autoUpdateAnimBg="0"/>
      <p:bldP spid="108550" grpId="0" build="p" bldLvl="3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1">
            <a:extLst>
              <a:ext uri="{FF2B5EF4-FFF2-40B4-BE49-F238E27FC236}">
                <a16:creationId xmlns:a16="http://schemas.microsoft.com/office/drawing/2014/main" id="{2BE018A9-13FB-C5CB-4329-B05C0A241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803275"/>
            <a:ext cx="72009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                         A			C	   C</a:t>
            </a:r>
            <a:r>
              <a:rPr lang="en-US" altLang="zh-CN" sz="2400" baseline="-25000" dirty="0">
                <a:solidFill>
                  <a:schemeClr val="bg1"/>
                </a:solidFill>
              </a:rPr>
              <a:t>-1</a:t>
            </a:r>
            <a:endParaRPr lang="zh-CN" altLang="zh-CN" sz="2400" dirty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		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                      000.00000	           0.100</a:t>
            </a:r>
            <a:r>
              <a:rPr lang="en-US" altLang="zh-CN" sz="2400" u="sng" dirty="0"/>
              <a:t>11  0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+[-Mx]</a:t>
            </a:r>
            <a:r>
              <a:rPr lang="zh-CN" altLang="zh-CN" sz="2400" baseline="-25000" dirty="0"/>
              <a:t>补</a:t>
            </a:r>
            <a:r>
              <a:rPr lang="zh-CN" altLang="zh-CN" sz="2400" dirty="0"/>
              <a:t> </a:t>
            </a:r>
            <a:r>
              <a:rPr lang="en-US" altLang="zh-CN" sz="2400" dirty="0"/>
              <a:t>         000.11001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		 000.11001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SAR2	            000.00110               010.1</a:t>
            </a:r>
            <a:r>
              <a:rPr lang="en-US" altLang="zh-CN" sz="2400" u="sng" dirty="0"/>
              <a:t>00  1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+[Mx]</a:t>
            </a:r>
            <a:r>
              <a:rPr lang="zh-CN" altLang="zh-CN" sz="2400" baseline="-25000" dirty="0"/>
              <a:t>补</a:t>
            </a:r>
            <a:r>
              <a:rPr lang="en-US" altLang="zh-CN" sz="2400" baseline="-25000" dirty="0"/>
              <a:t>	  </a:t>
            </a:r>
            <a:r>
              <a:rPr lang="en-US" altLang="zh-CN" sz="2400" dirty="0"/>
              <a:t>111.00111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	            111.01101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SAR2	            111.11011                0101</a:t>
            </a:r>
            <a:r>
              <a:rPr lang="en-US" altLang="zh-CN" sz="2400" u="sng" dirty="0"/>
              <a:t>0.1  0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+[Mx]</a:t>
            </a:r>
            <a:r>
              <a:rPr lang="zh-CN" altLang="zh-CN" sz="2400" baseline="-25000" dirty="0"/>
              <a:t>补</a:t>
            </a:r>
            <a:r>
              <a:rPr lang="en-US" altLang="zh-CN" sz="2400" baseline="-25000" dirty="0"/>
              <a:t>	  </a:t>
            </a:r>
            <a:r>
              <a:rPr lang="en-US" altLang="zh-CN" sz="2400" dirty="0"/>
              <a:t>111.00111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	            111.00010</a:t>
            </a: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SAR1	            111.10001                001010. 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 [Mx* My]</a:t>
            </a:r>
            <a:r>
              <a:rPr lang="zh-CN" altLang="zh-CN" sz="2400" baseline="-25000" dirty="0"/>
              <a:t>补</a:t>
            </a:r>
            <a:r>
              <a:rPr lang="en-US" altLang="zh-CN" sz="2400" dirty="0"/>
              <a:t>=1.1000100101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51" name="Rectangle 7">
            <a:extLst>
              <a:ext uri="{FF2B5EF4-FFF2-40B4-BE49-F238E27FC236}">
                <a16:creationId xmlns:a16="http://schemas.microsoft.com/office/drawing/2014/main" id="{A172C650-21C8-D980-3B64-851FBEA78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6213" y="1989138"/>
            <a:ext cx="8709026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③ 左规</a:t>
            </a:r>
            <a:r>
              <a:rPr lang="en-US" altLang="zh-CN"/>
              <a:t>：[M</a:t>
            </a:r>
            <a:r>
              <a:rPr lang="en-US" altLang="zh-CN" baseline="-25000"/>
              <a:t>x</a:t>
            </a:r>
            <a:r>
              <a:rPr lang="en-US" altLang="zh-CN"/>
              <a:t>* M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=</a:t>
            </a:r>
            <a:r>
              <a:rPr lang="en-US" altLang="zh-CN"/>
              <a:t>1.0001001010    [E]</a:t>
            </a:r>
            <a:r>
              <a:rPr lang="zh-CN" altLang="en-US" baseline="-25000"/>
              <a:t>补</a:t>
            </a:r>
            <a:r>
              <a:rPr lang="en-US" altLang="zh-CN"/>
              <a:t>=0,011</a:t>
            </a:r>
          </a:p>
        </p:txBody>
      </p:sp>
      <p:sp>
        <p:nvSpPr>
          <p:cNvPr id="108552" name="Rectangle 8">
            <a:extLst>
              <a:ext uri="{FF2B5EF4-FFF2-40B4-BE49-F238E27FC236}">
                <a16:creationId xmlns:a16="http://schemas.microsoft.com/office/drawing/2014/main" id="{853738EE-CF2F-8B09-70C5-41DB2E7FA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2638425"/>
            <a:ext cx="8640763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zh-CN"/>
              <a:t>④</a:t>
            </a:r>
            <a:r>
              <a:rPr lang="zh-CN" altLang="en-US">
                <a:latin typeface="宋体" panose="02010600030101010101" pitchFamily="2" charset="-122"/>
              </a:rPr>
              <a:t> 舍入（</a:t>
            </a:r>
            <a:r>
              <a:rPr lang="en-US" altLang="zh-CN">
                <a:latin typeface="宋体" panose="02010600030101010101" pitchFamily="2" charset="-122"/>
              </a:rPr>
              <a:t>0</a:t>
            </a:r>
            <a:r>
              <a:rPr lang="zh-CN" altLang="en-US">
                <a:latin typeface="宋体" panose="02010600030101010101" pitchFamily="2" charset="-122"/>
              </a:rPr>
              <a:t>舍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</a:rPr>
              <a:t>入）</a:t>
            </a:r>
            <a:r>
              <a:rPr lang="zh-CN" altLang="en-US"/>
              <a:t>：</a:t>
            </a:r>
            <a:r>
              <a:rPr lang="en-US" altLang="zh-CN"/>
              <a:t> [M</a:t>
            </a:r>
            <a:r>
              <a:rPr lang="en-US" altLang="zh-CN" baseline="-25000"/>
              <a:t>x</a:t>
            </a:r>
            <a:r>
              <a:rPr lang="en-US" altLang="zh-CN"/>
              <a:t>* M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=</a:t>
            </a:r>
            <a:r>
              <a:rPr lang="en-US" altLang="zh-CN"/>
              <a:t>1.00010     [E]</a:t>
            </a:r>
            <a:r>
              <a:rPr lang="zh-CN" altLang="en-US" baseline="-25000"/>
              <a:t>补</a:t>
            </a:r>
            <a:r>
              <a:rPr lang="en-US" altLang="zh-CN"/>
              <a:t>=0,011</a:t>
            </a:r>
          </a:p>
        </p:txBody>
      </p:sp>
      <p:sp>
        <p:nvSpPr>
          <p:cNvPr id="108553" name="Rectangle 9">
            <a:extLst>
              <a:ext uri="{FF2B5EF4-FFF2-40B4-BE49-F238E27FC236}">
                <a16:creationId xmlns:a16="http://schemas.microsoft.com/office/drawing/2014/main" id="{B1280A2B-BB06-A593-CD74-FA68D0B20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71838"/>
            <a:ext cx="77724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[</a:t>
            </a:r>
            <a:r>
              <a:rPr lang="en-US" altLang="zh-CN"/>
              <a:t>X</a:t>
            </a:r>
            <a:r>
              <a:rPr lang="zh-CN" altLang="zh-CN"/>
              <a:t>×</a:t>
            </a:r>
            <a:r>
              <a:rPr lang="en-US" altLang="zh-CN"/>
              <a:t>Y ]</a:t>
            </a:r>
            <a:r>
              <a:rPr lang="zh-CN" altLang="en-US" baseline="-25000"/>
              <a:t>补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= 2</a:t>
            </a:r>
            <a:r>
              <a:rPr lang="en-US" altLang="zh-CN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0011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×(1.00010)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  </a:t>
            </a: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/>
              <a:t>X</a:t>
            </a:r>
            <a:r>
              <a:rPr lang="zh-CN" altLang="zh-CN"/>
              <a:t>×</a:t>
            </a:r>
            <a:r>
              <a:rPr lang="en-US" altLang="zh-CN"/>
              <a:t>Y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= 2</a:t>
            </a:r>
            <a:r>
              <a:rPr lang="en-US" altLang="zh-CN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+3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×(-0.11110)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endParaRPr lang="zh-CN" altLang="en-US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1" grpId="0" build="p" bldLvl="3" autoUpdateAnimBg="0"/>
      <p:bldP spid="108552" grpId="0" build="p" bldLvl="3" autoUpdateAnimBg="0"/>
      <p:bldP spid="108553" grpId="0" build="p" bldLvl="3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>
            <a:extLst>
              <a:ext uri="{FF2B5EF4-FFF2-40B4-BE49-F238E27FC236}">
                <a16:creationId xmlns:a16="http://schemas.microsoft.com/office/drawing/2014/main" id="{13D42D93-96AF-4937-3F24-59B22BDDA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62125"/>
            <a:ext cx="867568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5000"/>
              </a:spcBef>
            </a:pP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浮点数乘法（阶码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位，补码表示；尾数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6</a:t>
            </a:r>
            <a:r>
              <a:rPr lang="zh-CN" altLang="en-US" sz="2800">
                <a:latin typeface="Times New Roman" panose="02020603050405020304" pitchFamily="18" charset="0"/>
                <a:ea typeface="华文新魏" panose="02010800040101010101" pitchFamily="2" charset="-122"/>
              </a:rPr>
              <a:t>位，补码表示，均包含一个符号位）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X=2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-2  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×(0.10101)</a:t>
            </a:r>
            <a:r>
              <a:rPr lang="en-US" altLang="zh-CN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， Y  = 2</a:t>
            </a:r>
            <a:r>
              <a:rPr lang="en-US" altLang="zh-CN" sz="2800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+5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×(-0.10001)</a:t>
            </a:r>
            <a:r>
              <a:rPr lang="en-US" altLang="zh-CN" sz="2800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endParaRPr lang="en-US" altLang="zh-CN" sz="280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BA750C93-3C29-F17B-A84F-1EDDF288C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8913"/>
            <a:ext cx="84391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=1,110      [E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0,101</a:t>
            </a:r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000.10101    [M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1.01111   [- M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111.01011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BE8ABEF0-A2FC-865D-A633-8F9B3668F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1527175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/>
              <a:t>①阶码相加 [</a:t>
            </a:r>
            <a:r>
              <a:rPr lang="en-US" altLang="zh-CN"/>
              <a:t>E</a:t>
            </a:r>
            <a:r>
              <a:rPr lang="en-US" altLang="zh-CN" baseline="-25000"/>
              <a:t>x</a:t>
            </a:r>
            <a:r>
              <a:rPr lang="en-US" altLang="zh-CN"/>
              <a:t>+E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en-US" altLang="zh-CN"/>
              <a:t>= [E</a:t>
            </a:r>
            <a:r>
              <a:rPr lang="en-US" altLang="zh-CN" baseline="-25000"/>
              <a:t>x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en-US" altLang="zh-CN" sz="2000"/>
              <a:t>+</a:t>
            </a:r>
            <a:r>
              <a:rPr lang="en-US" altLang="zh-CN"/>
              <a:t>[E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zh-CN" baseline="-25000"/>
              <a:t>补</a:t>
            </a:r>
            <a:endParaRPr lang="zh-CN" altLang="en-US" baseline="-25000"/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E40FEF09-FB9D-42D8-4664-A8407EEAB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438" y="1973263"/>
            <a:ext cx="5246687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   [</a:t>
            </a:r>
            <a:r>
              <a:rPr lang="en-US" altLang="zh-CN"/>
              <a:t>E</a:t>
            </a:r>
            <a:r>
              <a:rPr lang="en-US" altLang="zh-CN" baseline="-25000"/>
              <a:t>x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        </a:t>
            </a:r>
            <a:r>
              <a:rPr lang="en-US" altLang="zh-CN"/>
              <a:t>1,110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+ [</a:t>
            </a:r>
            <a:r>
              <a:rPr lang="en-US" altLang="zh-CN"/>
              <a:t>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   </a:t>
            </a:r>
            <a:r>
              <a:rPr lang="zh-CN" altLang="en-US"/>
              <a:t>      </a:t>
            </a:r>
            <a:r>
              <a:rPr lang="en-US" altLang="zh-CN"/>
              <a:t>0,101</a:t>
            </a:r>
          </a:p>
          <a:p>
            <a:pPr lvl="2" eaLnBrk="1" hangingPunct="1">
              <a:lnSpc>
                <a:spcPct val="6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—————————</a:t>
            </a:r>
          </a:p>
          <a:p>
            <a:pPr lvl="2" eaLnBrk="1" hangingPunct="1">
              <a:lnSpc>
                <a:spcPct val="6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[</a:t>
            </a:r>
            <a:r>
              <a:rPr lang="en-US" altLang="zh-CN"/>
              <a:t>E</a:t>
            </a:r>
            <a:r>
              <a:rPr lang="en-US" altLang="zh-CN" baseline="-25000"/>
              <a:t>x</a:t>
            </a:r>
            <a:r>
              <a:rPr lang="en-US" altLang="zh-CN"/>
              <a:t>+E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en-US" altLang="zh-CN"/>
              <a:t>=   0,011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endParaRPr lang="zh-CN" altLang="en-US"/>
          </a:p>
        </p:txBody>
      </p:sp>
      <p:sp>
        <p:nvSpPr>
          <p:cNvPr id="108550" name="Rectangle 6">
            <a:extLst>
              <a:ext uri="{FF2B5EF4-FFF2-40B4-BE49-F238E27FC236}">
                <a16:creationId xmlns:a16="http://schemas.microsoft.com/office/drawing/2014/main" id="{6F5BF36B-5915-0EF2-845C-7962420B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573463"/>
            <a:ext cx="77724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/>
              <a:t>②尾数相乘：采用补码两位乘</a:t>
            </a:r>
            <a:endParaRPr lang="en-US" altLang="zh-CN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                             </a:t>
            </a:r>
            <a:r>
              <a:rPr lang="en-US" altLang="zh-CN" sz="2400"/>
              <a:t>[Mx* My]</a:t>
            </a:r>
            <a:r>
              <a:rPr lang="zh-CN" altLang="zh-CN" sz="2400" baseline="-25000"/>
              <a:t>补</a:t>
            </a:r>
            <a:r>
              <a:rPr lang="en-US" altLang="zh-CN" sz="2400"/>
              <a:t>=1.1010011011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6" grpId="0" build="p" bldLvl="2" autoUpdateAnimBg="0"/>
      <p:bldP spid="108547" grpId="0" build="p" autoUpdateAnimBg="0"/>
      <p:bldP spid="108548" grpId="0" autoUpdateAnimBg="0"/>
      <p:bldP spid="108550" grpId="0" build="p" bldLvl="3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1">
            <a:extLst>
              <a:ext uri="{FF2B5EF4-FFF2-40B4-BE49-F238E27FC236}">
                <a16:creationId xmlns:a16="http://schemas.microsoft.com/office/drawing/2014/main" id="{A62BCE50-EF5D-98AD-BCE2-05FC06798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803275"/>
            <a:ext cx="72009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                            A			C	   C</a:t>
            </a:r>
            <a:r>
              <a:rPr lang="en-US" altLang="zh-CN" sz="2400" baseline="-25000">
                <a:solidFill>
                  <a:schemeClr val="bg1"/>
                </a:solidFill>
              </a:rPr>
              <a:t>-1</a:t>
            </a:r>
            <a:endParaRPr lang="zh-CN" altLang="zh-CN" sz="240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		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                 000.00000	           1.011</a:t>
            </a:r>
            <a:r>
              <a:rPr lang="en-US" altLang="zh-CN" sz="2400" u="sng"/>
              <a:t>11  0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+[-Mx]</a:t>
            </a:r>
            <a:r>
              <a:rPr lang="zh-CN" altLang="zh-CN" sz="2400" baseline="-25000"/>
              <a:t>补</a:t>
            </a:r>
            <a:r>
              <a:rPr lang="en-US" altLang="zh-CN" sz="2400"/>
              <a:t>	111.01011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		111.01011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SAR2		111.11010                 11 1.0111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+[0]</a:t>
            </a:r>
            <a:r>
              <a:rPr lang="zh-CN" altLang="zh-CN" sz="2400" baseline="-25000"/>
              <a:t>补</a:t>
            </a:r>
            <a:r>
              <a:rPr lang="en-US" altLang="zh-CN" sz="2400"/>
              <a:t>		000.00000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		111.11010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SAR2		111.11110                  1011 1.01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+[-Mx]</a:t>
            </a:r>
            <a:r>
              <a:rPr lang="zh-CN" altLang="zh-CN" sz="2400" baseline="-25000"/>
              <a:t>补</a:t>
            </a:r>
            <a:r>
              <a:rPr lang="en-US" altLang="zh-CN" sz="2400"/>
              <a:t>	111.01011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		111.01001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SAR1		111.10100                  11011 1.0</a:t>
            </a:r>
            <a:endParaRPr lang="zh-CN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[Mx* My]</a:t>
            </a:r>
            <a:r>
              <a:rPr lang="zh-CN" altLang="zh-CN" sz="2400" baseline="-25000"/>
              <a:t>补</a:t>
            </a:r>
            <a:r>
              <a:rPr lang="en-US" altLang="zh-CN" sz="2400"/>
              <a:t>=1.1010011011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51" name="Rectangle 7">
            <a:extLst>
              <a:ext uri="{FF2B5EF4-FFF2-40B4-BE49-F238E27FC236}">
                <a16:creationId xmlns:a16="http://schemas.microsoft.com/office/drawing/2014/main" id="{807CF52B-0968-2E35-02EB-06F5E043E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6213" y="1989138"/>
            <a:ext cx="8709026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③ 左规</a:t>
            </a:r>
            <a:r>
              <a:rPr lang="en-US" altLang="zh-CN"/>
              <a:t>：[M</a:t>
            </a:r>
            <a:r>
              <a:rPr lang="en-US" altLang="zh-CN" baseline="-25000"/>
              <a:t>x</a:t>
            </a:r>
            <a:r>
              <a:rPr lang="en-US" altLang="zh-CN"/>
              <a:t>* M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=</a:t>
            </a:r>
            <a:r>
              <a:rPr lang="en-US" altLang="zh-CN"/>
              <a:t>1.0100110110   [E]</a:t>
            </a:r>
            <a:r>
              <a:rPr lang="zh-CN" altLang="en-US" baseline="-25000"/>
              <a:t>补</a:t>
            </a:r>
            <a:r>
              <a:rPr lang="en-US" altLang="zh-CN"/>
              <a:t>=0,010</a:t>
            </a:r>
          </a:p>
        </p:txBody>
      </p:sp>
      <p:sp>
        <p:nvSpPr>
          <p:cNvPr id="108552" name="Rectangle 8">
            <a:extLst>
              <a:ext uri="{FF2B5EF4-FFF2-40B4-BE49-F238E27FC236}">
                <a16:creationId xmlns:a16="http://schemas.microsoft.com/office/drawing/2014/main" id="{72737238-132F-BA6A-094F-7342E362B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2638425"/>
            <a:ext cx="8640763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zh-CN"/>
              <a:t>④</a:t>
            </a:r>
            <a:r>
              <a:rPr lang="zh-CN" altLang="en-US">
                <a:latin typeface="宋体" panose="02010600030101010101" pitchFamily="2" charset="-122"/>
              </a:rPr>
              <a:t> 舍入（</a:t>
            </a:r>
            <a:r>
              <a:rPr lang="en-US" altLang="zh-CN">
                <a:latin typeface="宋体" panose="02010600030101010101" pitchFamily="2" charset="-122"/>
              </a:rPr>
              <a:t>0</a:t>
            </a:r>
            <a:r>
              <a:rPr lang="zh-CN" altLang="en-US">
                <a:latin typeface="宋体" panose="02010600030101010101" pitchFamily="2" charset="-122"/>
              </a:rPr>
              <a:t>舍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</a:rPr>
              <a:t>入）</a:t>
            </a:r>
            <a:r>
              <a:rPr lang="zh-CN" altLang="en-US"/>
              <a:t>：</a:t>
            </a:r>
            <a:r>
              <a:rPr lang="en-US" altLang="zh-CN"/>
              <a:t> [M</a:t>
            </a:r>
            <a:r>
              <a:rPr lang="en-US" altLang="zh-CN" baseline="-25000"/>
              <a:t>x</a:t>
            </a:r>
            <a:r>
              <a:rPr lang="en-US" altLang="zh-CN"/>
              <a:t>* M</a:t>
            </a:r>
            <a:r>
              <a:rPr lang="en-US" altLang="zh-CN" baseline="-25000"/>
              <a:t>y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=</a:t>
            </a:r>
            <a:r>
              <a:rPr lang="en-US" altLang="zh-CN"/>
              <a:t>1.01010     [E]</a:t>
            </a:r>
            <a:r>
              <a:rPr lang="zh-CN" altLang="en-US" baseline="-25000"/>
              <a:t>补</a:t>
            </a:r>
            <a:r>
              <a:rPr lang="en-US" altLang="zh-CN"/>
              <a:t>=0,010</a:t>
            </a:r>
          </a:p>
        </p:txBody>
      </p:sp>
      <p:sp>
        <p:nvSpPr>
          <p:cNvPr id="108553" name="Rectangle 9">
            <a:extLst>
              <a:ext uri="{FF2B5EF4-FFF2-40B4-BE49-F238E27FC236}">
                <a16:creationId xmlns:a16="http://schemas.microsoft.com/office/drawing/2014/main" id="{D05B2C19-00FC-C6F1-4154-8F5DA36C3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71838"/>
            <a:ext cx="77724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[</a:t>
            </a:r>
            <a:r>
              <a:rPr lang="en-US" altLang="zh-CN"/>
              <a:t>X</a:t>
            </a:r>
            <a:r>
              <a:rPr lang="zh-CN" altLang="zh-CN"/>
              <a:t>×</a:t>
            </a:r>
            <a:r>
              <a:rPr lang="en-US" altLang="zh-CN"/>
              <a:t>Y ]</a:t>
            </a:r>
            <a:r>
              <a:rPr lang="zh-CN" altLang="en-US" baseline="-25000"/>
              <a:t>补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= 2</a:t>
            </a:r>
            <a:r>
              <a:rPr lang="en-US" altLang="zh-CN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0010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×(1.01010)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  </a:t>
            </a: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/>
              <a:t>X</a:t>
            </a:r>
            <a:r>
              <a:rPr lang="zh-CN" altLang="zh-CN"/>
              <a:t>×</a:t>
            </a:r>
            <a:r>
              <a:rPr lang="en-US" altLang="zh-CN"/>
              <a:t>Y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= 2</a:t>
            </a:r>
            <a:r>
              <a:rPr lang="en-US" altLang="zh-CN" baseline="30000">
                <a:latin typeface="Times New Roman" panose="02020603050405020304" pitchFamily="18" charset="0"/>
                <a:ea typeface="华文新魏" panose="02010800040101010101" pitchFamily="2" charset="-122"/>
              </a:rPr>
              <a:t>+2 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pitchFamily="2" charset="-122"/>
              </a:rPr>
              <a:t>×(-0.10110)</a:t>
            </a:r>
            <a:r>
              <a:rPr lang="en-US" altLang="zh-CN" baseline="-250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endParaRPr lang="zh-CN" altLang="en-US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1" grpId="0" build="p" bldLvl="3" autoUpdateAnimBg="0"/>
      <p:bldP spid="108552" grpId="0" build="p" bldLvl="3" autoUpdateAnimBg="0"/>
      <p:bldP spid="108553" grpId="0" build="p" bldLvl="3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BF47441-8A22-F095-A4E6-3A7B33077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3"/>
            <a:ext cx="8945563" cy="14573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304800" algn="just">
              <a:lnSpc>
                <a:spcPct val="125000"/>
              </a:lnSpc>
              <a:spcAft>
                <a:spcPts val="0"/>
              </a:spcAft>
              <a:defRPr/>
            </a:pP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2712" name="Text Box 8">
            <a:extLst>
              <a:ext uri="{FF2B5EF4-FFF2-40B4-BE49-F238E27FC236}">
                <a16:creationId xmlns:a16="http://schemas.microsoft.com/office/drawing/2014/main" id="{6BF4A510-2D46-F0F2-29F0-5054CBE46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27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4820" name="矩形 1">
            <a:extLst>
              <a:ext uri="{FF2B5EF4-FFF2-40B4-BE49-F238E27FC236}">
                <a16:creationId xmlns:a16="http://schemas.microsoft.com/office/drawing/2014/main" id="{59E0F9A4-DD7B-3C88-1CD8-4A9382707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465263"/>
            <a:ext cx="3887788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2667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答案：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     ori $2,$0,10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     lui $3,0x1001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lop:    lw $4,0($3)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slti $8,$4,-3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beq $8,$0,cont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j end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cont:  addi $3,$3,4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addi $2,$2,-1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bne $2,$0,lop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end: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C1D958-045D-86EA-5862-9AE2CD7EE430}"/>
              </a:ext>
            </a:extLst>
          </p:cNvPr>
          <p:cNvSpPr/>
          <p:nvPr/>
        </p:nvSpPr>
        <p:spPr>
          <a:xfrm>
            <a:off x="404813" y="255588"/>
            <a:ext cx="8135937" cy="10160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264160" eaLnBrk="1" hangingPunct="1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4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MIPS</a:t>
            </a:r>
            <a:r>
              <a:rPr lang="zh-CN" altLang="zh-CN" sz="24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二进制代码片段</a:t>
            </a:r>
            <a:r>
              <a:rPr lang="en-US" altLang="zh-CN" sz="24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(9</a:t>
            </a:r>
            <a:r>
              <a:rPr lang="zh-CN" altLang="zh-CN" sz="24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条指令</a:t>
            </a:r>
            <a:r>
              <a:rPr lang="en-US" altLang="zh-CN" sz="24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4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如图所示。请反汇编该指令片段</a:t>
            </a:r>
            <a:r>
              <a:rPr lang="zh-CN" altLang="en-US" sz="24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，并简要描述代码功能。</a:t>
            </a:r>
            <a:endParaRPr lang="zh-CN" altLang="zh-CN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822" name="矩形 6">
            <a:extLst>
              <a:ext uri="{FF2B5EF4-FFF2-40B4-BE49-F238E27FC236}">
                <a16:creationId xmlns:a16="http://schemas.microsoft.com/office/drawing/2014/main" id="{8DCCF0C4-270B-E712-9ED3-8C52CB4DC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5789613"/>
            <a:ext cx="4522787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遍历基地址为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0x10010000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的数组前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个字单元，检查是否内容小于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-3</a:t>
            </a:r>
          </a:p>
        </p:txBody>
      </p:sp>
      <p:pic>
        <p:nvPicPr>
          <p:cNvPr id="34823" name="图片 4">
            <a:extLst>
              <a:ext uri="{FF2B5EF4-FFF2-40B4-BE49-F238E27FC236}">
                <a16:creationId xmlns:a16="http://schemas.microsoft.com/office/drawing/2014/main" id="{234BECE3-08E9-3B54-410F-784F2FD16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38" y="1935163"/>
            <a:ext cx="32639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Text Box 2">
            <a:extLst>
              <a:ext uri="{FF2B5EF4-FFF2-40B4-BE49-F238E27FC236}">
                <a16:creationId xmlns:a16="http://schemas.microsoft.com/office/drawing/2014/main" id="{40BC5EE5-3306-5B0E-2308-DCC52D027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8569325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半导体存储器总容量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8k*8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位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其中固化区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4KB,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选用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EPROM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芯片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(4K*8/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片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工作区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4KB,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选用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SRAM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芯片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(2K*4/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片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地址总线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15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 A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 </a:t>
            </a:r>
            <a:r>
              <a:rPr kumimoji="1" lang="zh-CN" altLang="en-US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双向数据总线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 D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 </a:t>
            </a:r>
          </a:p>
        </p:txBody>
      </p:sp>
      <p:sp>
        <p:nvSpPr>
          <p:cNvPr id="362499" name="Text Box 3">
            <a:extLst>
              <a:ext uri="{FF2B5EF4-FFF2-40B4-BE49-F238E27FC236}">
                <a16:creationId xmlns:a16="http://schemas.microsoft.com/office/drawing/2014/main" id="{2E921AB5-0DBD-98F8-D369-7B10D1BDD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30388"/>
            <a:ext cx="3810000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华文新魏" panose="02010800040101010101" pitchFamily="2" charset="-122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  <a:ea typeface="华文新魏" panose="02010800040101010101" pitchFamily="2" charset="-122"/>
              </a:rPr>
              <a:t>）芯片选取与存储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华文新魏" panose="02010800040101010101" pitchFamily="2" charset="-122"/>
              </a:rPr>
              <a:t>空间分配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华文新魏" panose="02010800040101010101" pitchFamily="2" charset="-122"/>
              </a:rPr>
              <a:t>共需</a:t>
            </a:r>
            <a:r>
              <a:rPr kumimoji="1" lang="en-US" altLang="zh-CN" sz="2400">
                <a:latin typeface="Times New Roman" panose="02020603050405020304" pitchFamily="18" charset="0"/>
                <a:ea typeface="华文新魏" panose="02010800040101010101" pitchFamily="2" charset="-122"/>
              </a:rPr>
              <a:t>:  EPROM: 1</a:t>
            </a:r>
            <a:r>
              <a:rPr kumimoji="1" lang="zh-CN" altLang="en-US" sz="2400">
                <a:latin typeface="Times New Roman" panose="02020603050405020304" pitchFamily="18" charset="0"/>
                <a:ea typeface="华文新魏" panose="02010800040101010101" pitchFamily="2" charset="-122"/>
              </a:rPr>
              <a:t>片</a:t>
            </a:r>
            <a:r>
              <a:rPr kumimoji="1" lang="en-US" altLang="zh-CN" sz="2400">
                <a:latin typeface="Times New Roman" panose="02020603050405020304" pitchFamily="18" charset="0"/>
                <a:ea typeface="华文新魏" panose="02010800040101010101" pitchFamily="2" charset="-122"/>
              </a:rPr>
              <a:t>,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华文新魏" panose="02010800040101010101" pitchFamily="2" charset="-122"/>
              </a:rPr>
              <a:t>          SRAM: 4</a:t>
            </a:r>
            <a:r>
              <a:rPr kumimoji="1" lang="zh-CN" altLang="en-US" sz="2400">
                <a:latin typeface="Times New Roman" panose="02020603050405020304" pitchFamily="18" charset="0"/>
                <a:ea typeface="华文新魏" panose="02010800040101010101" pitchFamily="2" charset="-122"/>
              </a:rPr>
              <a:t>片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华文新魏" panose="02010800040101010101" pitchFamily="2" charset="-122"/>
              </a:rPr>
              <a:t>存储空间分配</a:t>
            </a:r>
            <a:r>
              <a:rPr kumimoji="1" lang="en-US" altLang="zh-CN" sz="2400"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</a:p>
        </p:txBody>
      </p:sp>
      <p:grpSp>
        <p:nvGrpSpPr>
          <p:cNvPr id="362524" name="Group 28">
            <a:extLst>
              <a:ext uri="{FF2B5EF4-FFF2-40B4-BE49-F238E27FC236}">
                <a16:creationId xmlns:a16="http://schemas.microsoft.com/office/drawing/2014/main" id="{635531E1-9C3E-1580-E66E-1ABB316FACDA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1989138"/>
            <a:ext cx="3313113" cy="3352800"/>
            <a:chOff x="3152" y="1480"/>
            <a:chExt cx="1776" cy="2112"/>
          </a:xfrm>
        </p:grpSpPr>
        <p:sp>
          <p:nvSpPr>
            <p:cNvPr id="35845" name="Line 5">
              <a:extLst>
                <a:ext uri="{FF2B5EF4-FFF2-40B4-BE49-F238E27FC236}">
                  <a16:creationId xmlns:a16="http://schemas.microsoft.com/office/drawing/2014/main" id="{D69123B7-3416-54DE-A2FF-E79FB7E77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48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6" name="Line 6">
              <a:extLst>
                <a:ext uri="{FF2B5EF4-FFF2-40B4-BE49-F238E27FC236}">
                  <a16:creationId xmlns:a16="http://schemas.microsoft.com/office/drawing/2014/main" id="{3FB44456-31D6-0C8A-9BDA-124356B6A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480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7" name="Line 7">
              <a:extLst>
                <a:ext uri="{FF2B5EF4-FFF2-40B4-BE49-F238E27FC236}">
                  <a16:creationId xmlns:a16="http://schemas.microsoft.com/office/drawing/2014/main" id="{E5731574-5B82-AA53-D0AE-5A0CF432E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4" y="14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8" name="Line 8">
              <a:extLst>
                <a:ext uri="{FF2B5EF4-FFF2-40B4-BE49-F238E27FC236}">
                  <a16:creationId xmlns:a16="http://schemas.microsoft.com/office/drawing/2014/main" id="{A6C8F12A-3449-AF31-27C2-6EE8D32EF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4" y="1480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9" name="Line 9">
              <a:extLst>
                <a:ext uri="{FF2B5EF4-FFF2-40B4-BE49-F238E27FC236}">
                  <a16:creationId xmlns:a16="http://schemas.microsoft.com/office/drawing/2014/main" id="{9A5D6C91-219A-E926-1183-3E3BE226E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2" y="148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0" name="Line 10">
              <a:extLst>
                <a:ext uri="{FF2B5EF4-FFF2-40B4-BE49-F238E27FC236}">
                  <a16:creationId xmlns:a16="http://schemas.microsoft.com/office/drawing/2014/main" id="{43C0F449-858C-9D66-111C-D65578EE1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0" y="1480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1" name="Line 11">
              <a:extLst>
                <a:ext uri="{FF2B5EF4-FFF2-40B4-BE49-F238E27FC236}">
                  <a16:creationId xmlns:a16="http://schemas.microsoft.com/office/drawing/2014/main" id="{7871940E-F968-0C72-18EE-AC60ED619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152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2" name="AutoShape 12">
              <a:extLst>
                <a:ext uri="{FF2B5EF4-FFF2-40B4-BE49-F238E27FC236}">
                  <a16:creationId xmlns:a16="http://schemas.microsoft.com/office/drawing/2014/main" id="{3A631E21-8199-61AF-FA17-C331EC161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1528"/>
              <a:ext cx="528" cy="576"/>
            </a:xfrm>
            <a:prstGeom prst="flowChartProcess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0000H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0FFFH</a:t>
              </a:r>
            </a:p>
          </p:txBody>
        </p:sp>
        <p:sp>
          <p:nvSpPr>
            <p:cNvPr id="35853" name="AutoShape 13">
              <a:extLst>
                <a:ext uri="{FF2B5EF4-FFF2-40B4-BE49-F238E27FC236}">
                  <a16:creationId xmlns:a16="http://schemas.microsoft.com/office/drawing/2014/main" id="{D3D3D554-BEBC-BBCA-AF05-EEF7F7216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2" y="1576"/>
              <a:ext cx="864" cy="384"/>
            </a:xfrm>
            <a:prstGeom prst="flowChartProcess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4K * 8</a:t>
              </a:r>
            </a:p>
          </p:txBody>
        </p:sp>
        <p:sp>
          <p:nvSpPr>
            <p:cNvPr id="35854" name="Line 14">
              <a:extLst>
                <a:ext uri="{FF2B5EF4-FFF2-40B4-BE49-F238E27FC236}">
                  <a16:creationId xmlns:a16="http://schemas.microsoft.com/office/drawing/2014/main" id="{ECCFA0DD-7983-68DE-4A0E-B5D810EDA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72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5" name="AutoShape 15">
              <a:extLst>
                <a:ext uri="{FF2B5EF4-FFF2-40B4-BE49-F238E27FC236}">
                  <a16:creationId xmlns:a16="http://schemas.microsoft.com/office/drawing/2014/main" id="{3E33508E-C2F3-07C3-A92E-E78902387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2248"/>
              <a:ext cx="528" cy="576"/>
            </a:xfrm>
            <a:prstGeom prst="flowChartProcess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1000H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17FFH</a:t>
              </a:r>
            </a:p>
          </p:txBody>
        </p:sp>
        <p:sp>
          <p:nvSpPr>
            <p:cNvPr id="35856" name="Line 16">
              <a:extLst>
                <a:ext uri="{FF2B5EF4-FFF2-40B4-BE49-F238E27FC236}">
                  <a16:creationId xmlns:a16="http://schemas.microsoft.com/office/drawing/2014/main" id="{83CE9146-0AB4-9FFE-0022-86C82AA7B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2" y="215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7" name="AutoShape 17">
              <a:extLst>
                <a:ext uri="{FF2B5EF4-FFF2-40B4-BE49-F238E27FC236}">
                  <a16:creationId xmlns:a16="http://schemas.microsoft.com/office/drawing/2014/main" id="{48DAB812-CE32-9090-E271-1264B7F50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248"/>
              <a:ext cx="384" cy="528"/>
            </a:xfrm>
            <a:prstGeom prst="flowChartProcess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2K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*4</a:t>
              </a:r>
            </a:p>
          </p:txBody>
        </p:sp>
        <p:sp>
          <p:nvSpPr>
            <p:cNvPr id="35858" name="AutoShape 18">
              <a:extLst>
                <a:ext uri="{FF2B5EF4-FFF2-40B4-BE49-F238E27FC236}">
                  <a16:creationId xmlns:a16="http://schemas.microsoft.com/office/drawing/2014/main" id="{C2B465F6-7D9B-8565-F629-C343E426E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2248"/>
              <a:ext cx="384" cy="528"/>
            </a:xfrm>
            <a:prstGeom prst="flowChartProcess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2K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*4</a:t>
              </a:r>
            </a:p>
          </p:txBody>
        </p:sp>
        <p:sp>
          <p:nvSpPr>
            <p:cNvPr id="35859" name="Line 19">
              <a:extLst>
                <a:ext uri="{FF2B5EF4-FFF2-40B4-BE49-F238E27FC236}">
                  <a16:creationId xmlns:a16="http://schemas.microsoft.com/office/drawing/2014/main" id="{90A22E99-456E-210F-C5F0-892F82393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3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0" name="Line 20">
              <a:extLst>
                <a:ext uri="{FF2B5EF4-FFF2-40B4-BE49-F238E27FC236}">
                  <a16:creationId xmlns:a16="http://schemas.microsoft.com/office/drawing/2014/main" id="{E0956764-E6C3-EACD-5943-4D1C16B2A9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4" y="3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1" name="Line 21">
              <a:extLst>
                <a:ext uri="{FF2B5EF4-FFF2-40B4-BE49-F238E27FC236}">
                  <a16:creationId xmlns:a16="http://schemas.microsoft.com/office/drawing/2014/main" id="{CD34390D-36D2-16F9-B350-A61EC2037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0" y="316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2" name="Line 22">
              <a:extLst>
                <a:ext uri="{FF2B5EF4-FFF2-40B4-BE49-F238E27FC236}">
                  <a16:creationId xmlns:a16="http://schemas.microsoft.com/office/drawing/2014/main" id="{425D0530-8594-E293-6148-01BB0001B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354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3" name="Line 23">
              <a:extLst>
                <a:ext uri="{FF2B5EF4-FFF2-40B4-BE49-F238E27FC236}">
                  <a16:creationId xmlns:a16="http://schemas.microsoft.com/office/drawing/2014/main" id="{00133159-F433-4928-7C86-3B888AB11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33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4" name="AutoShape 24">
              <a:extLst>
                <a:ext uri="{FF2B5EF4-FFF2-40B4-BE49-F238E27FC236}">
                  <a16:creationId xmlns:a16="http://schemas.microsoft.com/office/drawing/2014/main" id="{A35A3243-3DD7-B582-F541-0C07645C1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2920"/>
              <a:ext cx="528" cy="576"/>
            </a:xfrm>
            <a:prstGeom prst="flowChartProcess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1800H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1FFFH</a:t>
              </a:r>
            </a:p>
          </p:txBody>
        </p:sp>
        <p:sp>
          <p:nvSpPr>
            <p:cNvPr id="35865" name="Line 25">
              <a:extLst>
                <a:ext uri="{FF2B5EF4-FFF2-40B4-BE49-F238E27FC236}">
                  <a16:creationId xmlns:a16="http://schemas.microsoft.com/office/drawing/2014/main" id="{3EDD9A05-A2AC-3A3B-E681-5355E47E0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2" y="287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6" name="AutoShape 26">
              <a:extLst>
                <a:ext uri="{FF2B5EF4-FFF2-40B4-BE49-F238E27FC236}">
                  <a16:creationId xmlns:a16="http://schemas.microsoft.com/office/drawing/2014/main" id="{71758EF8-CDF9-55A0-2C5F-923A09D22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968"/>
              <a:ext cx="384" cy="528"/>
            </a:xfrm>
            <a:prstGeom prst="flowChartProcess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2K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*4</a:t>
              </a:r>
            </a:p>
          </p:txBody>
        </p:sp>
        <p:sp>
          <p:nvSpPr>
            <p:cNvPr id="35867" name="AutoShape 27">
              <a:extLst>
                <a:ext uri="{FF2B5EF4-FFF2-40B4-BE49-F238E27FC236}">
                  <a16:creationId xmlns:a16="http://schemas.microsoft.com/office/drawing/2014/main" id="{02C67A6F-4BAE-C560-E40F-8CC04AAAA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2968"/>
              <a:ext cx="384" cy="528"/>
            </a:xfrm>
            <a:prstGeom prst="flowChartProcess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2K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*4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autoUpdateAnimBg="0"/>
      <p:bldP spid="36249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Text Box 2">
            <a:extLst>
              <a:ext uri="{FF2B5EF4-FFF2-40B4-BE49-F238E27FC236}">
                <a16:creationId xmlns:a16="http://schemas.microsoft.com/office/drawing/2014/main" id="{5458FE31-28AA-5512-F6A3-8E5C7E3DD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260350"/>
            <a:ext cx="4273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>
                <a:solidFill>
                  <a:srgbClr val="00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（</a:t>
            </a:r>
            <a:r>
              <a:rPr kumimoji="1" lang="en-US" altLang="zh-CN" sz="2800">
                <a:solidFill>
                  <a:srgbClr val="00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kumimoji="1" lang="zh-CN" altLang="en-US" sz="2800">
                <a:solidFill>
                  <a:srgbClr val="00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）地址分配与片选逻辑</a:t>
            </a:r>
          </a:p>
        </p:txBody>
      </p:sp>
      <p:grpSp>
        <p:nvGrpSpPr>
          <p:cNvPr id="364552" name="Group 8">
            <a:extLst>
              <a:ext uri="{FF2B5EF4-FFF2-40B4-BE49-F238E27FC236}">
                <a16:creationId xmlns:a16="http://schemas.microsoft.com/office/drawing/2014/main" id="{6F0C66D2-14B4-1CB6-92B4-ABD2C2642E95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1725612"/>
            <a:ext cx="7377113" cy="4583707"/>
            <a:chOff x="320" y="951"/>
            <a:chExt cx="4647" cy="2751"/>
          </a:xfrm>
        </p:grpSpPr>
        <p:sp>
          <p:nvSpPr>
            <p:cNvPr id="37892" name="Text Box 4">
              <a:extLst>
                <a:ext uri="{FF2B5EF4-FFF2-40B4-BE49-F238E27FC236}">
                  <a16:creationId xmlns:a16="http://schemas.microsoft.com/office/drawing/2014/main" id="{C0276F51-E3EC-D249-777C-754096A4A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" y="951"/>
              <a:ext cx="4647" cy="27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芯片容量      芯片地址     片选信号     片选逻辑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4K                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11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~A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0               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CS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0                          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12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 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2K                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10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~A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0               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CS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                      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12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 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2K                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10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~A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0                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CS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2                       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12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A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   </a:t>
              </a:r>
              <a:endParaRPr kumimoji="1" lang="en-US" altLang="zh-CN" sz="2800" dirty="0"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2800" dirty="0"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zh-CN" altLang="zh-CN" sz="2800" dirty="0"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37893" name="Line 5">
              <a:extLst>
                <a:ext uri="{FF2B5EF4-FFF2-40B4-BE49-F238E27FC236}">
                  <a16:creationId xmlns:a16="http://schemas.microsoft.com/office/drawing/2014/main" id="{C7934569-0BFF-DA93-A901-B571F99E5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34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4" name="Line 7">
              <a:extLst>
                <a:ext uri="{FF2B5EF4-FFF2-40B4-BE49-F238E27FC236}">
                  <a16:creationId xmlns:a16="http://schemas.microsoft.com/office/drawing/2014/main" id="{F12700BF-DA21-571E-FE9B-6F04197A3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1797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Text Box 2">
            <a:extLst>
              <a:ext uri="{FF2B5EF4-FFF2-40B4-BE49-F238E27FC236}">
                <a16:creationId xmlns:a16="http://schemas.microsoft.com/office/drawing/2014/main" id="{C51879B4-1AF1-8A1B-FA57-342162688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49250"/>
            <a:ext cx="2163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>
                <a:solidFill>
                  <a:srgbClr val="00FF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kumimoji="1" lang="en-US" altLang="zh-CN" sz="2800">
                <a:solidFill>
                  <a:srgbClr val="00FF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1" lang="zh-CN" altLang="en-US" sz="2800">
                <a:solidFill>
                  <a:srgbClr val="00FF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）逻辑图</a:t>
            </a:r>
          </a:p>
        </p:txBody>
      </p:sp>
      <p:grpSp>
        <p:nvGrpSpPr>
          <p:cNvPr id="366696" name="Group 104">
            <a:extLst>
              <a:ext uri="{FF2B5EF4-FFF2-40B4-BE49-F238E27FC236}">
                <a16:creationId xmlns:a16="http://schemas.microsoft.com/office/drawing/2014/main" id="{2B6F0936-7989-6919-12BA-F65DA4EE36FC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1268413"/>
            <a:ext cx="8431213" cy="5500687"/>
            <a:chOff x="200" y="557"/>
            <a:chExt cx="5311" cy="3465"/>
          </a:xfrm>
        </p:grpSpPr>
        <p:sp>
          <p:nvSpPr>
            <p:cNvPr id="39940" name="Line 4">
              <a:extLst>
                <a:ext uri="{FF2B5EF4-FFF2-40B4-BE49-F238E27FC236}">
                  <a16:creationId xmlns:a16="http://schemas.microsoft.com/office/drawing/2014/main" id="{CBAE397E-4F47-FA8D-8EC9-6F1F017BD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" y="815"/>
              <a:ext cx="484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1" name="Line 5">
              <a:extLst>
                <a:ext uri="{FF2B5EF4-FFF2-40B4-BE49-F238E27FC236}">
                  <a16:creationId xmlns:a16="http://schemas.microsoft.com/office/drawing/2014/main" id="{36AF97AF-135F-9948-84AB-ED5C0B70D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" y="1007"/>
              <a:ext cx="484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2" name="Text Box 6">
              <a:extLst>
                <a:ext uri="{FF2B5EF4-FFF2-40B4-BE49-F238E27FC236}">
                  <a16:creationId xmlns:a16="http://schemas.microsoft.com/office/drawing/2014/main" id="{07ED7E1F-3A01-F09A-9380-92B82718E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" y="557"/>
              <a:ext cx="4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7-4</a:t>
              </a:r>
            </a:p>
          </p:txBody>
        </p:sp>
        <p:sp>
          <p:nvSpPr>
            <p:cNvPr id="39943" name="Text Box 7">
              <a:extLst>
                <a:ext uri="{FF2B5EF4-FFF2-40B4-BE49-F238E27FC236}">
                  <a16:creationId xmlns:a16="http://schemas.microsoft.com/office/drawing/2014/main" id="{3DC51C12-E65A-91FC-274B-2A9C6C3D3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" y="783"/>
              <a:ext cx="4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3-0</a:t>
              </a:r>
            </a:p>
          </p:txBody>
        </p:sp>
        <p:sp>
          <p:nvSpPr>
            <p:cNvPr id="39944" name="Line 9">
              <a:extLst>
                <a:ext uri="{FF2B5EF4-FFF2-40B4-BE49-F238E27FC236}">
                  <a16:creationId xmlns:a16="http://schemas.microsoft.com/office/drawing/2014/main" id="{6A13CCA6-4B44-AEB3-9D3C-F6D67710C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" y="1295"/>
              <a:ext cx="4704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5" name="Text Box 10">
              <a:extLst>
                <a:ext uri="{FF2B5EF4-FFF2-40B4-BE49-F238E27FC236}">
                  <a16:creationId xmlns:a16="http://schemas.microsoft.com/office/drawing/2014/main" id="{FA3E608D-F067-05AA-4D36-DFA26066A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1117"/>
              <a:ext cx="4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00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R/W</a:t>
              </a:r>
            </a:p>
          </p:txBody>
        </p:sp>
        <p:sp>
          <p:nvSpPr>
            <p:cNvPr id="39946" name="Text Box 11">
              <a:extLst>
                <a:ext uri="{FF2B5EF4-FFF2-40B4-BE49-F238E27FC236}">
                  <a16:creationId xmlns:a16="http://schemas.microsoft.com/office/drawing/2014/main" id="{187F1213-53B1-CC2F-48E0-7B64A5CB3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1666"/>
              <a:ext cx="485" cy="8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4K*8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ROM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947" name="Text Box 13">
              <a:extLst>
                <a:ext uri="{FF2B5EF4-FFF2-40B4-BE49-F238E27FC236}">
                  <a16:creationId xmlns:a16="http://schemas.microsoft.com/office/drawing/2014/main" id="{64DF5E41-EB94-C48F-56DB-01A4EC233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1554"/>
              <a:ext cx="476" cy="6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2K*4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948" name="Text Box 14">
              <a:extLst>
                <a:ext uri="{FF2B5EF4-FFF2-40B4-BE49-F238E27FC236}">
                  <a16:creationId xmlns:a16="http://schemas.microsoft.com/office/drawing/2014/main" id="{8C5E9705-3EBB-514A-BEA4-117BB9D62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8" y="2259"/>
              <a:ext cx="476" cy="6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2K*4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949" name="Text Box 15">
              <a:extLst>
                <a:ext uri="{FF2B5EF4-FFF2-40B4-BE49-F238E27FC236}">
                  <a16:creationId xmlns:a16="http://schemas.microsoft.com/office/drawing/2014/main" id="{EFF8EEC5-D41C-438D-64CC-6C1E64B69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9" y="1554"/>
              <a:ext cx="476" cy="6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2K*4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950" name="Text Box 16">
              <a:extLst>
                <a:ext uri="{FF2B5EF4-FFF2-40B4-BE49-F238E27FC236}">
                  <a16:creationId xmlns:a16="http://schemas.microsoft.com/office/drawing/2014/main" id="{6C504170-7197-6FF4-DF3A-1BCF2E667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9" y="2259"/>
              <a:ext cx="476" cy="6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2K*4</a:t>
              </a:r>
            </a:p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951" name="Text Box 18">
              <a:extLst>
                <a:ext uri="{FF2B5EF4-FFF2-40B4-BE49-F238E27FC236}">
                  <a16:creationId xmlns:a16="http://schemas.microsoft.com/office/drawing/2014/main" id="{7017F315-DE00-FEC3-6327-C87DC4793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" y="1842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CS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39952" name="Line 19">
              <a:extLst>
                <a:ext uri="{FF2B5EF4-FFF2-40B4-BE49-F238E27FC236}">
                  <a16:creationId xmlns:a16="http://schemas.microsoft.com/office/drawing/2014/main" id="{AF57C4A2-A08A-29B7-3506-905200CE43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5" y="1967"/>
              <a:ext cx="336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3" name="Line 20">
              <a:extLst>
                <a:ext uri="{FF2B5EF4-FFF2-40B4-BE49-F238E27FC236}">
                  <a16:creationId xmlns:a16="http://schemas.microsoft.com/office/drawing/2014/main" id="{DD314ABE-6FF7-4E03-001F-EE129072E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967"/>
              <a:ext cx="0" cy="1632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Text Box 21">
              <a:extLst>
                <a:ext uri="{FF2B5EF4-FFF2-40B4-BE49-F238E27FC236}">
                  <a16:creationId xmlns:a16="http://schemas.microsoft.com/office/drawing/2014/main" id="{15F81103-F033-68F0-C331-3094DD78E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3406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12</a:t>
              </a:r>
            </a:p>
          </p:txBody>
        </p:sp>
        <p:sp>
          <p:nvSpPr>
            <p:cNvPr id="39955" name="Text Box 24">
              <a:extLst>
                <a:ext uri="{FF2B5EF4-FFF2-40B4-BE49-F238E27FC236}">
                  <a16:creationId xmlns:a16="http://schemas.microsoft.com/office/drawing/2014/main" id="{4C4396F3-22C9-71DF-E319-BB7F48A7B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3" y="1464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CS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39956" name="Line 26">
              <a:extLst>
                <a:ext uri="{FF2B5EF4-FFF2-40B4-BE49-F238E27FC236}">
                  <a16:creationId xmlns:a16="http://schemas.microsoft.com/office/drawing/2014/main" id="{AC2535C8-748B-7139-991F-FF306DBED7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" y="1778"/>
              <a:ext cx="336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7" name="Line 27">
              <a:extLst>
                <a:ext uri="{FF2B5EF4-FFF2-40B4-BE49-F238E27FC236}">
                  <a16:creationId xmlns:a16="http://schemas.microsoft.com/office/drawing/2014/main" id="{1AA7D1C7-39A8-8BE7-7D2A-AA75FB5AC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" y="1775"/>
              <a:ext cx="18" cy="1485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8" name="Text Box 28">
              <a:extLst>
                <a:ext uri="{FF2B5EF4-FFF2-40B4-BE49-F238E27FC236}">
                  <a16:creationId xmlns:a16="http://schemas.microsoft.com/office/drawing/2014/main" id="{288EA0A6-5022-2CFB-E92B-664E1DAE7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3" y="3685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12</a:t>
              </a:r>
            </a:p>
          </p:txBody>
        </p:sp>
        <p:sp>
          <p:nvSpPr>
            <p:cNvPr id="39959" name="Rectangle 30">
              <a:extLst>
                <a:ext uri="{FF2B5EF4-FFF2-40B4-BE49-F238E27FC236}">
                  <a16:creationId xmlns:a16="http://schemas.microsoft.com/office/drawing/2014/main" id="{259A7BA9-1770-361A-5A3C-2080D7C26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3311"/>
              <a:ext cx="672" cy="19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9960" name="Oval 31">
              <a:extLst>
                <a:ext uri="{FF2B5EF4-FFF2-40B4-BE49-F238E27FC236}">
                  <a16:creationId xmlns:a16="http://schemas.microsoft.com/office/drawing/2014/main" id="{093065A3-7D38-8979-3187-1274AB940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3263"/>
              <a:ext cx="96" cy="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9961" name="Text Box 32">
              <a:extLst>
                <a:ext uri="{FF2B5EF4-FFF2-40B4-BE49-F238E27FC236}">
                  <a16:creationId xmlns:a16="http://schemas.microsoft.com/office/drawing/2014/main" id="{4023905F-C1F7-95A9-7F6C-77F160663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7" y="3731"/>
              <a:ext cx="3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11</a:t>
              </a:r>
            </a:p>
          </p:txBody>
        </p:sp>
        <p:sp>
          <p:nvSpPr>
            <p:cNvPr id="39962" name="Line 33">
              <a:extLst>
                <a:ext uri="{FF2B5EF4-FFF2-40B4-BE49-F238E27FC236}">
                  <a16:creationId xmlns:a16="http://schemas.microsoft.com/office/drawing/2014/main" id="{DECB11D3-AB2B-30E0-15F1-87061FC42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9" y="3503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3" name="Line 34">
              <a:extLst>
                <a:ext uri="{FF2B5EF4-FFF2-40B4-BE49-F238E27FC236}">
                  <a16:creationId xmlns:a16="http://schemas.microsoft.com/office/drawing/2014/main" id="{956C7271-20C1-2822-F871-E789484CE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5" y="3503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4" name="Line 35">
              <a:extLst>
                <a:ext uri="{FF2B5EF4-FFF2-40B4-BE49-F238E27FC236}">
                  <a16:creationId xmlns:a16="http://schemas.microsoft.com/office/drawing/2014/main" id="{1026B05D-D08E-19DA-E634-A94A1FF52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1" y="2495"/>
              <a:ext cx="336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5" name="Line 38">
              <a:extLst>
                <a:ext uri="{FF2B5EF4-FFF2-40B4-BE49-F238E27FC236}">
                  <a16:creationId xmlns:a16="http://schemas.microsoft.com/office/drawing/2014/main" id="{74CBD945-49B0-DE8E-4B52-FF22E59D45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5" y="1967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Line 39">
              <a:extLst>
                <a:ext uri="{FF2B5EF4-FFF2-40B4-BE49-F238E27FC236}">
                  <a16:creationId xmlns:a16="http://schemas.microsoft.com/office/drawing/2014/main" id="{3545CAA0-22C5-00EB-EE86-2DA62DF40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5" y="268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7" name="Text Box 40">
              <a:extLst>
                <a:ext uri="{FF2B5EF4-FFF2-40B4-BE49-F238E27FC236}">
                  <a16:creationId xmlns:a16="http://schemas.microsoft.com/office/drawing/2014/main" id="{60718E4A-F4FD-A2D2-0642-2A4918BD6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9" y="2776"/>
              <a:ext cx="49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10-0</a:t>
              </a:r>
            </a:p>
          </p:txBody>
        </p:sp>
        <p:sp>
          <p:nvSpPr>
            <p:cNvPr id="39968" name="Line 41">
              <a:extLst>
                <a:ext uri="{FF2B5EF4-FFF2-40B4-BE49-F238E27FC236}">
                  <a16:creationId xmlns:a16="http://schemas.microsoft.com/office/drawing/2014/main" id="{3F8D7FFE-69BF-1021-5673-B7D85A4E2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5" y="196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9" name="Line 43">
              <a:extLst>
                <a:ext uri="{FF2B5EF4-FFF2-40B4-BE49-F238E27FC236}">
                  <a16:creationId xmlns:a16="http://schemas.microsoft.com/office/drawing/2014/main" id="{B9E837F5-AA17-932F-6F5E-EB954E570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7" y="1967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0" name="Line 44">
              <a:extLst>
                <a:ext uri="{FF2B5EF4-FFF2-40B4-BE49-F238E27FC236}">
                  <a16:creationId xmlns:a16="http://schemas.microsoft.com/office/drawing/2014/main" id="{0DE088E4-07B2-17FD-F5B4-601E0D408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268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1" name="Text Box 45">
              <a:extLst>
                <a:ext uri="{FF2B5EF4-FFF2-40B4-BE49-F238E27FC236}">
                  <a16:creationId xmlns:a16="http://schemas.microsoft.com/office/drawing/2014/main" id="{9723C05E-9DE1-DB53-AEF7-F4DD8C2B9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0" y="2785"/>
              <a:ext cx="49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10-0</a:t>
              </a:r>
            </a:p>
          </p:txBody>
        </p:sp>
        <p:sp>
          <p:nvSpPr>
            <p:cNvPr id="39972" name="Line 46">
              <a:extLst>
                <a:ext uri="{FF2B5EF4-FFF2-40B4-BE49-F238E27FC236}">
                  <a16:creationId xmlns:a16="http://schemas.microsoft.com/office/drawing/2014/main" id="{623AA1DD-265F-AE90-520F-C3693D851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196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9973" name="Group 48">
              <a:extLst>
                <a:ext uri="{FF2B5EF4-FFF2-40B4-BE49-F238E27FC236}">
                  <a16:creationId xmlns:a16="http://schemas.microsoft.com/office/drawing/2014/main" id="{04327722-F34F-8426-84B0-AAF82F4575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9" y="2207"/>
              <a:ext cx="192" cy="864"/>
              <a:chOff x="960" y="2544"/>
              <a:chExt cx="192" cy="864"/>
            </a:xfrm>
          </p:grpSpPr>
          <p:sp>
            <p:nvSpPr>
              <p:cNvPr id="40014" name="Line 49">
                <a:extLst>
                  <a:ext uri="{FF2B5EF4-FFF2-40B4-BE49-F238E27FC236}">
                    <a16:creationId xmlns:a16="http://schemas.microsoft.com/office/drawing/2014/main" id="{869B1763-BAFA-4DED-B972-6F1494D05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60" y="2544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15" name="Line 50">
                <a:extLst>
                  <a:ext uri="{FF2B5EF4-FFF2-40B4-BE49-F238E27FC236}">
                    <a16:creationId xmlns:a16="http://schemas.microsoft.com/office/drawing/2014/main" id="{B6576B5A-7073-EA84-839D-CFF4FB720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4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74" name="Text Box 51">
              <a:extLst>
                <a:ext uri="{FF2B5EF4-FFF2-40B4-BE49-F238E27FC236}">
                  <a16:creationId xmlns:a16="http://schemas.microsoft.com/office/drawing/2014/main" id="{ADC7D866-BACC-0ACB-EDDC-5D5B2735D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6" y="2749"/>
              <a:ext cx="4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11-0</a:t>
              </a:r>
            </a:p>
          </p:txBody>
        </p:sp>
        <p:sp>
          <p:nvSpPr>
            <p:cNvPr id="39975" name="Line 54">
              <a:extLst>
                <a:ext uri="{FF2B5EF4-FFF2-40B4-BE49-F238E27FC236}">
                  <a16:creationId xmlns:a16="http://schemas.microsoft.com/office/drawing/2014/main" id="{28EFBBF8-24ED-EF22-E7CB-52A828FE11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1778"/>
              <a:ext cx="336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6" name="Line 55">
              <a:extLst>
                <a:ext uri="{FF2B5EF4-FFF2-40B4-BE49-F238E27FC236}">
                  <a16:creationId xmlns:a16="http://schemas.microsoft.com/office/drawing/2014/main" id="{FC9ED32A-8601-DFA3-18D7-42BBF7C07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775"/>
              <a:ext cx="18" cy="1485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7" name="Text Box 56">
              <a:extLst>
                <a:ext uri="{FF2B5EF4-FFF2-40B4-BE49-F238E27FC236}">
                  <a16:creationId xmlns:a16="http://schemas.microsoft.com/office/drawing/2014/main" id="{ECEA7A5E-859C-B480-ACF9-7529510D0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3685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12</a:t>
              </a:r>
            </a:p>
          </p:txBody>
        </p:sp>
        <p:sp>
          <p:nvSpPr>
            <p:cNvPr id="39978" name="Rectangle 58">
              <a:extLst>
                <a:ext uri="{FF2B5EF4-FFF2-40B4-BE49-F238E27FC236}">
                  <a16:creationId xmlns:a16="http://schemas.microsoft.com/office/drawing/2014/main" id="{02BF5775-B4C9-3F57-E4F3-BE0356FF4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" y="3311"/>
              <a:ext cx="672" cy="19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9979" name="Oval 59">
              <a:extLst>
                <a:ext uri="{FF2B5EF4-FFF2-40B4-BE49-F238E27FC236}">
                  <a16:creationId xmlns:a16="http://schemas.microsoft.com/office/drawing/2014/main" id="{D7281F90-3335-F405-E0FA-EBC0AEF16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3263"/>
              <a:ext cx="96" cy="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9980" name="Text Box 60">
              <a:extLst>
                <a:ext uri="{FF2B5EF4-FFF2-40B4-BE49-F238E27FC236}">
                  <a16:creationId xmlns:a16="http://schemas.microsoft.com/office/drawing/2014/main" id="{FE4C9D69-722F-D680-007A-A8CEF6A1E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8" y="3685"/>
              <a:ext cx="3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11</a:t>
              </a:r>
            </a:p>
          </p:txBody>
        </p:sp>
        <p:sp>
          <p:nvSpPr>
            <p:cNvPr id="39981" name="Line 61">
              <a:extLst>
                <a:ext uri="{FF2B5EF4-FFF2-40B4-BE49-F238E27FC236}">
                  <a16:creationId xmlns:a16="http://schemas.microsoft.com/office/drawing/2014/main" id="{BD63C770-1C4C-4A39-0770-E6298BC91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0" y="3503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2" name="Line 62">
              <a:extLst>
                <a:ext uri="{FF2B5EF4-FFF2-40B4-BE49-F238E27FC236}">
                  <a16:creationId xmlns:a16="http://schemas.microsoft.com/office/drawing/2014/main" id="{DD63FC23-14A8-FF70-64AC-4752271B1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3503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3" name="Line 63">
              <a:extLst>
                <a:ext uri="{FF2B5EF4-FFF2-40B4-BE49-F238E27FC236}">
                  <a16:creationId xmlns:a16="http://schemas.microsoft.com/office/drawing/2014/main" id="{349A09B0-DE7D-E35E-1416-00BD5AE8E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495"/>
              <a:ext cx="336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4" name="Text Box 64">
              <a:extLst>
                <a:ext uri="{FF2B5EF4-FFF2-40B4-BE49-F238E27FC236}">
                  <a16:creationId xmlns:a16="http://schemas.microsoft.com/office/drawing/2014/main" id="{C8B10193-2A53-90B5-9484-0322D38BE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4" y="1480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CS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39985" name="Line 66">
              <a:extLst>
                <a:ext uri="{FF2B5EF4-FFF2-40B4-BE49-F238E27FC236}">
                  <a16:creationId xmlns:a16="http://schemas.microsoft.com/office/drawing/2014/main" id="{792FDCB2-A30F-D4D4-24B7-C2049D5D6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1919"/>
              <a:ext cx="144" cy="0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6" name="Line 67">
              <a:extLst>
                <a:ext uri="{FF2B5EF4-FFF2-40B4-BE49-F238E27FC236}">
                  <a16:creationId xmlns:a16="http://schemas.microsoft.com/office/drawing/2014/main" id="{A594434C-F5DF-3458-2928-942CC610C7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7" y="815"/>
              <a:ext cx="0" cy="1104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7" name="Line 69">
              <a:extLst>
                <a:ext uri="{FF2B5EF4-FFF2-40B4-BE49-F238E27FC236}">
                  <a16:creationId xmlns:a16="http://schemas.microsoft.com/office/drawing/2014/main" id="{922438BB-B085-8898-A3A0-AFE74FE51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063"/>
              <a:ext cx="240" cy="0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70">
              <a:extLst>
                <a:ext uri="{FF2B5EF4-FFF2-40B4-BE49-F238E27FC236}">
                  <a16:creationId xmlns:a16="http://schemas.microsoft.com/office/drawing/2014/main" id="{04C51AA0-EEAF-288C-B5A1-78C6A0AE4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3" y="1007"/>
              <a:ext cx="0" cy="1056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9" name="Line 72">
              <a:extLst>
                <a:ext uri="{FF2B5EF4-FFF2-40B4-BE49-F238E27FC236}">
                  <a16:creationId xmlns:a16="http://schemas.microsoft.com/office/drawing/2014/main" id="{3FF98BD6-9497-3676-3CA9-514B55627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7" y="1679"/>
              <a:ext cx="144" cy="0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0" name="Line 73">
              <a:extLst>
                <a:ext uri="{FF2B5EF4-FFF2-40B4-BE49-F238E27FC236}">
                  <a16:creationId xmlns:a16="http://schemas.microsoft.com/office/drawing/2014/main" id="{C45DE9E6-0C3A-BAC9-1541-770B359D3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1" y="815"/>
              <a:ext cx="0" cy="864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1" name="Line 75">
              <a:extLst>
                <a:ext uri="{FF2B5EF4-FFF2-40B4-BE49-F238E27FC236}">
                  <a16:creationId xmlns:a16="http://schemas.microsoft.com/office/drawing/2014/main" id="{0AE6A66A-AD37-63A6-2EF1-458AF19DAC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9" y="1679"/>
              <a:ext cx="144" cy="0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2" name="Line 76">
              <a:extLst>
                <a:ext uri="{FF2B5EF4-FFF2-40B4-BE49-F238E27FC236}">
                  <a16:creationId xmlns:a16="http://schemas.microsoft.com/office/drawing/2014/main" id="{7A8B9B12-9BBC-0DC9-1E93-E6B8A73061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3" y="815"/>
              <a:ext cx="0" cy="864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3" name="Line 78">
              <a:extLst>
                <a:ext uri="{FF2B5EF4-FFF2-40B4-BE49-F238E27FC236}">
                  <a16:creationId xmlns:a16="http://schemas.microsoft.com/office/drawing/2014/main" id="{19651358-F9CE-09DD-0D8D-6BC5E9370C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7" y="2351"/>
              <a:ext cx="240" cy="0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4" name="Line 79">
              <a:extLst>
                <a:ext uri="{FF2B5EF4-FFF2-40B4-BE49-F238E27FC236}">
                  <a16:creationId xmlns:a16="http://schemas.microsoft.com/office/drawing/2014/main" id="{94CC893E-2360-2A92-2AC5-5490C2305B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7" y="1007"/>
              <a:ext cx="0" cy="1344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5" name="Line 81">
              <a:extLst>
                <a:ext uri="{FF2B5EF4-FFF2-40B4-BE49-F238E27FC236}">
                  <a16:creationId xmlns:a16="http://schemas.microsoft.com/office/drawing/2014/main" id="{2CDC2175-F0CB-2EDB-A614-3387650F2A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9" y="2351"/>
              <a:ext cx="240" cy="0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6" name="Line 82">
              <a:extLst>
                <a:ext uri="{FF2B5EF4-FFF2-40B4-BE49-F238E27FC236}">
                  <a16:creationId xmlns:a16="http://schemas.microsoft.com/office/drawing/2014/main" id="{F3D92E49-7B5A-E1A7-7237-E0203DA3B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9" y="1007"/>
              <a:ext cx="0" cy="1344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9997" name="Group 84">
              <a:extLst>
                <a:ext uri="{FF2B5EF4-FFF2-40B4-BE49-F238E27FC236}">
                  <a16:creationId xmlns:a16="http://schemas.microsoft.com/office/drawing/2014/main" id="{7A3D1CBD-7554-7E22-87C5-7C14FCD12E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7" y="1295"/>
              <a:ext cx="240" cy="384"/>
              <a:chOff x="2160" y="1632"/>
              <a:chExt cx="240" cy="384"/>
            </a:xfrm>
          </p:grpSpPr>
          <p:sp>
            <p:nvSpPr>
              <p:cNvPr id="40012" name="Line 85">
                <a:extLst>
                  <a:ext uri="{FF2B5EF4-FFF2-40B4-BE49-F238E27FC236}">
                    <a16:creationId xmlns:a16="http://schemas.microsoft.com/office/drawing/2014/main" id="{ABD1F76B-9867-C8A0-060E-107A0BF449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632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13" name="Line 86">
                <a:extLst>
                  <a:ext uri="{FF2B5EF4-FFF2-40B4-BE49-F238E27FC236}">
                    <a16:creationId xmlns:a16="http://schemas.microsoft.com/office/drawing/2014/main" id="{ECA94062-AFC7-ABB5-BFF4-97A65600A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016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98" name="Line 87">
              <a:extLst>
                <a:ext uri="{FF2B5EF4-FFF2-40B4-BE49-F238E27FC236}">
                  <a16:creationId xmlns:a16="http://schemas.microsoft.com/office/drawing/2014/main" id="{CB3F2FCB-8C91-6D39-9A40-74C3E9007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1631"/>
              <a:ext cx="0" cy="768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9" name="Line 88">
              <a:extLst>
                <a:ext uri="{FF2B5EF4-FFF2-40B4-BE49-F238E27FC236}">
                  <a16:creationId xmlns:a16="http://schemas.microsoft.com/office/drawing/2014/main" id="{07DAE5B5-C4FD-CDCF-4646-9AD356227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2399"/>
              <a:ext cx="240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00" name="Group 90">
              <a:extLst>
                <a:ext uri="{FF2B5EF4-FFF2-40B4-BE49-F238E27FC236}">
                  <a16:creationId xmlns:a16="http://schemas.microsoft.com/office/drawing/2014/main" id="{F449081E-C768-33EA-2CB8-91275CF037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9" y="1295"/>
              <a:ext cx="240" cy="384"/>
              <a:chOff x="2160" y="1632"/>
              <a:chExt cx="240" cy="384"/>
            </a:xfrm>
          </p:grpSpPr>
          <p:sp>
            <p:nvSpPr>
              <p:cNvPr id="40010" name="Line 91">
                <a:extLst>
                  <a:ext uri="{FF2B5EF4-FFF2-40B4-BE49-F238E27FC236}">
                    <a16:creationId xmlns:a16="http://schemas.microsoft.com/office/drawing/2014/main" id="{5AF368DC-63F7-CA2F-E1B0-E80BF0BCC9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632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11" name="Line 92">
                <a:extLst>
                  <a:ext uri="{FF2B5EF4-FFF2-40B4-BE49-F238E27FC236}">
                    <a16:creationId xmlns:a16="http://schemas.microsoft.com/office/drawing/2014/main" id="{F3AF50E7-16BA-3724-1A38-7A0676DB4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016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001" name="Line 93">
              <a:extLst>
                <a:ext uri="{FF2B5EF4-FFF2-40B4-BE49-F238E27FC236}">
                  <a16:creationId xmlns:a16="http://schemas.microsoft.com/office/drawing/2014/main" id="{2A9876C3-1221-D2F9-DB42-4DFD66A57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9" y="1631"/>
              <a:ext cx="0" cy="768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2" name="Line 94">
              <a:extLst>
                <a:ext uri="{FF2B5EF4-FFF2-40B4-BE49-F238E27FC236}">
                  <a16:creationId xmlns:a16="http://schemas.microsoft.com/office/drawing/2014/main" id="{CC3F8CB0-D65A-22EC-F121-EF5574666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9" y="2399"/>
              <a:ext cx="240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3" name="Line 96">
              <a:extLst>
                <a:ext uri="{FF2B5EF4-FFF2-40B4-BE49-F238E27FC236}">
                  <a16:creationId xmlns:a16="http://schemas.microsoft.com/office/drawing/2014/main" id="{780F9C09-05FC-0757-871C-01E47D8B5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" y="3067"/>
              <a:ext cx="4848" cy="0"/>
            </a:xfrm>
            <a:prstGeom prst="line">
              <a:avLst/>
            </a:prstGeom>
            <a:noFill/>
            <a:ln w="76200">
              <a:solidFill>
                <a:srgbClr val="CC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4" name="Text Box 97">
              <a:extLst>
                <a:ext uri="{FF2B5EF4-FFF2-40B4-BE49-F238E27FC236}">
                  <a16:creationId xmlns:a16="http://schemas.microsoft.com/office/drawing/2014/main" id="{356491C2-F03B-5524-7305-B0DD1EB60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278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40005" name="Line 98">
              <a:extLst>
                <a:ext uri="{FF2B5EF4-FFF2-40B4-BE49-F238E27FC236}">
                  <a16:creationId xmlns:a16="http://schemas.microsoft.com/office/drawing/2014/main" id="{17838A35-F2C2-B183-4575-8DFBABE6A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374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6" name="Line 99">
              <a:extLst>
                <a:ext uri="{FF2B5EF4-FFF2-40B4-BE49-F238E27FC236}">
                  <a16:creationId xmlns:a16="http://schemas.microsoft.com/office/drawing/2014/main" id="{8CDA06D0-BDFC-FDD5-06E5-83383A5C3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184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7" name="Line 100">
              <a:extLst>
                <a:ext uri="{FF2B5EF4-FFF2-40B4-BE49-F238E27FC236}">
                  <a16:creationId xmlns:a16="http://schemas.microsoft.com/office/drawing/2014/main" id="{E021F401-09DB-6595-F6A5-1EFA3F055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2" y="148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8" name="Line 101">
              <a:extLst>
                <a:ext uri="{FF2B5EF4-FFF2-40B4-BE49-F238E27FC236}">
                  <a16:creationId xmlns:a16="http://schemas.microsoft.com/office/drawing/2014/main" id="{E4ED4AD3-7A9C-8CD4-DF00-8FE9F1F5D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1525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9" name="Line 103">
              <a:extLst>
                <a:ext uri="{FF2B5EF4-FFF2-40B4-BE49-F238E27FC236}">
                  <a16:creationId xmlns:a16="http://schemas.microsoft.com/office/drawing/2014/main" id="{28B2D123-5763-E0B4-60A7-8151B99FA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1162"/>
              <a:ext cx="181" cy="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E83ED87-5F29-3691-E060-1A632046D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3"/>
            <a:ext cx="8945563" cy="14573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3048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LB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指令的功能需求和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MIPS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多周期数据通路均见后。多周期控制器的状态机</a:t>
            </a:r>
            <a:endParaRPr lang="zh-CN" altLang="zh-CN" sz="1600" b="1" kern="100" dirty="0">
              <a:solidFill>
                <a:schemeClr val="bg1"/>
              </a:solidFill>
              <a:latin typeface="+mj-ea"/>
              <a:ea typeface="+mj-ea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FSM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原则上按照取指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译码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执行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访存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写回共计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个阶段运行（注意：</a:t>
            </a:r>
            <a:endParaRPr lang="zh-CN" altLang="zh-CN" sz="1600" b="1" kern="100" dirty="0">
              <a:solidFill>
                <a:schemeClr val="bg1"/>
              </a:solidFill>
              <a:latin typeface="+mj-ea"/>
              <a:ea typeface="+mj-ea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并非每条指令都必须执行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个阶段）。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     </a:t>
            </a:r>
          </a:p>
        </p:txBody>
      </p:sp>
      <p:sp>
        <p:nvSpPr>
          <p:cNvPr id="72712" name="Text Box 8">
            <a:extLst>
              <a:ext uri="{FF2B5EF4-FFF2-40B4-BE49-F238E27FC236}">
                <a16:creationId xmlns:a16="http://schemas.microsoft.com/office/drawing/2014/main" id="{336C75F6-9C1D-3332-1BE8-B5CD0DE1A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27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5D9A7A-1D44-C7D6-665E-843CD310AA78}"/>
              </a:ext>
            </a:extLst>
          </p:cNvPr>
          <p:cNvSpPr/>
          <p:nvPr/>
        </p:nvSpPr>
        <p:spPr>
          <a:xfrm>
            <a:off x="352425" y="1731963"/>
            <a:ext cx="8240713" cy="3784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en-US" sz="2400" b="1" kern="100" dirty="0">
                <a:latin typeface="+mj-ea"/>
                <a:ea typeface="+mj-ea"/>
                <a:cs typeface="Arial" panose="020B0604020202020204" pitchFamily="34" charset="0"/>
              </a:rPr>
              <a:t>（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1</a:t>
            </a:r>
            <a:r>
              <a:rPr lang="zh-CN" altLang="en-US" sz="2400" b="1" kern="100" dirty="0">
                <a:latin typeface="+mj-ea"/>
                <a:ea typeface="+mj-ea"/>
                <a:cs typeface="Arial" panose="020B0604020202020204" pitchFamily="34" charset="0"/>
              </a:rPr>
              <a:t>）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请问该数据通路可否支持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LB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指令？如果不可以，请使用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Verilog HDL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语言给出需要增加的部件及其功能描述，以及相关的数据连线，并请填充表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1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，详细描述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LB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在数据通路中的执行过程。（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LB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指令的操作码为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100000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）</a:t>
            </a:r>
            <a:endParaRPr lang="zh-CN" altLang="zh-CN" b="1" kern="100" dirty="0">
              <a:latin typeface="+mj-ea"/>
              <a:ea typeface="+mj-ea"/>
            </a:endParaRPr>
          </a:p>
          <a:p>
            <a:pPr algn="just" eaLnBrk="1" hangingPunct="1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en-US" sz="2400" b="1" kern="100" dirty="0">
                <a:latin typeface="+mj-ea"/>
                <a:ea typeface="+mj-ea"/>
                <a:cs typeface="Arial" panose="020B0604020202020204" pitchFamily="34" charset="0"/>
              </a:rPr>
              <a:t>（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2</a:t>
            </a:r>
            <a:r>
              <a:rPr lang="zh-CN" altLang="en-US" sz="2400" b="1" kern="100" dirty="0">
                <a:latin typeface="+mj-ea"/>
                <a:ea typeface="+mj-ea"/>
                <a:cs typeface="Arial" panose="020B0604020202020204" pitchFamily="34" charset="0"/>
              </a:rPr>
              <a:t>）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请填充表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2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，给出执行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LB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指令时的每个控制信号在每个状态的取值（注意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1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：取值为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，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1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，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X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代表不考虑，以及其他的直观的解释；注意</a:t>
            </a:r>
            <a:r>
              <a:rPr lang="en-US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2</a:t>
            </a:r>
            <a:r>
              <a:rPr lang="zh-CN" altLang="zh-CN" sz="2400" b="1" kern="100" dirty="0">
                <a:latin typeface="+mj-ea"/>
                <a:ea typeface="+mj-ea"/>
                <a:cs typeface="Arial" panose="020B0604020202020204" pitchFamily="34" charset="0"/>
              </a:rPr>
              <a:t>：如果你认为需要增加控制信号，请在空白行中给出）。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1466F9-BC04-80B4-9B2C-DAA2013C1DE7}"/>
              </a:ext>
            </a:extLst>
          </p:cNvPr>
          <p:cNvSpPr/>
          <p:nvPr/>
        </p:nvSpPr>
        <p:spPr>
          <a:xfrm>
            <a:off x="-252413" y="3175"/>
            <a:ext cx="9324976" cy="6986588"/>
          </a:xfrm>
          <a:prstGeom prst="rect">
            <a:avLst/>
          </a:prstGeom>
        </p:spPr>
        <p:txBody>
          <a:bodyPr>
            <a:spAutoFit/>
          </a:bodyPr>
          <a:lstStyle>
            <a:lvl1pPr marL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(1) </a:t>
            </a:r>
            <a:r>
              <a:rPr lang="zh-CN" altLang="zh-CN" sz="2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不可以支持。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需要改变</a:t>
            </a: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Controller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DM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模块：</a:t>
            </a: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Controller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中增加</a:t>
            </a: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位的输出信号，用来识别</a:t>
            </a:r>
            <a:r>
              <a:rPr lang="en-US" altLang="zh-CN" sz="2400" b="1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lb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指令；</a:t>
            </a: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DM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增加</a:t>
            </a: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位的输入，接收</a:t>
            </a: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Controller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对应的</a:t>
            </a:r>
            <a:r>
              <a:rPr lang="en-US" altLang="zh-CN" sz="2400" b="1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lb</a:t>
            </a:r>
            <a:r>
              <a:rPr lang="zh-CN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输出信号，具体描述如下：</a:t>
            </a:r>
            <a:endParaRPr lang="zh-CN" altLang="zh-CN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module controller(… ,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lb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);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output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lb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assign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lb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=(op===6’b100000);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endmodule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 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module dm(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addr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dmin,dmout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lb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);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input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lb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input [31:0]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addr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input [31:0]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dmin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output [31:0]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dmout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reg [7:0] data[1023:0];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wire [9:0] t1;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wire [7:0] temp;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wire [31:0] temp1;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assign t1={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addr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[9:2],2’b0};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assign temp=data[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addr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[9:0]];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assign temp1={data[t1+3], data[t1+2], data[t1+1], data[t1]};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     assign 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dmout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lb</a:t>
            </a:r>
            <a:r>
              <a:rPr lang="en-US" altLang="zh-CN" sz="1600" b="1" dirty="0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)? {{24{temp[7]}},temp}:temp1;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sz="1600" b="1" dirty="0" err="1">
                <a:latin typeface="Cambria" panose="02040503050406030204" pitchFamily="18" charset="0"/>
                <a:ea typeface="华文新魏" panose="02010800040101010101" pitchFamily="2" charset="-122"/>
                <a:cs typeface="Arial" panose="020B0604020202020204" pitchFamily="34" charset="0"/>
              </a:rPr>
              <a:t>endmodule</a:t>
            </a:r>
            <a:endParaRPr lang="en-US" altLang="zh-CN" sz="1600" b="1" dirty="0">
              <a:latin typeface="Cambria" panose="02040503050406030204" pitchFamily="18" charset="0"/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2" name="Text Box 8">
            <a:extLst>
              <a:ext uri="{FF2B5EF4-FFF2-40B4-BE49-F238E27FC236}">
                <a16:creationId xmlns:a16="http://schemas.microsoft.com/office/drawing/2014/main" id="{290CE220-D970-9862-6C35-8261433F8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27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0FA1E78-A0B6-C4A0-6962-3A23F75711E2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2276475"/>
          <a:ext cx="8642350" cy="1587500"/>
        </p:xfrm>
        <a:graphic>
          <a:graphicData uri="http://schemas.openxmlformats.org/drawingml/2006/table">
            <a:tbl>
              <a:tblPr/>
              <a:tblGrid>
                <a:gridCol w="73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8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55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90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7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03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85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96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2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15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6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552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9354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NPC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RF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1" marR="6859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EXT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ALU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1" marR="6859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ALUOut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DM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WData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7783" marR="17783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7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IR[25:0]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NPC.NPC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IM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IR[20:16]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RF.RD1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RF.RD2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IR[15:0]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EXT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ALUOut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b="1" kern="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 B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DM</a:t>
                      </a:r>
                      <a:endParaRPr lang="zh-CN" sz="11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201" marR="36201" marT="95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6D8CB79-06C3-B981-6D33-66E7CFAE7530}"/>
              </a:ext>
            </a:extLst>
          </p:cNvPr>
          <p:cNvSpPr/>
          <p:nvPr/>
        </p:nvSpPr>
        <p:spPr>
          <a:xfrm>
            <a:off x="3059113" y="1685925"/>
            <a:ext cx="2019300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eaLnBrk="1" hangingPunct="1">
              <a:defRPr/>
            </a:pPr>
            <a:r>
              <a:rPr lang="zh-CN" altLang="en-US" b="1" dirty="0">
                <a:latin typeface="Cambria" panose="02040503050406030204" pitchFamily="18" charset="0"/>
                <a:cs typeface="Arial" panose="020B0604020202020204" pitchFamily="34" charset="0"/>
              </a:rPr>
              <a:t>表</a:t>
            </a:r>
            <a:r>
              <a:rPr lang="en-US" altLang="zh-CN" b="1" dirty="0">
                <a:latin typeface="Cambria" panose="02040503050406030204" pitchFamily="18" charset="0"/>
                <a:cs typeface="Arial" panose="020B0604020202020204" pitchFamily="34" charset="0"/>
              </a:rPr>
              <a:t>1 </a:t>
            </a:r>
            <a:r>
              <a:rPr lang="zh-CN" altLang="en-US" b="1" dirty="0">
                <a:latin typeface="Cambria" panose="02040503050406030204" pitchFamily="18" charset="0"/>
                <a:cs typeface="Arial" panose="020B0604020202020204" pitchFamily="34" charset="0"/>
              </a:rPr>
              <a:t>数据通路表</a:t>
            </a:r>
            <a:endParaRPr lang="zh-CN" altLang="en-US" sz="1050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5AFED4C-393D-2F23-EA7C-8A04D046D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3"/>
            <a:ext cx="8945563" cy="14573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304800" algn="just">
              <a:lnSpc>
                <a:spcPct val="125000"/>
              </a:lnSpc>
              <a:spcAft>
                <a:spcPts val="0"/>
              </a:spcAft>
              <a:defRPr/>
            </a:pPr>
            <a:endParaRPr lang="en-US" altLang="zh-CN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indent="3048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LB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指令的功能需求和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MIPS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多周期数据通路均见后。多周期控制器的状态机</a:t>
            </a:r>
            <a:endParaRPr lang="zh-CN" altLang="zh-CN" sz="1600" b="1" kern="100" dirty="0">
              <a:solidFill>
                <a:schemeClr val="bg1"/>
              </a:solidFill>
              <a:latin typeface="+mj-ea"/>
              <a:ea typeface="+mj-ea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FSM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原则上按照取指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译码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执行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访存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写回共计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个阶段运行（注意：</a:t>
            </a:r>
            <a:endParaRPr lang="zh-CN" altLang="zh-CN" sz="1600" b="1" kern="100" dirty="0">
              <a:solidFill>
                <a:schemeClr val="bg1"/>
              </a:solidFill>
              <a:latin typeface="+mj-ea"/>
              <a:ea typeface="+mj-ea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并非每条指令都必须执行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个阶段）。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6EB9A465-BAD1-59AB-150D-AD842DB0E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28775"/>
            <a:ext cx="7315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5000"/>
              </a:spcBef>
            </a:pPr>
            <a:endParaRPr lang="zh-CN" altLang="en-US" sz="2800"/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74A436FB-2D3E-1197-6835-4B207AF30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274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CE1CC26-5974-8E4B-F865-5507DA84DE40}"/>
              </a:ext>
            </a:extLst>
          </p:cNvPr>
          <p:cNvGraphicFramePr>
            <a:graphicFrameLocks noGrp="1"/>
          </p:cNvGraphicFramePr>
          <p:nvPr/>
        </p:nvGraphicFramePr>
        <p:xfrm>
          <a:off x="373063" y="2079625"/>
          <a:ext cx="8375652" cy="4383092"/>
        </p:xfrm>
        <a:graphic>
          <a:graphicData uri="http://schemas.openxmlformats.org/drawingml/2006/table">
            <a:tbl>
              <a:tblPr firstRow="1" bandRow="1"/>
              <a:tblGrid>
                <a:gridCol w="124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69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064">
                <a:tc>
                  <a:txBody>
                    <a:bodyPr/>
                    <a:lstStyle/>
                    <a:p>
                      <a:endParaRPr lang="zh-CN" sz="1800" b="1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b="1" kern="1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取指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b="1" kern="1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译码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b="1" kern="1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执行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b="1" kern="12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访存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b="1" kern="12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写回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PCWr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IRWr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WDSel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GPRSel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ExtOp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GPRWr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BSel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ALUOp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ADD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ADD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ADD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ADD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NPCOp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PC+4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DMWr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r>
                        <a:rPr lang="en-US" altLang="zh-CN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lb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064"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2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kern="100" dirty="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9524" marB="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F171F82-ACFC-E69D-E6FD-63E308E63D5F}"/>
              </a:ext>
            </a:extLst>
          </p:cNvPr>
          <p:cNvSpPr/>
          <p:nvPr/>
        </p:nvSpPr>
        <p:spPr>
          <a:xfrm>
            <a:off x="3203575" y="1557338"/>
            <a:ext cx="20193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eaLnBrk="1" hangingPunct="1">
              <a:defRPr/>
            </a:pPr>
            <a:r>
              <a:rPr lang="zh-CN" altLang="en-US" b="1" dirty="0">
                <a:latin typeface="Cambria" panose="02040503050406030204" pitchFamily="18" charset="0"/>
                <a:cs typeface="Arial" panose="020B0604020202020204" pitchFamily="34" charset="0"/>
              </a:rPr>
              <a:t>表</a:t>
            </a:r>
            <a:r>
              <a:rPr lang="en-US" altLang="zh-CN" b="1" dirty="0">
                <a:latin typeface="Cambria" panose="02040503050406030204" pitchFamily="18" charset="0"/>
                <a:cs typeface="Arial" panose="020B0604020202020204" pitchFamily="34" charset="0"/>
              </a:rPr>
              <a:t>2 </a:t>
            </a:r>
            <a:r>
              <a:rPr lang="zh-CN" altLang="en-US" b="1" dirty="0">
                <a:latin typeface="Cambria" panose="02040503050406030204" pitchFamily="18" charset="0"/>
                <a:cs typeface="Arial" panose="020B0604020202020204" pitchFamily="34" charset="0"/>
              </a:rPr>
              <a:t>控制信号表</a:t>
            </a:r>
            <a:endParaRPr lang="zh-CN" altLang="en-US" sz="1050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A1A65B-DA87-914B-3A1F-F267B72A1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3"/>
            <a:ext cx="8945563" cy="14573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304800" algn="just">
              <a:lnSpc>
                <a:spcPct val="125000"/>
              </a:lnSpc>
              <a:spcAft>
                <a:spcPts val="0"/>
              </a:spcAft>
              <a:defRPr/>
            </a:pPr>
            <a:endParaRPr lang="en-US" altLang="zh-CN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indent="3048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LB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指令的功能需求和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MIPS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多周期数据通路均见后。多周期控制器的状态机</a:t>
            </a:r>
            <a:endParaRPr lang="zh-CN" altLang="zh-CN" sz="1600" b="1" kern="100" dirty="0">
              <a:solidFill>
                <a:schemeClr val="bg1"/>
              </a:solidFill>
              <a:latin typeface="+mj-ea"/>
              <a:ea typeface="+mj-ea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FSM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原则上按照取指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译码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执行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访存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写回共计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个阶段运行（注意：</a:t>
            </a:r>
            <a:endParaRPr lang="zh-CN" altLang="zh-CN" sz="1600" b="1" kern="100" dirty="0">
              <a:solidFill>
                <a:schemeClr val="bg1"/>
              </a:solidFill>
              <a:latin typeface="+mj-ea"/>
              <a:ea typeface="+mj-ea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并非每条指令都必须执行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个阶段）。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文本框 2">
            <a:extLst>
              <a:ext uri="{FF2B5EF4-FFF2-40B4-BE49-F238E27FC236}">
                <a16:creationId xmlns:a16="http://schemas.microsoft.com/office/drawing/2014/main" id="{2738084E-07D5-3CF1-8971-1BE43628A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28775"/>
            <a:ext cx="8280400" cy="2376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600" b="1" noProof="1">
                <a:latin typeface="Cambria" panose="02040503050406030204" pitchFamily="18" charset="0"/>
              </a:rPr>
              <a:t>用途：从存储器中作为带符号数提取一个字节。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600" b="1" noProof="1">
                <a:latin typeface="Cambria" panose="02040503050406030204" pitchFamily="18" charset="0"/>
              </a:rPr>
              <a:t>描述：</a:t>
            </a:r>
            <a:r>
              <a:rPr lang="en-US" altLang="zh-CN" sz="1600" b="1" noProof="1">
                <a:latin typeface="Cambria" panose="02040503050406030204" pitchFamily="18" charset="0"/>
              </a:rPr>
              <a:t>GPR[rt] ← memory[GPR[base] + offset]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noProof="1">
                <a:latin typeface="Cambria" panose="02040503050406030204" pitchFamily="18" charset="0"/>
              </a:rPr>
              <a:t>     </a:t>
            </a:r>
            <a:r>
              <a:rPr lang="zh-CN" altLang="zh-CN" sz="1600" b="1" noProof="1">
                <a:latin typeface="Cambria" panose="02040503050406030204" pitchFamily="18" charset="0"/>
              </a:rPr>
              <a:t>在存储器有效地址处的8位字节内容被提取出来，进行符号扩展后存入</a:t>
            </a:r>
            <a:r>
              <a:rPr lang="en-US" altLang="zh-CN" sz="1600" b="1" noProof="1">
                <a:latin typeface="Cambria" panose="02040503050406030204" pitchFamily="18" charset="0"/>
              </a:rPr>
              <a:t>CPU</a:t>
            </a:r>
            <a:r>
              <a:rPr lang="zh-CN" altLang="zh-CN" sz="1600" b="1" noProof="1">
                <a:latin typeface="Cambria" panose="02040503050406030204" pitchFamily="18" charset="0"/>
              </a:rPr>
              <a:t>中</a:t>
            </a:r>
            <a:r>
              <a:rPr lang="en-US" altLang="zh-CN" sz="1600" b="1" noProof="1">
                <a:latin typeface="Cambria" panose="02040503050406030204" pitchFamily="18" charset="0"/>
              </a:rPr>
              <a:t>rt</a:t>
            </a:r>
            <a:r>
              <a:rPr lang="zh-CN" altLang="zh-CN" sz="1600" b="1" noProof="1">
                <a:latin typeface="Cambria" panose="02040503050406030204" pitchFamily="18" charset="0"/>
              </a:rPr>
              <a:t>作为编号的寄存器内。有效地址是由</a:t>
            </a:r>
            <a:r>
              <a:rPr lang="en-US" altLang="zh-CN" sz="1600" b="1" noProof="1">
                <a:latin typeface="Cambria" panose="02040503050406030204" pitchFamily="18" charset="0"/>
              </a:rPr>
              <a:t>base</a:t>
            </a:r>
            <a:r>
              <a:rPr lang="zh-CN" altLang="zh-CN" sz="1600" b="1" noProof="1">
                <a:latin typeface="Cambria" panose="02040503050406030204" pitchFamily="18" charset="0"/>
              </a:rPr>
              <a:t>作为编号的寄存器内容与16位带符号偏移量</a:t>
            </a:r>
            <a:r>
              <a:rPr lang="en-US" altLang="zh-CN" sz="1600" b="1" noProof="1">
                <a:latin typeface="Cambria" panose="02040503050406030204" pitchFamily="18" charset="0"/>
              </a:rPr>
              <a:t>offset</a:t>
            </a:r>
            <a:r>
              <a:rPr lang="zh-CN" altLang="zh-CN" sz="1600" b="1" noProof="1">
                <a:latin typeface="Cambria" panose="02040503050406030204" pitchFamily="18" charset="0"/>
              </a:rPr>
              <a:t>符号扩展后相加形成。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600" b="1" noProof="1">
                <a:latin typeface="Cambria" panose="02040503050406030204" pitchFamily="18" charset="0"/>
              </a:rPr>
              <a:t>操作：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noProof="1">
                <a:latin typeface="Cambria" panose="02040503050406030204" pitchFamily="18" charset="0"/>
              </a:rPr>
              <a:t>      Addr ← sign_extend(offset) + GPR[base]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noProof="1">
                <a:latin typeface="Cambria" panose="02040503050406030204" pitchFamily="18" charset="0"/>
              </a:rPr>
              <a:t>      byte ←Addr</a:t>
            </a:r>
            <a:r>
              <a:rPr lang="zh-CN" altLang="zh-CN" sz="1600" b="1" noProof="1">
                <a:latin typeface="Cambria" panose="02040503050406030204" pitchFamily="18" charset="0"/>
              </a:rPr>
              <a:t>中最低2位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noProof="1">
                <a:latin typeface="Cambria" panose="02040503050406030204" pitchFamily="18" charset="0"/>
              </a:rPr>
              <a:t>      GPR[rt] ← sign_extend(memword</a:t>
            </a:r>
            <a:r>
              <a:rPr lang="en-US" altLang="zh-CN" sz="1600" b="1" baseline="-25000" noProof="1">
                <a:latin typeface="Cambria" panose="02040503050406030204" pitchFamily="18" charset="0"/>
              </a:rPr>
              <a:t>7+8*byte</a:t>
            </a:r>
            <a:r>
              <a:rPr lang="en-US" altLang="zh-CN" sz="1600" b="1" noProof="1">
                <a:latin typeface="Cambria" panose="02040503050406030204" pitchFamily="18" charset="0"/>
              </a:rPr>
              <a:t>..</a:t>
            </a:r>
            <a:r>
              <a:rPr lang="en-US" altLang="zh-CN" sz="1600" b="1" baseline="-25000" noProof="1">
                <a:latin typeface="Cambria" panose="02040503050406030204" pitchFamily="18" charset="0"/>
              </a:rPr>
              <a:t>8*byte</a:t>
            </a:r>
            <a:r>
              <a:rPr lang="en-US" altLang="zh-CN" sz="1600" b="1" noProof="1">
                <a:latin typeface="Cambria" panose="02040503050406030204" pitchFamily="18" charset="0"/>
              </a:rPr>
              <a:t>)</a:t>
            </a:r>
            <a:endParaRPr lang="zh-CN" altLang="zh-CN" sz="36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254C4F-706B-BC16-A519-283F2C674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3"/>
            <a:ext cx="8945563" cy="14573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304800" algn="just">
              <a:lnSpc>
                <a:spcPct val="125000"/>
              </a:lnSpc>
              <a:spcAft>
                <a:spcPts val="0"/>
              </a:spcAft>
              <a:defRPr/>
            </a:pPr>
            <a:endParaRPr lang="en-US" altLang="zh-CN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indent="3048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LB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指令的功能需求和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MIPS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多周期数据通路均见后。多周期控制器的状态机</a:t>
            </a:r>
            <a:endParaRPr lang="zh-CN" altLang="zh-CN" sz="1600" b="1" kern="100" dirty="0">
              <a:solidFill>
                <a:schemeClr val="bg1"/>
              </a:solidFill>
              <a:latin typeface="+mj-ea"/>
              <a:ea typeface="+mj-ea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FSM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原则上按照取指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译码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执行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访存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写回共计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个阶段运行（注意：</a:t>
            </a:r>
            <a:endParaRPr lang="zh-CN" altLang="zh-CN" sz="1600" b="1" kern="100" dirty="0">
              <a:solidFill>
                <a:schemeClr val="bg1"/>
              </a:solidFill>
              <a:latin typeface="+mj-ea"/>
              <a:ea typeface="+mj-ea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并非每条指令都必须执行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5</a:t>
            </a:r>
            <a:r>
              <a:rPr lang="zh-CN" altLang="zh-CN" sz="2000" b="1" kern="10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个阶段）。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   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4">
            <a:extLst>
              <a:ext uri="{FF2B5EF4-FFF2-40B4-BE49-F238E27FC236}">
                <a16:creationId xmlns:a16="http://schemas.microsoft.com/office/drawing/2014/main" id="{DAEF6883-5B18-9B4B-0747-6CFF97D7A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44450"/>
            <a:ext cx="9199563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1972</TotalTime>
  <Words>2968</Words>
  <Application>Microsoft Office PowerPoint</Application>
  <PresentationFormat>全屏显示(4:3)</PresentationFormat>
  <Paragraphs>408</Paragraphs>
  <Slides>29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Monotype Sorts</vt:lpstr>
      <vt:lpstr>华文新魏</vt:lpstr>
      <vt:lpstr>宋体</vt:lpstr>
      <vt:lpstr>幼圆</vt:lpstr>
      <vt:lpstr>微软雅黑</vt:lpstr>
      <vt:lpstr>Arial</vt:lpstr>
      <vt:lpstr>Arial Black</vt:lpstr>
      <vt:lpstr>Calibri</vt:lpstr>
      <vt:lpstr>Cambria</vt:lpstr>
      <vt:lpstr>Times New Roman</vt:lpstr>
      <vt:lpstr>Wingdings</vt:lpstr>
      <vt:lpstr>Radial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习题课：3章</dc:title>
  <dc:creator>yxl</dc:creator>
  <cp:lastModifiedBy>LC State</cp:lastModifiedBy>
  <cp:revision>252</cp:revision>
  <dcterms:created xsi:type="dcterms:W3CDTF">2001-03-29T09:08:03Z</dcterms:created>
  <dcterms:modified xsi:type="dcterms:W3CDTF">2025-06-14T09:59:44Z</dcterms:modified>
</cp:coreProperties>
</file>