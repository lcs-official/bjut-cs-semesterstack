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259" r:id="rId4"/>
    <p:sldId id="262" r:id="rId5"/>
    <p:sldId id="273" r:id="rId6"/>
    <p:sldId id="274" r:id="rId7"/>
    <p:sldId id="263" r:id="rId8"/>
    <p:sldId id="267" r:id="rId9"/>
    <p:sldId id="260" r:id="rId10"/>
    <p:sldId id="261" r:id="rId11"/>
    <p:sldId id="280" r:id="rId12"/>
    <p:sldId id="270" r:id="rId13"/>
    <p:sldId id="271" r:id="rId14"/>
    <p:sldId id="272" r:id="rId15"/>
    <p:sldId id="264" r:id="rId16"/>
    <p:sldId id="275" r:id="rId17"/>
    <p:sldId id="276" r:id="rId18"/>
    <p:sldId id="277" r:id="rId19"/>
    <p:sldId id="278" r:id="rId20"/>
    <p:sldId id="279" r:id="rId21"/>
    <p:sldId id="265" r:id="rId22"/>
    <p:sldId id="266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6" autoAdjust="0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8" y="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开场：说明我们不是做完整 C 编译器，而是把实验1、2、3合成一个小型编译前端。先说明流程，再介绍三个模块和演示。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强调这不是完整后端编译器，而是前端三阶段：识别单词、识别结构、生成中间代码。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这一页回答听众“P/S/C/E/T/F是什么”。S是执行动作，C是真假判断，E/T/F是算值。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词法分析不判断结构，只负责分类和属性转换：07是八进制，0x3f转成63。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这一页可替换为实际GUI截图。重点说递归下降函数如何对应文法，错误定位到行号列号，并能恢复继续分析。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解释L是路牌，不是变量。if和while需要跳转，所以TAC里L会很多；普通表达式只有t临时变量。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这一页讲代码组织。重点说Parser不是先生成parse文件再读parse生成tac，而是在一次递归分析过程中同步完成。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开场：说明我们不是做完整 C 编译器，而是把实验1、2、3合成一个小型编译前端。先说明流程，再介绍三个模块和演示。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37160"/>
            <a:ext cx="12191695" cy="6492240"/>
          </a:xfrm>
          <a:prstGeom prst="rect">
            <a:avLst/>
          </a:prstGeom>
          <a:solidFill>
            <a:srgbClr val="13263B"/>
          </a:solidFill>
          <a:ln w="12700">
            <a:solidFill>
              <a:srgbClr val="13263B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编译原理</a:t>
            </a: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</a:t>
            </a:r>
            <a:r>
              <a:rPr lang="zh-CN" alt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讲解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449455"/>
            <a:ext cx="58521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BFDBF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词法分析 · 语法分析 · 三地址代码生成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56692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grpSp>
        <p:nvGrpSpPr>
          <p:cNvPr id="12" name="组合 11"/>
          <p:cNvGrpSpPr/>
          <p:nvPr/>
        </p:nvGrpSpPr>
        <p:grpSpPr>
          <a:xfrm>
            <a:off x="7328916" y="2449455"/>
            <a:ext cx="3474720" cy="1669409"/>
            <a:chOff x="7328916" y="2336800"/>
            <a:chExt cx="3474720" cy="1669409"/>
          </a:xfrm>
        </p:grpSpPr>
        <p:sp>
          <p:nvSpPr>
            <p:cNvPr id="9" name="Shape 7"/>
            <p:cNvSpPr/>
            <p:nvPr/>
          </p:nvSpPr>
          <p:spPr>
            <a:xfrm>
              <a:off x="7328916" y="2336800"/>
              <a:ext cx="3474720" cy="1669409"/>
            </a:xfrm>
            <a:prstGeom prst="roundRect">
              <a:avLst>
                <a:gd name="adj" fmla="val 1316"/>
              </a:avLst>
            </a:prstGeom>
            <a:solidFill>
              <a:srgbClr val="0F172A"/>
            </a:solidFill>
            <a:ln w="12700">
              <a:solidFill>
                <a:srgbClr val="1E293B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7616952" y="2547411"/>
              <a:ext cx="2898648" cy="124818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5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input.txt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  ↓ Lexer.scan()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tokens.txt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  ↓ Parser</a:t>
              </a:r>
              <a:endParaRPr lang="en-US" sz="1500" dirty="0"/>
            </a:p>
            <a:p>
              <a:pPr marL="0" indent="0">
                <a:buNone/>
              </a:pPr>
              <a:r>
                <a:rPr lang="en-US" sz="15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parse_tree.txt + tac.txt</a:t>
              </a:r>
              <a:endParaRPr lang="en-US" sz="1500" dirty="0"/>
            </a:p>
          </p:txBody>
        </p:sp>
      </p:grpSp>
      <p:sp>
        <p:nvSpPr>
          <p:cNvPr id="11" name="Text 9"/>
          <p:cNvSpPr/>
          <p:nvPr/>
        </p:nvSpPr>
        <p:spPr>
          <a:xfrm>
            <a:off x="822960" y="57607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B2D366A9-9F83-B1E1-28C5-CAEB68F95EEE}"/>
              </a:ext>
            </a:extLst>
          </p:cNvPr>
          <p:cNvSpPr/>
          <p:nvPr/>
        </p:nvSpPr>
        <p:spPr>
          <a:xfrm>
            <a:off x="740951" y="5875020"/>
            <a:ext cx="2572211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侯景祺 </a:t>
            </a:r>
            <a:r>
              <a:rPr lang="en-US" altLang="zh-CN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| </a:t>
            </a:r>
            <a:r>
              <a:rPr lang="zh-CN" altLang="en-US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王一帆 </a:t>
            </a:r>
            <a:r>
              <a:rPr lang="en-US" altLang="zh-CN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| </a:t>
            </a:r>
            <a:r>
              <a:rPr lang="zh-CN" altLang="en-US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龙绍恒 </a:t>
            </a:r>
            <a:r>
              <a:rPr lang="en-US" altLang="zh-CN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| </a:t>
            </a:r>
            <a:r>
              <a:rPr lang="zh-CN" altLang="en-US" sz="1300" dirty="0">
                <a:solidFill>
                  <a:srgbClr val="BAE6F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何嘉悦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从字符到中间代码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预备知识</a:t>
            </a: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分层工作的编译器流水线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78408" y="267063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FEF3C7"/>
          </a:solidFill>
          <a:ln w="12700">
            <a:solidFill>
              <a:srgbClr val="FEF3C7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798648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源程序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input.txt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24328" y="3027248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81528" y="267063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DBEAFE"/>
          </a:solidFill>
          <a:ln w="12700">
            <a:solidFill>
              <a:srgbClr val="DBEAFE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27248" y="2798648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词法分析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Lexer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27448" y="3027248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84648" y="267063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CFFAFE"/>
          </a:solidFill>
          <a:ln w="12700">
            <a:solidFill>
              <a:srgbClr val="CFFAF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0368" y="2798648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Token序列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06B6D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tokens.txt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830568" y="3027248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87768" y="267063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CCFBF1"/>
          </a:solidFill>
          <a:ln w="12700">
            <a:solidFill>
              <a:srgbClr val="CCFBF1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33488" y="2798648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语法分析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Parser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933688" y="3027248"/>
            <a:ext cx="365760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390888" y="267063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E0E7FF"/>
          </a:solidFill>
          <a:ln w="12700">
            <a:solidFill>
              <a:srgbClr val="E0E7F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36608" y="2798648"/>
            <a:ext cx="15087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6366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三地址代码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6366F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tac.txt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959" y="1417320"/>
            <a:ext cx="6474311" cy="475488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Autofit/>
          </a:bodyPr>
          <a:lstStyle/>
          <a:p>
            <a:pPr marL="0" indent="0" algn="l">
              <a:buNone/>
            </a:pPr>
            <a:r>
              <a:rPr lang="en-US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每一层只解决一类问题，后一层不直接读原始字符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960120" y="4023944"/>
            <a:ext cx="10149840" cy="1882498"/>
          </a:xfrm>
          <a:prstGeom prst="roundRect">
            <a:avLst>
              <a:gd name="adj" fmla="val 3226"/>
            </a:avLst>
          </a:prstGeom>
          <a:solidFill>
            <a:srgbClr val="11182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4712" y="4389120"/>
            <a:ext cx="9820656" cy="1143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(a3+15)&gt;0xa 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↓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 (  IDN a3  +  INT10 15  )  &gt;  INT16 10  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↓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→ while C do 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↓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t1 &gt; 10 goto L1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10789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文法的分层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5669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预备知识：P</a:t>
            </a: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S / C / E / T / F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822960" y="1901952"/>
            <a:ext cx="3840480" cy="438912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011680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  程序：多条语句序列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87552" y="2468880"/>
            <a:ext cx="3730752" cy="438912"/>
          </a:xfrm>
          <a:prstGeom prst="roundRect">
            <a:avLst>
              <a:gd name="adj" fmla="val 16667"/>
            </a:avLst>
          </a:prstGeom>
          <a:solidFill>
            <a:srgbClr val="CCFBF1"/>
          </a:solidFill>
          <a:ln w="12700">
            <a:solidFill>
              <a:srgbClr val="CCFBF1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578608"/>
            <a:ext cx="345643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  语句：赋值 / if / while / {P}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152144" y="3035808"/>
            <a:ext cx="3621024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16736" y="3145536"/>
            <a:ext cx="334670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  条件：E &gt; E、E &lt; E、E = 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16736" y="3602736"/>
            <a:ext cx="3511296" cy="438912"/>
          </a:xfrm>
          <a:prstGeom prst="roundRect">
            <a:avLst>
              <a:gd name="adj" fmla="val 16667"/>
            </a:avLst>
          </a:prstGeom>
          <a:solidFill>
            <a:srgbClr val="EDE9FE"/>
          </a:solidFill>
          <a:ln w="12700">
            <a:solidFill>
              <a:srgbClr val="EDE9FE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3712464"/>
            <a:ext cx="3236976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C3A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  表达式：处理 + -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481328" y="4169664"/>
            <a:ext cx="3401568" cy="438912"/>
          </a:xfrm>
          <a:prstGeom prst="roundRect">
            <a:avLst>
              <a:gd name="adj" fmla="val 16667"/>
            </a:avLst>
          </a:prstGeom>
          <a:solidFill>
            <a:srgbClr val="CFFAFE"/>
          </a:solidFill>
          <a:ln w="12700">
            <a:solidFill>
              <a:srgbClr val="CFFAFE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279392"/>
            <a:ext cx="312724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891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  项：处理 * /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645920" y="4736592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2700">
            <a:solidFill>
              <a:srgbClr val="FEE2E2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484632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  因子：id、整数、(E)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0" y="1325880"/>
            <a:ext cx="5394960" cy="2880360"/>
          </a:xfrm>
          <a:prstGeom prst="roundRect">
            <a:avLst>
              <a:gd name="adj" fmla="val 158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1463040"/>
            <a:ext cx="5065776" cy="2606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例：while (a3+15)&gt;0xa do ...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lvl="1"/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S: while C do S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C: (a3 + 15) &gt; 10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E: a3 + 15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T: a3   /   15</a:t>
            </a:r>
            <a:endParaRPr lang="en-US" sz="1600" dirty="0"/>
          </a:p>
          <a:p>
            <a:pPr lvl="1"/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F: id a3 / int10 15 / int16 10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2120" y="4663440"/>
            <a:ext cx="2011680" cy="27432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</a:t>
            </a:r>
            <a:r>
              <a:rPr lang="zh-CN" alt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的目的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32120" y="5074920"/>
            <a:ext cx="5166360" cy="594360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保证乘除优先于加减，括号优先级最高</a:t>
            </a:r>
            <a:r>
              <a:rPr 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</a:p>
          <a:p>
            <a:pPr marL="0" indent="0" algn="l">
              <a:buNone/>
            </a:pPr>
            <a:r>
              <a:rPr lang="en-US" sz="1500" dirty="0" err="1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比如</a:t>
            </a:r>
            <a:r>
              <a:rPr lang="en-US" sz="15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b + c * d 会先形成 T: c * d，再被 E 的加法组合。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实验一：Lexer 把字符流拆成 Token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14557" y="1408563"/>
            <a:ext cx="3813048" cy="3779013"/>
          </a:xfrm>
          <a:prstGeom prst="roundRect">
            <a:avLst>
              <a:gd name="adj" fmla="val 1149"/>
            </a:avLst>
          </a:prstGeom>
          <a:solidFill>
            <a:srgbClr val="0F172A"/>
          </a:solidFill>
          <a:ln w="12700">
            <a:solidFill>
              <a:schemeClr val="accent2">
                <a:lumMod val="50000"/>
              </a:scheme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9621" y="1492385"/>
            <a:ext cx="3648456" cy="329512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输入：0 92+data&gt;0x3f 00 while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输出：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INT10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INT10 92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+ _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IDN data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 _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INT16 63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INT8 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_</a:t>
            </a:r>
            <a:endParaRPr lang="en-US" sz="16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6206266" y="1203831"/>
            <a:ext cx="899027" cy="566928"/>
            <a:chOff x="5075395" y="3670331"/>
            <a:chExt cx="2331720" cy="566928"/>
          </a:xfrm>
        </p:grpSpPr>
        <p:sp>
          <p:nvSpPr>
            <p:cNvPr id="12" name="Shape 10"/>
            <p:cNvSpPr/>
            <p:nvPr/>
          </p:nvSpPr>
          <p:spPr>
            <a:xfrm>
              <a:off x="5075395" y="3670331"/>
              <a:ext cx="2331720" cy="566928"/>
            </a:xfrm>
            <a:prstGeom prst="roundRect">
              <a:avLst>
                <a:gd name="adj" fmla="val 12903"/>
              </a:avLst>
            </a:prstGeom>
            <a:solidFill>
              <a:srgbClr val="CCFBF1"/>
            </a:solidFill>
            <a:ln w="12700">
              <a:solidFill>
                <a:srgbClr val="CCFBF1">
                  <a:alpha val="90000"/>
                </a:srgbClr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185123" y="3770915"/>
              <a:ext cx="822960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字母</a:t>
              </a:r>
              <a:endParaRPr lang="en-US" sz="11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5185123" y="3990371"/>
              <a:ext cx="2057400" cy="128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IDN / 关键字</a:t>
              </a:r>
              <a:endParaRPr lang="en-US" sz="850" dirty="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8811128" y="1203831"/>
            <a:ext cx="1309611" cy="566928"/>
            <a:chOff x="5075395" y="2670467"/>
            <a:chExt cx="2331720" cy="566928"/>
          </a:xfrm>
        </p:grpSpPr>
        <p:sp>
          <p:nvSpPr>
            <p:cNvPr id="15" name="Shape 13"/>
            <p:cNvSpPr/>
            <p:nvPr/>
          </p:nvSpPr>
          <p:spPr>
            <a:xfrm>
              <a:off x="5075395" y="2670467"/>
              <a:ext cx="2331720" cy="566928"/>
            </a:xfrm>
            <a:prstGeom prst="roundRect">
              <a:avLst>
                <a:gd name="adj" fmla="val 12903"/>
              </a:avLst>
            </a:prstGeom>
            <a:solidFill>
              <a:srgbClr val="FEF3C7"/>
            </a:solidFill>
            <a:ln w="12700">
              <a:solidFill>
                <a:srgbClr val="FEF3C7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185122" y="2771051"/>
              <a:ext cx="110646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0/0x开头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185123" y="2990507"/>
              <a:ext cx="2057400" cy="128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INT8 / INT16</a:t>
              </a:r>
              <a:endParaRPr lang="en-US" sz="850" dirty="0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046894" y="1200902"/>
            <a:ext cx="899027" cy="566928"/>
            <a:chOff x="5075395" y="4665592"/>
            <a:chExt cx="2331720" cy="566928"/>
          </a:xfrm>
        </p:grpSpPr>
        <p:sp>
          <p:nvSpPr>
            <p:cNvPr id="18" name="Shape 16"/>
            <p:cNvSpPr/>
            <p:nvPr/>
          </p:nvSpPr>
          <p:spPr>
            <a:xfrm>
              <a:off x="5075395" y="4665592"/>
              <a:ext cx="2331720" cy="566928"/>
            </a:xfrm>
            <a:prstGeom prst="roundRect">
              <a:avLst>
                <a:gd name="adj" fmla="val 12903"/>
              </a:avLst>
            </a:prstGeom>
            <a:solidFill>
              <a:srgbClr val="EDE9FE"/>
            </a:solidFill>
            <a:ln w="12700">
              <a:solidFill>
                <a:srgbClr val="EDE9FE">
                  <a:alpha val="90000"/>
                </a:srgbClr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185123" y="4766176"/>
              <a:ext cx="822960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1-9</a:t>
              </a:r>
              <a:endParaRPr lang="en-US" sz="11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185123" y="4985632"/>
              <a:ext cx="2057400" cy="128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INT10</a:t>
              </a:r>
              <a:endParaRPr lang="en-US" sz="850" dirty="0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7365638" y="1200902"/>
            <a:ext cx="1227312" cy="566928"/>
            <a:chOff x="5075395" y="1757800"/>
            <a:chExt cx="2331720" cy="566928"/>
          </a:xfrm>
        </p:grpSpPr>
        <p:sp>
          <p:nvSpPr>
            <p:cNvPr id="21" name="Shape 19"/>
            <p:cNvSpPr/>
            <p:nvPr/>
          </p:nvSpPr>
          <p:spPr>
            <a:xfrm>
              <a:off x="5075395" y="1757800"/>
              <a:ext cx="2331720" cy="566928"/>
            </a:xfrm>
            <a:prstGeom prst="roundRect">
              <a:avLst>
                <a:gd name="adj" fmla="val 12903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2700">
              <a:solidFill>
                <a:schemeClr val="accent2">
                  <a:lumMod val="40000"/>
                  <a:lumOff val="60000"/>
                  <a:alpha val="90000"/>
                </a:schemeClr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185123" y="1858384"/>
              <a:ext cx="822960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符号</a:t>
              </a:r>
              <a:endParaRPr lang="en-US" sz="11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185123" y="2077840"/>
              <a:ext cx="2057400" cy="128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+ - * / &gt; &lt; = ; ( ) { }</a:t>
              </a:r>
              <a:endParaRPr lang="en-US" sz="850" dirty="0"/>
            </a:p>
          </p:txBody>
        </p:sp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179" y="2393667"/>
            <a:ext cx="3398481" cy="3609895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  <p:grpSp>
        <p:nvGrpSpPr>
          <p:cNvPr id="38" name="组合 37"/>
          <p:cNvGrpSpPr/>
          <p:nvPr/>
        </p:nvGrpSpPr>
        <p:grpSpPr>
          <a:xfrm>
            <a:off x="10390044" y="1194968"/>
            <a:ext cx="1353309" cy="566928"/>
            <a:chOff x="5075395" y="2670467"/>
            <a:chExt cx="2409521" cy="566928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9" name="Shape 13"/>
            <p:cNvSpPr/>
            <p:nvPr/>
          </p:nvSpPr>
          <p:spPr>
            <a:xfrm>
              <a:off x="5075395" y="2670467"/>
              <a:ext cx="2331720" cy="566928"/>
            </a:xfrm>
            <a:prstGeom prst="roundRect">
              <a:avLst>
                <a:gd name="adj" fmla="val 12903"/>
              </a:avLst>
            </a:prstGeom>
            <a:grpFill/>
            <a:ln w="12700">
              <a:solidFill>
                <a:srgbClr val="FEF3C7">
                  <a:alpha val="9000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0" name="Text 14"/>
            <p:cNvSpPr/>
            <p:nvPr/>
          </p:nvSpPr>
          <p:spPr>
            <a:xfrm>
              <a:off x="5185122" y="2771051"/>
              <a:ext cx="1106468" cy="164592"/>
            </a:xfrm>
            <a:prstGeom prst="rect">
              <a:avLst/>
            </a:prstGeom>
            <a:grp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zh-CN" altLang="en-US" sz="11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实数</a:t>
              </a:r>
              <a:endParaRPr lang="en-US" sz="1100" dirty="0"/>
            </a:p>
          </p:txBody>
        </p:sp>
        <p:sp>
          <p:nvSpPr>
            <p:cNvPr id="41" name="Text 15"/>
            <p:cNvSpPr/>
            <p:nvPr/>
          </p:nvSpPr>
          <p:spPr>
            <a:xfrm>
              <a:off x="5153198" y="2990507"/>
              <a:ext cx="2331718" cy="16459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altLang="zh-CN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REAL</a:t>
              </a: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8 /</a:t>
              </a:r>
              <a:r>
                <a:rPr lang="en-US" altLang="zh-CN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REAL10/</a:t>
              </a: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 </a:t>
              </a:r>
              <a:r>
                <a:rPr lang="en-US" altLang="zh-CN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REAL</a:t>
              </a:r>
              <a:r>
                <a:rPr lang="en-US" sz="850" dirty="0">
                  <a:solidFill>
                    <a:srgbClr val="64748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16</a:t>
              </a:r>
              <a:endParaRPr lang="en-US" sz="850" dirty="0"/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1163" y="1880108"/>
            <a:ext cx="6561216" cy="4647717"/>
          </a:xfrm>
          <a:prstGeom prst="rect">
            <a:avLst/>
          </a:prstGeom>
          <a:ln>
            <a:solidFill>
              <a:schemeClr val="accent1">
                <a:lumMod val="40000"/>
                <a:lumOff val="60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57378"/>
            <a:ext cx="108813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6DB"/>
                </a:solidFill>
              </a:defRPr>
            </a:pPr>
            <a:r>
              <a:t>实验一：Token 类型体系与数字识别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3000"/>
            <a:ext cx="1088136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共 20+ 种 Token 类型 | 支持十进制/八进制/十六进制整数与浮点数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0000" y="1250000"/>
          <a:ext cx="1140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0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Token类型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示例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枚举值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关键字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IF / THEN / ELSE / WHILE /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if, while, 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TK_* (30-34)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标识符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IDN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data, x, a3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TK_IDN (10)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十进制整数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92, 0, 15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TK_INT10 (20)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八进制整数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INT8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00, 077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TK_INT8 (21)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十六进制整数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0x3f, 0xFF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TK_INT16 (22)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十进制浮点数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REAL10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12.5, .5, 3.14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TK_REAL10 (23)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十六进制浮点数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REAL16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0x1A.3F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TK_REAL16 (25)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运算符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 - * /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+, -, *, /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(40-43)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9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比较符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 &lt;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&gt;, &lt;,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(44-46)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界符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 ) ; { }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(, ), ;, {, }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(47-51)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0000" y="4800000"/>
            <a:ext cx="11400000" cy="700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0000" y="4880000"/>
            <a:ext cx="11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t>数字识别流程（确定性有限自动机 DFA）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ch=0 ──→ 0x/0X → 十六进制部分 → [.十六进制小数] → INT16/REAL16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  ├─→ 0~7  → 八进制数字串 → INT8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  ├─→ .    → 十进制小数(.xxx) → REAL10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    └─→ 直接返回 INT10 "0"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ch=1-9 → 十进制数字串 → [.小数部分] → INT10/REAL10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t>ch=.  → [数字] → REAL10(.xxx) | ERROR(孤立.)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endParaRPr/>
          </a:p>
          <a:p>
            <a:pPr>
              <a:spcAft>
                <a:spcPts val="200"/>
              </a:spcAft>
              <a:defRPr sz="1100" b="1">
                <a:solidFill>
                  <a:srgbClr val="CC3333"/>
                </a:solidFill>
              </a:defRPr>
            </a:pPr>
            <a:r>
              <a:t>关键设计：每种数字类型返回前检查后缀字母，发现混合如 123abc 则报 TK_ERROR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00000" y="5600000"/>
            <a:ext cx="3000000" cy="9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00000" y="5650000"/>
            <a:ext cx="28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A56DB"/>
                </a:solidFill>
              </a:defRPr>
            </a:pPr>
            <a:r>
              <a:t>关键字查找</a:t>
            </a:r>
          </a:p>
          <a:p>
            <a:pPr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t>unordered_map&lt;string, TokenType&gt;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O(1) 哈希查找 | 5 个关键字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5628"/>
            <a:ext cx="108813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56DB"/>
                </a:solidFill>
              </a:defRPr>
            </a:pPr>
            <a:r>
              <a:rPr dirty="0" err="1"/>
              <a:t>实验一：错误处理机制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823000"/>
            <a:ext cx="1088136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6 类错误检测 | 错误恢复（跳过继续） | 错误分离输出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00000" y="1250000"/>
          <a:ext cx="114000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857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错误类型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检测方式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恢复策略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非法字符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输入不在合法字符集中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switch default 分支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跳过单字符，返回 TK_ERROR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8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非法十六进制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0x/0X 后无有效十六进制数字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hex 部分为空检测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保留完整 lexeme，返回 TK_ERROR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8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非法八进制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开头后含 8/9 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digit 跨进制检测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返回 TK_ERROR，保留 lexeme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8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数字-字母混合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123abc / 0xFFworld 等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isalpha() 后缀检测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完整吞入后缀，返回 TK_ERROR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85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整数溢出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超出 long long 范围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try-catch std::stoll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返回 TK_ERROR，不崩溃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85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文件不存在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输入文件不可读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try-catch main()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优雅退出，stderr 输出原因</a:t>
                      </a:r>
                    </a:p>
                  </a:txBody>
                  <a:tcPr>
                    <a:solidFill>
                      <a:srgbClr val="ED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00000" y="4500000"/>
            <a:ext cx="5500000" cy="2000000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0000" y="4580000"/>
            <a:ext cx="5100000" cy="1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A56DB"/>
                </a:solidFill>
              </a:defRPr>
            </a:pPr>
            <a:r>
              <a:rPr dirty="0" err="1"/>
              <a:t>错误处理流程</a:t>
            </a: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rPr dirty="0"/>
              <a:t>scan() → </a:t>
            </a:r>
            <a:r>
              <a:rPr dirty="0" err="1"/>
              <a:t>检测到异常</a:t>
            </a: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rPr dirty="0"/>
              <a:t>   ├─ </a:t>
            </a:r>
            <a:r>
              <a:rPr dirty="0" err="1"/>
              <a:t>数字异常：吞入完整</a:t>
            </a:r>
            <a:r>
              <a:rPr dirty="0"/>
              <a:t> token → </a:t>
            </a:r>
            <a:r>
              <a:rPr dirty="0" err="1"/>
              <a:t>返回</a:t>
            </a:r>
            <a:r>
              <a:rPr dirty="0"/>
              <a:t> TK_ERROR + </a:t>
            </a:r>
            <a:r>
              <a:rPr dirty="0" err="1"/>
              <a:t>描述属性</a:t>
            </a: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rPr dirty="0"/>
              <a:t>   ├─ </a:t>
            </a:r>
            <a:r>
              <a:rPr dirty="0" err="1"/>
              <a:t>非法字符：返回</a:t>
            </a:r>
            <a:r>
              <a:rPr dirty="0"/>
              <a:t> TK_ERROR + "illegal char"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rPr dirty="0"/>
              <a:t>   └─ </a:t>
            </a:r>
            <a:r>
              <a:rPr dirty="0" err="1"/>
              <a:t>溢出</a:t>
            </a:r>
            <a:r>
              <a:rPr dirty="0"/>
              <a:t>/</a:t>
            </a:r>
            <a:r>
              <a:rPr dirty="0" err="1"/>
              <a:t>文件：try-catch</a:t>
            </a:r>
            <a:r>
              <a:rPr dirty="0"/>
              <a:t> </a:t>
            </a:r>
            <a:r>
              <a:rPr dirty="0" err="1"/>
              <a:t>保护</a:t>
            </a:r>
            <a:r>
              <a:rPr dirty="0"/>
              <a:t> → TK_ERROR / </a:t>
            </a:r>
            <a:r>
              <a:rPr dirty="0" err="1"/>
              <a:t>优雅退出</a:t>
            </a: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rPr dirty="0"/>
              <a:t>main() </a:t>
            </a:r>
            <a:r>
              <a:rPr dirty="0" err="1"/>
              <a:t>接收</a:t>
            </a:r>
            <a:r>
              <a:rPr dirty="0"/>
              <a:t> Token → if TK_ERROR: → errors.txt (</a:t>
            </a:r>
            <a:r>
              <a:rPr dirty="0" err="1"/>
              <a:t>行列号+描述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100" b="0">
                <a:solidFill>
                  <a:srgbClr val="333333"/>
                </a:solidFill>
              </a:defRPr>
            </a:pPr>
            <a:r>
              <a:rPr dirty="0"/>
              <a:t>                      → else:      → tokens.txt (</a:t>
            </a:r>
            <a:r>
              <a:rPr dirty="0" err="1"/>
              <a:t>合法输出</a:t>
            </a:r>
            <a:r>
              <a:rPr dirty="0"/>
              <a:t>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0000" y="4500000"/>
            <a:ext cx="5700000" cy="2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0" y="4580000"/>
            <a:ext cx="5500000" cy="2040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A56DB"/>
                </a:solidFill>
              </a:defRPr>
            </a:pPr>
            <a:r>
              <a:t>输出格式</a:t>
            </a:r>
          </a:p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tokens.txt（合法 Token）：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TokenType attr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例如: INT10 92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      IDN data</a:t>
            </a:r>
          </a:p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errors.txt（错误信息）：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LexError at line N, col M: reason (lexeme)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...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Total errors: N</a:t>
            </a:r>
          </a:p>
          <a:p>
            <a:pPr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控制台输出：</a:t>
            </a:r>
          </a:p>
          <a:p>
            <a:pPr>
              <a:spcAft>
                <a:spcPts val="200"/>
              </a:spcAft>
              <a:defRPr sz="1000" b="0">
                <a:solidFill>
                  <a:srgbClr val="666666"/>
                </a:solidFill>
              </a:defRPr>
            </a:pPr>
            <a:r>
              <a:t>  Scanning complete. N error(s) found.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7"/>
          <p:cNvSpPr/>
          <p:nvPr/>
        </p:nvSpPr>
        <p:spPr>
          <a:xfrm>
            <a:off x="5087900" y="4654296"/>
            <a:ext cx="6080760" cy="1436610"/>
          </a:xfrm>
          <a:prstGeom prst="roundRect">
            <a:avLst>
              <a:gd name="adj" fmla="val 1702"/>
            </a:avLst>
          </a:prstGeom>
          <a:solidFill>
            <a:srgbClr val="FFFFFF">
              <a:alpha val="92000"/>
            </a:srgbClr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实验二：Parser</a:t>
            </a: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</a:t>
            </a:r>
            <a:r>
              <a:rPr lang="en-US" sz="30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判断Token序列是否符合文法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9975" y="2168507"/>
            <a:ext cx="3794760" cy="3063240"/>
          </a:xfrm>
          <a:prstGeom prst="roundRect">
            <a:avLst>
              <a:gd name="adj" fmla="val 149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4567" y="2305667"/>
            <a:ext cx="3465576" cy="2788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核心文法：</a:t>
            </a:r>
          </a:p>
          <a:p>
            <a:pPr marL="0" indent="0">
              <a:buNone/>
            </a:pPr>
            <a:endParaRPr lang="zh-CN" altLang="en-US" sz="14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  → S ; P' | </a:t>
            </a:r>
            <a:r>
              <a:rPr lang="el-GR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ε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 → id = 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 → if C then S [else S]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 → while C do 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  → { P }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 → E </a:t>
            </a:r>
            <a:r>
              <a:rPr lang="en-US" sz="1400" dirty="0" err="1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relop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  → T E'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  → F T'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  → id | int | real | ( E )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zh-CN" alt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错误恢复：</a:t>
            </a:r>
          </a:p>
          <a:p>
            <a:pPr marL="0" indent="0">
              <a:buNone/>
            </a:pPr>
            <a:r>
              <a:rPr lang="zh-CN" alt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跳到下一个 </a:t>
            </a:r>
            <a:r>
              <a:rPr lang="en-US" altLang="zh-CN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; / } / </a:t>
            </a:r>
            <a:r>
              <a:rPr 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EOF </a:t>
            </a:r>
            <a:r>
              <a:rPr lang="zh-CN" altLang="en-US" sz="140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后继续分析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81410" y="1499616"/>
            <a:ext cx="6080760" cy="2405231"/>
          </a:xfrm>
          <a:prstGeom prst="roundRect">
            <a:avLst>
              <a:gd name="adj" fmla="val 1702"/>
            </a:avLst>
          </a:prstGeom>
          <a:solidFill>
            <a:srgbClr val="FFFFFF">
              <a:alpha val="92000"/>
            </a:srgbClr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1250" y="1573366"/>
            <a:ext cx="35610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parse_tree.txt 语法树</a:t>
            </a:r>
            <a:endParaRPr lang="en-US" sz="1800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486" y="1947238"/>
            <a:ext cx="5122115" cy="1722736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217488" y="5127591"/>
            <a:ext cx="4376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递归下降分析     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    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parse.txt     |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5867399" y="5622151"/>
            <a:ext cx="4786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parse_tree.txt  |   </a:t>
            </a:r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错误定位与续编译  </a:t>
            </a:r>
            <a:r>
              <a:rPr lang="en-US" altLang="zh-CN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</a:p>
        </p:txBody>
      </p:sp>
      <p:sp>
        <p:nvSpPr>
          <p:cNvPr id="21" name="Text 8"/>
          <p:cNvSpPr/>
          <p:nvPr/>
        </p:nvSpPr>
        <p:spPr>
          <a:xfrm>
            <a:off x="6341250" y="4753719"/>
            <a:ext cx="3561080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实验二 主要功能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13"/>
          <p:cNvSpPr/>
          <p:nvPr/>
        </p:nvSpPr>
        <p:spPr>
          <a:xfrm>
            <a:off x="8608188" y="3567476"/>
            <a:ext cx="3280600" cy="30162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一、实现方法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语法分析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628" y="1143000"/>
            <a:ext cx="21031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1628" y="1143000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564"/>
                </a:solidFill>
              </a:rPr>
              <a:t>源代码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4748" y="1417320"/>
            <a:ext cx="22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3348" y="1143000"/>
            <a:ext cx="2103120" cy="9144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3348" y="1143001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词法分析
Flex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6467" y="1417320"/>
            <a:ext cx="22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5067" y="1143000"/>
            <a:ext cx="210312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5067" y="1143001"/>
            <a:ext cx="2103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语法分析
Bison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8187" y="1417320"/>
            <a:ext cx="22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6787" y="1143000"/>
            <a:ext cx="2103120" cy="914400"/>
          </a:xfrm>
          <a:prstGeom prst="rect">
            <a:avLst/>
          </a:prstGeom>
          <a:solidFill>
            <a:srgbClr val="37864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6787" y="1143000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语义/中间代码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9907" y="1417320"/>
            <a:ext cx="22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8507" y="1143000"/>
            <a:ext cx="210312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8507" y="1143000"/>
            <a:ext cx="2103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564"/>
                </a:solidFill>
              </a:rPr>
              <a:t>目标代码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5908" y="2203853"/>
            <a:ext cx="11521440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3068" y="2222141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语法分析做什么？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213" y="2641012"/>
            <a:ext cx="1143000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62626"/>
                </a:solidFill>
              </a:rPr>
              <a:t>读入一串单词（Token），判断它的写法对不对、结构是什么，并用一棵树来表示这个结构——语法分析树。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E75B6"/>
                </a:solidFill>
              </a:rPr>
              <a:t>● 移进（Shift）</a:t>
            </a:r>
            <a:r>
              <a:rPr sz="1300">
                <a:solidFill>
                  <a:srgbClr val="262626"/>
                </a:solidFill>
              </a:rPr>
              <a:t>：读入一个 Token，压入分析栈，等待后续 Token 一起匹配规则。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2E75B6"/>
                </a:solidFill>
              </a:rPr>
              <a:t>● 规约（Reduce）</a:t>
            </a:r>
            <a:r>
              <a:rPr sz="1300">
                <a:solidFill>
                  <a:srgbClr val="262626"/>
                </a:solidFill>
              </a:rPr>
              <a:t>：当栈顶内容符合某条文法规则的右侧，就把它「合并」成规则左侧的非终结符，同时在树上建一个新节点。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3564"/>
                </a:solidFill>
              </a:rPr>
              <a:t>● 不断重复</a:t>
            </a:r>
            <a:r>
              <a:rPr sz="1300">
                <a:solidFill>
                  <a:srgbClr val="262626"/>
                </a:solidFill>
              </a:rPr>
              <a:t>，直到整个输入被规约为顶层的程序节点——语法树构建完成。</a:t>
            </a:r>
          </a:p>
        </p:txBody>
      </p:sp>
      <p:sp>
        <p:nvSpPr>
          <p:cNvPr id="24" name="Rectangle 5"/>
          <p:cNvSpPr/>
          <p:nvPr/>
        </p:nvSpPr>
        <p:spPr>
          <a:xfrm>
            <a:off x="4209964" y="4435141"/>
            <a:ext cx="3280600" cy="61346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6"/>
          <p:cNvSpPr txBox="1"/>
          <p:nvPr/>
        </p:nvSpPr>
        <p:spPr>
          <a:xfrm>
            <a:off x="4255590" y="4491170"/>
            <a:ext cx="31693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Flex  词法分析器生成器</a:t>
            </a:r>
          </a:p>
        </p:txBody>
      </p:sp>
      <p:sp>
        <p:nvSpPr>
          <p:cNvPr id="26" name="Rectangle 7"/>
          <p:cNvSpPr/>
          <p:nvPr/>
        </p:nvSpPr>
        <p:spPr>
          <a:xfrm>
            <a:off x="4209964" y="4846620"/>
            <a:ext cx="3280600" cy="1381065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8"/>
          <p:cNvSpPr txBox="1"/>
          <p:nvPr/>
        </p:nvSpPr>
        <p:spPr>
          <a:xfrm>
            <a:off x="4347123" y="4941968"/>
            <a:ext cx="319719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写正则表达式描述每种单词的模式，Flex 自动生成识别代码。
例：[a-zA-Z][a-zA-Z0-9]* → 标识符
    0[xX][0-9a-fA-F]+   → 十六进制整数
每次调用返回一个 Token 给 Bison。</a:t>
            </a:r>
          </a:p>
        </p:txBody>
      </p:sp>
      <p:sp>
        <p:nvSpPr>
          <p:cNvPr id="28" name="Rectangle 9"/>
          <p:cNvSpPr/>
          <p:nvPr/>
        </p:nvSpPr>
        <p:spPr>
          <a:xfrm>
            <a:off x="230187" y="4422090"/>
            <a:ext cx="3565075" cy="65151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0"/>
          <p:cNvSpPr txBox="1"/>
          <p:nvPr/>
        </p:nvSpPr>
        <p:spPr>
          <a:xfrm>
            <a:off x="321628" y="4449523"/>
            <a:ext cx="3968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Bison  语法分析器生成器</a:t>
            </a:r>
          </a:p>
        </p:txBody>
      </p:sp>
      <p:sp>
        <p:nvSpPr>
          <p:cNvPr id="30" name="Rectangle 11"/>
          <p:cNvSpPr/>
          <p:nvPr/>
        </p:nvSpPr>
        <p:spPr>
          <a:xfrm>
            <a:off x="230187" y="4833569"/>
            <a:ext cx="3565075" cy="1381065"/>
          </a:xfrm>
          <a:prstGeom prst="rect">
            <a:avLst/>
          </a:prstGeom>
          <a:solidFill>
            <a:srgbClr val="F2F2F2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12"/>
          <p:cNvSpPr txBox="1"/>
          <p:nvPr/>
        </p:nvSpPr>
        <p:spPr>
          <a:xfrm>
            <a:off x="367348" y="4925011"/>
            <a:ext cx="31448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我们写上下文无关文法描述语句结构，Bison 自动构造 LALR(1)
分析表，生成移进/规约分析器。
每条产生式附带「语义动作」：规约时自动建树节点。</a:t>
            </a:r>
          </a:p>
        </p:txBody>
      </p:sp>
      <p:sp>
        <p:nvSpPr>
          <p:cNvPr id="32" name="TextBox 3"/>
          <p:cNvSpPr txBox="1"/>
          <p:nvPr/>
        </p:nvSpPr>
        <p:spPr>
          <a:xfrm>
            <a:off x="321628" y="397360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/>
              <a:t>Flex + Bison配合工作</a:t>
            </a:r>
          </a:p>
        </p:txBody>
      </p:sp>
      <p:sp>
        <p:nvSpPr>
          <p:cNvPr id="33" name="Rectangle 15"/>
          <p:cNvSpPr/>
          <p:nvPr/>
        </p:nvSpPr>
        <p:spPr>
          <a:xfrm>
            <a:off x="9541577" y="3714181"/>
            <a:ext cx="2164331" cy="480307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6"/>
          <p:cNvSpPr txBox="1"/>
          <p:nvPr/>
        </p:nvSpPr>
        <p:spPr>
          <a:xfrm>
            <a:off x="9724146" y="3695456"/>
            <a:ext cx="1903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part2_tree.l
（正则表达式词法规则）</a:t>
            </a:r>
          </a:p>
        </p:txBody>
      </p:sp>
      <p:sp>
        <p:nvSpPr>
          <p:cNvPr id="35" name="Rectangle 18"/>
          <p:cNvSpPr/>
          <p:nvPr/>
        </p:nvSpPr>
        <p:spPr>
          <a:xfrm>
            <a:off x="9541577" y="4255436"/>
            <a:ext cx="2164331" cy="480307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19"/>
          <p:cNvSpPr txBox="1"/>
          <p:nvPr/>
        </p:nvSpPr>
        <p:spPr>
          <a:xfrm>
            <a:off x="10043557" y="4255436"/>
            <a:ext cx="13813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F3564"/>
                </a:solidFill>
              </a:rPr>
              <a:t>win_flex 生成
part2_tree.lex.c</a:t>
            </a:r>
          </a:p>
        </p:txBody>
      </p:sp>
      <p:sp>
        <p:nvSpPr>
          <p:cNvPr id="37" name="Rectangle 21"/>
          <p:cNvSpPr/>
          <p:nvPr/>
        </p:nvSpPr>
        <p:spPr>
          <a:xfrm>
            <a:off x="9531368" y="4837705"/>
            <a:ext cx="2164331" cy="480307"/>
          </a:xfrm>
          <a:prstGeom prst="rect">
            <a:avLst/>
          </a:prstGeom>
          <a:solidFill>
            <a:srgbClr val="ED7D31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22"/>
          <p:cNvSpPr txBox="1"/>
          <p:nvPr/>
        </p:nvSpPr>
        <p:spPr>
          <a:xfrm>
            <a:off x="7921606" y="4736952"/>
            <a:ext cx="5288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part2_tree.y
（上下文无关文法）</a:t>
            </a:r>
          </a:p>
        </p:txBody>
      </p:sp>
      <p:sp>
        <p:nvSpPr>
          <p:cNvPr id="39" name="Rectangle 24"/>
          <p:cNvSpPr/>
          <p:nvPr/>
        </p:nvSpPr>
        <p:spPr>
          <a:xfrm>
            <a:off x="9543764" y="5402059"/>
            <a:ext cx="2164331" cy="480307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25"/>
          <p:cNvSpPr txBox="1"/>
          <p:nvPr/>
        </p:nvSpPr>
        <p:spPr>
          <a:xfrm>
            <a:off x="7921606" y="5356067"/>
            <a:ext cx="5288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F3564"/>
                </a:solidFill>
              </a:rPr>
              <a:t>win_bison 生成
part2_tree.tab.c / .h</a:t>
            </a:r>
          </a:p>
        </p:txBody>
      </p:sp>
      <p:sp>
        <p:nvSpPr>
          <p:cNvPr id="41" name="Rectangle 27"/>
          <p:cNvSpPr/>
          <p:nvPr/>
        </p:nvSpPr>
        <p:spPr>
          <a:xfrm>
            <a:off x="9531368" y="6016546"/>
            <a:ext cx="2164331" cy="480307"/>
          </a:xfrm>
          <a:prstGeom prst="rect">
            <a:avLst/>
          </a:prstGeom>
          <a:solidFill>
            <a:srgbClr val="37864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28"/>
          <p:cNvSpPr txBox="1"/>
          <p:nvPr/>
        </p:nvSpPr>
        <p:spPr>
          <a:xfrm>
            <a:off x="9687776" y="6019326"/>
            <a:ext cx="18862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gcc 编译链接
tree.exe</a:t>
            </a:r>
          </a:p>
        </p:txBody>
      </p:sp>
      <p:sp>
        <p:nvSpPr>
          <p:cNvPr id="44" name="TextBox 14"/>
          <p:cNvSpPr txBox="1"/>
          <p:nvPr/>
        </p:nvSpPr>
        <p:spPr>
          <a:xfrm>
            <a:off x="8860746" y="4342546"/>
            <a:ext cx="4775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564"/>
                </a:solidFill>
              </a:rPr>
              <a:t>完整构建流程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</a:rPr>
              <a:t>二、语法分析正确性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定义了哪些语法结构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628" y="1143000"/>
            <a:ext cx="1152144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88" y="1161289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支持的 5 种语句类型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628" y="16002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1628" y="1600200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3068" y="1645920"/>
            <a:ext cx="53949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赋值语句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068" y="2057401"/>
            <a:ext cx="539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3564"/>
                </a:solidFill>
              </a:rPr>
              <a:t>示例：x = a +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068" y="2450592"/>
            <a:ext cx="5394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文法：S → id = 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5228" y="160020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5228" y="1600200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6668" y="1645920"/>
            <a:ext cx="53949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if-then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6668" y="2057401"/>
            <a:ext cx="539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3564"/>
                </a:solidFill>
              </a:rPr>
              <a:t>示例：if x&gt;0 then y=1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6668" y="2450592"/>
            <a:ext cx="5394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文法：S → if C then 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628" y="306324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628" y="3063240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3068" y="3108960"/>
            <a:ext cx="53949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if-then-else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068" y="3520441"/>
            <a:ext cx="539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3564"/>
                </a:solidFill>
              </a:rPr>
              <a:t>示例：if x&gt;0 then y=1 else y=0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68" y="3913632"/>
            <a:ext cx="5394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文法：S → if C then S else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5228" y="3063240"/>
            <a:ext cx="55778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5228" y="3063240"/>
            <a:ext cx="55778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6668" y="3108960"/>
            <a:ext cx="539495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while-do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68" y="3520441"/>
            <a:ext cx="53949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3564"/>
                </a:solidFill>
              </a:rPr>
              <a:t>示例：while x&gt;0 do x=x-1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6668" y="3913632"/>
            <a:ext cx="53949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文法：S → while C do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1628" y="4526280"/>
            <a:ext cx="116128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1628" y="4526280"/>
            <a:ext cx="1161288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3067" y="457200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复合语句块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3067" y="4983481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F3564"/>
                </a:solidFill>
              </a:rPr>
              <a:t>示例：{ x=1; y=2 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067" y="5376672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75B6"/>
                </a:solidFill>
              </a:rPr>
              <a:t>文法：S → { P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</a:rPr>
              <a:t>二、语法分析正确性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altLang="zh-CN" sz="2600" b="1" dirty="0">
                <a:solidFill>
                  <a:srgbClr val="FFFFFF"/>
                </a:solidFill>
              </a:rPr>
              <a:t>—— </a:t>
            </a:r>
            <a:r>
              <a:rPr lang="zh-CN" altLang="en-US" sz="2600" b="1" dirty="0">
                <a:solidFill>
                  <a:srgbClr val="FFFFFF"/>
                </a:solidFill>
              </a:rPr>
              <a:t>保证运算符优先级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运算符优先级是如何保证的？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628" y="1143000"/>
            <a:ext cx="530352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88" y="1161289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三层文法结构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628" y="1600200"/>
            <a:ext cx="53035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78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1628" y="1600200"/>
            <a:ext cx="5303520" cy="384048"/>
          </a:xfrm>
          <a:prstGeom prst="rect">
            <a:avLst/>
          </a:prstGeom>
          <a:solidFill>
            <a:srgbClr val="378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3068" y="1645921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  表达式层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3068" y="2075688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564"/>
                </a:solidFill>
              </a:rPr>
              <a:t>运算符：处理  +  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068" y="242316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优先级最低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628" y="2971800"/>
            <a:ext cx="53035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1628" y="2971800"/>
            <a:ext cx="530352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3068" y="3017521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  项层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068" y="3447288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564"/>
                </a:solidFill>
              </a:rPr>
              <a:t>运算符：处理  ×  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068" y="379476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优先级居中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628" y="4343400"/>
            <a:ext cx="53035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1628" y="4343400"/>
            <a:ext cx="53035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3068" y="4389121"/>
            <a:ext cx="5120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  因子层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068" y="4818888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3564"/>
                </a:solidFill>
              </a:rPr>
              <a:t>运算符：括号 / 变量 / 数字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068" y="5166361"/>
            <a:ext cx="5120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优先级最高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5188" y="1143000"/>
            <a:ext cx="594360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82348" y="1161289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例：a + b * c 的解析过程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5188" y="1600200"/>
            <a:ext cx="5943600" cy="4434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82348" y="1691640"/>
            <a:ext cx="5669280" cy="2051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78647"/>
                </a:solidFill>
              </a:rPr>
              <a:t>E</a:t>
            </a:r>
            <a:r>
              <a:rPr sz="1200">
                <a:solidFill>
                  <a:srgbClr val="1F3564"/>
                </a:solidFill>
              </a:rPr>
              <a:t>  (a + b * c)</a:t>
            </a:r>
            <a:r>
              <a:rPr sz="1100">
                <a:solidFill>
                  <a:srgbClr val="262626"/>
                </a:solidFill>
              </a:rPr>
              <a:t>    ← 加法在 E 层处理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378647"/>
                </a:solidFill>
              </a:rPr>
              <a:t>├─ E</a:t>
            </a:r>
            <a:r>
              <a:rPr sz="1200">
                <a:solidFill>
                  <a:srgbClr val="1F3564"/>
                </a:solidFill>
              </a:rPr>
              <a:t>  (a)</a:t>
            </a:r>
            <a:r>
              <a:rPr sz="1100">
                <a:solidFill>
                  <a:srgbClr val="262626"/>
                </a:solidFill>
              </a:rPr>
              <a:t>    ← 左操作数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D7D31"/>
                </a:solidFill>
              </a:rPr>
              <a:t>│   └─ T</a:t>
            </a:r>
            <a:r>
              <a:rPr sz="1200">
                <a:solidFill>
                  <a:srgbClr val="1F3564"/>
                </a:solidFill>
              </a:rPr>
              <a:t>  (a)</a:t>
            </a:r>
            <a:r>
              <a:rPr sz="1100">
                <a:solidFill>
                  <a:srgbClr val="262626"/>
                </a:solidFill>
              </a:rPr>
              <a:t>    ← T → F → id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62626"/>
                </a:solidFill>
              </a:rPr>
              <a:t>├─ +</a:t>
            </a:r>
            <a:r>
              <a:rPr sz="1100">
                <a:solidFill>
                  <a:srgbClr val="262626"/>
                </a:solidFill>
              </a:rPr>
              <a:t>    ← 加号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D7D31"/>
                </a:solidFill>
              </a:rPr>
              <a:t>└─ T</a:t>
            </a:r>
            <a:r>
              <a:rPr sz="1200">
                <a:solidFill>
                  <a:srgbClr val="1F3564"/>
                </a:solidFill>
              </a:rPr>
              <a:t>  (b * c)</a:t>
            </a:r>
            <a:r>
              <a:rPr sz="1100">
                <a:solidFill>
                  <a:srgbClr val="262626"/>
                </a:solidFill>
              </a:rPr>
              <a:t>    ← 乘法在 T 层先算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ED7D31"/>
                </a:solidFill>
              </a:rPr>
              <a:t>    ├─ T</a:t>
            </a:r>
            <a:r>
              <a:rPr sz="1200">
                <a:solidFill>
                  <a:srgbClr val="1F3564"/>
                </a:solidFill>
              </a:rPr>
              <a:t>  (b)</a:t>
            </a:r>
            <a:r>
              <a:rPr sz="1100">
                <a:solidFill>
                  <a:srgbClr val="262626"/>
                </a:solidFill>
              </a:rPr>
              <a:t>    ← T → F → id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62626"/>
                </a:solidFill>
              </a:rPr>
              <a:t>    ├─ *</a:t>
            </a:r>
            <a:r>
              <a:rPr sz="1100">
                <a:solidFill>
                  <a:srgbClr val="262626"/>
                </a:solidFill>
              </a:rPr>
              <a:t>    ← 乘号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2E75B6"/>
                </a:solidFill>
              </a:rPr>
              <a:t>    └─ F</a:t>
            </a:r>
            <a:r>
              <a:rPr sz="1200">
                <a:solidFill>
                  <a:srgbClr val="1F3564"/>
                </a:solidFill>
              </a:rPr>
              <a:t>  (c)</a:t>
            </a:r>
            <a:r>
              <a:rPr sz="1100">
                <a:solidFill>
                  <a:srgbClr val="262626"/>
                </a:solidFill>
              </a:rPr>
              <a:t>    ← 最基础单元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2348" y="4407856"/>
            <a:ext cx="5623560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73788" y="4435288"/>
            <a:ext cx="5760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564"/>
                </a:solidFill>
              </a:rPr>
              <a:t>结论：越靠下层优先级越高，b*c 必然在 T 层被先处理，再参与 E 层的加法。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 err="1">
                <a:solidFill>
                  <a:srgbClr val="FFFFFF"/>
                </a:solidFill>
              </a:rPr>
              <a:t>二、语法分析正确性</a:t>
            </a:r>
            <a:r>
              <a:rPr lang="en-US" sz="2600" b="1" dirty="0">
                <a:solidFill>
                  <a:srgbClr val="FFFFFF"/>
                </a:solidFill>
              </a:rPr>
              <a:t> </a:t>
            </a:r>
            <a:r>
              <a:rPr lang="en-US" altLang="zh-CN" sz="2600" b="1" dirty="0">
                <a:solidFill>
                  <a:srgbClr val="FFFFFF"/>
                </a:solidFill>
              </a:rPr>
              <a:t>—— </a:t>
            </a:r>
            <a:r>
              <a:rPr lang="zh-CN" altLang="en-US" sz="2600" b="1" dirty="0">
                <a:solidFill>
                  <a:srgbClr val="FFFFFF"/>
                </a:solidFill>
              </a:rPr>
              <a:t>语法分析测试</a:t>
            </a:r>
            <a:endParaRPr sz="2600" b="1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测试用例与验证结果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628" y="1143000"/>
            <a:ext cx="1152144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88" y="1161289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测试输入（指导书标准用例）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628" y="1536192"/>
            <a:ext cx="11521440" cy="7772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788" y="1572769"/>
            <a:ext cx="112471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A8D8FF"/>
                </a:solidFill>
              </a:rPr>
              <a:t>while (a3+15)&gt;0xa do if x2 = 07 then while y&lt;z do y = x * y / z;
c=b*c+d;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628" y="2364284"/>
            <a:ext cx="8033232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348" y="2382572"/>
            <a:ext cx="3200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验证项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3468" y="2382572"/>
            <a:ext cx="5943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说明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1628" y="2794052"/>
            <a:ext cx="80332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348" y="2839773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564"/>
                </a:solidFill>
              </a:rPr>
              <a:t>运算符优先级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3468" y="2839773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b*c+d 中乘法嵌套更深，乘除先于加减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628" y="3406700"/>
            <a:ext cx="8033232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348" y="3452421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564"/>
                </a:solidFill>
              </a:rPr>
              <a:t>括号优先级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3468" y="3452421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(a3+15) 被封装为独立的 F 节点，括号内先算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628" y="4019348"/>
            <a:ext cx="80332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7348" y="4065069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564"/>
                </a:solidFill>
              </a:rPr>
              <a:t>嵌套结构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3468" y="4065069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while→if→while 三层嵌套，层次清晰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628" y="4631996"/>
            <a:ext cx="8033232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7348" y="4677717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564"/>
                </a:solidFill>
              </a:rPr>
              <a:t>数值类型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3468" y="4677717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0xa=HEX，07=OCT，15=DEC，分别识别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1628" y="5244644"/>
            <a:ext cx="8033232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7348" y="5290365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564"/>
                </a:solidFill>
              </a:rPr>
              <a:t>多语句处理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3468" y="5290365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分号分隔的两条语句，各自生成独立语法树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1628" y="5857292"/>
            <a:ext cx="8033232" cy="594360"/>
          </a:xfrm>
          <a:prstGeom prst="rect">
            <a:avLst/>
          </a:prstGeom>
          <a:solidFill>
            <a:srgbClr val="F2F2F2"/>
          </a:solidFill>
          <a:ln w="63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348" y="5903013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3564"/>
                </a:solidFill>
              </a:rPr>
              <a:t>悬挂 else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3468" y="5903013"/>
            <a:ext cx="594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%right 声明让 else 自动绑定最近的 if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0EA999FA-1D6C-72A3-256D-3D0CA884D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0641" y="2364284"/>
            <a:ext cx="2905434" cy="40195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三、多行多语句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怎么实现对多条语句的逐条处理？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628" y="1143000"/>
            <a:ext cx="548640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88" y="1161289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核心：左递归规则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628" y="1572768"/>
            <a:ext cx="5486400" cy="822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788" y="1627633"/>
            <a:ext cx="53035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D8FF"/>
                </a:solidFill>
              </a:rPr>
              <a:t>allinall → allinall  para  EOL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628" y="2468880"/>
            <a:ext cx="548640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3068" y="2542032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• allinall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8948" y="2542032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</a:rPr>
              <a:t>= 整个程序文件，初始为空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068" y="2971800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• para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8948" y="2971800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</a:rPr>
              <a:t>= 一条语句（已构建好语法树）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068" y="3401568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• EOL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8948" y="3401568"/>
            <a:ext cx="3931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</a:rPr>
              <a:t>= 语句结束符「;」分号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628" y="4041649"/>
            <a:ext cx="5486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F3564"/>
                </a:solidFill>
              </a:rPr>
              <a:t>规则含义：程序 = 已有的程序 + 新的一条语句 + 分号
每读完一条语句，就追加进来；反复执行直到文件末尾。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628" y="4642254"/>
            <a:ext cx="548640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8788" y="4660542"/>
            <a:ext cx="53035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展开过程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1628" y="5053734"/>
            <a:ext cx="5486400" cy="13258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3068" y="5081166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D7D31"/>
                </a:solidFill>
              </a:rPr>
              <a:t>初始：allinall = 空（ε）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68" y="5328053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62626"/>
                </a:solidFill>
              </a:rPr>
              <a:t>读完语句1：allinall = 空 + S1 + 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068" y="5574942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62626"/>
                </a:solidFill>
              </a:rPr>
              <a:t>读完语句2：allinall = 上一步 + S2 + 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068" y="5821830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62626"/>
                </a:solidFill>
              </a:rPr>
              <a:t>读完语句n：allinall = 上一步 + Sn + 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68" y="6068718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D7D31"/>
                </a:solidFill>
              </a:rPr>
              <a:t>文件结束：分析完毕，输出所有语法树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2348" y="1143000"/>
            <a:ext cx="5760720" cy="3657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9508" y="1161289"/>
            <a:ext cx="5486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实际效果演示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2348" y="1572768"/>
            <a:ext cx="5760720" cy="347472"/>
          </a:xfrm>
          <a:prstGeom prst="rect">
            <a:avLst/>
          </a:prstGeom>
          <a:solidFill>
            <a:srgbClr val="378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73788" y="1591057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input.txt（两条语句）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2348" y="1938528"/>
            <a:ext cx="5760720" cy="8229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3788" y="1965960"/>
            <a:ext cx="56235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A8D8FF"/>
                </a:solidFill>
              </a:rPr>
              <a:t>while (a3+15)&gt;0xa do if x2=07 then
  while y&lt;z do y=x*y/z;
c=b*c+d;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2348" y="2795740"/>
            <a:ext cx="5760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D7D31"/>
                </a:solidFill>
              </a:rPr>
              <a:t>↓  各自生成独立语法树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2348" y="3115095"/>
            <a:ext cx="2743200" cy="3200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3788" y="3133383"/>
            <a:ext cx="25603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语句1 的语法树（节选）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2348" y="3453423"/>
            <a:ext cx="2743200" cy="2651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46356" y="3480855"/>
            <a:ext cx="26517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A8D8FF"/>
                </a:solidFill>
              </a:rPr>
              <a:t>P
--L
----S
------WHILE
------C
--------E
------DO
------S
--------IF
--------...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6988" y="3115095"/>
            <a:ext cx="2880360" cy="320040"/>
          </a:xfrm>
          <a:prstGeom prst="rect">
            <a:avLst/>
          </a:prstGeom>
          <a:solidFill>
            <a:srgbClr val="378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08428" y="3133383"/>
            <a:ext cx="2697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语句2 的语法树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16988" y="3453423"/>
            <a:ext cx="2880360" cy="2651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80996" y="3480856"/>
            <a:ext cx="2788920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A8D8FF"/>
                </a:solidFill>
              </a:rPr>
              <a:t>P
--L
----S
------ID
------EQ
------E
--------E
----------T
------+
--------T
----------ID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2348" y="6178335"/>
            <a:ext cx="576072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3788" y="6196623"/>
            <a:ext cx="5577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F3564"/>
                </a:solidFill>
              </a:rPr>
              <a:t>两棵树完全独立，互不影响，且都通过文件写入 output.txt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四、输入方式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文件输入 → 文件输出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3108" y="1828800"/>
            <a:ext cx="237744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3108" y="182880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564"/>
                </a:solidFill>
              </a:rPr>
              <a:t>input.txt
源程序文件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0548" y="2194560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750627" y="1828800"/>
            <a:ext cx="2377440" cy="1097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0627" y="182880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tree.exe
语法分析程序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8067" y="2194560"/>
            <a:ext cx="6400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8147" y="1828800"/>
            <a:ext cx="2377440" cy="1097280"/>
          </a:xfrm>
          <a:prstGeom prst="rect">
            <a:avLst/>
          </a:prstGeom>
          <a:solidFill>
            <a:srgbClr val="378647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8147" y="182880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output.txt
语法分析树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0627" y="2880361"/>
            <a:ext cx="2377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D7D31"/>
                </a:solidFill>
              </a:rPr>
              <a:t>↓ 同时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0627" y="3291840"/>
            <a:ext cx="2377440" cy="10972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50627" y="3291840"/>
            <a:ext cx="2377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控制台
同步显示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8788" y="4572000"/>
            <a:ext cx="11247120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5948" y="459028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实现细节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228" y="5029200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</a:rPr>
              <a:t>● 程序启动时自动打开 input.txt，逐行读入源程序，无需手动输入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228" y="5559552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</a:rPr>
              <a:t>● 分析结果通过 print2file() 函数同时写入 output.txt 和打印到控制台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228" y="6089904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62626"/>
                </a:solidFill>
              </a:rPr>
              <a:t>● 支持多行输入：文件里可以分多行书写一条语句，也可以多条语句连续存放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5908" y="109729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五、处理错误能力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1628" y="713233"/>
            <a:ext cx="1143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D6E4F7"/>
                </a:solidFill>
              </a:rPr>
              <a:t>发现错误 → 局部化 → 续编译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8" y="6583680"/>
            <a:ext cx="12188952" cy="274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628" y="1143000"/>
            <a:ext cx="11521440" cy="3657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8788" y="1161289"/>
            <a:ext cx="10972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关键文法规则（续编译的实现方式）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628" y="1536192"/>
            <a:ext cx="11521440" cy="640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4508" y="1600200"/>
            <a:ext cx="11155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D8FF"/>
                </a:solidFill>
              </a:rPr>
              <a:t>allinall  →  allinall  error  EOL      { yyerrok;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629" y="2331720"/>
            <a:ext cx="3749039" cy="41148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1629" y="2331721"/>
            <a:ext cx="37490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① 发现错误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629" y="2743200"/>
            <a:ext cx="374903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3067" y="2816353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当某一行 Token 序列无法匹配任何产生式，
Bison 自动检测到语法错误并触发 yyerror()。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3548" y="2331720"/>
            <a:ext cx="3749039" cy="4114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53548" y="2331721"/>
            <a:ext cx="37490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② 错误局部化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3548" y="2743200"/>
            <a:ext cx="374903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4987" y="2816353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error token 匹配当前出错的语句，EOL（分号）
标记这一行的结束——错误被限定在这一行之内。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5468" y="2331720"/>
            <a:ext cx="3749039" cy="411480"/>
          </a:xfrm>
          <a:prstGeom prst="rect">
            <a:avLst/>
          </a:prstGeom>
          <a:solidFill>
            <a:srgbClr val="378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5468" y="2331721"/>
            <a:ext cx="374903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③ 续编译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5468" y="2743200"/>
            <a:ext cx="3749039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3786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76907" y="2816353"/>
            <a:ext cx="356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262626"/>
                </a:solidFill>
              </a:rPr>
              <a:t>yyerrok 重置错误状态，分析器从下一行重新开始，
继续正常处理后续所有语句。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628" y="4709160"/>
            <a:ext cx="11521440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8788" y="4727448"/>
            <a:ext cx="10972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效果演示：input.txt 第一行括号不匹配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628" y="5120640"/>
            <a:ext cx="5394960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3068" y="5138928"/>
            <a:ext cx="5212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错误输入（括号多了一个）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628" y="5431536"/>
            <a:ext cx="539496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068" y="5458969"/>
            <a:ext cx="5257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A8D8FF"/>
                </a:solidFill>
              </a:rPr>
              <a:t>while ((a3+15)&gt;0xa do ...;   ← 语法错误
c=b*c+d;                      ← 正常语句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2308" y="5669281"/>
            <a:ext cx="4572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D7D31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5228" y="5120640"/>
            <a:ext cx="5577840" cy="292608"/>
          </a:xfrm>
          <a:prstGeom prst="rect">
            <a:avLst/>
          </a:prstGeom>
          <a:solidFill>
            <a:srgbClr val="3786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6668" y="5138928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程序输出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5228" y="5431536"/>
            <a:ext cx="5577840" cy="749808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6668" y="5458969"/>
            <a:ext cx="5440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A8D8FF"/>
                </a:solidFill>
              </a:rPr>
              <a:t>语法错误: syntax error          ← 报错
P
--L
----S (c=b*c+d 的树)      ← 继续分析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实验三</a:t>
            </a: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语法制导的三地址代码生成</a:t>
            </a:r>
            <a:endParaRPr lang="en-US" sz="30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783069" y="1772024"/>
            <a:ext cx="3406289" cy="2498224"/>
            <a:chOff x="777240" y="1351400"/>
            <a:chExt cx="4251960" cy="2498224"/>
          </a:xfrm>
        </p:grpSpPr>
        <p:sp>
          <p:nvSpPr>
            <p:cNvPr id="7" name="Shape 5"/>
            <p:cNvSpPr/>
            <p:nvPr/>
          </p:nvSpPr>
          <p:spPr>
            <a:xfrm>
              <a:off x="777240" y="1351400"/>
              <a:ext cx="4251960" cy="2498224"/>
            </a:xfrm>
            <a:prstGeom prst="roundRect">
              <a:avLst>
                <a:gd name="adj" fmla="val 1075"/>
              </a:avLst>
            </a:prstGeom>
            <a:solidFill>
              <a:srgbClr val="0F172A"/>
            </a:solidFill>
            <a:ln w="12700">
              <a:solidFill>
                <a:srgbClr val="1E293B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941832" y="1417320"/>
              <a:ext cx="3922776" cy="23042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while a &lt; b do a = a + 1;</a:t>
              </a:r>
              <a:endParaRPr lang="en-US" sz="1400" dirty="0"/>
            </a:p>
            <a:p>
              <a:pPr marL="0" indent="0">
                <a:buNone/>
              </a:pP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L1: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if a &lt; b goto L2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goto L0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L2: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t1 := a + 1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a := t1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goto L1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FFFFFF"/>
                  </a:solidFill>
                  <a:latin typeface="Consolas" panose="020B0609020204030204" pitchFamily="34" charset="0"/>
                  <a:ea typeface="Consolas" panose="020B0609020204030204" pitchFamily="34" charset="-122"/>
                  <a:cs typeface="Consolas" panose="020B0609020204030204" pitchFamily="34" charset="-120"/>
                </a:rPr>
                <a:t>L0:</a:t>
              </a:r>
              <a:endParaRPr lang="en-US" sz="14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724724" y="1710644"/>
            <a:ext cx="3853628" cy="2482207"/>
            <a:chOff x="5852159" y="1659247"/>
            <a:chExt cx="3853628" cy="2482207"/>
          </a:xfrm>
        </p:grpSpPr>
        <p:sp>
          <p:nvSpPr>
            <p:cNvPr id="9" name="Shape 7"/>
            <p:cNvSpPr/>
            <p:nvPr/>
          </p:nvSpPr>
          <p:spPr>
            <a:xfrm>
              <a:off x="5852160" y="1659247"/>
              <a:ext cx="960120" cy="420624"/>
            </a:xfrm>
            <a:prstGeom prst="roundRect">
              <a:avLst>
                <a:gd name="adj" fmla="val 17391"/>
              </a:avLst>
            </a:prstGeom>
            <a:solidFill>
              <a:srgbClr val="DBEAFE"/>
            </a:solidFill>
            <a:ln w="12700">
              <a:solidFill>
                <a:srgbClr val="DBEAFE">
                  <a:alpha val="90000"/>
                </a:srgbClr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>
            <a:xfrm>
              <a:off x="5852160" y="1768975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2563E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L1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7086600" y="1714111"/>
              <a:ext cx="2212788" cy="256032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sz="15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循环入口与条件判断位置</a:t>
              </a:r>
              <a:endParaRPr lang="en-US" sz="15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852159" y="2345047"/>
              <a:ext cx="960120" cy="420624"/>
            </a:xfrm>
            <a:prstGeom prst="roundRect">
              <a:avLst>
                <a:gd name="adj" fmla="val 17391"/>
              </a:avLst>
            </a:prstGeom>
            <a:solidFill>
              <a:srgbClr val="CCFBF1"/>
            </a:solidFill>
            <a:ln w="12700">
              <a:solidFill>
                <a:srgbClr val="CCFBF1">
                  <a:alpha val="90000"/>
                </a:srgbClr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852159" y="2454775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14B8A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L2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7086599" y="2438397"/>
              <a:ext cx="2033495" cy="247097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sz="15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条件成立后的目标标号</a:t>
              </a:r>
              <a:endParaRPr lang="en-US" sz="15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852160" y="3030847"/>
              <a:ext cx="960120" cy="420624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 w="12700">
              <a:solidFill>
                <a:srgbClr val="FEF3C7">
                  <a:alpha val="90000"/>
                </a:srgbClr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5852160" y="3140575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59E0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L0</a:t>
              </a:r>
              <a:endParaRPr lang="en-US" sz="13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7086600" y="3108959"/>
              <a:ext cx="2212788" cy="256032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sz="15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条件不成立后的出口标号</a:t>
              </a:r>
              <a:endParaRPr lang="en-US" sz="15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5852159" y="3720830"/>
              <a:ext cx="960120" cy="420624"/>
            </a:xfrm>
            <a:prstGeom prst="roundRect">
              <a:avLst>
                <a:gd name="adj" fmla="val 17391"/>
              </a:avLst>
            </a:prstGeom>
            <a:solidFill>
              <a:srgbClr val="FEE2E2"/>
            </a:solidFill>
            <a:ln w="12700">
              <a:solidFill>
                <a:srgbClr val="FEE2E2">
                  <a:alpha val="90000"/>
                </a:srgbClr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5852159" y="3830558"/>
              <a:ext cx="960120" cy="14630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EF4444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t1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7086599" y="3804185"/>
              <a:ext cx="2619188" cy="247097"/>
            </a:xfrm>
            <a:prstGeom prst="rect">
              <a:avLst/>
            </a:prstGeom>
            <a:noFill/>
          </p:spPr>
          <p:txBody>
            <a:bodyPr wrap="square" lIns="1016" tIns="1016" rIns="1016" bIns="1016" rtlCol="0" anchor="ctr">
              <a:normAutofit/>
            </a:bodyPr>
            <a:lstStyle/>
            <a:p>
              <a:pPr marL="0" indent="0" algn="l">
                <a:buNone/>
              </a:pPr>
              <a:r>
                <a:rPr lang="zh-CN" altLang="en-US" sz="15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表达式</a:t>
              </a:r>
              <a:r>
                <a:rPr lang="en-US" altLang="zh-CN" sz="1500" dirty="0" err="1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E.place</a:t>
              </a:r>
              <a:r>
                <a:rPr lang="zh-CN" altLang="en-US" sz="1500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的临时存储位置</a:t>
              </a:r>
              <a:endParaRPr lang="en-US" sz="1500" dirty="0"/>
            </a:p>
          </p:txBody>
        </p:sp>
      </p:grpSp>
      <p:sp>
        <p:nvSpPr>
          <p:cNvPr id="21" name="Text 19"/>
          <p:cNvSpPr/>
          <p:nvPr/>
        </p:nvSpPr>
        <p:spPr>
          <a:xfrm>
            <a:off x="5965561" y="5089025"/>
            <a:ext cx="5443370" cy="5943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altLang="zh-CN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TAC 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的核心是控制流目标：条件跳转、出口标号、循环回边</a:t>
            </a:r>
            <a:endParaRPr lang="en-US" altLang="zh-CN" sz="1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标签编号可以不同，但控制流结构必须等价</a:t>
            </a:r>
            <a:endParaRPr lang="en-US" sz="1600" dirty="0"/>
          </a:p>
        </p:txBody>
      </p:sp>
      <p:sp>
        <p:nvSpPr>
          <p:cNvPr id="24" name="文本框 23"/>
          <p:cNvSpPr txBox="1"/>
          <p:nvPr/>
        </p:nvSpPr>
        <p:spPr>
          <a:xfrm>
            <a:off x="783069" y="4721412"/>
            <a:ext cx="3872602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E.place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：表达式结果位置</a:t>
            </a:r>
            <a:endParaRPr lang="en-US" altLang="zh-CN" sz="1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C.true</a:t>
            </a:r>
            <a:r>
              <a:rPr lang="en-US" altLang="zh-CN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C.false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：条件转移目标</a:t>
            </a:r>
            <a:endParaRPr lang="en-US" altLang="zh-CN" sz="1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S.begin</a:t>
            </a:r>
            <a:r>
              <a:rPr lang="en-US" altLang="zh-CN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</a:t>
            </a:r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S.next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：语句入口与后继位置</a:t>
            </a:r>
            <a:endParaRPr lang="en-US" altLang="zh-CN" sz="1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newtemp</a:t>
            </a:r>
            <a:r>
              <a:rPr lang="en-US" altLang="zh-CN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：生成临时变量</a:t>
            </a:r>
            <a:endParaRPr lang="en-US" altLang="zh-CN" sz="1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newlabel</a:t>
            </a:r>
            <a:r>
              <a:rPr lang="en-US" altLang="zh-CN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：生成标号</a:t>
            </a:r>
            <a:endParaRPr lang="en-US" altLang="zh-CN" sz="1600" b="1" dirty="0">
              <a:solidFill>
                <a:srgbClr val="2563E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emit()</a:t>
            </a:r>
            <a:r>
              <a:rPr lang="zh-CN" altLang="en-US" sz="16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：输出三地址代码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18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>
              <a:defRPr sz="100">
                <a:solidFill>
                  <a:srgbClr val="111827"/>
                </a:solidFill>
                <a:latin typeface="Microsoft YaHei"/>
                <a:ea typeface="Microsoft YaHei"/>
              </a:defRPr>
            </a:pPr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80000"/>
            <a:ext cx="11100000" cy="55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28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2850" b="1">
                <a:solidFill>
                  <a:srgbClr val="111827"/>
                </a:solidFill>
                <a:latin typeface="Microsoft YaHei"/>
                <a:ea typeface="Microsoft YaHei"/>
              </a:rPr>
              <a:t>实验三：从语法树到三地址代码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60000" y="950000"/>
            <a:ext cx="10800000" cy="33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132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320">
                <a:solidFill>
                  <a:srgbClr val="111827"/>
                </a:solidFill>
                <a:latin typeface="Microsoft YaHei"/>
                <a:ea typeface="Microsoft YaHei"/>
              </a:rPr>
              <a:t>目标：把“结构正确的程序”翻译成便于后续优化或执行的中间表示</a:t>
            </a:r>
          </a:p>
        </p:txBody>
      </p:sp>
      <p:sp>
        <p:nvSpPr>
          <p:cNvPr id="5" name="Left Box"/>
          <p:cNvSpPr txBox="1"/>
          <p:nvPr/>
        </p:nvSpPr>
        <p:spPr>
          <a:xfrm>
            <a:off x="6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输入与输出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输入：词法、语法分析确认过的语句结构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输出：t1、t2 临时变量与 L0、L1 标号组成的 TAC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每条三地址语句只做一件简单事情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复杂表达式拆成多条简单赋值</a:t>
            </a:r>
          </a:p>
        </p:txBody>
      </p:sp>
      <p:sp>
        <p:nvSpPr>
          <p:cNvPr id="6" name="Right Box"/>
          <p:cNvSpPr txBox="1"/>
          <p:nvPr/>
        </p:nvSpPr>
        <p:spPr>
          <a:xfrm>
            <a:off x="64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三地址代码的价值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比源代码更接近机器执行流程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比汇编更容易阅读和调试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能清晰表示 if / while 的跳转关系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为后续优化或目标代码生成做准备</a:t>
            </a:r>
          </a:p>
        </p:txBody>
      </p:sp>
      <p:sp>
        <p:nvSpPr>
          <p:cNvPr id="7" name="Code Box"/>
          <p:cNvSpPr txBox="1"/>
          <p:nvPr/>
        </p:nvSpPr>
        <p:spPr>
          <a:xfrm>
            <a:off x="760000" y="3900000"/>
            <a:ext cx="10650000" cy="260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rtlCol="0"/>
          <a:lstStyle/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源程序  →  Token序列  →  语法结构  →  三地址代码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while a&lt;b do a=a+1;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if a &lt; b goto L1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goto L0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18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>
              <a:defRPr sz="100">
                <a:solidFill>
                  <a:srgbClr val="111827"/>
                </a:solidFill>
                <a:latin typeface="Microsoft YaHei"/>
                <a:ea typeface="Microsoft YaHei"/>
              </a:defRPr>
            </a:pPr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80000"/>
            <a:ext cx="11100000" cy="55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28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2850" b="1" dirty="0">
                <a:solidFill>
                  <a:srgbClr val="111827"/>
                </a:solidFill>
                <a:latin typeface="Microsoft YaHei"/>
                <a:ea typeface="Microsoft YaHei"/>
              </a:rPr>
              <a:t>属性文法：代码生成时需要传信息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60000" y="950000"/>
            <a:ext cx="10800000" cy="33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132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320">
                <a:solidFill>
                  <a:srgbClr val="111827"/>
                </a:solidFill>
                <a:latin typeface="Microsoft YaHei"/>
                <a:ea typeface="Microsoft YaHei"/>
              </a:rPr>
              <a:t>语法分析只知道结构，三地址代码生成还要知道结果位置和跳转目标</a:t>
            </a:r>
          </a:p>
        </p:txBody>
      </p:sp>
      <p:sp>
        <p:nvSpPr>
          <p:cNvPr id="5" name="Left Box"/>
          <p:cNvSpPr txBox="1"/>
          <p:nvPr/>
        </p:nvSpPr>
        <p:spPr>
          <a:xfrm>
            <a:off x="6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综合属性：自下而上传递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E.place：表达式最终结果在哪里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F.place：变量名或常量值本身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BinOp 生成新临时变量 t，并返回 t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例：b*c+d 的最终 place 是 t2</a:t>
            </a:r>
          </a:p>
        </p:txBody>
      </p:sp>
      <p:sp>
        <p:nvSpPr>
          <p:cNvPr id="6" name="Right Box"/>
          <p:cNvSpPr txBox="1"/>
          <p:nvPr/>
        </p:nvSpPr>
        <p:spPr>
          <a:xfrm>
            <a:off x="64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继承属性：自上而下传递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C.true：条件成立时跳到哪里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C.false：条件失败时跳到哪里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S.next：当前语句结束后去哪里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while 的循环体结束后回到 begin</a:t>
            </a:r>
          </a:p>
        </p:txBody>
      </p:sp>
      <p:sp>
        <p:nvSpPr>
          <p:cNvPr id="7" name="Code Box"/>
          <p:cNvSpPr txBox="1"/>
          <p:nvPr/>
        </p:nvSpPr>
        <p:spPr>
          <a:xfrm>
            <a:off x="760000" y="3900000"/>
            <a:ext cx="10650000" cy="260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rtlCol="0"/>
          <a:lstStyle/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E → E1 + T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E.place = newtemp()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emit(E.place := E1.place + T.place)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endParaRPr lang="zh-CN" sz="1450">
              <a:solidFill>
                <a:srgbClr val="F9FAFB"/>
              </a:solidFill>
              <a:latin typeface="Microsoft YaHei"/>
              <a:ea typeface="Microsoft YaHei"/>
            </a:endParaRP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C → E1 &lt; E2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emit(if E1.place &lt; E2.place goto C.true)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emit(goto C.false)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18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>
              <a:defRPr sz="100">
                <a:solidFill>
                  <a:srgbClr val="111827"/>
                </a:solidFill>
                <a:latin typeface="Microsoft YaHei"/>
                <a:ea typeface="Microsoft YaHei"/>
              </a:defRPr>
            </a:pPr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80000"/>
            <a:ext cx="11100000" cy="55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28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2850" b="1">
                <a:solidFill>
                  <a:srgbClr val="111827"/>
                </a:solidFill>
                <a:latin typeface="Microsoft YaHei"/>
                <a:ea typeface="Microsoft YaHei"/>
              </a:rPr>
              <a:t>表达式生成：先算子表达式，再申请临时变量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60000" y="950000"/>
            <a:ext cx="10800000" cy="33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132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320">
                <a:solidFill>
                  <a:srgbClr val="111827"/>
                </a:solidFill>
                <a:latin typeface="Microsoft YaHei"/>
                <a:ea typeface="Microsoft YaHei"/>
              </a:rPr>
              <a:t>E / T / F 三层文法保证乘除先于加减，生成代码时自然保持优先级</a:t>
            </a:r>
          </a:p>
        </p:txBody>
      </p:sp>
      <p:sp>
        <p:nvSpPr>
          <p:cNvPr id="5" name="Left Box"/>
          <p:cNvSpPr txBox="1"/>
          <p:nvPr/>
        </p:nvSpPr>
        <p:spPr>
          <a:xfrm>
            <a:off x="6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例：c = b * c + d;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先识别 T 层的 b * c，生成 t1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再识别 E 层的 t1 + d，生成 t2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最后赋值给左侧标识符 c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每个表达式函数返回自己的 place</a:t>
            </a:r>
          </a:p>
        </p:txBody>
      </p:sp>
      <p:sp>
        <p:nvSpPr>
          <p:cNvPr id="6" name="Right Box"/>
          <p:cNvSpPr txBox="1"/>
          <p:nvPr/>
        </p:nvSpPr>
        <p:spPr>
          <a:xfrm>
            <a:off x="64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生成过程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Var(b) 返回 place=b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Var(c) 返回 place=c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BinOp(*) 返回 place=t1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BinOp(+) 返回 place=t2</a:t>
            </a:r>
          </a:p>
        </p:txBody>
      </p:sp>
      <p:sp>
        <p:nvSpPr>
          <p:cNvPr id="7" name="Code Box"/>
          <p:cNvSpPr txBox="1"/>
          <p:nvPr/>
        </p:nvSpPr>
        <p:spPr>
          <a:xfrm>
            <a:off x="760000" y="3900000"/>
            <a:ext cx="10650000" cy="260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rtlCol="0"/>
          <a:lstStyle/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输入：c=b*c+d;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endParaRPr lang="zh-CN" sz="1450">
              <a:solidFill>
                <a:srgbClr val="F9FAFB"/>
              </a:solidFill>
              <a:latin typeface="Microsoft YaHei"/>
              <a:ea typeface="Microsoft YaHei"/>
            </a:endParaRP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t1 := b * c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t2 := t1 + d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c := t2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18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>
              <a:defRPr sz="100">
                <a:solidFill>
                  <a:srgbClr val="111827"/>
                </a:solidFill>
                <a:latin typeface="Microsoft YaHei"/>
                <a:ea typeface="Microsoft YaHei"/>
              </a:defRPr>
            </a:pPr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80000"/>
            <a:ext cx="11100000" cy="55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28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2850" b="1">
                <a:solidFill>
                  <a:srgbClr val="111827"/>
                </a:solidFill>
                <a:latin typeface="Microsoft YaHei"/>
                <a:ea typeface="Microsoft YaHei"/>
              </a:rPr>
              <a:t>控制流生成：if 和 while 本质是条件跳转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60000" y="950000"/>
            <a:ext cx="10800000" cy="33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132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320">
                <a:solidFill>
                  <a:srgbClr val="111827"/>
                </a:solidFill>
                <a:latin typeface="Microsoft YaHei"/>
                <a:ea typeface="Microsoft YaHei"/>
              </a:rPr>
              <a:t>实验三最容易出错的地方不是表达式，而是标号和跳转目标</a:t>
            </a:r>
          </a:p>
        </p:txBody>
      </p:sp>
      <p:sp>
        <p:nvSpPr>
          <p:cNvPr id="5" name="Left Box"/>
          <p:cNvSpPr txBox="1"/>
          <p:nvPr/>
        </p:nvSpPr>
        <p:spPr>
          <a:xfrm>
            <a:off x="6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if-then-else 模板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条件真：跳到 then 部分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条件假：跳到 else 部分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then 结束后要跳过 else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两个分支最后汇合到 S.next</a:t>
            </a:r>
          </a:p>
        </p:txBody>
      </p:sp>
      <p:sp>
        <p:nvSpPr>
          <p:cNvPr id="6" name="Right Box"/>
          <p:cNvSpPr txBox="1"/>
          <p:nvPr/>
        </p:nvSpPr>
        <p:spPr>
          <a:xfrm>
            <a:off x="64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while-do 模板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begin：循环入口和重新判断位置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true：条件成立后进入循环体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false：条件失败后跳出循环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循环体末尾 goto begin 形成回边</a:t>
            </a:r>
          </a:p>
        </p:txBody>
      </p:sp>
      <p:sp>
        <p:nvSpPr>
          <p:cNvPr id="7" name="Code Box"/>
          <p:cNvSpPr txBox="1"/>
          <p:nvPr/>
        </p:nvSpPr>
        <p:spPr>
          <a:xfrm>
            <a:off x="760000" y="3900000"/>
            <a:ext cx="10650000" cy="260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rtlCol="0"/>
          <a:lstStyle/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while C do S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endParaRPr lang="zh-CN" sz="1450">
              <a:solidFill>
                <a:srgbClr val="F9FAFB"/>
              </a:solidFill>
              <a:latin typeface="Microsoft YaHei"/>
              <a:ea typeface="Microsoft YaHei"/>
            </a:endParaRP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begin: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if C goto true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goto false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true: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S.code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  goto begin</a:t>
            </a:r>
          </a:p>
          <a:p>
            <a:pPr>
              <a:defRPr sz="145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450">
                <a:solidFill>
                  <a:srgbClr val="F9FAFB"/>
                </a:solidFill>
                <a:latin typeface="Microsoft YaHei"/>
                <a:ea typeface="Microsoft YaHei"/>
              </a:rPr>
              <a:t>false: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 txBox="1"/>
          <p:nvPr/>
        </p:nvSpPr>
        <p:spPr>
          <a:xfrm>
            <a:off x="0" y="0"/>
            <a:ext cx="12192000" cy="18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txBody>
          <a:bodyPr wrap="square" rtlCol="0"/>
          <a:lstStyle/>
          <a:p>
            <a:pPr>
              <a:defRPr sz="100">
                <a:solidFill>
                  <a:srgbClr val="111827"/>
                </a:solidFill>
                <a:latin typeface="Microsoft YaHei"/>
                <a:ea typeface="Microsoft YaHei"/>
              </a:defRPr>
            </a:pPr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520000" y="380000"/>
            <a:ext cx="11100000" cy="55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28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2850" b="1">
                <a:solidFill>
                  <a:srgbClr val="111827"/>
                </a:solidFill>
                <a:latin typeface="Microsoft YaHei"/>
                <a:ea typeface="Microsoft YaHei"/>
              </a:rPr>
              <a:t>标准样例演示：三层嵌套如何展开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60000" y="950000"/>
            <a:ext cx="10800000" cy="330000"/>
          </a:xfrm>
          <a:prstGeom prst="rect">
            <a:avLst/>
          </a:prstGeom>
          <a:noFill/>
          <a:ln w="12700">
            <a:noFill/>
          </a:ln>
        </p:spPr>
        <p:txBody>
          <a:bodyPr wrap="square" rtlCol="0"/>
          <a:lstStyle/>
          <a:p>
            <a:pPr>
              <a:defRPr sz="132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320">
                <a:solidFill>
                  <a:srgbClr val="111827"/>
                </a:solidFill>
                <a:latin typeface="Microsoft YaHei"/>
                <a:ea typeface="Microsoft YaHei"/>
              </a:rPr>
              <a:t>指导书样例同时覆盖 while、if、while、表达式优先级和进制转换</a:t>
            </a:r>
          </a:p>
        </p:txBody>
      </p:sp>
      <p:sp>
        <p:nvSpPr>
          <p:cNvPr id="5" name="Left Box"/>
          <p:cNvSpPr txBox="1"/>
          <p:nvPr/>
        </p:nvSpPr>
        <p:spPr>
          <a:xfrm>
            <a:off x="6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源程序结构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外层 while：(a3+15)&gt;0xa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中间 if：x2 = 07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内层 while：y &lt; z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循环体赋值：y = x * y / z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>
                <a:solidFill>
                  <a:srgbClr val="111827"/>
                </a:solidFill>
                <a:latin typeface="Microsoft YaHei"/>
                <a:ea typeface="Microsoft YaHei"/>
              </a:rPr>
              <a:t>• 循环后顺序语句：c = b*c + d</a:t>
            </a:r>
          </a:p>
        </p:txBody>
      </p:sp>
      <p:sp>
        <p:nvSpPr>
          <p:cNvPr id="6" name="Right Box"/>
          <p:cNvSpPr txBox="1"/>
          <p:nvPr/>
        </p:nvSpPr>
        <p:spPr>
          <a:xfrm>
            <a:off x="6400000" y="1450000"/>
            <a:ext cx="5200000" cy="2050000"/>
          </a:xfrm>
          <a:prstGeom prst="rect">
            <a:avLst/>
          </a:prstGeom>
          <a:solidFill>
            <a:srgbClr val="F8FAFC"/>
          </a:solidFill>
          <a:ln w="12700">
            <a:solidFill>
              <a:srgbClr val="D9E2EC"/>
            </a:solidFill>
          </a:ln>
        </p:spPr>
        <p:txBody>
          <a:bodyPr wrap="square" rtlCol="0"/>
          <a:lstStyle/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dirty="0">
                <a:solidFill>
                  <a:srgbClr val="111827"/>
                </a:solidFill>
                <a:latin typeface="Microsoft YaHei"/>
                <a:ea typeface="Microsoft YaHei"/>
              </a:rPr>
              <a:t>• 0xa 在词法阶段转成 10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dirty="0">
                <a:solidFill>
                  <a:srgbClr val="111827"/>
                </a:solidFill>
                <a:latin typeface="Microsoft YaHei"/>
                <a:ea typeface="Microsoft YaHei"/>
              </a:rPr>
              <a:t>• 07 在词法阶段转成 7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dirty="0">
                <a:solidFill>
                  <a:srgbClr val="111827"/>
                </a:solidFill>
                <a:latin typeface="Microsoft YaHei"/>
                <a:ea typeface="Microsoft YaHei"/>
              </a:rPr>
              <a:t>• x*y/z 先乘后除，生成 t2/t3</a:t>
            </a:r>
          </a:p>
          <a:p>
            <a:pPr>
              <a:defRPr sz="1650">
                <a:solidFill>
                  <a:srgbClr val="111827"/>
                </a:solidFill>
                <a:latin typeface="Microsoft YaHei"/>
                <a:ea typeface="Microsoft YaHei"/>
              </a:defRPr>
            </a:pPr>
            <a:r>
              <a:rPr lang="zh-CN" sz="1650" dirty="0">
                <a:solidFill>
                  <a:srgbClr val="111827"/>
                </a:solidFill>
                <a:latin typeface="Microsoft YaHei"/>
                <a:ea typeface="Microsoft YaHei"/>
              </a:rPr>
              <a:t>• 多层控制流靠 L1/L2/L3/L4/L0 串起来</a:t>
            </a:r>
          </a:p>
        </p:txBody>
      </p:sp>
      <p:sp>
        <p:nvSpPr>
          <p:cNvPr id="7" name="Code Box"/>
          <p:cNvSpPr txBox="1"/>
          <p:nvPr/>
        </p:nvSpPr>
        <p:spPr>
          <a:xfrm>
            <a:off x="760000" y="3900000"/>
            <a:ext cx="10650000" cy="2600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</a:ln>
        </p:spPr>
        <p:txBody>
          <a:bodyPr wrap="square" rtlCol="0"/>
          <a:lstStyle/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L1: t1 := a3 + 15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if t1 &gt; 10 goto L2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goto L0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L2: if x2 = 7 goto L3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goto L1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L3: if y &lt; z goto L4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goto L1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L4: t2 := x * y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t3 := t2 / z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y := t3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goto L3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goto L1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L0: t4 := b * c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t5 := t4 + d</a:t>
            </a:r>
          </a:p>
          <a:p>
            <a:pPr>
              <a:defRPr sz="1180">
                <a:solidFill>
                  <a:srgbClr val="F9FAFB"/>
                </a:solidFill>
                <a:latin typeface="Microsoft YaHei"/>
                <a:ea typeface="Microsoft YaHei"/>
              </a:defRPr>
            </a:pPr>
            <a:r>
              <a:rPr lang="zh-CN" sz="1180">
                <a:solidFill>
                  <a:srgbClr val="F9FAFB"/>
                </a:solidFill>
                <a:latin typeface="Microsoft YaHei"/>
                <a:ea typeface="Microsoft YaHei"/>
              </a:rPr>
              <a:t>    c := t5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66928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程序实现：实验关键算法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1566724"/>
            <a:ext cx="2240280" cy="3196515"/>
          </a:xfrm>
          <a:prstGeom prst="roundRect">
            <a:avLst>
              <a:gd name="adj" fmla="val 326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624307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Lexer</a:t>
            </a:r>
            <a:r>
              <a:rPr lang="en-US" sz="1700" b="1" dirty="0">
                <a:solidFill>
                  <a:srgbClr val="2563E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scan()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2963" y="2236421"/>
            <a:ext cx="2087343" cy="2229224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lnSpc>
                <a:spcPts val="1740"/>
              </a:lnSpc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读入：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源程序字符流</a:t>
            </a:r>
            <a:endParaRPr lang="en-US" altLang="zh-CN" sz="1200" dirty="0">
              <a:solidFill>
                <a:srgbClr val="0F172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lnSpc>
                <a:spcPts val="1740"/>
              </a:lnSpc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遇到字母：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继续读字母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数字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/_/.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，判断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IDN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或关键字</a:t>
            </a:r>
            <a:endParaRPr lang="en-US" altLang="zh-CN" sz="1200" dirty="0">
              <a:solidFill>
                <a:srgbClr val="0F172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lnSpc>
                <a:spcPts val="1740"/>
              </a:lnSpc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遇到数字：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区分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INT10 / INT8 / INT16 / REAL</a:t>
            </a:r>
          </a:p>
          <a:p>
            <a:pPr marL="0" indent="0">
              <a:lnSpc>
                <a:spcPts val="1740"/>
              </a:lnSpc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遇到符号：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返回运算符或分隔符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</a:t>
            </a:r>
          </a:p>
          <a:p>
            <a:pPr marL="0" indent="0">
              <a:lnSpc>
                <a:spcPts val="1740"/>
              </a:lnSpc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遇到非法字符：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记录错误，继续扫描</a:t>
            </a:r>
            <a:endParaRPr lang="en-US" altLang="zh-CN" sz="1200" dirty="0">
              <a:solidFill>
                <a:srgbClr val="0F172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lnSpc>
                <a:spcPts val="1740"/>
              </a:lnSpc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输出：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tokens.txt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7665" y="1566722"/>
            <a:ext cx="2240280" cy="3196514"/>
          </a:xfrm>
          <a:prstGeom prst="roundRect">
            <a:avLst>
              <a:gd name="adj" fmla="val 326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5862" y="164375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Parser / </a:t>
            </a:r>
            <a:r>
              <a:rPr lang="zh-CN" altLang="en-US" sz="1700" b="1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递归下降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17035" y="2132963"/>
            <a:ext cx="2066902" cy="2557781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读入：</a:t>
            </a:r>
            <a:r>
              <a:rPr lang="en-US" sz="1200" dirty="0" err="1">
                <a:solidFill>
                  <a:srgbClr val="0F172A"/>
                </a:solidFill>
                <a:latin typeface="Consolas" panose="020B0609020204030204" pitchFamily="34" charset="0"/>
              </a:rPr>
              <a:t>Lexer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返回的 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Token</a:t>
            </a:r>
          </a:p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遇到</a:t>
            </a: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id：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按赋值语句 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id = E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分析</a:t>
            </a:r>
          </a:p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遇到</a:t>
            </a: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if：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按 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if C then S [else S]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分析</a:t>
            </a:r>
          </a:p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遇到</a:t>
            </a:r>
            <a:r>
              <a:rPr 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while：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按 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while C do S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分析</a:t>
            </a:r>
          </a:p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遇到</a:t>
            </a:r>
            <a:r>
              <a:rPr lang="en-US" altLang="zh-CN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{</a:t>
            </a: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分析复合语句块</a:t>
            </a:r>
          </a:p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遇到错误：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跳到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</a:rPr>
              <a:t>; / } / 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EOF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后继续</a:t>
            </a:r>
          </a:p>
          <a:p>
            <a:pPr>
              <a:lnSpc>
                <a:spcPts val="1740"/>
              </a:lnSpc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</a:rPr>
              <a:t>输出：</a:t>
            </a:r>
            <a:r>
              <a:rPr lang="en-US" sz="1200" dirty="0">
                <a:solidFill>
                  <a:srgbClr val="0F172A"/>
                </a:solidFill>
                <a:latin typeface="Consolas" panose="020B0609020204030204" pitchFamily="34" charset="0"/>
              </a:rPr>
              <a:t>parse.txt / parse_tree.txt</a:t>
            </a:r>
          </a:p>
        </p:txBody>
      </p:sp>
      <p:sp>
        <p:nvSpPr>
          <p:cNvPr id="13" name="Shape 11"/>
          <p:cNvSpPr/>
          <p:nvPr/>
        </p:nvSpPr>
        <p:spPr>
          <a:xfrm>
            <a:off x="8638090" y="1566722"/>
            <a:ext cx="2240280" cy="3196185"/>
          </a:xfrm>
          <a:prstGeom prst="roundRect">
            <a:avLst>
              <a:gd name="adj" fmla="val 326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02682" y="1588867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CodeGenerator</a:t>
            </a:r>
            <a:r>
              <a:rPr lang="en-US" sz="17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</a:t>
            </a:r>
            <a:r>
              <a:rPr lang="zh-CN" altLang="en-US" sz="17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语法制导翻译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729530" y="2202316"/>
            <a:ext cx="2057998" cy="2085013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读入：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Parser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识别出的语法结构</a:t>
            </a:r>
          </a:p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遇到表达式：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生成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t1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、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t2 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等临时变量</a:t>
            </a:r>
          </a:p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遇到赋值：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生成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:= </a:t>
            </a:r>
            <a:r>
              <a:rPr lang="en-US" altLang="zh-CN" sz="1200" dirty="0" err="1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E.place</a:t>
            </a:r>
            <a:endParaRPr lang="en-US" altLang="zh-CN" sz="1200" dirty="0">
              <a:solidFill>
                <a:srgbClr val="0F172A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遇到条件：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生成 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... </a:t>
            </a:r>
            <a:r>
              <a:rPr lang="en-US" altLang="zh-CN" sz="1200" dirty="0" err="1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goto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...</a:t>
            </a:r>
          </a:p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遇到 </a:t>
            </a:r>
            <a:r>
              <a:rPr lang="en-US" altLang="zh-CN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while / if</a:t>
            </a: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：</a:t>
            </a:r>
            <a:r>
              <a:rPr lang="zh-CN" altLang="en-US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生成标签和跳转</a:t>
            </a:r>
          </a:p>
          <a:p>
            <a:pPr marL="0" indent="0">
              <a:buNone/>
            </a:pPr>
            <a:r>
              <a:rPr lang="zh-CN" altLang="en-US" sz="1200" b="1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输出：</a:t>
            </a:r>
            <a:r>
              <a:rPr lang="en-US" altLang="zh-CN" sz="1200" dirty="0">
                <a:solidFill>
                  <a:srgbClr val="0F172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tac.txt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7688" y="5285292"/>
            <a:ext cx="10149840" cy="512064"/>
          </a:xfrm>
          <a:prstGeom prst="rect">
            <a:avLst/>
          </a:prstGeom>
          <a:noFill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核心策略：</a:t>
            </a:r>
            <a:r>
              <a:rPr lang="en-US" alt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Parser </a:t>
            </a:r>
            <a:r>
              <a:rPr lang="zh-CN" alt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一边匹配 </a:t>
            </a:r>
            <a:r>
              <a:rPr lang="en-US" alt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</a:t>
            </a:r>
            <a:r>
              <a:rPr lang="zh-CN" alt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，一边记录语法分析过程，并在表达式或语句完成时 </a:t>
            </a:r>
            <a:r>
              <a:rPr lang="en-US" altLang="zh-CN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emit </a:t>
            </a:r>
            <a:r>
              <a:rPr lang="zh-CN" alt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三地址代码。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37160"/>
            <a:ext cx="12191695" cy="6492240"/>
          </a:xfrm>
          <a:prstGeom prst="rect">
            <a:avLst/>
          </a:prstGeom>
          <a:solidFill>
            <a:srgbClr val="13263B"/>
          </a:solidFill>
          <a:ln w="12700">
            <a:solidFill>
              <a:srgbClr val="1326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34361" y="2748877"/>
            <a:ext cx="130257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351007" y="3571837"/>
            <a:ext cx="566928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3141</Words>
  <Application>Microsoft Office PowerPoint</Application>
  <PresentationFormat>宽屏</PresentationFormat>
  <Paragraphs>504</Paragraphs>
  <Slides>22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7" baseType="lpstr">
      <vt:lpstr>Microsoft YaHei</vt:lpstr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ChatGPT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编译原理实验 1~3 合并系统汇报</dc:title>
  <dc:subject>编译原理实验 1~3 合并系统</dc:subject>
  <dc:creator>OpenAI</dc:creator>
  <cp:lastModifiedBy>LC State</cp:lastModifiedBy>
  <cp:revision>65</cp:revision>
  <dcterms:created xsi:type="dcterms:W3CDTF">2026-06-05T07:31:00Z</dcterms:created>
  <dcterms:modified xsi:type="dcterms:W3CDTF">2026-06-08T01:43:24Z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7C9E9E2DCE094913A875E7F966BEE182_12</vt:lpwstr>
  </property>
  <property fmtid="{D5CDD505-2E9C-101B-9397-08002B2CF9AE}" pid="3" name="KSOProductBuildVer">
    <vt:lpwstr>2052-12.1.0.20784</vt:lpwstr>
  </property>
</Properties>
</file>