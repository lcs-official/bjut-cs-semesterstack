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4F64CF-4007-4B8D-999D-8F3F5C3F73BA}" v="6" dt="2024-11-13T13:58:14.4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52" d="100"/>
          <a:sy n="52" d="100"/>
        </p:scale>
        <p:origin x="84" y="11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C State" userId="6faba3342bb5dc30" providerId="LiveId" clId="{724F64CF-4007-4B8D-999D-8F3F5C3F73BA}"/>
    <pc:docChg chg="undo custSel addSld delSld modSld">
      <pc:chgData name="LC State" userId="6faba3342bb5dc30" providerId="LiveId" clId="{724F64CF-4007-4B8D-999D-8F3F5C3F73BA}" dt="2024-11-13T13:58:44.711" v="78" actId="1076"/>
      <pc:docMkLst>
        <pc:docMk/>
      </pc:docMkLst>
      <pc:sldChg chg="modSp new mod">
        <pc:chgData name="LC State" userId="6faba3342bb5dc30" providerId="LiveId" clId="{724F64CF-4007-4B8D-999D-8F3F5C3F73BA}" dt="2024-11-13T13:50:14.133" v="11" actId="20577"/>
        <pc:sldMkLst>
          <pc:docMk/>
          <pc:sldMk cId="1120416135" sldId="257"/>
        </pc:sldMkLst>
        <pc:spChg chg="mod">
          <ac:chgData name="LC State" userId="6faba3342bb5dc30" providerId="LiveId" clId="{724F64CF-4007-4B8D-999D-8F3F5C3F73BA}" dt="2024-11-13T13:49:37.334" v="3"/>
          <ac:spMkLst>
            <pc:docMk/>
            <pc:sldMk cId="1120416135" sldId="257"/>
            <ac:spMk id="2" creationId="{00280C5C-556C-3AA7-FA16-ED213849F41C}"/>
          </ac:spMkLst>
        </pc:spChg>
        <pc:spChg chg="mod">
          <ac:chgData name="LC State" userId="6faba3342bb5dc30" providerId="LiveId" clId="{724F64CF-4007-4B8D-999D-8F3F5C3F73BA}" dt="2024-11-13T13:50:14.133" v="11" actId="20577"/>
          <ac:spMkLst>
            <pc:docMk/>
            <pc:sldMk cId="1120416135" sldId="257"/>
            <ac:spMk id="3" creationId="{36D48AD1-2578-8299-03A5-EF55C1240B10}"/>
          </ac:spMkLst>
        </pc:spChg>
      </pc:sldChg>
      <pc:sldChg chg="modSp add mod">
        <pc:chgData name="LC State" userId="6faba3342bb5dc30" providerId="LiveId" clId="{724F64CF-4007-4B8D-999D-8F3F5C3F73BA}" dt="2024-11-13T13:54:41.398" v="22" actId="20577"/>
        <pc:sldMkLst>
          <pc:docMk/>
          <pc:sldMk cId="2308584129" sldId="258"/>
        </pc:sldMkLst>
        <pc:spChg chg="mod">
          <ac:chgData name="LC State" userId="6faba3342bb5dc30" providerId="LiveId" clId="{724F64CF-4007-4B8D-999D-8F3F5C3F73BA}" dt="2024-11-13T13:54:41.398" v="22" actId="20577"/>
          <ac:spMkLst>
            <pc:docMk/>
            <pc:sldMk cId="2308584129" sldId="258"/>
            <ac:spMk id="3" creationId="{02CE9DC1-BC15-500B-49FB-9E5DF549C660}"/>
          </ac:spMkLst>
        </pc:spChg>
      </pc:sldChg>
      <pc:sldChg chg="new del">
        <pc:chgData name="LC State" userId="6faba3342bb5dc30" providerId="LiveId" clId="{724F64CF-4007-4B8D-999D-8F3F5C3F73BA}" dt="2024-11-13T13:54:19.960" v="13" actId="47"/>
        <pc:sldMkLst>
          <pc:docMk/>
          <pc:sldMk cId="3879908255" sldId="258"/>
        </pc:sldMkLst>
      </pc:sldChg>
      <pc:sldChg chg="modSp add mod">
        <pc:chgData name="LC State" userId="6faba3342bb5dc30" providerId="LiveId" clId="{724F64CF-4007-4B8D-999D-8F3F5C3F73BA}" dt="2024-11-13T13:55:13.564" v="31" actId="20577"/>
        <pc:sldMkLst>
          <pc:docMk/>
          <pc:sldMk cId="3643240332" sldId="259"/>
        </pc:sldMkLst>
        <pc:spChg chg="mod">
          <ac:chgData name="LC State" userId="6faba3342bb5dc30" providerId="LiveId" clId="{724F64CF-4007-4B8D-999D-8F3F5C3F73BA}" dt="2024-11-13T13:54:55.077" v="25"/>
          <ac:spMkLst>
            <pc:docMk/>
            <pc:sldMk cId="3643240332" sldId="259"/>
            <ac:spMk id="2" creationId="{DBB4FC22-C03D-1B59-87FF-2CFBA4CDC16B}"/>
          </ac:spMkLst>
        </pc:spChg>
        <pc:spChg chg="mod">
          <ac:chgData name="LC State" userId="6faba3342bb5dc30" providerId="LiveId" clId="{724F64CF-4007-4B8D-999D-8F3F5C3F73BA}" dt="2024-11-13T13:55:13.564" v="31" actId="20577"/>
          <ac:spMkLst>
            <pc:docMk/>
            <pc:sldMk cId="3643240332" sldId="259"/>
            <ac:spMk id="3" creationId="{6A398A67-82DA-84C8-1706-F1F586671908}"/>
          </ac:spMkLst>
        </pc:spChg>
      </pc:sldChg>
      <pc:sldChg chg="modSp add mod">
        <pc:chgData name="LC State" userId="6faba3342bb5dc30" providerId="LiveId" clId="{724F64CF-4007-4B8D-999D-8F3F5C3F73BA}" dt="2024-11-13T13:55:38.988" v="36" actId="5793"/>
        <pc:sldMkLst>
          <pc:docMk/>
          <pc:sldMk cId="2038313118" sldId="260"/>
        </pc:sldMkLst>
        <pc:spChg chg="mod">
          <ac:chgData name="LC State" userId="6faba3342bb5dc30" providerId="LiveId" clId="{724F64CF-4007-4B8D-999D-8F3F5C3F73BA}" dt="2024-11-13T13:55:38.988" v="36" actId="5793"/>
          <ac:spMkLst>
            <pc:docMk/>
            <pc:sldMk cId="2038313118" sldId="260"/>
            <ac:spMk id="3" creationId="{E1F91552-72AE-C8C9-8586-6F159E3B108F}"/>
          </ac:spMkLst>
        </pc:spChg>
      </pc:sldChg>
      <pc:sldChg chg="modSp add mod">
        <pc:chgData name="LC State" userId="6faba3342bb5dc30" providerId="LiveId" clId="{724F64CF-4007-4B8D-999D-8F3F5C3F73BA}" dt="2024-11-13T13:56:05.400" v="43" actId="5793"/>
        <pc:sldMkLst>
          <pc:docMk/>
          <pc:sldMk cId="3900643451" sldId="261"/>
        </pc:sldMkLst>
        <pc:spChg chg="mod">
          <ac:chgData name="LC State" userId="6faba3342bb5dc30" providerId="LiveId" clId="{724F64CF-4007-4B8D-999D-8F3F5C3F73BA}" dt="2024-11-13T13:55:54.183" v="40"/>
          <ac:spMkLst>
            <pc:docMk/>
            <pc:sldMk cId="3900643451" sldId="261"/>
            <ac:spMk id="2" creationId="{E14AA451-6F30-2516-874D-3F82D9D73D6B}"/>
          </ac:spMkLst>
        </pc:spChg>
        <pc:spChg chg="mod">
          <ac:chgData name="LC State" userId="6faba3342bb5dc30" providerId="LiveId" clId="{724F64CF-4007-4B8D-999D-8F3F5C3F73BA}" dt="2024-11-13T13:56:05.400" v="43" actId="5793"/>
          <ac:spMkLst>
            <pc:docMk/>
            <pc:sldMk cId="3900643451" sldId="261"/>
            <ac:spMk id="3" creationId="{B354AF6F-910B-2F10-4600-C62370A24C9D}"/>
          </ac:spMkLst>
        </pc:spChg>
      </pc:sldChg>
      <pc:sldChg chg="modSp add mod">
        <pc:chgData name="LC State" userId="6faba3342bb5dc30" providerId="LiveId" clId="{724F64CF-4007-4B8D-999D-8F3F5C3F73BA}" dt="2024-11-13T13:56:35.759" v="48" actId="5793"/>
        <pc:sldMkLst>
          <pc:docMk/>
          <pc:sldMk cId="2316873995" sldId="262"/>
        </pc:sldMkLst>
        <pc:spChg chg="mod">
          <ac:chgData name="LC State" userId="6faba3342bb5dc30" providerId="LiveId" clId="{724F64CF-4007-4B8D-999D-8F3F5C3F73BA}" dt="2024-11-13T13:56:35.759" v="48" actId="5793"/>
          <ac:spMkLst>
            <pc:docMk/>
            <pc:sldMk cId="2316873995" sldId="262"/>
            <ac:spMk id="3" creationId="{80DF5B6D-44E0-F408-467B-3B5614D5E8A6}"/>
          </ac:spMkLst>
        </pc:spChg>
      </pc:sldChg>
      <pc:sldChg chg="modSp new mod">
        <pc:chgData name="LC State" userId="6faba3342bb5dc30" providerId="LiveId" clId="{724F64CF-4007-4B8D-999D-8F3F5C3F73BA}" dt="2024-11-13T13:58:09.215" v="55"/>
        <pc:sldMkLst>
          <pc:docMk/>
          <pc:sldMk cId="2462440189" sldId="263"/>
        </pc:sldMkLst>
        <pc:spChg chg="mod">
          <ac:chgData name="LC State" userId="6faba3342bb5dc30" providerId="LiveId" clId="{724F64CF-4007-4B8D-999D-8F3F5C3F73BA}" dt="2024-11-13T13:58:00.257" v="52"/>
          <ac:spMkLst>
            <pc:docMk/>
            <pc:sldMk cId="2462440189" sldId="263"/>
            <ac:spMk id="2" creationId="{BD125F6D-9AE3-6E31-B2AE-7F8C59F82152}"/>
          </ac:spMkLst>
        </pc:spChg>
        <pc:spChg chg="mod">
          <ac:chgData name="LC State" userId="6faba3342bb5dc30" providerId="LiveId" clId="{724F64CF-4007-4B8D-999D-8F3F5C3F73BA}" dt="2024-11-13T13:58:09.215" v="55"/>
          <ac:spMkLst>
            <pc:docMk/>
            <pc:sldMk cId="2462440189" sldId="263"/>
            <ac:spMk id="3" creationId="{5AA0B47F-76B4-6AA7-8493-2870DBBC5D87}"/>
          </ac:spMkLst>
        </pc:spChg>
      </pc:sldChg>
      <pc:sldChg chg="modSp add mod">
        <pc:chgData name="LC State" userId="6faba3342bb5dc30" providerId="LiveId" clId="{724F64CF-4007-4B8D-999D-8F3F5C3F73BA}" dt="2024-11-13T13:58:19.447" v="57"/>
        <pc:sldMkLst>
          <pc:docMk/>
          <pc:sldMk cId="744169943" sldId="264"/>
        </pc:sldMkLst>
        <pc:spChg chg="mod">
          <ac:chgData name="LC State" userId="6faba3342bb5dc30" providerId="LiveId" clId="{724F64CF-4007-4B8D-999D-8F3F5C3F73BA}" dt="2024-11-13T13:58:19.447" v="57"/>
          <ac:spMkLst>
            <pc:docMk/>
            <pc:sldMk cId="744169943" sldId="264"/>
            <ac:spMk id="3" creationId="{E9D61C42-D4A3-8BCE-CCBD-A33845C11132}"/>
          </ac:spMkLst>
        </pc:spChg>
      </pc:sldChg>
      <pc:sldChg chg="delSp modSp new mod">
        <pc:chgData name="LC State" userId="6faba3342bb5dc30" providerId="LiveId" clId="{724F64CF-4007-4B8D-999D-8F3F5C3F73BA}" dt="2024-11-13T13:58:44.711" v="78" actId="1076"/>
        <pc:sldMkLst>
          <pc:docMk/>
          <pc:sldMk cId="1015856010" sldId="265"/>
        </pc:sldMkLst>
        <pc:spChg chg="del">
          <ac:chgData name="LC State" userId="6faba3342bb5dc30" providerId="LiveId" clId="{724F64CF-4007-4B8D-999D-8F3F5C3F73BA}" dt="2024-11-13T13:58:34.646" v="66" actId="478"/>
          <ac:spMkLst>
            <pc:docMk/>
            <pc:sldMk cId="1015856010" sldId="265"/>
            <ac:spMk id="2" creationId="{B26E25F8-BCA9-6F7F-6A7E-53F655565242}"/>
          </ac:spMkLst>
        </pc:spChg>
        <pc:spChg chg="mod">
          <ac:chgData name="LC State" userId="6faba3342bb5dc30" providerId="LiveId" clId="{724F64CF-4007-4B8D-999D-8F3F5C3F73BA}" dt="2024-11-13T13:58:44.711" v="78" actId="1076"/>
          <ac:spMkLst>
            <pc:docMk/>
            <pc:sldMk cId="1015856010" sldId="265"/>
            <ac:spMk id="3" creationId="{E649D9D6-2526-8860-8F30-9721F5E8393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zh-CN" altLang="en-US"/>
              <a:t>单击此处编辑母版标题样式</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9796027F-7875-4030-9381-8BD8C4F21935}" type="datetimeFigureOut">
              <a:rPr lang="en-US" dirty="0"/>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11/13/2024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11/13/2024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11/13/2024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11/13/2024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7" name="Date Placeholder 4"/>
          <p:cNvSpPr>
            <a:spLocks noGrp="1"/>
          </p:cNvSpPr>
          <p:nvPr>
            <p:ph type="dt" sz="half" idx="10"/>
          </p:nvPr>
        </p:nvSpPr>
        <p:spPr/>
        <p:txBody>
          <a:bodyPr/>
          <a:lstStyle/>
          <a:p>
            <a:fld id="{4509A250-FF31-4206-8172-F9D3106AACB1}" type="datetimeFigureOut">
              <a:rPr lang="en-US" dirty="0"/>
              <a:t>11/13/2024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509A250-FF31-4206-8172-F9D3106AACB1}" type="datetimeFigureOut">
              <a:rPr lang="en-US" dirty="0"/>
              <a:t>11/13/2024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509A250-FF31-4206-8172-F9D3106AACB1}" type="datetimeFigureOut">
              <a:rPr lang="en-US" dirty="0"/>
              <a:t>11/13/2024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zh-CN" altLang="en-US"/>
              <a:t>单击此处编辑母版标题样式</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509A250-FF31-4206-8172-F9D3106AACB1}" type="datetimeFigureOut">
              <a:rPr lang="en-US" dirty="0"/>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zh-CN" altLang="en-US"/>
              <a:t>单击此处编辑母版标题样式</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zh-CN" altLang="en-US"/>
              <a:t>单击此处编辑母版文本样式</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509A250-FF31-4206-8172-F9D3106AACB1}" type="datetimeFigureOut">
              <a:rPr lang="en-US" dirty="0"/>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509A250-FF31-4206-8172-F9D3106AACB1}" type="datetimeFigureOut">
              <a:rPr lang="en-US" dirty="0"/>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11/13/2024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zh-CN" altLang="en-US"/>
              <a:t>单击此处编辑母版标题样式</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11/13/2024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nchorCtr="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11/13/2024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3C81D0-2ACA-C669-5738-A6EE342C982B}"/>
              </a:ext>
            </a:extLst>
          </p:cNvPr>
          <p:cNvSpPr>
            <a:spLocks noGrp="1"/>
          </p:cNvSpPr>
          <p:nvPr>
            <p:ph type="ctrTitle"/>
          </p:nvPr>
        </p:nvSpPr>
        <p:spPr/>
        <p:txBody>
          <a:bodyPr/>
          <a:lstStyle/>
          <a:p>
            <a:r>
              <a:rPr lang="zh-CN" altLang="zh-CN" sz="7200" b="1" kern="0" dirty="0">
                <a:effectLst/>
                <a:latin typeface="等线" panose="02010600030101010101" pitchFamily="2" charset="-122"/>
                <a:ea typeface="宋体" panose="02010600030101010101" pitchFamily="2" charset="-122"/>
                <a:cs typeface="宋体" panose="02010600030101010101" pitchFamily="2" charset="-122"/>
              </a:rPr>
              <a:t>生涯职业报告</a:t>
            </a:r>
            <a:br>
              <a:rPr lang="zh-CN" altLang="zh-CN" sz="4400" kern="100" dirty="0">
                <a:effectLst/>
                <a:latin typeface="等线" panose="02010600030101010101" pitchFamily="2" charset="-122"/>
                <a:ea typeface="等线" panose="02010600030101010101" pitchFamily="2" charset="-122"/>
                <a:cs typeface="Times New Roman" panose="02020603050405020304" pitchFamily="18" charset="0"/>
              </a:rPr>
            </a:br>
            <a:endParaRPr lang="zh-CN" altLang="en-US" dirty="0"/>
          </a:p>
        </p:txBody>
      </p:sp>
      <p:sp>
        <p:nvSpPr>
          <p:cNvPr id="3" name="副标题 2">
            <a:extLst>
              <a:ext uri="{FF2B5EF4-FFF2-40B4-BE49-F238E27FC236}">
                <a16:creationId xmlns:a16="http://schemas.microsoft.com/office/drawing/2014/main" id="{12D36370-36EC-2338-2400-07AF22A2084A}"/>
              </a:ext>
            </a:extLst>
          </p:cNvPr>
          <p:cNvSpPr>
            <a:spLocks noGrp="1"/>
          </p:cNvSpPr>
          <p:nvPr>
            <p:ph type="subTitle" idx="1"/>
          </p:nvPr>
        </p:nvSpPr>
        <p:spPr/>
        <p:txBody>
          <a:bodyPr/>
          <a:lstStyle/>
          <a:p>
            <a:r>
              <a:rPr lang="en-US" altLang="zh-CN" dirty="0"/>
              <a:t>23071005 </a:t>
            </a:r>
            <a:r>
              <a:rPr lang="zh-CN" altLang="en-US" dirty="0"/>
              <a:t>侯景祺</a:t>
            </a:r>
          </a:p>
        </p:txBody>
      </p:sp>
    </p:spTree>
    <p:extLst>
      <p:ext uri="{BB962C8B-B14F-4D97-AF65-F5344CB8AC3E}">
        <p14:creationId xmlns:p14="http://schemas.microsoft.com/office/powerpoint/2010/main" val="1820567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280C5C-556C-3AA7-FA16-ED213849F41C}"/>
              </a:ext>
            </a:extLst>
          </p:cNvPr>
          <p:cNvSpPr>
            <a:spLocks noGrp="1"/>
          </p:cNvSpPr>
          <p:nvPr>
            <p:ph type="title"/>
          </p:nvPr>
        </p:nvSpPr>
        <p:spPr/>
        <p:txBody>
          <a:bodyPr/>
          <a:lstStyle/>
          <a:p>
            <a:r>
              <a:rPr lang="zh-CN" altLang="zh-CN" sz="4400" b="1" kern="0" dirty="0">
                <a:effectLst/>
                <a:latin typeface="等线" panose="02010600030101010101" pitchFamily="2" charset="-122"/>
                <a:ea typeface="宋体" panose="02010600030101010101" pitchFamily="2" charset="-122"/>
                <a:cs typeface="宋体" panose="02010600030101010101" pitchFamily="2" charset="-122"/>
              </a:rPr>
              <a:t>自我探索</a:t>
            </a:r>
            <a:br>
              <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rPr>
            </a:br>
            <a:endParaRPr lang="zh-CN" altLang="en-US" dirty="0"/>
          </a:p>
        </p:txBody>
      </p:sp>
      <p:sp>
        <p:nvSpPr>
          <p:cNvPr id="3" name="内容占位符 2">
            <a:extLst>
              <a:ext uri="{FF2B5EF4-FFF2-40B4-BE49-F238E27FC236}">
                <a16:creationId xmlns:a16="http://schemas.microsoft.com/office/drawing/2014/main" id="{36D48AD1-2578-8299-03A5-EF55C1240B10}"/>
              </a:ext>
            </a:extLst>
          </p:cNvPr>
          <p:cNvSpPr>
            <a:spLocks noGrp="1"/>
          </p:cNvSpPr>
          <p:nvPr>
            <p:ph idx="1"/>
          </p:nvPr>
        </p:nvSpPr>
        <p:spPr/>
        <p:txBody>
          <a:bodyPr/>
          <a:lstStyle/>
          <a:p>
            <a:pPr indent="266700"/>
            <a:r>
              <a:rPr lang="zh-CN" altLang="zh-CN" sz="2000" b="1" dirty="0">
                <a:effectLst/>
                <a:latin typeface="宋体" panose="02010600030101010101" pitchFamily="2" charset="-122"/>
                <a:ea typeface="宋体" panose="02010600030101010101" pitchFamily="2" charset="-122"/>
                <a:cs typeface="宋体" panose="02010600030101010101" pitchFamily="2" charset="-122"/>
              </a:rPr>
              <a:t>性格分析</a:t>
            </a:r>
            <a:endParaRPr lang="zh-CN" altLang="zh-CN" sz="2000" dirty="0">
              <a:effectLst/>
              <a:latin typeface="宋体" panose="02010600030101010101" pitchFamily="2" charset="-122"/>
              <a:ea typeface="宋体" panose="02010600030101010101" pitchFamily="2" charset="-122"/>
              <a:cs typeface="宋体" panose="02010600030101010101" pitchFamily="2" charset="-122"/>
            </a:endParaRPr>
          </a:p>
          <a:p>
            <a:endParaRPr lang="en-US" altLang="zh-CN" sz="1800" dirty="0">
              <a:effectLst/>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zh-CN" sz="1800" dirty="0">
                <a:effectLst/>
                <a:latin typeface="宋体" panose="02010600030101010101" pitchFamily="2" charset="-122"/>
                <a:ea typeface="宋体" panose="02010600030101010101" pitchFamily="2" charset="-122"/>
                <a:cs typeface="宋体" panose="02010600030101010101" pitchFamily="2" charset="-122"/>
              </a:rPr>
              <a:t>我的性格逻辑性强，喜欢用系统化的方式解决问题。我在学习和工作中保持着高度的专注力，能够在面对复杂的技术问题时保持冷静并逐步分解问题。此外，我具有强烈的求知欲，面对新知识和技术时，总是愿意投入大量时间深入学习，直到完全掌握为止。我善于独立思考，但也乐于在团队中合作，尤其是在解决深度学习中的模型调优问题时，我发现协作可以带来更多的创意和灵感。我的性格特点让我在面对困难时能够保持耐心，不轻言放弃。</a:t>
            </a:r>
          </a:p>
          <a:p>
            <a:endParaRPr lang="zh-CN" altLang="en-US" dirty="0"/>
          </a:p>
        </p:txBody>
      </p:sp>
    </p:spTree>
    <p:extLst>
      <p:ext uri="{BB962C8B-B14F-4D97-AF65-F5344CB8AC3E}">
        <p14:creationId xmlns:p14="http://schemas.microsoft.com/office/powerpoint/2010/main" val="1120416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4AC3A-F691-3DF4-059B-A4C72B67E6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C926ECF-1FB8-DBB8-AD72-029C2F37A4F2}"/>
              </a:ext>
            </a:extLst>
          </p:cNvPr>
          <p:cNvSpPr>
            <a:spLocks noGrp="1"/>
          </p:cNvSpPr>
          <p:nvPr>
            <p:ph type="title"/>
          </p:nvPr>
        </p:nvSpPr>
        <p:spPr/>
        <p:txBody>
          <a:bodyPr/>
          <a:lstStyle/>
          <a:p>
            <a:r>
              <a:rPr lang="zh-CN" altLang="zh-CN" sz="4400" b="1" kern="0" dirty="0">
                <a:effectLst/>
                <a:latin typeface="等线" panose="02010600030101010101" pitchFamily="2" charset="-122"/>
                <a:ea typeface="宋体" panose="02010600030101010101" pitchFamily="2" charset="-122"/>
                <a:cs typeface="宋体" panose="02010600030101010101" pitchFamily="2" charset="-122"/>
              </a:rPr>
              <a:t>自我探索</a:t>
            </a:r>
            <a:br>
              <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rPr>
            </a:br>
            <a:endParaRPr lang="zh-CN" altLang="en-US" dirty="0"/>
          </a:p>
        </p:txBody>
      </p:sp>
      <p:sp>
        <p:nvSpPr>
          <p:cNvPr id="3" name="内容占位符 2">
            <a:extLst>
              <a:ext uri="{FF2B5EF4-FFF2-40B4-BE49-F238E27FC236}">
                <a16:creationId xmlns:a16="http://schemas.microsoft.com/office/drawing/2014/main" id="{02CE9DC1-BC15-500B-49FB-9E5DF549C660}"/>
              </a:ext>
            </a:extLst>
          </p:cNvPr>
          <p:cNvSpPr>
            <a:spLocks noGrp="1"/>
          </p:cNvSpPr>
          <p:nvPr>
            <p:ph idx="1"/>
          </p:nvPr>
        </p:nvSpPr>
        <p:spPr/>
        <p:txBody>
          <a:bodyPr/>
          <a:lstStyle/>
          <a:p>
            <a:pPr indent="266700"/>
            <a:r>
              <a:rPr lang="zh-CN" altLang="zh-CN" sz="1800" b="1" dirty="0">
                <a:effectLst/>
                <a:latin typeface="宋体" panose="02010600030101010101" pitchFamily="2" charset="-122"/>
                <a:ea typeface="宋体" panose="02010600030101010101" pitchFamily="2" charset="-122"/>
                <a:cs typeface="宋体" panose="02010600030101010101" pitchFamily="2" charset="-122"/>
              </a:rPr>
              <a:t>价值观分析</a:t>
            </a:r>
            <a:endParaRPr lang="zh-CN" altLang="zh-CN" sz="1800" dirty="0">
              <a:effectLst/>
              <a:latin typeface="宋体" panose="02010600030101010101" pitchFamily="2" charset="-122"/>
              <a:ea typeface="宋体" panose="02010600030101010101" pitchFamily="2" charset="-122"/>
              <a:cs typeface="宋体" panose="02010600030101010101" pitchFamily="2" charset="-122"/>
            </a:endParaRPr>
          </a:p>
          <a:p>
            <a:pPr indent="0">
              <a:buNone/>
            </a:pPr>
            <a:endParaRPr lang="en-US" altLang="zh-CN" sz="1800" dirty="0">
              <a:latin typeface="宋体" panose="02010600030101010101" pitchFamily="2" charset="-122"/>
              <a:ea typeface="宋体" panose="02010600030101010101" pitchFamily="2" charset="-122"/>
              <a:cs typeface="宋体" panose="02010600030101010101" pitchFamily="2" charset="-122"/>
            </a:endParaRPr>
          </a:p>
          <a:p>
            <a:pPr indent="0">
              <a:buNone/>
            </a:pPr>
            <a:r>
              <a:rPr lang="zh-CN" altLang="zh-CN" sz="1800" dirty="0">
                <a:effectLst/>
                <a:latin typeface="宋体" panose="02010600030101010101" pitchFamily="2" charset="-122"/>
                <a:ea typeface="宋体" panose="02010600030101010101" pitchFamily="2" charset="-122"/>
                <a:cs typeface="宋体" panose="02010600030101010101" pitchFamily="2" charset="-122"/>
              </a:rPr>
              <a:t>我的核心价值观之一是</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不断学习</a:t>
            </a:r>
            <a:r>
              <a:rPr lang="en-US" altLang="zh-CN" sz="1800" dirty="0">
                <a:effectLst/>
                <a:latin typeface="宋体" panose="02010600030101010101" pitchFamily="2" charset="-122"/>
                <a:ea typeface="宋体" panose="02010600030101010101" pitchFamily="2" charset="-122"/>
                <a:cs typeface="宋体" panose="02010600030101010101" pitchFamily="2" charset="-122"/>
              </a:rPr>
              <a:t>”</a:t>
            </a:r>
            <a:r>
              <a:rPr lang="zh-CN" altLang="zh-CN" sz="1800" dirty="0">
                <a:effectLst/>
                <a:latin typeface="宋体" panose="02010600030101010101" pitchFamily="2" charset="-122"/>
                <a:ea typeface="宋体" panose="02010600030101010101" pitchFamily="2" charset="-122"/>
                <a:cs typeface="宋体" panose="02010600030101010101" pitchFamily="2" charset="-122"/>
              </a:rPr>
              <a:t>。在科技飞速发展的领域，特别是人工智能和深度学习，每天都有新的进展和技术出现，我坚信只有持续学习，才能保持竞争力和前沿性。因此，我坚持每天都学习新知识，跟随最新的研究论文和开发工具。同时，我非常注重创新，特别是在算法的设计和优化上，我追求通过尝试新思路和新方法，来找到更高效、更精确的解决方案。此外，我相信实践是最好的检验标准，理论上的突破只有通过实际应用才能证明其价值，因此我也很重视在项目中将学习到的技术落地，并不断优化调整。</a:t>
            </a:r>
          </a:p>
          <a:p>
            <a:endParaRPr lang="zh-CN" altLang="en-US" dirty="0"/>
          </a:p>
        </p:txBody>
      </p:sp>
    </p:spTree>
    <p:extLst>
      <p:ext uri="{BB962C8B-B14F-4D97-AF65-F5344CB8AC3E}">
        <p14:creationId xmlns:p14="http://schemas.microsoft.com/office/powerpoint/2010/main" val="2308584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48A66-9672-EEE9-3E07-9622BE167EC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BB4FC22-C03D-1B59-87FF-2CFBA4CDC16B}"/>
              </a:ext>
            </a:extLst>
          </p:cNvPr>
          <p:cNvSpPr>
            <a:spLocks noGrp="1"/>
          </p:cNvSpPr>
          <p:nvPr>
            <p:ph type="title"/>
          </p:nvPr>
        </p:nvSpPr>
        <p:spPr/>
        <p:txBody>
          <a:bodyPr/>
          <a:lstStyle/>
          <a:p>
            <a:r>
              <a:rPr lang="zh-CN" altLang="zh-CN" sz="4400" b="1" kern="0" dirty="0">
                <a:effectLst/>
                <a:ea typeface="宋体" panose="02010600030101010101" pitchFamily="2" charset="-122"/>
                <a:cs typeface="宋体" panose="02010600030101010101" pitchFamily="2" charset="-122"/>
              </a:rPr>
              <a:t>外部探索</a:t>
            </a:r>
            <a:br>
              <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rPr>
            </a:br>
            <a:endParaRPr lang="zh-CN" altLang="en-US" dirty="0"/>
          </a:p>
        </p:txBody>
      </p:sp>
      <p:sp>
        <p:nvSpPr>
          <p:cNvPr id="3" name="内容占位符 2">
            <a:extLst>
              <a:ext uri="{FF2B5EF4-FFF2-40B4-BE49-F238E27FC236}">
                <a16:creationId xmlns:a16="http://schemas.microsoft.com/office/drawing/2014/main" id="{6A398A67-82DA-84C8-1706-F1F586671908}"/>
              </a:ext>
            </a:extLst>
          </p:cNvPr>
          <p:cNvSpPr>
            <a:spLocks noGrp="1"/>
          </p:cNvSpPr>
          <p:nvPr>
            <p:ph idx="1"/>
          </p:nvPr>
        </p:nvSpPr>
        <p:spPr/>
        <p:txBody>
          <a:bodyPr/>
          <a:lstStyle/>
          <a:p>
            <a:pPr indent="266700">
              <a:spcBef>
                <a:spcPts val="1200"/>
              </a:spcBef>
              <a:spcAft>
                <a:spcPts val="1200"/>
              </a:spcAft>
            </a:pPr>
            <a:r>
              <a:rPr lang="zh-CN" altLang="zh-CN" sz="1800" b="1" kern="0" dirty="0">
                <a:effectLst/>
                <a:latin typeface="等线" panose="02010600030101010101" pitchFamily="2" charset="-122"/>
                <a:ea typeface="宋体" panose="02010600030101010101" pitchFamily="2" charset="-122"/>
                <a:cs typeface="宋体" panose="02010600030101010101" pitchFamily="2" charset="-122"/>
              </a:rPr>
              <a:t>人工智能及深度学习领域的现状与趋势</a:t>
            </a:r>
            <a:endParaRPr lang="en-US" altLang="zh-CN" sz="1800" dirty="0">
              <a:effectLst/>
              <a:latin typeface="宋体" panose="02010600030101010101" pitchFamily="2" charset="-122"/>
              <a:ea typeface="宋体" panose="02010600030101010101" pitchFamily="2" charset="-122"/>
              <a:cs typeface="宋体" panose="02010600030101010101" pitchFamily="2" charset="-122"/>
            </a:endParaRPr>
          </a:p>
          <a:p>
            <a:pPr indent="0">
              <a:buNone/>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当前，人工智能（</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AI</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）技术，尤其是深度学习领域，正处于高速发展期。深度学习在各行各业的应用越来越广泛，从图像识别、自然语言处理到自动驾驶和医疗影像分析，都显示了其巨大的潜力和价值。随着硬件性能的提升（如</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GPU</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和</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NPU</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的进步），深度学习模型的规模也不断扩大，出现了以</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GPT-4</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为代表的大型语言模型以及各种基于视觉任务的</a:t>
            </a:r>
            <a:r>
              <a:rPr lang="en-US" altLang="zh-CN" sz="1800" kern="0" dirty="0" err="1">
                <a:effectLst/>
                <a:latin typeface="等线" panose="02010600030101010101" pitchFamily="2" charset="-122"/>
                <a:ea typeface="宋体" panose="02010600030101010101" pitchFamily="2" charset="-122"/>
                <a:cs typeface="宋体" panose="02010600030101010101" pitchFamily="2" charset="-122"/>
              </a:rPr>
              <a:t>ViT</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等模型。这些技术正在变革传统行业，如智能制造、金融服务、健康医疗等领域。</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zh-CN" sz="1800" kern="0" dirty="0">
                <a:effectLst/>
                <a:ea typeface="宋体" panose="02010600030101010101" pitchFamily="2" charset="-122"/>
                <a:cs typeface="宋体" panose="02010600030101010101" pitchFamily="2" charset="-122"/>
              </a:rPr>
              <a:t>未来几年，深度学习将更注重模型的可解释性和高效性。越来越多的研究开始聚焦如何减少模型的计算成本和能耗，以应对实际应用中的资源限制问题。同时，深度学习与其他技术的融合也是一大趋势，如强化学习与图像识别结合、量子计算与深度学习的协同发展等。此外，生成式</a:t>
            </a:r>
            <a:r>
              <a:rPr lang="en-US" altLang="zh-CN" sz="1800" kern="0" dirty="0">
                <a:effectLst/>
                <a:ea typeface="宋体" panose="02010600030101010101" pitchFamily="2" charset="-122"/>
                <a:cs typeface="宋体" panose="02010600030101010101" pitchFamily="2" charset="-122"/>
              </a:rPr>
              <a:t>AI</a:t>
            </a:r>
            <a:r>
              <a:rPr lang="zh-CN" altLang="zh-CN" sz="1800" kern="0" dirty="0">
                <a:effectLst/>
                <a:ea typeface="宋体" panose="02010600030101010101" pitchFamily="2" charset="-122"/>
                <a:cs typeface="宋体" panose="02010600030101010101" pitchFamily="2" charset="-122"/>
              </a:rPr>
              <a:t>（如</a:t>
            </a:r>
            <a:r>
              <a:rPr lang="en-US" altLang="zh-CN" sz="1800" kern="0" dirty="0">
                <a:effectLst/>
                <a:ea typeface="宋体" panose="02010600030101010101" pitchFamily="2" charset="-122"/>
                <a:cs typeface="宋体" panose="02010600030101010101" pitchFamily="2" charset="-122"/>
              </a:rPr>
              <a:t>DALL·E</a:t>
            </a:r>
            <a:r>
              <a:rPr lang="zh-CN" altLang="zh-CN" sz="1800" kern="0" dirty="0">
                <a:effectLst/>
                <a:ea typeface="宋体" panose="02010600030101010101" pitchFamily="2" charset="-122"/>
                <a:cs typeface="宋体" panose="02010600030101010101" pitchFamily="2" charset="-122"/>
              </a:rPr>
              <a:t>、</a:t>
            </a:r>
            <a:r>
              <a:rPr lang="en-US" altLang="zh-CN" sz="1800" kern="0" dirty="0">
                <a:effectLst/>
                <a:ea typeface="宋体" panose="02010600030101010101" pitchFamily="2" charset="-122"/>
                <a:cs typeface="宋体" panose="02010600030101010101" pitchFamily="2" charset="-122"/>
              </a:rPr>
              <a:t>Stable Diffusion</a:t>
            </a:r>
            <a:r>
              <a:rPr lang="zh-CN" altLang="zh-CN" sz="1800" kern="0" dirty="0">
                <a:effectLst/>
                <a:ea typeface="宋体" panose="02010600030101010101" pitchFamily="2" charset="-122"/>
                <a:cs typeface="宋体" panose="02010600030101010101" pitchFamily="2" charset="-122"/>
              </a:rPr>
              <a:t>等）已经展现出广泛的应用前景，从艺术创作到产品设计，生成模型正成为新兴的热门领域</a:t>
            </a:r>
            <a:r>
              <a:rPr lang="zh-CN" altLang="en-US" sz="1800" kern="0" dirty="0">
                <a:effectLst/>
                <a:ea typeface="宋体" panose="02010600030101010101" pitchFamily="2" charset="-122"/>
                <a:cs typeface="宋体" panose="02010600030101010101" pitchFamily="2" charset="-122"/>
              </a:rPr>
              <a:t>。</a:t>
            </a:r>
            <a:endParaRPr lang="zh-CN" altLang="en-US" dirty="0"/>
          </a:p>
        </p:txBody>
      </p:sp>
    </p:spTree>
    <p:extLst>
      <p:ext uri="{BB962C8B-B14F-4D97-AF65-F5344CB8AC3E}">
        <p14:creationId xmlns:p14="http://schemas.microsoft.com/office/powerpoint/2010/main" val="3643240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ABEE-E10F-6BB7-11D6-D9E371ECB08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C1D056F-DEB0-7BD1-954F-CC35259E1A6E}"/>
              </a:ext>
            </a:extLst>
          </p:cNvPr>
          <p:cNvSpPr>
            <a:spLocks noGrp="1"/>
          </p:cNvSpPr>
          <p:nvPr>
            <p:ph type="title"/>
          </p:nvPr>
        </p:nvSpPr>
        <p:spPr/>
        <p:txBody>
          <a:bodyPr/>
          <a:lstStyle/>
          <a:p>
            <a:r>
              <a:rPr lang="zh-CN" altLang="zh-CN" sz="4400" b="1" kern="0" dirty="0">
                <a:effectLst/>
                <a:latin typeface="等线" panose="02010600030101010101" pitchFamily="2" charset="-122"/>
                <a:ea typeface="宋体" panose="02010600030101010101" pitchFamily="2" charset="-122"/>
                <a:cs typeface="宋体" panose="02010600030101010101" pitchFamily="2" charset="-122"/>
              </a:rPr>
              <a:t>自我探索</a:t>
            </a:r>
            <a:br>
              <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rPr>
            </a:br>
            <a:endParaRPr lang="zh-CN" altLang="en-US" dirty="0"/>
          </a:p>
        </p:txBody>
      </p:sp>
      <p:sp>
        <p:nvSpPr>
          <p:cNvPr id="3" name="内容占位符 2">
            <a:extLst>
              <a:ext uri="{FF2B5EF4-FFF2-40B4-BE49-F238E27FC236}">
                <a16:creationId xmlns:a16="http://schemas.microsoft.com/office/drawing/2014/main" id="{E1F91552-72AE-C8C9-8586-6F159E3B108F}"/>
              </a:ext>
            </a:extLst>
          </p:cNvPr>
          <p:cNvSpPr>
            <a:spLocks noGrp="1"/>
          </p:cNvSpPr>
          <p:nvPr>
            <p:ph idx="1"/>
          </p:nvPr>
        </p:nvSpPr>
        <p:spPr/>
        <p:txBody>
          <a:bodyPr/>
          <a:lstStyle/>
          <a:p>
            <a:pPr indent="266700">
              <a:spcBef>
                <a:spcPts val="1200"/>
              </a:spcBef>
              <a:spcAft>
                <a:spcPts val="1200"/>
              </a:spcAft>
            </a:pPr>
            <a:r>
              <a:rPr lang="zh-CN" altLang="zh-CN" sz="1800" b="1" kern="0" dirty="0">
                <a:effectLst/>
                <a:latin typeface="等线" panose="02010600030101010101" pitchFamily="2" charset="-122"/>
                <a:ea typeface="宋体" panose="02010600030101010101" pitchFamily="2" charset="-122"/>
                <a:cs typeface="宋体" panose="02010600030101010101" pitchFamily="2" charset="-122"/>
              </a:rPr>
              <a:t>程序设计发展趋势（计算机专业）</a:t>
            </a:r>
            <a:endParaRPr lang="en-US" altLang="zh-CN" sz="1800" dirty="0">
              <a:effectLst/>
              <a:latin typeface="宋体" panose="02010600030101010101" pitchFamily="2" charset="-122"/>
              <a:ea typeface="宋体" panose="02010600030101010101" pitchFamily="2" charset="-122"/>
              <a:cs typeface="宋体" panose="02010600030101010101" pitchFamily="2" charset="-122"/>
            </a:endParaRPr>
          </a:p>
          <a:p>
            <a:pPr indent="0">
              <a:buNone/>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计算机程序设计的技术栈也在不断演进。随着开源社区的活跃，编程语言和框架的更新速度明显加快。</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Python</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依旧是深度学习领域的首选语言，而</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Rust</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Go</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等语言在系统级编程和高性能计算中得到了越来越多的应用。与此同时，低代码和无代码开发工具也逐渐普及，开发人员能通过可视化的方式快速搭建应用，减少了编码的门槛。这一趋势意味着未来程序员的角色将从单一的代码开发转向解决实际问题的多维度思考者。</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2038313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65ACE-F5DA-6DF5-EC6B-88728DC2E4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14AA451-6F30-2516-874D-3F82D9D73D6B}"/>
              </a:ext>
            </a:extLst>
          </p:cNvPr>
          <p:cNvSpPr>
            <a:spLocks noGrp="1"/>
          </p:cNvSpPr>
          <p:nvPr>
            <p:ph type="title"/>
          </p:nvPr>
        </p:nvSpPr>
        <p:spPr/>
        <p:txBody>
          <a:bodyPr/>
          <a:lstStyle/>
          <a:p>
            <a:r>
              <a:rPr lang="zh-CN" altLang="zh-CN" sz="4400" b="1" kern="0" dirty="0">
                <a:effectLst/>
                <a:ea typeface="宋体" panose="02010600030101010101" pitchFamily="2" charset="-122"/>
                <a:cs typeface="宋体" panose="02010600030101010101" pitchFamily="2" charset="-122"/>
              </a:rPr>
              <a:t>职业目标及计划</a:t>
            </a:r>
            <a:br>
              <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rPr>
            </a:br>
            <a:endParaRPr lang="zh-CN" altLang="en-US" dirty="0"/>
          </a:p>
        </p:txBody>
      </p:sp>
      <p:sp>
        <p:nvSpPr>
          <p:cNvPr id="3" name="内容占位符 2">
            <a:extLst>
              <a:ext uri="{FF2B5EF4-FFF2-40B4-BE49-F238E27FC236}">
                <a16:creationId xmlns:a16="http://schemas.microsoft.com/office/drawing/2014/main" id="{B354AF6F-910B-2F10-4600-C62370A24C9D}"/>
              </a:ext>
            </a:extLst>
          </p:cNvPr>
          <p:cNvSpPr>
            <a:spLocks noGrp="1"/>
          </p:cNvSpPr>
          <p:nvPr>
            <p:ph idx="1"/>
          </p:nvPr>
        </p:nvSpPr>
        <p:spPr/>
        <p:txBody>
          <a:bodyPr/>
          <a:lstStyle/>
          <a:p>
            <a:pPr indent="266700">
              <a:spcBef>
                <a:spcPts val="1200"/>
              </a:spcBef>
              <a:spcAft>
                <a:spcPts val="1200"/>
              </a:spcAft>
            </a:pPr>
            <a:r>
              <a:rPr lang="zh-CN" altLang="zh-CN" sz="1800" b="1" kern="0" dirty="0">
                <a:effectLst/>
                <a:latin typeface="等线" panose="02010600030101010101" pitchFamily="2" charset="-122"/>
                <a:ea typeface="宋体" panose="02010600030101010101" pitchFamily="2" charset="-122"/>
                <a:cs typeface="宋体" panose="02010600030101010101" pitchFamily="2" charset="-122"/>
              </a:rPr>
              <a:t>我的职业目标</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buNone/>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我的职业目标是成为一名深度学习领域的研究人员，特别是在图像识别和计算机视觉方向上深入发展，最终成为一个能够在实际项目中解决复杂问题并推动技术创新的研究员或工程师。我希望能够在未来的工作中，不仅能够运用现有的深度学习算法，还能通过对新兴技术的探索和研究，推动该领域的发展。例如，我可以参与开发新型的视觉变换器，并在实际应用中优化其性能，从而在自动驾驶、智能医疗和虚拟现实等领域产生实际的影响。</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3900643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463B7-41BA-CA77-8BFD-A28543EFC17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DFE5490-CF3D-C35C-B9AF-99DBE3208170}"/>
              </a:ext>
            </a:extLst>
          </p:cNvPr>
          <p:cNvSpPr>
            <a:spLocks noGrp="1"/>
          </p:cNvSpPr>
          <p:nvPr>
            <p:ph type="title"/>
          </p:nvPr>
        </p:nvSpPr>
        <p:spPr/>
        <p:txBody>
          <a:bodyPr/>
          <a:lstStyle/>
          <a:p>
            <a:r>
              <a:rPr lang="zh-CN" altLang="zh-CN" sz="4400" b="1" kern="0" dirty="0">
                <a:effectLst/>
                <a:ea typeface="宋体" panose="02010600030101010101" pitchFamily="2" charset="-122"/>
                <a:cs typeface="宋体" panose="02010600030101010101" pitchFamily="2" charset="-122"/>
              </a:rPr>
              <a:t>职业目标及计划</a:t>
            </a:r>
            <a:br>
              <a:rPr lang="zh-CN" altLang="zh-CN" sz="3200" kern="100" dirty="0">
                <a:effectLst/>
                <a:latin typeface="等线" panose="02010600030101010101" pitchFamily="2" charset="-122"/>
                <a:ea typeface="等线" panose="02010600030101010101" pitchFamily="2" charset="-122"/>
                <a:cs typeface="Times New Roman" panose="02020603050405020304" pitchFamily="18" charset="0"/>
              </a:rPr>
            </a:br>
            <a:endParaRPr lang="zh-CN" altLang="en-US" dirty="0"/>
          </a:p>
        </p:txBody>
      </p:sp>
      <p:sp>
        <p:nvSpPr>
          <p:cNvPr id="3" name="内容占位符 2">
            <a:extLst>
              <a:ext uri="{FF2B5EF4-FFF2-40B4-BE49-F238E27FC236}">
                <a16:creationId xmlns:a16="http://schemas.microsoft.com/office/drawing/2014/main" id="{80DF5B6D-44E0-F408-467B-3B5614D5E8A6}"/>
              </a:ext>
            </a:extLst>
          </p:cNvPr>
          <p:cNvSpPr>
            <a:spLocks noGrp="1"/>
          </p:cNvSpPr>
          <p:nvPr>
            <p:ph idx="1"/>
          </p:nvPr>
        </p:nvSpPr>
        <p:spPr/>
        <p:txBody>
          <a:bodyPr/>
          <a:lstStyle/>
          <a:p>
            <a:pPr indent="266700">
              <a:spcBef>
                <a:spcPts val="1200"/>
              </a:spcBef>
              <a:spcAft>
                <a:spcPts val="1200"/>
              </a:spcAft>
            </a:pPr>
            <a:r>
              <a:rPr lang="zh-CN" altLang="zh-CN" sz="1800" b="1" kern="0" dirty="0">
                <a:effectLst/>
                <a:latin typeface="等线" panose="02010600030101010101" pitchFamily="2" charset="-122"/>
                <a:ea typeface="宋体" panose="02010600030101010101" pitchFamily="2" charset="-122"/>
                <a:cs typeface="宋体" panose="02010600030101010101" pitchFamily="2" charset="-122"/>
              </a:rPr>
              <a:t>我的职业路径</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buNone/>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为实现这一职业目标，我规划了一条由基础到深入的职业路径。首先，我将继续巩固和深化我在深度学习和神经网络方面的基础知识，特别是在图像识别、生成模型和目标检测等方向上。同时，我会逐步拓展我对其他相关领域的了解，如强化学习和图像分割等技术。通过这些学习和研究，我的短期目标是进入一家科技公司或研究机构，担任机器学习工程师或研究助理，在实际项目中积累经验。</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0">
              <a:buNone/>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随着经验的积累，我的中期目标是在</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5</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年内，成为深度学习研究团队的一员，专注于算法创新和模型优化的研究。我希望能参与开发更高效、更具鲁棒性的深度学习算法，解决大规模数据处理、模型压缩和优化等实际问题。最终，长期目标是在未来</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10</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年内，成为行业内的技术领袖，带领团队攻克前沿问题，并通过技术创新推动行业发展。</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2316873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25F6D-9AE3-6E31-B2AE-7F8C59F82152}"/>
              </a:ext>
            </a:extLst>
          </p:cNvPr>
          <p:cNvSpPr>
            <a:spLocks noGrp="1"/>
          </p:cNvSpPr>
          <p:nvPr>
            <p:ph type="title"/>
          </p:nvPr>
        </p:nvSpPr>
        <p:spPr/>
        <p:txBody>
          <a:bodyPr/>
          <a:lstStyle/>
          <a:p>
            <a:r>
              <a:rPr lang="zh-CN" altLang="zh-CN" sz="4400" b="1" kern="0" dirty="0">
                <a:effectLst/>
                <a:ea typeface="宋体" panose="02010600030101010101" pitchFamily="2" charset="-122"/>
                <a:cs typeface="宋体" panose="02010600030101010101" pitchFamily="2" charset="-122"/>
              </a:rPr>
              <a:t>计划和反馈</a:t>
            </a:r>
            <a:endParaRPr lang="zh-CN" altLang="en-US" dirty="0"/>
          </a:p>
        </p:txBody>
      </p:sp>
      <p:sp>
        <p:nvSpPr>
          <p:cNvPr id="3" name="内容占位符 2">
            <a:extLst>
              <a:ext uri="{FF2B5EF4-FFF2-40B4-BE49-F238E27FC236}">
                <a16:creationId xmlns:a16="http://schemas.microsoft.com/office/drawing/2014/main" id="{5AA0B47F-76B4-6AA7-8493-2870DBBC5D87}"/>
              </a:ext>
            </a:extLst>
          </p:cNvPr>
          <p:cNvSpPr>
            <a:spLocks noGrp="1"/>
          </p:cNvSpPr>
          <p:nvPr>
            <p:ph idx="1"/>
          </p:nvPr>
        </p:nvSpPr>
        <p:spPr/>
        <p:txBody>
          <a:bodyPr/>
          <a:lstStyle/>
          <a:p>
            <a:r>
              <a:rPr lang="zh-CN" altLang="zh-CN" sz="1800" b="1" kern="0" dirty="0">
                <a:effectLst/>
                <a:latin typeface="等线" panose="02010600030101010101" pitchFamily="2" charset="-122"/>
                <a:ea typeface="宋体" panose="02010600030101010101" pitchFamily="2" charset="-122"/>
                <a:cs typeface="宋体" panose="02010600030101010101" pitchFamily="2" charset="-122"/>
              </a:rPr>
              <a:t>现阶段行动总结</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28600"/>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目前，我已在计算机科学的学习中完成以下目标：</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基础知识掌握：完成编程语言、数据结构、操作系统等核心课程，掌握了</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Python</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C++</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等语言的使用，并具备了基础的系统设计和算法分析能力。</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项目实践：通过课程作业和课外项目，完成了多个编程任务，积累了实际开发经验。</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工具使用：熟练掌握了</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PyCharm</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Visual Studio</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等开发工具，并通过课程项目熟悉了</a:t>
            </a:r>
            <a:r>
              <a:rPr lang="en-US" altLang="zh-CN" sz="1800" kern="0" dirty="0">
                <a:effectLst/>
                <a:latin typeface="等线" panose="02010600030101010101" pitchFamily="2" charset="-122"/>
                <a:ea typeface="宋体" panose="02010600030101010101" pitchFamily="2" charset="-122"/>
                <a:cs typeface="宋体" panose="02010600030101010101" pitchFamily="2" charset="-122"/>
              </a:rPr>
              <a:t>Git</a:t>
            </a: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的版本控制。</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buNone/>
            </a:pPr>
            <a:endParaRPr lang="zh-CN" altLang="en-US" dirty="0"/>
          </a:p>
        </p:txBody>
      </p:sp>
    </p:spTree>
    <p:extLst>
      <p:ext uri="{BB962C8B-B14F-4D97-AF65-F5344CB8AC3E}">
        <p14:creationId xmlns:p14="http://schemas.microsoft.com/office/powerpoint/2010/main" val="2462440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AD98A-064A-BCB6-9F22-A6865E3B22D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ADD9313-6CB3-EEA2-16E4-C4F41D0D9C56}"/>
              </a:ext>
            </a:extLst>
          </p:cNvPr>
          <p:cNvSpPr>
            <a:spLocks noGrp="1"/>
          </p:cNvSpPr>
          <p:nvPr>
            <p:ph type="title"/>
          </p:nvPr>
        </p:nvSpPr>
        <p:spPr/>
        <p:txBody>
          <a:bodyPr/>
          <a:lstStyle/>
          <a:p>
            <a:r>
              <a:rPr lang="zh-CN" altLang="zh-CN" sz="4400" b="1" kern="0" dirty="0">
                <a:effectLst/>
                <a:ea typeface="宋体" panose="02010600030101010101" pitchFamily="2" charset="-122"/>
                <a:cs typeface="宋体" panose="02010600030101010101" pitchFamily="2" charset="-122"/>
              </a:rPr>
              <a:t>计划和反馈</a:t>
            </a:r>
            <a:endParaRPr lang="zh-CN" altLang="en-US" dirty="0"/>
          </a:p>
        </p:txBody>
      </p:sp>
      <p:sp>
        <p:nvSpPr>
          <p:cNvPr id="3" name="内容占位符 2">
            <a:extLst>
              <a:ext uri="{FF2B5EF4-FFF2-40B4-BE49-F238E27FC236}">
                <a16:creationId xmlns:a16="http://schemas.microsoft.com/office/drawing/2014/main" id="{E9D61C42-D4A3-8BCE-CCBD-A33845C11132}"/>
              </a:ext>
            </a:extLst>
          </p:cNvPr>
          <p:cNvSpPr>
            <a:spLocks noGrp="1"/>
          </p:cNvSpPr>
          <p:nvPr>
            <p:ph idx="1"/>
          </p:nvPr>
        </p:nvSpPr>
        <p:spPr/>
        <p:txBody>
          <a:bodyPr/>
          <a:lstStyle/>
          <a:p>
            <a:pPr indent="228600">
              <a:spcBef>
                <a:spcPts val="1200"/>
              </a:spcBef>
              <a:spcAft>
                <a:spcPts val="1200"/>
              </a:spcAft>
            </a:pPr>
            <a:r>
              <a:rPr lang="zh-CN" altLang="zh-CN" sz="1800" b="1" kern="0" dirty="0">
                <a:effectLst/>
                <a:latin typeface="等线" panose="02010600030101010101" pitchFamily="2" charset="-122"/>
                <a:ea typeface="宋体" panose="02010600030101010101" pitchFamily="2" charset="-122"/>
                <a:cs typeface="宋体" panose="02010600030101010101" pitchFamily="2" charset="-122"/>
              </a:rPr>
              <a:t>下一步的实施策略</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强化编程与算法：继续深入学习并应用高级算法，提升解决复杂问题的能力。</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系统开发与操作：深入学习操作系统和数据库原理，掌握系统设计和资源管理优化。</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项目驱动学习：通过参与更多团队项目和开发实践，积累实战经验，提升项目管理与协作能力。</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zh-CN" sz="1800" kern="0" dirty="0">
                <a:effectLst/>
                <a:latin typeface="等线" panose="02010600030101010101" pitchFamily="2" charset="-122"/>
                <a:ea typeface="宋体" panose="02010600030101010101" pitchFamily="2" charset="-122"/>
                <a:cs typeface="宋体" panose="02010600030101010101" pitchFamily="2" charset="-122"/>
              </a:rPr>
              <a:t>这些行动将帮助我进一步夯实基础，为未来的职业发展打下坚实的技术基础。</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indent="0">
              <a:buNone/>
            </a:pPr>
            <a:endParaRPr lang="zh-CN" altLang="en-US" dirty="0"/>
          </a:p>
        </p:txBody>
      </p:sp>
    </p:spTree>
    <p:extLst>
      <p:ext uri="{BB962C8B-B14F-4D97-AF65-F5344CB8AC3E}">
        <p14:creationId xmlns:p14="http://schemas.microsoft.com/office/powerpoint/2010/main" val="744169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649D9D6-2526-8860-8F30-9721F5E8393F}"/>
              </a:ext>
            </a:extLst>
          </p:cNvPr>
          <p:cNvSpPr>
            <a:spLocks noGrp="1"/>
          </p:cNvSpPr>
          <p:nvPr>
            <p:ph idx="1"/>
          </p:nvPr>
        </p:nvSpPr>
        <p:spPr>
          <a:xfrm>
            <a:off x="1140382" y="2831394"/>
            <a:ext cx="8946541" cy="4195481"/>
          </a:xfrm>
        </p:spPr>
        <p:txBody>
          <a:bodyPr>
            <a:normAutofit/>
          </a:bodyPr>
          <a:lstStyle/>
          <a:p>
            <a:pPr marL="0" indent="0">
              <a:buNone/>
            </a:pPr>
            <a:r>
              <a:rPr lang="zh-CN" altLang="en-US" sz="6600" dirty="0"/>
              <a:t>谢谢！</a:t>
            </a:r>
          </a:p>
        </p:txBody>
      </p:sp>
    </p:spTree>
    <p:extLst>
      <p:ext uri="{BB962C8B-B14F-4D97-AF65-F5344CB8AC3E}">
        <p14:creationId xmlns:p14="http://schemas.microsoft.com/office/powerpoint/2010/main" val="10158560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离子">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10</TotalTime>
  <Words>1172</Words>
  <Application>Microsoft Office PowerPoint</Application>
  <PresentationFormat>宽屏</PresentationFormat>
  <Paragraphs>37</Paragraphs>
  <Slides>10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等线</vt:lpstr>
      <vt:lpstr>宋体</vt:lpstr>
      <vt:lpstr>Arial</vt:lpstr>
      <vt:lpstr>Century Gothic</vt:lpstr>
      <vt:lpstr>Symbol</vt:lpstr>
      <vt:lpstr>Wingdings 3</vt:lpstr>
      <vt:lpstr>离子</vt:lpstr>
      <vt:lpstr>生涯职业报告 </vt:lpstr>
      <vt:lpstr>自我探索 </vt:lpstr>
      <vt:lpstr>自我探索 </vt:lpstr>
      <vt:lpstr>外部探索 </vt:lpstr>
      <vt:lpstr>自我探索 </vt:lpstr>
      <vt:lpstr>职业目标及计划 </vt:lpstr>
      <vt:lpstr>职业目标及计划 </vt:lpstr>
      <vt:lpstr>计划和反馈</vt:lpstr>
      <vt:lpstr>计划和反馈</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LC_State</dc:creator>
  <cp:lastModifiedBy>LC_State</cp:lastModifiedBy>
  <cp:revision>1</cp:revision>
  <dcterms:created xsi:type="dcterms:W3CDTF">2024-11-13T13:48:45Z</dcterms:created>
  <dcterms:modified xsi:type="dcterms:W3CDTF">2024-11-13T13:58:45Z</dcterms:modified>
</cp:coreProperties>
</file>