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  <p:sldId id="264" r:id="rId4"/>
    <p:sldId id="265" r:id="rId5"/>
    <p:sldId id="266" r:id="rId6"/>
    <p:sldId id="267" r:id="rId7"/>
    <p:sldId id="256" r:id="rId8"/>
    <p:sldId id="257" r:id="rId9"/>
    <p:sldId id="258" r:id="rId10"/>
    <p:sldId id="270" r:id="rId11"/>
    <p:sldId id="259" r:id="rId12"/>
    <p:sldId id="272" r:id="rId13"/>
    <p:sldId id="271" r:id="rId14"/>
    <p:sldId id="260" r:id="rId15"/>
    <p:sldId id="273" r:id="rId16"/>
    <p:sldId id="262" r:id="rId17"/>
    <p:sldId id="261" r:id="rId18"/>
    <p:sldId id="263" r:id="rId19"/>
    <p:sldId id="274" r:id="rId20"/>
    <p:sldId id="277" r:id="rId21"/>
    <p:sldId id="275" r:id="rId22"/>
    <p:sldId id="276" r:id="rId23"/>
    <p:sldId id="278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C State" userId="6faba3342bb5dc30" providerId="LiveId" clId="{337ACB28-6008-42C6-A130-1C3377195913}"/>
    <pc:docChg chg="undo custSel modSld">
      <pc:chgData name="LC State" userId="6faba3342bb5dc30" providerId="LiveId" clId="{337ACB28-6008-42C6-A130-1C3377195913}" dt="2024-11-26T13:53:44.009" v="3" actId="20577"/>
      <pc:docMkLst>
        <pc:docMk/>
      </pc:docMkLst>
      <pc:sldChg chg="modSp mod">
        <pc:chgData name="LC State" userId="6faba3342bb5dc30" providerId="LiveId" clId="{337ACB28-6008-42C6-A130-1C3377195913}" dt="2024-11-26T13:53:44.009" v="3" actId="20577"/>
        <pc:sldMkLst>
          <pc:docMk/>
          <pc:sldMk cId="0" sldId="276"/>
        </pc:sldMkLst>
        <pc:graphicFrameChg chg="modGraphic">
          <ac:chgData name="LC State" userId="6faba3342bb5dc30" providerId="LiveId" clId="{337ACB28-6008-42C6-A130-1C3377195913}" dt="2024-11-26T13:53:44.009" v="3" actId="20577"/>
          <ac:graphicFrameMkLst>
            <pc:docMk/>
            <pc:sldMk cId="0" sldId="276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80" y="1988840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  结合</a:t>
            </a:r>
            <a:r>
              <a:rPr lang="en-US" altLang="zh-CN" b="1" dirty="0"/>
              <a:t>7</a:t>
            </a:r>
            <a:r>
              <a:rPr lang="zh-CN" altLang="en-US" b="1" dirty="0"/>
              <a:t>条</a:t>
            </a:r>
            <a:r>
              <a:rPr lang="en-US" altLang="zh-CN" b="1" dirty="0"/>
              <a:t>MIPS</a:t>
            </a:r>
            <a:r>
              <a:rPr lang="zh-CN" altLang="en-US" b="1" dirty="0"/>
              <a:t>指令的</a:t>
            </a:r>
            <a:r>
              <a:rPr lang="en-US" altLang="zh-CN" b="1" dirty="0"/>
              <a:t>CPU</a:t>
            </a:r>
            <a:r>
              <a:rPr lang="zh-CN" altLang="en-US" b="1" dirty="0"/>
              <a:t>设计，讲解组合电路和时序电路的设计，使学生有目标、有兴趣。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仅供参考！！！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548680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CPU</a:t>
            </a:r>
            <a:r>
              <a:rPr lang="zh-CN" altLang="en-US" b="1" dirty="0">
                <a:latin typeface="+mn-ea"/>
              </a:rPr>
              <a:t>的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32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位</a:t>
            </a:r>
            <a:r>
              <a:rPr lang="zh-CN" altLang="en-US" b="1" dirty="0">
                <a:latin typeface="+mn-ea"/>
              </a:rPr>
              <a:t>指令有三种类型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      </a:t>
            </a:r>
            <a:r>
              <a:rPr lang="en-US" altLang="zh-CN" b="1" dirty="0">
                <a:latin typeface="+mn-ea"/>
              </a:rPr>
              <a:t>R</a:t>
            </a:r>
            <a:r>
              <a:rPr lang="zh-CN" altLang="en-US" b="1" dirty="0">
                <a:latin typeface="+mn-ea"/>
              </a:rPr>
              <a:t> 型、</a:t>
            </a:r>
            <a:r>
              <a:rPr lang="en-US" altLang="zh-CN" b="1" dirty="0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 型、</a:t>
            </a:r>
            <a:r>
              <a:rPr lang="en-US" altLang="zh-CN" b="1" dirty="0">
                <a:latin typeface="+mn-ea"/>
              </a:rPr>
              <a:t>J</a:t>
            </a:r>
            <a:r>
              <a:rPr lang="zh-CN" altLang="en-US" b="1" dirty="0">
                <a:latin typeface="+mn-ea"/>
              </a:rPr>
              <a:t> 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8" y="234888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简单</a:t>
            </a:r>
            <a:r>
              <a:rPr lang="en-US" altLang="zh-CN" b="1" dirty="0"/>
              <a:t>7</a:t>
            </a:r>
            <a:r>
              <a:rPr lang="zh-CN" altLang="en-US" b="1" dirty="0"/>
              <a:t>条指令涉及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12" y="2996952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型        </a:t>
            </a:r>
            <a:r>
              <a:rPr lang="en-US" altLang="zh-CN" b="1" dirty="0" err="1"/>
              <a:t>addu</a:t>
            </a:r>
            <a:r>
              <a:rPr lang="zh-CN" altLang="en-US" b="1" dirty="0"/>
              <a:t>（加法 ） </a:t>
            </a:r>
            <a:endParaRPr lang="en-US" altLang="zh-CN" b="1" dirty="0"/>
          </a:p>
          <a:p>
            <a:r>
              <a:rPr lang="zh-CN" altLang="en-US" b="1" dirty="0"/>
              <a:t>               </a:t>
            </a:r>
            <a:r>
              <a:rPr lang="en-US" altLang="zh-CN" b="1" dirty="0" err="1"/>
              <a:t>subu</a:t>
            </a:r>
            <a:r>
              <a:rPr lang="zh-CN" altLang="en-US" b="1" dirty="0"/>
              <a:t>（减法）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712" y="3789040"/>
            <a:ext cx="5616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ea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型   </a:t>
            </a:r>
            <a:r>
              <a:rPr lang="en-US" altLang="zh-CN" b="1" dirty="0" err="1">
                <a:latin typeface="+mn-ea"/>
              </a:rPr>
              <a:t>ori</a:t>
            </a:r>
            <a:r>
              <a:rPr lang="zh-CN" altLang="en-US" b="1" dirty="0">
                <a:latin typeface="+mn-ea"/>
              </a:rPr>
              <a:t>   （按位或立即数）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  </a:t>
            </a:r>
            <a:r>
              <a:rPr lang="en-US" altLang="zh-CN" b="1" dirty="0" err="1">
                <a:latin typeface="+mn-ea"/>
              </a:rPr>
              <a:t>lui</a:t>
            </a:r>
            <a:r>
              <a:rPr lang="zh-CN" altLang="en-US" b="1" dirty="0">
                <a:latin typeface="+mn-ea"/>
              </a:rPr>
              <a:t>   （高位置立即数）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  </a:t>
            </a:r>
            <a:r>
              <a:rPr lang="en-US" altLang="zh-CN" b="1" dirty="0" err="1">
                <a:latin typeface="+mn-ea"/>
              </a:rPr>
              <a:t>lw</a:t>
            </a:r>
            <a:r>
              <a:rPr lang="zh-CN" altLang="en-US" b="1" dirty="0">
                <a:latin typeface="+mn-ea"/>
              </a:rPr>
              <a:t>    （取字）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  </a:t>
            </a:r>
            <a:r>
              <a:rPr lang="en-US" altLang="zh-CN" b="1" dirty="0" err="1">
                <a:latin typeface="+mn-ea"/>
              </a:rPr>
              <a:t>sw</a:t>
            </a:r>
            <a:r>
              <a:rPr lang="zh-CN" altLang="en-US" b="1" dirty="0">
                <a:latin typeface="+mn-ea"/>
              </a:rPr>
              <a:t>    （存字）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  </a:t>
            </a:r>
            <a:r>
              <a:rPr lang="en-US" altLang="zh-CN" b="1" dirty="0" err="1">
                <a:latin typeface="+mn-ea"/>
              </a:rPr>
              <a:t>beq</a:t>
            </a:r>
            <a:r>
              <a:rPr lang="zh-CN" altLang="en-US" b="1" dirty="0">
                <a:latin typeface="+mn-ea"/>
              </a:rPr>
              <a:t>   （相等转移）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87624" y="1412776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opcode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shamt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funct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15                 11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10                   6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5                     0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1560" y="476672"/>
            <a:ext cx="280831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     </a:t>
            </a:r>
            <a:r>
              <a:rPr lang="en-US" altLang="zh-CN" b="1" dirty="0">
                <a:latin typeface="+mn-ea"/>
              </a:rPr>
              <a:t>R</a:t>
            </a:r>
            <a:r>
              <a:rPr lang="zh-CN" altLang="en-US" b="1" dirty="0">
                <a:latin typeface="+mn-ea"/>
              </a:rPr>
              <a:t>类型指令格式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87624" y="3140968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addu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100001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15                 11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10                   6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5                     0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1760" y="3933056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加</a:t>
            </a:r>
            <a:r>
              <a:rPr lang="zh-CN" altLang="en-US" b="1" dirty="0"/>
              <a:t>法指令   操作：</a:t>
            </a:r>
            <a:r>
              <a:rPr lang="en-US" altLang="zh-CN" b="1" dirty="0"/>
              <a:t>R[rd]=R[</a:t>
            </a:r>
            <a:r>
              <a:rPr lang="en-US" altLang="zh-CN" b="1" dirty="0" err="1"/>
              <a:t>rs</a:t>
            </a:r>
            <a:r>
              <a:rPr lang="en-US" altLang="zh-CN" b="1" dirty="0"/>
              <a:t>]+R[</a:t>
            </a:r>
            <a:r>
              <a:rPr lang="en-US" altLang="zh-CN" b="1" dirty="0" err="1"/>
              <a:t>rt</a:t>
            </a:r>
            <a:r>
              <a:rPr lang="en-US" altLang="zh-CN" b="1" dirty="0"/>
              <a:t>]</a:t>
            </a:r>
            <a:r>
              <a:rPr lang="zh-CN" altLang="en-US" b="1" dirty="0"/>
              <a:t>            无溢出检测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87624" y="4797152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subu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100011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15                 11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10                   6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5                     0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83768" y="5661248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减</a:t>
            </a:r>
            <a:r>
              <a:rPr lang="zh-CN" altLang="en-US" b="1" dirty="0"/>
              <a:t>法指令   操作：</a:t>
            </a:r>
            <a:r>
              <a:rPr lang="en-US" altLang="zh-CN" b="1" dirty="0"/>
              <a:t>R[rd]=R[</a:t>
            </a:r>
            <a:r>
              <a:rPr lang="en-US" altLang="zh-CN" b="1" dirty="0" err="1"/>
              <a:t>rs</a:t>
            </a:r>
            <a:r>
              <a:rPr lang="en-US" altLang="zh-CN" b="1" dirty="0"/>
              <a:t>]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</a:t>
            </a:r>
            <a:r>
              <a:rPr lang="en-US" altLang="zh-CN" b="1" dirty="0"/>
              <a:t>R[</a:t>
            </a:r>
            <a:r>
              <a:rPr lang="en-US" altLang="zh-CN" b="1" dirty="0" err="1"/>
              <a:t>rt</a:t>
            </a:r>
            <a:r>
              <a:rPr lang="en-US" altLang="zh-CN" b="1" dirty="0"/>
              <a:t>]</a:t>
            </a:r>
            <a:r>
              <a:rPr lang="zh-CN" altLang="en-US" b="1" dirty="0"/>
              <a:t>            无溢出检测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808" y="2204864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opcode</a:t>
            </a:r>
            <a:r>
              <a:rPr lang="zh-CN" altLang="en-US" b="1" dirty="0">
                <a:solidFill>
                  <a:srgbClr val="FF0000"/>
                </a:solidFill>
              </a:rPr>
              <a:t>恒为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，由</a:t>
            </a:r>
            <a:r>
              <a:rPr lang="en-US" altLang="zh-CN" b="1" dirty="0" err="1">
                <a:solidFill>
                  <a:srgbClr val="FF0000"/>
                </a:solidFill>
              </a:rPr>
              <a:t>funct</a:t>
            </a:r>
            <a:r>
              <a:rPr lang="zh-CN" altLang="en-US" b="1" dirty="0">
                <a:solidFill>
                  <a:srgbClr val="FF0000"/>
                </a:solidFill>
              </a:rPr>
              <a:t>决定</a:t>
            </a:r>
            <a:r>
              <a:rPr lang="en-US" altLang="zh-CN" b="1" dirty="0"/>
              <a:t>R</a:t>
            </a:r>
            <a:r>
              <a:rPr lang="zh-CN" altLang="en-US" b="1" dirty="0"/>
              <a:t>类型</a:t>
            </a:r>
            <a:r>
              <a:rPr lang="zh-CN" altLang="en-US" b="1" dirty="0">
                <a:solidFill>
                  <a:srgbClr val="FF0000"/>
                </a:solidFill>
              </a:rPr>
              <a:t>的具体指令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87624" y="1412776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opcode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1560" y="548680"/>
            <a:ext cx="3024336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     </a:t>
            </a:r>
            <a:r>
              <a:rPr lang="en-US" altLang="zh-CN" b="1" dirty="0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类型指令格式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87624" y="2492896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ori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001101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67744" y="3356992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按位或立即数</a:t>
            </a:r>
            <a:r>
              <a:rPr lang="zh-CN" altLang="en-US" b="1" dirty="0"/>
              <a:t>指令   操作：</a:t>
            </a:r>
            <a:r>
              <a:rPr lang="en-US" altLang="zh-CN" b="1" dirty="0"/>
              <a:t>R[</a:t>
            </a:r>
            <a:r>
              <a:rPr lang="en-US" altLang="zh-CN" b="1" dirty="0" err="1"/>
              <a:t>rt</a:t>
            </a:r>
            <a:r>
              <a:rPr lang="en-US" altLang="zh-CN" b="1" dirty="0"/>
              <a:t>]=R[</a:t>
            </a:r>
            <a:r>
              <a:rPr lang="en-US" altLang="zh-CN" b="1" dirty="0" err="1"/>
              <a:t>rs</a:t>
            </a:r>
            <a:r>
              <a:rPr lang="en-US" altLang="zh-CN" b="1" dirty="0"/>
              <a:t>]|</a:t>
            </a:r>
            <a:r>
              <a:rPr lang="en-US" altLang="zh-CN" b="1" dirty="0" err="1"/>
              <a:t>ZeroExtImm</a:t>
            </a:r>
            <a:r>
              <a:rPr lang="zh-CN" altLang="en-US" b="1" dirty="0"/>
              <a:t>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20" y="386104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ZeroExtImm</a:t>
            </a:r>
            <a:r>
              <a:rPr lang="en-US" altLang="zh-CN" b="1" dirty="0"/>
              <a:t> = {16{1b’0}, immediate}</a:t>
            </a:r>
            <a:endParaRPr lang="zh-CN" altLang="en-US" b="1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259632" y="4509120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lui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001111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00000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67744" y="5373216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高位加载立即数</a:t>
            </a:r>
            <a:r>
              <a:rPr lang="zh-CN" altLang="en-US" b="1" dirty="0"/>
              <a:t>指令   操作：</a:t>
            </a:r>
            <a:r>
              <a:rPr lang="en-US" altLang="zh-CN" b="1" dirty="0"/>
              <a:t>R[</a:t>
            </a:r>
            <a:r>
              <a:rPr lang="en-US" altLang="zh-CN" b="1" dirty="0" err="1"/>
              <a:t>rt</a:t>
            </a:r>
            <a:r>
              <a:rPr lang="en-US" altLang="zh-CN" b="1" dirty="0"/>
              <a:t>]= {immediate,16’b0}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555776" y="5877272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因约定</a:t>
            </a:r>
            <a:r>
              <a:rPr lang="en-US" altLang="zh-CN" b="1" dirty="0">
                <a:solidFill>
                  <a:srgbClr val="FF0000"/>
                </a:solidFill>
              </a:rPr>
              <a:t>R[0]</a:t>
            </a:r>
            <a:r>
              <a:rPr lang="zh-CN" altLang="en-US" b="1" dirty="0">
                <a:solidFill>
                  <a:srgbClr val="FF0000"/>
                </a:solidFill>
              </a:rPr>
              <a:t>恒为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，即：</a:t>
            </a:r>
            <a:r>
              <a:rPr lang="en-US" altLang="zh-CN" b="1" dirty="0">
                <a:solidFill>
                  <a:srgbClr val="FF0000"/>
                </a:solidFill>
              </a:rPr>
              <a:t>R[</a:t>
            </a:r>
            <a:r>
              <a:rPr lang="en-US" altLang="zh-CN" b="1" dirty="0" err="1">
                <a:solidFill>
                  <a:srgbClr val="FF0000"/>
                </a:solidFill>
              </a:rPr>
              <a:t>rt</a:t>
            </a:r>
            <a:r>
              <a:rPr lang="en-US" altLang="zh-CN" b="1" dirty="0">
                <a:solidFill>
                  <a:srgbClr val="FF0000"/>
                </a:solidFill>
              </a:rPr>
              <a:t>]= R[0]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{immediate,16’b0}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43608" y="1916832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lw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100011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43608" y="908720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opcode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1560" y="404664"/>
            <a:ext cx="3024336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     </a:t>
            </a:r>
            <a:r>
              <a:rPr lang="en-US" altLang="zh-CN" b="1" dirty="0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类型指令格式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752" y="2708920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取字</a:t>
            </a:r>
            <a:r>
              <a:rPr lang="zh-CN" altLang="en-US" b="1" dirty="0"/>
              <a:t>指令     操作： </a:t>
            </a:r>
            <a:r>
              <a:rPr lang="en-US" altLang="zh-CN" b="1" dirty="0"/>
              <a:t>R[</a:t>
            </a:r>
            <a:r>
              <a:rPr lang="en-US" altLang="zh-CN" b="1" dirty="0" err="1"/>
              <a:t>rt</a:t>
            </a:r>
            <a:r>
              <a:rPr lang="en-US" altLang="zh-CN" b="1" dirty="0"/>
              <a:t>]=M[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R[s]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+</a:t>
            </a:r>
            <a:r>
              <a:rPr lang="zh-CN" altLang="en-US" b="1" dirty="0"/>
              <a:t> </a:t>
            </a:r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771800" y="3212976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=</a:t>
            </a:r>
            <a:r>
              <a:rPr lang="zh-CN" altLang="en-US" b="1" dirty="0"/>
              <a:t> </a:t>
            </a:r>
            <a:r>
              <a:rPr lang="en-US" altLang="zh-CN" b="1" dirty="0"/>
              <a:t>{ 16{</a:t>
            </a:r>
            <a:r>
              <a:rPr lang="en-US" altLang="zh-CN" b="1" dirty="0">
                <a:solidFill>
                  <a:srgbClr val="FF0000"/>
                </a:solidFill>
              </a:rPr>
              <a:t>immediate[15]</a:t>
            </a:r>
            <a:r>
              <a:rPr lang="en-US" altLang="zh-CN" b="1" dirty="0"/>
              <a:t>} , immediate }</a:t>
            </a:r>
            <a:endParaRPr lang="zh-CN" altLang="en-US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15616" y="4005064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sw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101011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11760" y="47971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存字</a:t>
            </a:r>
            <a:r>
              <a:rPr lang="zh-CN" altLang="en-US" b="1" dirty="0"/>
              <a:t>指令     操作： </a:t>
            </a:r>
            <a:r>
              <a:rPr lang="en-US" altLang="zh-CN" b="1" dirty="0"/>
              <a:t>M[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R[</a:t>
            </a:r>
            <a:r>
              <a:rPr lang="en-US" altLang="zh-CN" b="1" dirty="0" err="1">
                <a:solidFill>
                  <a:srgbClr val="FF0000"/>
                </a:solidFill>
              </a:rPr>
              <a:t>rs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+</a:t>
            </a:r>
            <a:r>
              <a:rPr lang="zh-CN" altLang="en-US" b="1" dirty="0"/>
              <a:t> </a:t>
            </a:r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] =R[</a:t>
            </a:r>
            <a:r>
              <a:rPr lang="en-US" altLang="zh-CN" b="1" dirty="0" err="1"/>
              <a:t>rt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15816" y="5301208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=</a:t>
            </a:r>
            <a:r>
              <a:rPr lang="zh-CN" altLang="en-US" b="1" dirty="0"/>
              <a:t> </a:t>
            </a:r>
            <a:r>
              <a:rPr lang="en-US" altLang="zh-CN" b="1" dirty="0"/>
              <a:t>{ 16{</a:t>
            </a:r>
            <a:r>
              <a:rPr lang="en-US" altLang="zh-CN" b="1" dirty="0">
                <a:solidFill>
                  <a:srgbClr val="FF0000"/>
                </a:solidFill>
              </a:rPr>
              <a:t>immediate[15]</a:t>
            </a:r>
            <a:r>
              <a:rPr lang="en-US" altLang="zh-CN" b="1" dirty="0"/>
              <a:t>} , immediate }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15616" y="1412776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opcode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1560" y="548680"/>
            <a:ext cx="3024336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MIPS</a:t>
            </a:r>
            <a:r>
              <a:rPr lang="zh-CN" altLang="en-US" b="1" dirty="0">
                <a:latin typeface="+mn-ea"/>
              </a:rPr>
              <a:t>     </a:t>
            </a:r>
            <a:r>
              <a:rPr lang="en-US" altLang="zh-CN" b="1" dirty="0">
                <a:latin typeface="+mn-ea"/>
              </a:rPr>
              <a:t>I</a:t>
            </a:r>
            <a:r>
              <a:rPr lang="zh-CN" altLang="en-US" b="1" dirty="0">
                <a:latin typeface="+mn-ea"/>
              </a:rPr>
              <a:t>类型指令格式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15616" y="2564904"/>
          <a:ext cx="69364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solidFill>
                            <a:srgbClr val="FF0000"/>
                          </a:solidFill>
                        </a:rPr>
                        <a:t>beq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指令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000100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immediate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31                  26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25                  21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20                 16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15  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           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    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67744" y="364502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相等则跳转</a:t>
            </a:r>
            <a:r>
              <a:rPr lang="zh-CN" altLang="en-US" b="1" dirty="0"/>
              <a:t>指令      操作：</a:t>
            </a:r>
            <a:r>
              <a:rPr lang="en-US" altLang="zh-CN" b="1" dirty="0"/>
              <a:t>if</a:t>
            </a:r>
            <a:r>
              <a:rPr lang="zh-CN" altLang="en-US" b="1" dirty="0"/>
              <a:t>  </a:t>
            </a:r>
            <a:r>
              <a:rPr lang="en-US" altLang="zh-CN" b="1" dirty="0"/>
              <a:t>(R[</a:t>
            </a:r>
            <a:r>
              <a:rPr lang="en-US" altLang="zh-CN" b="1" dirty="0" err="1"/>
              <a:t>rs</a:t>
            </a:r>
            <a:r>
              <a:rPr lang="en-US" altLang="zh-CN" b="1" dirty="0"/>
              <a:t>]==R[</a:t>
            </a:r>
            <a:r>
              <a:rPr lang="en-US" altLang="zh-CN" b="1" dirty="0" err="1"/>
              <a:t>rt</a:t>
            </a:r>
            <a:r>
              <a:rPr lang="en-US" altLang="zh-CN" b="1" dirty="0"/>
              <a:t>])</a:t>
            </a:r>
          </a:p>
          <a:p>
            <a:r>
              <a:rPr lang="en-US" altLang="zh-CN" b="1" dirty="0"/>
              <a:t>                                                       PC=</a:t>
            </a:r>
            <a:r>
              <a:rPr lang="en-US" altLang="zh-CN" b="1" dirty="0">
                <a:solidFill>
                  <a:srgbClr val="FF0000"/>
                </a:solidFill>
              </a:rPr>
              <a:t>PC+4</a:t>
            </a:r>
            <a:r>
              <a:rPr lang="en-US" altLang="zh-CN" b="1" dirty="0"/>
              <a:t>+BranchAddr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555776" y="5517232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BranchAddr</a:t>
            </a:r>
            <a:r>
              <a:rPr lang="en-US" altLang="zh-CN" b="1" dirty="0"/>
              <a:t> ={14{immediate[15]}, immediate,2’b0}</a:t>
            </a:r>
            <a:endParaRPr lang="zh-CN" altLang="en-US" b="1" dirty="0"/>
          </a:p>
        </p:txBody>
      </p:sp>
      <p:sp>
        <p:nvSpPr>
          <p:cNvPr id="7" name="矩形标注 6"/>
          <p:cNvSpPr/>
          <p:nvPr/>
        </p:nvSpPr>
        <p:spPr>
          <a:xfrm>
            <a:off x="1619672" y="4653136"/>
            <a:ext cx="4104456" cy="612648"/>
          </a:xfrm>
          <a:prstGeom prst="wedgeRectCallout">
            <a:avLst>
              <a:gd name="adj1" fmla="val 36576"/>
              <a:gd name="adj2" fmla="val -1626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减法实现，如果</a:t>
            </a:r>
            <a:r>
              <a:rPr lang="en-US" altLang="zh-CN" b="1" dirty="0">
                <a:solidFill>
                  <a:schemeClr val="tx1"/>
                </a:solidFill>
              </a:rPr>
              <a:t>R[</a:t>
            </a:r>
            <a:r>
              <a:rPr lang="en-US" altLang="zh-CN" b="1" dirty="0" err="1">
                <a:solidFill>
                  <a:schemeClr val="tx1"/>
                </a:solidFill>
              </a:rPr>
              <a:t>rs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–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R[</a:t>
            </a:r>
            <a:r>
              <a:rPr lang="en-US" altLang="zh-CN" b="1" dirty="0" err="1">
                <a:solidFill>
                  <a:schemeClr val="tx1"/>
                </a:solidFill>
              </a:rPr>
              <a:t>rt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=0</a:t>
            </a:r>
            <a:r>
              <a:rPr lang="zh-CN" altLang="en-US" b="1" dirty="0">
                <a:solidFill>
                  <a:schemeClr val="tx1"/>
                </a:solidFill>
              </a:rPr>
              <a:t>，则零标志</a:t>
            </a:r>
            <a:r>
              <a:rPr lang="en-US" altLang="zh-CN" b="1" dirty="0">
                <a:solidFill>
                  <a:schemeClr val="tx1"/>
                </a:solidFill>
              </a:rPr>
              <a:t>Zero=1</a:t>
            </a:r>
            <a:r>
              <a:rPr lang="zh-CN" altLang="en-US" b="1" dirty="0">
                <a:solidFill>
                  <a:schemeClr val="tx1"/>
                </a:solidFill>
              </a:rPr>
              <a:t>，否则</a:t>
            </a:r>
            <a:r>
              <a:rPr lang="en-US" altLang="zh-CN" b="1" dirty="0">
                <a:solidFill>
                  <a:schemeClr val="tx1"/>
                </a:solidFill>
              </a:rPr>
              <a:t>Zero=0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600" y="6093296"/>
            <a:ext cx="7632848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综合</a:t>
            </a:r>
            <a:r>
              <a:rPr lang="zh-CN" altLang="en-US" b="1" dirty="0">
                <a:solidFill>
                  <a:srgbClr val="FF0000"/>
                </a:solidFill>
              </a:rPr>
              <a:t>七条指令</a:t>
            </a:r>
            <a:r>
              <a:rPr lang="zh-CN" altLang="en-US" b="1" dirty="0"/>
              <a:t>思考：应有一个能完成</a:t>
            </a:r>
            <a:r>
              <a:rPr lang="zh-CN" altLang="en-US" b="1" dirty="0">
                <a:solidFill>
                  <a:srgbClr val="FF0000"/>
                </a:solidFill>
              </a:rPr>
              <a:t>加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减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按位或</a:t>
            </a:r>
            <a:r>
              <a:rPr lang="zh-CN" altLang="en-US" b="1" dirty="0"/>
              <a:t>运算的部件，即</a:t>
            </a:r>
            <a:r>
              <a:rPr lang="en-US" altLang="zh-CN" b="1" dirty="0">
                <a:solidFill>
                  <a:srgbClr val="FF0000"/>
                </a:solidFill>
              </a:rPr>
              <a:t>ALU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331640" y="2564904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选择哪种</a:t>
            </a:r>
            <a:r>
              <a:rPr lang="zh-CN" altLang="en-US" sz="1400" b="1" dirty="0">
                <a:solidFill>
                  <a:srgbClr val="FF0000"/>
                </a:solidFill>
              </a:rPr>
              <a:t>运算</a:t>
            </a:r>
            <a:r>
              <a:rPr lang="zh-CN" altLang="en-US" sz="1400" b="1" dirty="0"/>
              <a:t>结果输出到</a:t>
            </a:r>
            <a:r>
              <a:rPr lang="en-US" altLang="zh-CN" sz="1400" b="1" dirty="0">
                <a:solidFill>
                  <a:srgbClr val="FF0000"/>
                </a:solidFill>
              </a:rPr>
              <a:t>F</a:t>
            </a:r>
          </a:p>
          <a:p>
            <a:r>
              <a:rPr lang="zh-CN" altLang="en-US" sz="1400" b="1" dirty="0"/>
              <a:t>所以，</a:t>
            </a:r>
            <a:r>
              <a:rPr lang="en-US" altLang="zh-CN" sz="1400" b="1" dirty="0" err="1">
                <a:solidFill>
                  <a:srgbClr val="FF0000"/>
                </a:solidFill>
              </a:rPr>
              <a:t>ALU_Sel</a:t>
            </a:r>
            <a:r>
              <a:rPr lang="zh-CN" altLang="en-US" sz="1400" b="1" dirty="0"/>
              <a:t>信号的位宽？</a:t>
            </a:r>
            <a:endParaRPr lang="en-US" altLang="zh-CN" sz="1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1988840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引出进行算术运算的基本单元</a:t>
            </a:r>
            <a:r>
              <a:rPr lang="en-US" altLang="zh-CN" b="1" dirty="0"/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全加器的设计方法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9992" y="3501008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然后，在</a:t>
            </a:r>
            <a:r>
              <a:rPr lang="en-US" altLang="zh-CN" b="1" dirty="0" err="1"/>
              <a:t>LogicSim</a:t>
            </a:r>
            <a:r>
              <a:rPr lang="zh-CN" altLang="en-US" b="1" dirty="0"/>
              <a:t>中构造一个能完成加、减、按位或三种运算的</a:t>
            </a:r>
            <a:r>
              <a:rPr lang="en-US" altLang="zh-CN" b="1" dirty="0"/>
              <a:t>32</a:t>
            </a:r>
            <a:r>
              <a:rPr lang="zh-CN" altLang="en-US" b="1" dirty="0"/>
              <a:t>位</a:t>
            </a:r>
            <a:r>
              <a:rPr lang="en-US" altLang="zh-CN" b="1" dirty="0"/>
              <a:t>ALU</a:t>
            </a:r>
            <a:r>
              <a:rPr lang="zh-CN" altLang="en-US" b="1" dirty="0"/>
              <a:t>并具有零标志</a:t>
            </a:r>
            <a:r>
              <a:rPr lang="en-US" altLang="zh-CN" b="1" dirty="0"/>
              <a:t>Zero</a:t>
            </a:r>
            <a:r>
              <a:rPr lang="zh-CN" altLang="en-US" b="1" dirty="0"/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25144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最后，介绍基于</a:t>
            </a:r>
            <a:r>
              <a:rPr lang="en-US" altLang="zh-CN" b="1" dirty="0" err="1"/>
              <a:t>Verilog</a:t>
            </a:r>
            <a:r>
              <a:rPr lang="zh-CN" altLang="en-US" b="1" dirty="0"/>
              <a:t>  </a:t>
            </a:r>
            <a:r>
              <a:rPr lang="en-US" altLang="zh-CN" b="1" dirty="0"/>
              <a:t>HDL</a:t>
            </a:r>
            <a:r>
              <a:rPr lang="zh-CN" altLang="en-US" b="1" dirty="0"/>
              <a:t>的</a:t>
            </a:r>
            <a:r>
              <a:rPr lang="en-US" altLang="zh-CN" b="1" dirty="0"/>
              <a:t>ALU</a:t>
            </a:r>
            <a:r>
              <a:rPr lang="zh-CN" altLang="en-US" b="1" dirty="0"/>
              <a:t>设计模型  （</a:t>
            </a:r>
            <a:r>
              <a:rPr lang="en-US" altLang="zh-CN" b="1" dirty="0">
                <a:solidFill>
                  <a:srgbClr val="FF0000"/>
                </a:solidFill>
              </a:rPr>
              <a:t>32</a:t>
            </a:r>
            <a:r>
              <a:rPr lang="zh-CN" altLang="en-US" b="1" dirty="0">
                <a:solidFill>
                  <a:srgbClr val="FF0000"/>
                </a:solidFill>
              </a:rPr>
              <a:t>位</a:t>
            </a:r>
            <a:r>
              <a:rPr lang="en-US" altLang="zh-CN" b="1" dirty="0">
                <a:solidFill>
                  <a:srgbClr val="FF0000"/>
                </a:solidFill>
              </a:rPr>
              <a:t>!!!</a:t>
            </a:r>
            <a:r>
              <a:rPr lang="zh-CN" altLang="en-US" b="1" dirty="0"/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852936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进而，讲解</a:t>
            </a:r>
            <a:r>
              <a:rPr lang="en-US" altLang="zh-CN" b="1" dirty="0"/>
              <a:t>4</a:t>
            </a:r>
            <a:r>
              <a:rPr lang="zh-CN" altLang="en-US" b="1" dirty="0"/>
              <a:t>位加法器的构成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9632" y="5733256"/>
            <a:ext cx="432048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启发同学思考，如何增加新的运算功能？例如：与运算、异或运算</a:t>
            </a:r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868144" y="5877272"/>
            <a:ext cx="23762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如何增加溢出的判断？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755576" y="332656"/>
            <a:ext cx="3384376" cy="2241540"/>
            <a:chOff x="611560" y="1268760"/>
            <a:chExt cx="3384376" cy="224154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691680" y="1268760"/>
              <a:ext cx="1008112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699792" y="1484784"/>
              <a:ext cx="0" cy="10081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691680" y="1268760"/>
              <a:ext cx="0" cy="50405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691680" y="1772816"/>
              <a:ext cx="216024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691680" y="1988840"/>
              <a:ext cx="216024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691680" y="2204864"/>
              <a:ext cx="0" cy="50405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1691680" y="2492896"/>
              <a:ext cx="1008112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979712" y="1844824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ALU</a:t>
              </a:r>
              <a:endParaRPr lang="zh-CN" altLang="en-US" dirty="0"/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971600" y="1556792"/>
              <a:ext cx="72008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971600" y="2492896"/>
              <a:ext cx="72008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11560" y="134076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11560" y="227687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2699792" y="1844824"/>
              <a:ext cx="648072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419872" y="170080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V="1">
              <a:off x="2195736" y="2636912"/>
              <a:ext cx="0" cy="504056"/>
            </a:xfrm>
            <a:prstGeom prst="straightConnector1">
              <a:avLst/>
            </a:prstGeom>
            <a:ln w="5715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691680" y="314096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ALU_sel</a:t>
              </a:r>
              <a:endParaRPr lang="en-US" altLang="zh-CN" dirty="0"/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2699792" y="2276872"/>
              <a:ext cx="648072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347864" y="2132856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zero</a:t>
              </a:r>
              <a:endParaRPr lang="zh-CN" altLang="en-US" dirty="0"/>
            </a:p>
          </p:txBody>
        </p:sp>
      </p:grpSp>
      <p:sp>
        <p:nvSpPr>
          <p:cNvPr id="43" name="矩形标注 42"/>
          <p:cNvSpPr/>
          <p:nvPr/>
        </p:nvSpPr>
        <p:spPr>
          <a:xfrm>
            <a:off x="4932040" y="836712"/>
            <a:ext cx="3024336" cy="432048"/>
          </a:xfrm>
          <a:prstGeom prst="wedgeRectCallout">
            <a:avLst>
              <a:gd name="adj1" fmla="val -83907"/>
              <a:gd name="adj2" fmla="val 5525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assign</a:t>
            </a:r>
            <a:r>
              <a:rPr lang="zh-CN" altLang="en-US" b="1" dirty="0">
                <a:solidFill>
                  <a:schemeClr val="tx1"/>
                </a:solidFill>
              </a:rPr>
              <a:t>  </a:t>
            </a:r>
            <a:r>
              <a:rPr lang="en-US" altLang="zh-CN" b="1" dirty="0">
                <a:solidFill>
                  <a:schemeClr val="tx1"/>
                </a:solidFill>
              </a:rPr>
              <a:t>zero=(F==0)? 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 : 0 ;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1115616" y="3284984"/>
          <a:ext cx="28803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ALU_Sel</a:t>
                      </a:r>
                      <a:r>
                        <a:rPr lang="en-US" altLang="zh-CN" dirty="0"/>
                        <a:t>[2:0]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A+B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A-B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A|B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预留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3419872" y="548680"/>
            <a:ext cx="4464496" cy="4883770"/>
            <a:chOff x="3419872" y="548680"/>
            <a:chExt cx="4464496" cy="4883770"/>
          </a:xfrm>
        </p:grpSpPr>
        <p:grpSp>
          <p:nvGrpSpPr>
            <p:cNvPr id="35" name="组合 34"/>
            <p:cNvGrpSpPr/>
            <p:nvPr/>
          </p:nvGrpSpPr>
          <p:grpSpPr>
            <a:xfrm>
              <a:off x="3635896" y="548680"/>
              <a:ext cx="3888432" cy="3528392"/>
              <a:chOff x="3635896" y="548680"/>
              <a:chExt cx="3888432" cy="3528392"/>
            </a:xfrm>
          </p:grpSpPr>
          <p:cxnSp>
            <p:nvCxnSpPr>
              <p:cNvPr id="3" name="直接连接符 2"/>
              <p:cNvCxnSpPr/>
              <p:nvPr/>
            </p:nvCxnSpPr>
            <p:spPr>
              <a:xfrm>
                <a:off x="5292080" y="548680"/>
                <a:ext cx="1008112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/>
              <p:cNvCxnSpPr/>
              <p:nvPr/>
            </p:nvCxnSpPr>
            <p:spPr>
              <a:xfrm>
                <a:off x="6300192" y="764704"/>
                <a:ext cx="0" cy="100811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5292080" y="548680"/>
                <a:ext cx="0" cy="504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5292080" y="1052736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5292080" y="1268760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5292080" y="1484784"/>
                <a:ext cx="0" cy="504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V="1">
                <a:off x="5292080" y="1772816"/>
                <a:ext cx="1008112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5580112" y="112474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ALU</a:t>
                </a:r>
                <a:endParaRPr lang="zh-CN" altLang="en-US" b="1" dirty="0"/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4572000" y="836712"/>
                <a:ext cx="7200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>
                <a:off x="4572000" y="1772816"/>
                <a:ext cx="7200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4211960" y="620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</a:t>
                </a:r>
                <a:endParaRPr lang="zh-CN" altLang="en-US" b="1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211960" y="155679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</a:t>
                </a:r>
                <a:endParaRPr lang="zh-CN" altLang="en-US" b="1" dirty="0"/>
              </a:p>
            </p:txBody>
          </p:sp>
          <p:cxnSp>
            <p:nvCxnSpPr>
              <p:cNvPr id="15" name="直接箭头连接符 14"/>
              <p:cNvCxnSpPr/>
              <p:nvPr/>
            </p:nvCxnSpPr>
            <p:spPr>
              <a:xfrm>
                <a:off x="6300192" y="1268760"/>
                <a:ext cx="648072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7020272" y="105273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F</a:t>
                </a:r>
                <a:endParaRPr lang="zh-CN" altLang="en-US" b="1" dirty="0"/>
              </a:p>
            </p:txBody>
          </p:sp>
          <p:cxnSp>
            <p:nvCxnSpPr>
              <p:cNvPr id="17" name="直接箭头连接符 16"/>
              <p:cNvCxnSpPr/>
              <p:nvPr/>
            </p:nvCxnSpPr>
            <p:spPr>
              <a:xfrm flipV="1">
                <a:off x="5796136" y="1916832"/>
                <a:ext cx="0" cy="1512168"/>
              </a:xfrm>
              <a:prstGeom prst="straightConnector1">
                <a:avLst/>
              </a:prstGeom>
              <a:ln w="5715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5868144" y="3212976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err="1"/>
                  <a:t>ALU_sel</a:t>
                </a:r>
                <a:endParaRPr lang="zh-CN" altLang="en-US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860032" y="2780928"/>
                <a:ext cx="504056" cy="129614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</a:rPr>
                  <a:t>编码器</a:t>
                </a:r>
              </a:p>
            </p:txBody>
          </p:sp>
          <p:cxnSp>
            <p:nvCxnSpPr>
              <p:cNvPr id="21" name="直接连接符 20"/>
              <p:cNvCxnSpPr>
                <a:stCxn id="19" idx="3"/>
              </p:cNvCxnSpPr>
              <p:nvPr/>
            </p:nvCxnSpPr>
            <p:spPr>
              <a:xfrm>
                <a:off x="5364088" y="3429000"/>
                <a:ext cx="432048" cy="0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>
                <a:off x="4355976" y="2924944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>
                <a:off x="4355976" y="3212976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>
              <a:xfrm>
                <a:off x="4355976" y="3933056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635896" y="2708920"/>
                <a:ext cx="72008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dirty="0" err="1"/>
                  <a:t>addu</a:t>
                </a:r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en-US" altLang="zh-CN" dirty="0" err="1"/>
                  <a:t>subu</a:t>
                </a:r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en-US" altLang="zh-CN" dirty="0"/>
                  <a:t>……</a:t>
                </a:r>
              </a:p>
              <a:p>
                <a:pPr>
                  <a:lnSpc>
                    <a:spcPts val="2400"/>
                  </a:lnSpc>
                </a:pPr>
                <a:r>
                  <a:rPr lang="en-US" altLang="zh-CN" dirty="0" err="1"/>
                  <a:t>beq</a:t>
                </a:r>
                <a:endParaRPr lang="zh-CN" altLang="en-US" dirty="0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3419872" y="4509120"/>
              <a:ext cx="44644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介绍</a:t>
              </a:r>
              <a:r>
                <a:rPr lang="zh-CN" altLang="en-US" b="1" dirty="0">
                  <a:solidFill>
                    <a:srgbClr val="FF0000"/>
                  </a:solidFill>
                </a:rPr>
                <a:t>编码器</a:t>
              </a:r>
              <a:r>
                <a:rPr lang="zh-CN" altLang="en-US" b="1" dirty="0"/>
                <a:t>的设计方法和</a:t>
              </a:r>
              <a:r>
                <a:rPr lang="en-US" altLang="zh-CN" b="1" dirty="0"/>
                <a:t>HDL</a:t>
              </a:r>
              <a:r>
                <a:rPr lang="zh-CN" altLang="en-US" b="1" dirty="0"/>
                <a:t>模型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引出</a:t>
              </a:r>
              <a:r>
                <a:rPr lang="zh-CN" altLang="en-US" b="1" dirty="0">
                  <a:solidFill>
                    <a:srgbClr val="FF0000"/>
                  </a:solidFill>
                </a:rPr>
                <a:t>优先权编码器</a:t>
              </a:r>
              <a:r>
                <a:rPr lang="zh-CN" altLang="en-US" b="1" dirty="0"/>
                <a:t>的设计方法和</a:t>
              </a:r>
              <a:r>
                <a:rPr lang="en-US" altLang="zh-CN" b="1" dirty="0"/>
                <a:t>HDL</a:t>
              </a:r>
              <a:r>
                <a:rPr lang="zh-CN" altLang="en-US" b="1" dirty="0"/>
                <a:t>模型</a:t>
              </a:r>
            </a:p>
          </p:txBody>
        </p:sp>
      </p:grp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827584" y="2276872"/>
          <a:ext cx="237626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ALU_S[2:0]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addu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subu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ori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lui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beq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矩形标注 28"/>
          <p:cNvSpPr/>
          <p:nvPr/>
        </p:nvSpPr>
        <p:spPr>
          <a:xfrm>
            <a:off x="1835696" y="5733256"/>
            <a:ext cx="5328592" cy="504056"/>
          </a:xfrm>
          <a:prstGeom prst="wedgeRectCallout">
            <a:avLst>
              <a:gd name="adj1" fmla="val -38994"/>
              <a:gd name="adj2" fmla="val -1235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七条指令</a:t>
            </a:r>
            <a:r>
              <a:rPr lang="en-US" altLang="zh-CN" b="1" dirty="0" err="1"/>
              <a:t>ALU_sel</a:t>
            </a:r>
            <a:r>
              <a:rPr lang="zh-CN" altLang="en-US" b="1" dirty="0"/>
              <a:t>编码器真值表（</a:t>
            </a:r>
            <a:r>
              <a:rPr lang="zh-CN" altLang="en-US" b="1" dirty="0">
                <a:solidFill>
                  <a:srgbClr val="FF0000"/>
                </a:solidFill>
              </a:rPr>
              <a:t>注意：概念引申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83568" y="548680"/>
            <a:ext cx="6624736" cy="4883770"/>
            <a:chOff x="683568" y="548680"/>
            <a:chExt cx="6624736" cy="4883770"/>
          </a:xfrm>
        </p:grpSpPr>
        <p:grpSp>
          <p:nvGrpSpPr>
            <p:cNvPr id="3" name="组合 34"/>
            <p:cNvGrpSpPr/>
            <p:nvPr/>
          </p:nvGrpSpPr>
          <p:grpSpPr>
            <a:xfrm>
              <a:off x="3707904" y="548680"/>
              <a:ext cx="3600400" cy="3606790"/>
              <a:chOff x="3707904" y="548680"/>
              <a:chExt cx="3600400" cy="3606790"/>
            </a:xfrm>
          </p:grpSpPr>
          <p:cxnSp>
            <p:nvCxnSpPr>
              <p:cNvPr id="5" name="直接连接符 2"/>
              <p:cNvCxnSpPr/>
              <p:nvPr/>
            </p:nvCxnSpPr>
            <p:spPr>
              <a:xfrm>
                <a:off x="5292080" y="548680"/>
                <a:ext cx="1008112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6300192" y="764704"/>
                <a:ext cx="0" cy="100811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5292080" y="548680"/>
                <a:ext cx="0" cy="504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5292080" y="1052736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5292080" y="1268760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5292080" y="1484784"/>
                <a:ext cx="0" cy="504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5292080" y="1772816"/>
                <a:ext cx="1008112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5580112" y="1124744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ALU</a:t>
                </a:r>
                <a:endParaRPr lang="zh-CN" altLang="en-US" b="1" dirty="0"/>
              </a:p>
            </p:txBody>
          </p:sp>
          <p:cxnSp>
            <p:nvCxnSpPr>
              <p:cNvPr id="13" name="直接箭头连接符 12"/>
              <p:cNvCxnSpPr/>
              <p:nvPr/>
            </p:nvCxnSpPr>
            <p:spPr>
              <a:xfrm>
                <a:off x="4572000" y="836712"/>
                <a:ext cx="7200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>
                <a:off x="4572000" y="1772816"/>
                <a:ext cx="7200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4211960" y="620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</a:t>
                </a:r>
                <a:endParaRPr lang="zh-CN" altLang="en-US" b="1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11960" y="155679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</a:t>
                </a:r>
                <a:endParaRPr lang="zh-CN" altLang="en-US" b="1" dirty="0"/>
              </a:p>
            </p:txBody>
          </p:sp>
          <p:cxnSp>
            <p:nvCxnSpPr>
              <p:cNvPr id="17" name="直接箭头连接符 16"/>
              <p:cNvCxnSpPr/>
              <p:nvPr/>
            </p:nvCxnSpPr>
            <p:spPr>
              <a:xfrm>
                <a:off x="6300192" y="1268760"/>
                <a:ext cx="648072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7020272" y="105273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F</a:t>
                </a:r>
                <a:endParaRPr lang="zh-CN" altLang="en-US" b="1" dirty="0"/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 flipV="1">
                <a:off x="5796136" y="1916832"/>
                <a:ext cx="0" cy="1512168"/>
              </a:xfrm>
              <a:prstGeom prst="straightConnector1">
                <a:avLst/>
              </a:prstGeom>
              <a:ln w="5715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5436096" y="299695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S</a:t>
                </a:r>
                <a:endParaRPr lang="zh-CN" altLang="en-US" dirty="0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4860032" y="2780928"/>
                <a:ext cx="504056" cy="129614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</a:rPr>
                  <a:t>编码器</a:t>
                </a:r>
              </a:p>
            </p:txBody>
          </p:sp>
          <p:cxnSp>
            <p:nvCxnSpPr>
              <p:cNvPr id="22" name="直接连接符 21"/>
              <p:cNvCxnSpPr>
                <a:stCxn id="21" idx="3"/>
              </p:cNvCxnSpPr>
              <p:nvPr/>
            </p:nvCxnSpPr>
            <p:spPr>
              <a:xfrm>
                <a:off x="5364088" y="3429000"/>
                <a:ext cx="432048" cy="0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4355976" y="2924944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4355976" y="3212976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4355976" y="3933056"/>
                <a:ext cx="50405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3707904" y="2708920"/>
                <a:ext cx="72008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err="1"/>
                  <a:t>addu</a:t>
                </a:r>
                <a:endParaRPr lang="en-US" altLang="zh-CN" dirty="0"/>
              </a:p>
              <a:p>
                <a:r>
                  <a:rPr lang="en-US" altLang="zh-CN" dirty="0" err="1"/>
                  <a:t>subu</a:t>
                </a:r>
                <a:endParaRPr lang="en-US" altLang="zh-CN" dirty="0"/>
              </a:p>
              <a:p>
                <a:endParaRPr lang="en-US" altLang="zh-CN" sz="1600" dirty="0"/>
              </a:p>
              <a:p>
                <a:r>
                  <a:rPr lang="en-US" altLang="zh-CN" dirty="0"/>
                  <a:t>……</a:t>
                </a:r>
              </a:p>
              <a:p>
                <a:r>
                  <a:rPr lang="en-US" altLang="zh-CN" dirty="0" err="1"/>
                  <a:t>beq</a:t>
                </a:r>
                <a:endParaRPr lang="zh-CN" altLang="en-US" dirty="0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1547664" y="4509120"/>
              <a:ext cx="46805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介绍</a:t>
              </a:r>
              <a:r>
                <a:rPr lang="zh-CN" altLang="en-US" b="1" dirty="0">
                  <a:solidFill>
                    <a:srgbClr val="FF0000"/>
                  </a:solidFill>
                </a:rPr>
                <a:t>译码器</a:t>
              </a:r>
              <a:r>
                <a:rPr lang="zh-CN" altLang="en-US" b="1" dirty="0"/>
                <a:t>的设计方法和</a:t>
              </a:r>
              <a:r>
                <a:rPr lang="en-US" altLang="zh-CN" b="1" dirty="0"/>
                <a:t>HDL</a:t>
              </a:r>
              <a:r>
                <a:rPr lang="zh-CN" altLang="en-US" b="1" dirty="0"/>
                <a:t>模型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引出</a:t>
              </a:r>
              <a:r>
                <a:rPr lang="zh-CN" altLang="en-US" b="1" dirty="0">
                  <a:solidFill>
                    <a:srgbClr val="FF0000"/>
                  </a:solidFill>
                </a:rPr>
                <a:t>带使能端译码器</a:t>
              </a:r>
              <a:r>
                <a:rPr lang="zh-CN" altLang="en-US" b="1" dirty="0"/>
                <a:t>的设计方法和</a:t>
              </a:r>
              <a:r>
                <a:rPr lang="en-US" altLang="zh-CN" b="1" dirty="0"/>
                <a:t>HDL</a:t>
              </a:r>
              <a:r>
                <a:rPr lang="zh-CN" altLang="en-US" b="1" dirty="0"/>
                <a:t>模型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2915816" y="2780928"/>
              <a:ext cx="504056" cy="129614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</a:rPr>
                <a:t>译码器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3419872" y="2924944"/>
              <a:ext cx="36004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3419872" y="3212976"/>
              <a:ext cx="36004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3419872" y="3933056"/>
              <a:ext cx="36004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1187624" y="3068960"/>
              <a:ext cx="504056" cy="720080"/>
            </a:xfrm>
            <a:prstGeom prst="rect">
              <a:avLst/>
            </a:prstGeom>
            <a:solidFill>
              <a:srgbClr val="FF0000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OP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187624" y="1628800"/>
              <a:ext cx="504056" cy="1440160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3568" y="2276872"/>
              <a:ext cx="432048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32</a:t>
              </a:r>
              <a:r>
                <a:rPr lang="zh-CN" altLang="en-US" sz="1400" dirty="0">
                  <a:solidFill>
                    <a:srgbClr val="FF0000"/>
                  </a:solidFill>
                </a:rPr>
                <a:t>位的指令</a:t>
              </a:r>
            </a:p>
          </p:txBody>
        </p:sp>
        <p:cxnSp>
          <p:nvCxnSpPr>
            <p:cNvPr id="38" name="直接箭头连接符 37"/>
            <p:cNvCxnSpPr>
              <a:stCxn id="34" idx="3"/>
              <a:endCxn id="27" idx="1"/>
            </p:cNvCxnSpPr>
            <p:nvPr/>
          </p:nvCxnSpPr>
          <p:spPr>
            <a:xfrm>
              <a:off x="1691680" y="3429000"/>
              <a:ext cx="1224136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115616" y="3933056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/>
                <a:t>操作码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1187624" y="908720"/>
            <a:ext cx="504056" cy="720080"/>
          </a:xfrm>
          <a:prstGeom prst="rect">
            <a:avLst/>
          </a:prstGeom>
          <a:solidFill>
            <a:srgbClr val="FF00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1691680" y="1268760"/>
            <a:ext cx="57606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2267744" y="1268760"/>
            <a:ext cx="0" cy="172819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2267744" y="2996952"/>
            <a:ext cx="64807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1800" y="764704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7</a:t>
            </a:r>
            <a:r>
              <a:rPr lang="zh-CN" altLang="en-US" b="1" dirty="0"/>
              <a:t>条</a:t>
            </a:r>
            <a:r>
              <a:rPr lang="en-US" altLang="zh-CN" b="1" dirty="0"/>
              <a:t>MIPS</a:t>
            </a:r>
            <a:r>
              <a:rPr lang="zh-CN" altLang="en-US" b="1" dirty="0"/>
              <a:t>指令译码</a:t>
            </a:r>
            <a:r>
              <a:rPr lang="en-US" altLang="zh-CN" b="1" dirty="0"/>
              <a:t>---</a:t>
            </a:r>
            <a:r>
              <a:rPr lang="zh-CN" altLang="en-US" b="1" dirty="0">
                <a:solidFill>
                  <a:srgbClr val="FF0000"/>
                </a:solidFill>
              </a:rPr>
              <a:t>局部译码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876515"/>
              </p:ext>
            </p:extLst>
          </p:nvPr>
        </p:nvGraphicFramePr>
        <p:xfrm>
          <a:off x="683570" y="1412776"/>
          <a:ext cx="6869565" cy="356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4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32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3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405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输      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输                      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opcode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funct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addu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subu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ori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lui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lw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sw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beq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5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31640" y="5229200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基于</a:t>
            </a:r>
            <a:r>
              <a:rPr lang="en-US" altLang="zh-CN" b="1" dirty="0" err="1">
                <a:solidFill>
                  <a:srgbClr val="FF0000"/>
                </a:solidFill>
              </a:rPr>
              <a:t>LogicSim</a:t>
            </a:r>
            <a:r>
              <a:rPr lang="zh-CN" altLang="en-US" b="1" dirty="0">
                <a:solidFill>
                  <a:srgbClr val="FF0000"/>
                </a:solidFill>
              </a:rPr>
              <a:t>的电路实现？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6016" y="5229200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Vrilog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HDL</a:t>
            </a:r>
            <a:r>
              <a:rPr lang="zh-CN" altLang="en-US" b="1" dirty="0">
                <a:solidFill>
                  <a:srgbClr val="FF0000"/>
                </a:solidFill>
              </a:rPr>
              <a:t>模型？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2"/>
          <p:cNvCxnSpPr/>
          <p:nvPr/>
        </p:nvCxnSpPr>
        <p:spPr>
          <a:xfrm>
            <a:off x="5292080" y="548680"/>
            <a:ext cx="1008112" cy="2160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300192" y="764704"/>
            <a:ext cx="0" cy="10081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292080" y="548680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292080" y="1052736"/>
            <a:ext cx="216024" cy="2160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5292080" y="1268760"/>
            <a:ext cx="216024" cy="2160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5292080" y="148478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292080" y="1772816"/>
            <a:ext cx="1008112" cy="2160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80112" y="112474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ALU</a:t>
            </a:r>
            <a:endParaRPr lang="zh-CN" altLang="en-US" b="1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3419872" y="836712"/>
            <a:ext cx="187220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572000" y="1772816"/>
            <a:ext cx="72008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16016" y="40466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716016" y="134076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300192" y="1268760"/>
            <a:ext cx="648072" cy="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20272" y="10527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</a:t>
            </a:r>
            <a:endParaRPr lang="zh-CN" altLang="en-US" b="1" dirty="0"/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5796136" y="1916832"/>
            <a:ext cx="0" cy="324036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68144" y="479715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ALUsel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4860032" y="4509120"/>
            <a:ext cx="504056" cy="12961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编码器</a:t>
            </a:r>
          </a:p>
        </p:txBody>
      </p:sp>
      <p:cxnSp>
        <p:nvCxnSpPr>
          <p:cNvPr id="31" name="直接连接符 30"/>
          <p:cNvCxnSpPr>
            <a:stCxn id="30" idx="3"/>
          </p:cNvCxnSpPr>
          <p:nvPr/>
        </p:nvCxnSpPr>
        <p:spPr>
          <a:xfrm>
            <a:off x="5364088" y="5157192"/>
            <a:ext cx="43204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355976" y="4653136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355976" y="4941168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4355976" y="5661248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79912" y="4437112"/>
            <a:ext cx="720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addusubu</a:t>
            </a:r>
            <a:endParaRPr lang="en-US" altLang="zh-CN" dirty="0"/>
          </a:p>
          <a:p>
            <a:endParaRPr lang="en-US" altLang="zh-CN" sz="1600" dirty="0"/>
          </a:p>
          <a:p>
            <a:r>
              <a:rPr lang="en-US" altLang="zh-CN" dirty="0"/>
              <a:t>……</a:t>
            </a:r>
          </a:p>
          <a:p>
            <a:r>
              <a:rPr lang="en-US" altLang="zh-CN" dirty="0" err="1"/>
              <a:t>beq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15816" y="4509120"/>
            <a:ext cx="504056" cy="1296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译码器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419872" y="4653136"/>
            <a:ext cx="3600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419872" y="4941168"/>
            <a:ext cx="3600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3419872" y="5661248"/>
            <a:ext cx="3600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259632" y="4797152"/>
            <a:ext cx="504056" cy="720080"/>
          </a:xfrm>
          <a:prstGeom prst="rect">
            <a:avLst/>
          </a:prstGeom>
          <a:solidFill>
            <a:srgbClr val="FF00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59632" y="4293096"/>
            <a:ext cx="504056" cy="504056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RS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576" y="4005064"/>
            <a:ext cx="4320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32</a:t>
            </a:r>
            <a:r>
              <a:rPr lang="zh-CN" altLang="en-US" sz="1400" dirty="0">
                <a:solidFill>
                  <a:srgbClr val="FF0000"/>
                </a:solidFill>
              </a:rPr>
              <a:t>位的指令</a:t>
            </a:r>
          </a:p>
        </p:txBody>
      </p:sp>
      <p:cxnSp>
        <p:nvCxnSpPr>
          <p:cNvPr id="12" name="直接箭头连接符 11"/>
          <p:cNvCxnSpPr>
            <a:stCxn id="9" idx="3"/>
            <a:endCxn id="5" idx="1"/>
          </p:cNvCxnSpPr>
          <p:nvPr/>
        </p:nvCxnSpPr>
        <p:spPr>
          <a:xfrm>
            <a:off x="1763688" y="5157192"/>
            <a:ext cx="1152128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87624" y="5661248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操作码</a:t>
            </a:r>
          </a:p>
        </p:txBody>
      </p:sp>
      <p:sp>
        <p:nvSpPr>
          <p:cNvPr id="40" name="矩形 39"/>
          <p:cNvSpPr/>
          <p:nvPr/>
        </p:nvSpPr>
        <p:spPr>
          <a:xfrm>
            <a:off x="1259632" y="2348880"/>
            <a:ext cx="504056" cy="144016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259632" y="3789040"/>
            <a:ext cx="504056" cy="504056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RT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 rot="10800000">
            <a:off x="1259632" y="2636912"/>
            <a:ext cx="461665" cy="8640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Imm16</a:t>
            </a:r>
            <a:endParaRPr lang="zh-CN" altLang="en-US" dirty="0"/>
          </a:p>
        </p:txBody>
      </p:sp>
      <p:sp>
        <p:nvSpPr>
          <p:cNvPr id="43" name="梯形 42"/>
          <p:cNvSpPr/>
          <p:nvPr/>
        </p:nvSpPr>
        <p:spPr>
          <a:xfrm rot="5400000">
            <a:off x="3995936" y="1556792"/>
            <a:ext cx="720080" cy="432048"/>
          </a:xfrm>
          <a:prstGeom prst="trapezoi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2</a:t>
            </a:r>
            <a:r>
              <a:rPr lang="zh-CN" altLang="en-US" sz="1400" dirty="0"/>
              <a:t>选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cxnSp>
        <p:nvCxnSpPr>
          <p:cNvPr id="49" name="直接箭头连接符 48"/>
          <p:cNvCxnSpPr>
            <a:endCxn id="43" idx="3"/>
          </p:cNvCxnSpPr>
          <p:nvPr/>
        </p:nvCxnSpPr>
        <p:spPr>
          <a:xfrm flipV="1">
            <a:off x="4355976" y="2078850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3419872" y="1556792"/>
            <a:ext cx="72008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427984" y="22768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Bsel</a:t>
            </a:r>
            <a:endParaRPr lang="zh-CN" altLang="en-US" b="1" dirty="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3851920" y="1988840"/>
            <a:ext cx="28803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843808" y="2348880"/>
            <a:ext cx="64807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立即数调整</a:t>
            </a:r>
          </a:p>
        </p:txBody>
      </p:sp>
      <p:cxnSp>
        <p:nvCxnSpPr>
          <p:cNvPr id="58" name="直接箭头连接符 57"/>
          <p:cNvCxnSpPr>
            <a:stCxn id="40" idx="3"/>
            <a:endCxn id="56" idx="1"/>
          </p:cNvCxnSpPr>
          <p:nvPr/>
        </p:nvCxnSpPr>
        <p:spPr>
          <a:xfrm>
            <a:off x="1763688" y="3068960"/>
            <a:ext cx="108012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6" idx="3"/>
          </p:cNvCxnSpPr>
          <p:nvPr/>
        </p:nvCxnSpPr>
        <p:spPr>
          <a:xfrm>
            <a:off x="3491880" y="3068960"/>
            <a:ext cx="3600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3851920" y="1988840"/>
            <a:ext cx="0" cy="10801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3131840" y="3789040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275856" y="38610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Extsel</a:t>
            </a:r>
            <a:endParaRPr lang="zh-CN" alt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3923928" y="299695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ExtImm32</a:t>
            </a:r>
            <a:endParaRPr lang="zh-CN" altLang="en-US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6228184" y="2276872"/>
            <a:ext cx="2160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介绍</a:t>
            </a:r>
            <a:r>
              <a:rPr lang="zh-CN" altLang="en-US" b="1" dirty="0">
                <a:solidFill>
                  <a:srgbClr val="FF0000"/>
                </a:solidFill>
              </a:rPr>
              <a:t>选择器</a:t>
            </a:r>
            <a:r>
              <a:rPr lang="zh-CN" altLang="en-US" b="1" dirty="0"/>
              <a:t>的设计方法和</a:t>
            </a:r>
            <a:r>
              <a:rPr lang="en-US" altLang="zh-CN" b="1" dirty="0"/>
              <a:t>HDL</a:t>
            </a:r>
            <a:r>
              <a:rPr lang="zh-CN" altLang="en-US" b="1" dirty="0"/>
              <a:t>模型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选择器在</a:t>
            </a:r>
            <a:r>
              <a:rPr lang="en-US" altLang="zh-CN" b="1" dirty="0">
                <a:solidFill>
                  <a:srgbClr val="FF0000"/>
                </a:solidFill>
              </a:rPr>
              <a:t>MIPS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CPU</a:t>
            </a:r>
            <a:r>
              <a:rPr lang="zh-CN" altLang="en-US" b="1" dirty="0"/>
              <a:t>设计中的应用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介绍</a:t>
            </a:r>
            <a:r>
              <a:rPr lang="zh-CN" altLang="en-US" b="1" dirty="0">
                <a:solidFill>
                  <a:srgbClr val="FF0000"/>
                </a:solidFill>
              </a:rPr>
              <a:t>立即数调整</a:t>
            </a:r>
            <a:r>
              <a:rPr lang="zh-CN" altLang="en-US" b="1" dirty="0"/>
              <a:t>模块的设计</a:t>
            </a:r>
            <a:endParaRPr lang="en-US" altLang="zh-CN" b="1" dirty="0"/>
          </a:p>
        </p:txBody>
      </p:sp>
      <p:sp>
        <p:nvSpPr>
          <p:cNvPr id="70" name="矩形 69"/>
          <p:cNvSpPr/>
          <p:nvPr/>
        </p:nvSpPr>
        <p:spPr>
          <a:xfrm>
            <a:off x="2627784" y="620688"/>
            <a:ext cx="792088" cy="1296144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寄存器组</a:t>
            </a:r>
            <a:r>
              <a:rPr lang="en-US" altLang="zh-CN" dirty="0">
                <a:solidFill>
                  <a:srgbClr val="FF0000"/>
                </a:solidFill>
              </a:rPr>
              <a:t>REGS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683568" y="332656"/>
            <a:ext cx="1928812" cy="3698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Calibri" pitchFamily="34" charset="0"/>
              </a:rPr>
              <a:t>立即数扩展电路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15616" y="1052736"/>
          <a:ext cx="5415280" cy="1645920"/>
        </p:xfrm>
        <a:graphic>
          <a:graphicData uri="http://schemas.openxmlformats.org/drawingml/2006/table">
            <a:tbl>
              <a:tblPr/>
              <a:tblGrid>
                <a:gridCol w="87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信号名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位宽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方向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说明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宋体"/>
                          <a:ea typeface="宋体"/>
                          <a:cs typeface="Times New Roman"/>
                        </a:rPr>
                        <a:t>Imm16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宋体"/>
                          <a:ea typeface="宋体"/>
                          <a:cs typeface="Times New Roman"/>
                        </a:rPr>
                        <a:t>16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输入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来自指令寄存器的</a:t>
                      </a:r>
                      <a:r>
                        <a:rPr lang="en-US" sz="1200" b="1" kern="10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位立即数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latin typeface="宋体"/>
                          <a:ea typeface="宋体"/>
                          <a:cs typeface="Times New Roman"/>
                        </a:rPr>
                        <a:t>Ext</a:t>
                      </a:r>
                      <a:r>
                        <a:rPr lang="en-US" altLang="zh-CN" sz="1200" b="1" kern="100" dirty="0" err="1">
                          <a:latin typeface="宋体"/>
                          <a:ea typeface="宋体"/>
                          <a:cs typeface="Times New Roman"/>
                        </a:rPr>
                        <a:t>sel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宋体"/>
                          <a:ea typeface="宋体"/>
                          <a:cs typeface="Times New Roman"/>
                        </a:rPr>
                        <a:t>2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输入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宋体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：无符号扩展，将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位立即数进行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扩展至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32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位立即数；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宋体"/>
                          <a:ea typeface="宋体"/>
                          <a:cs typeface="Times New Roman"/>
                        </a:rPr>
                        <a:t>01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：符号扩展，将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位补码立即数扩展成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32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位补码立即数；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宋体"/>
                          <a:ea typeface="宋体"/>
                          <a:cs typeface="Times New Roman"/>
                        </a:rPr>
                        <a:t>10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：低位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扩展，将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位立即数移至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32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位立即数的高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位，低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位补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。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宋体"/>
                          <a:ea typeface="宋体"/>
                          <a:cs typeface="Times New Roman"/>
                        </a:rPr>
                        <a:t>ExtImm32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宋体"/>
                          <a:ea typeface="宋体"/>
                          <a:cs typeface="Times New Roman"/>
                        </a:rPr>
                        <a:t>32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latin typeface="Calibri"/>
                          <a:ea typeface="宋体"/>
                          <a:cs typeface="Times New Roman"/>
                        </a:rPr>
                        <a:t>输出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扩展后的</a:t>
                      </a:r>
                      <a:r>
                        <a:rPr lang="en-US" sz="1200" b="1" kern="100" dirty="0">
                          <a:latin typeface="Calibri"/>
                          <a:ea typeface="宋体"/>
                          <a:cs typeface="Times New Roman"/>
                        </a:rPr>
                        <a:t>32</a:t>
                      </a:r>
                      <a:r>
                        <a:rPr lang="zh-CN" sz="1200" b="1" kern="100" dirty="0">
                          <a:latin typeface="Calibri"/>
                          <a:ea typeface="宋体"/>
                          <a:cs typeface="Times New Roman"/>
                        </a:rPr>
                        <a:t>位立即数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66" name="Rectangle 1"/>
          <p:cNvSpPr>
            <a:spLocks noChangeArrowheads="1"/>
          </p:cNvSpPr>
          <p:nvPr/>
        </p:nvSpPr>
        <p:spPr bwMode="auto">
          <a:xfrm>
            <a:off x="755576" y="764704"/>
            <a:ext cx="60721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25425"/>
            <a:r>
              <a:rPr lang="zh-CN" altLang="en-US" sz="1200" b="1" dirty="0">
                <a:latin typeface="Calibri" pitchFamily="34" charset="0"/>
                <a:cs typeface="Times New Roman" pitchFamily="18" charset="0"/>
              </a:rPr>
              <a:t>在</a:t>
            </a:r>
            <a:r>
              <a:rPr lang="en-US" altLang="zh-CN" sz="1200" b="1" dirty="0">
                <a:latin typeface="Calibri" pitchFamily="34" charset="0"/>
                <a:cs typeface="Times New Roman" pitchFamily="18" charset="0"/>
              </a:rPr>
              <a:t>CPU</a:t>
            </a:r>
            <a:r>
              <a:rPr lang="zh-CN" altLang="en-US" sz="1200" b="1" dirty="0">
                <a:latin typeface="Calibri" pitchFamily="34" charset="0"/>
                <a:cs typeface="Times New Roman" pitchFamily="18" charset="0"/>
              </a:rPr>
              <a:t>的数据通路中有一个立即数扩展模块，其功能见下表，请用</a:t>
            </a:r>
            <a:r>
              <a:rPr lang="en-US" altLang="zh-CN" sz="1200" b="1" dirty="0" err="1">
                <a:latin typeface="Calibri" pitchFamily="34" charset="0"/>
                <a:cs typeface="Times New Roman" pitchFamily="18" charset="0"/>
              </a:rPr>
              <a:t>Verilog</a:t>
            </a:r>
            <a:r>
              <a:rPr lang="en-US" altLang="zh-CN" sz="1200" b="1" dirty="0">
                <a:latin typeface="Calibri" pitchFamily="34" charset="0"/>
                <a:cs typeface="Times New Roman" pitchFamily="18" charset="0"/>
              </a:rPr>
              <a:t> HDL</a:t>
            </a:r>
            <a:r>
              <a:rPr lang="zh-CN" altLang="en-US" sz="1200" b="1" dirty="0">
                <a:latin typeface="Calibri" pitchFamily="34" charset="0"/>
                <a:cs typeface="Times New Roman" pitchFamily="18" charset="0"/>
              </a:rPr>
              <a:t>建模。</a:t>
            </a:r>
            <a:endParaRPr lang="zh-CN" altLang="en-US" dirty="0"/>
          </a:p>
        </p:txBody>
      </p:sp>
      <p:sp>
        <p:nvSpPr>
          <p:cNvPr id="14367" name="TextBox 4"/>
          <p:cNvSpPr txBox="1">
            <a:spLocks noChangeArrowheads="1"/>
          </p:cNvSpPr>
          <p:nvPr/>
        </p:nvSpPr>
        <p:spPr bwMode="auto">
          <a:xfrm>
            <a:off x="1043608" y="2780928"/>
            <a:ext cx="712879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alibri" pitchFamily="34" charset="0"/>
              </a:rPr>
              <a:t>MIPS</a:t>
            </a:r>
            <a:r>
              <a:rPr lang="zh-CN" altLang="en-US" sz="1600" b="1" dirty="0">
                <a:latin typeface="Calibri" pitchFamily="34" charset="0"/>
              </a:rPr>
              <a:t>指令</a:t>
            </a:r>
            <a:r>
              <a:rPr lang="en-US" altLang="zh-CN" sz="1600" b="1" dirty="0" err="1">
                <a:latin typeface="Calibri" pitchFamily="34" charset="0"/>
              </a:rPr>
              <a:t>ori</a:t>
            </a:r>
            <a:r>
              <a:rPr lang="zh-CN" altLang="en-US" sz="1600" b="1" dirty="0">
                <a:latin typeface="Calibri" pitchFamily="34" charset="0"/>
              </a:rPr>
              <a:t>     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 err="1">
                <a:latin typeface="Calibri" pitchFamily="34" charset="0"/>
              </a:rPr>
              <a:t>rs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</a:rPr>
              <a:t>Imm16          </a:t>
            </a:r>
            <a:r>
              <a:rPr lang="zh-CN" altLang="en-US" sz="1600" b="1" dirty="0">
                <a:latin typeface="Calibri" pitchFamily="34" charset="0"/>
              </a:rPr>
              <a:t>注释</a:t>
            </a:r>
            <a:r>
              <a:rPr lang="en-US" altLang="zh-CN" sz="1600" b="1" dirty="0">
                <a:latin typeface="Calibri" pitchFamily="34" charset="0"/>
              </a:rPr>
              <a:t>       R[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en-US" altLang="zh-CN" sz="1600" b="1" dirty="0">
                <a:latin typeface="Calibri" pitchFamily="34" charset="0"/>
              </a:rPr>
              <a:t>]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R[</a:t>
            </a:r>
            <a:r>
              <a:rPr lang="en-US" altLang="zh-CN" sz="1600" b="1" dirty="0" err="1">
                <a:latin typeface="Calibri" pitchFamily="34" charset="0"/>
              </a:rPr>
              <a:t>rs</a:t>
            </a:r>
            <a:r>
              <a:rPr lang="en-US" altLang="zh-CN" sz="1600" b="1" dirty="0">
                <a:latin typeface="Calibri" pitchFamily="34" charset="0"/>
              </a:rPr>
              <a:t>]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</a:rPr>
              <a:t>|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ZeroExtImm16</a:t>
            </a:r>
          </a:p>
          <a:p>
            <a:r>
              <a:rPr lang="zh-CN" altLang="en-US" sz="1600" b="1" dirty="0">
                <a:latin typeface="Calibri" pitchFamily="34" charset="0"/>
              </a:rPr>
              <a:t>                   </a:t>
            </a:r>
            <a:r>
              <a:rPr lang="en-US" altLang="zh-CN" sz="1600" b="1" dirty="0" err="1">
                <a:latin typeface="Calibri" pitchFamily="34" charset="0"/>
              </a:rPr>
              <a:t>lui</a:t>
            </a:r>
            <a:r>
              <a:rPr lang="zh-CN" altLang="en-US" sz="1600" b="1" dirty="0">
                <a:latin typeface="Calibri" pitchFamily="34" charset="0"/>
              </a:rPr>
              <a:t>     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</a:rPr>
              <a:t>Imm16</a:t>
            </a:r>
            <a:r>
              <a:rPr lang="zh-CN" altLang="en-US" sz="1600" b="1" dirty="0">
                <a:latin typeface="Calibri" pitchFamily="34" charset="0"/>
              </a:rPr>
              <a:t>                                </a:t>
            </a:r>
            <a:r>
              <a:rPr lang="en-US" altLang="zh-CN" sz="1600" b="1" dirty="0">
                <a:latin typeface="Calibri" pitchFamily="34" charset="0"/>
              </a:rPr>
              <a:t>R[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en-US" altLang="zh-CN" sz="1600" b="1" dirty="0">
                <a:latin typeface="Calibri" pitchFamily="34" charset="0"/>
              </a:rPr>
              <a:t>]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</a:t>
            </a:r>
            <a:r>
              <a:rPr lang="zh-CN" altLang="en-US" sz="1600" b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{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Imm16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</a:rPr>
              <a:t>16’b0}</a:t>
            </a:r>
            <a:endParaRPr lang="zh-CN" altLang="en-US" sz="1600" b="1" dirty="0">
              <a:latin typeface="Calibri" pitchFamily="34" charset="0"/>
            </a:endParaRPr>
          </a:p>
          <a:p>
            <a:r>
              <a:rPr lang="zh-CN" altLang="en-US" sz="1600" b="1" dirty="0">
                <a:latin typeface="Calibri" pitchFamily="34" charset="0"/>
              </a:rPr>
              <a:t>                   </a:t>
            </a:r>
            <a:r>
              <a:rPr lang="en-US" altLang="zh-CN" sz="1600" b="1" dirty="0" err="1">
                <a:latin typeface="Calibri" pitchFamily="34" charset="0"/>
              </a:rPr>
              <a:t>lw</a:t>
            </a:r>
            <a:r>
              <a:rPr lang="en-US" altLang="zh-CN" sz="1600" b="1" dirty="0">
                <a:latin typeface="Calibri" pitchFamily="34" charset="0"/>
              </a:rPr>
              <a:t>  </a:t>
            </a:r>
            <a:r>
              <a:rPr lang="zh-CN" altLang="en-US" sz="1600" b="1" dirty="0">
                <a:latin typeface="Calibri" pitchFamily="34" charset="0"/>
              </a:rPr>
              <a:t>   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 err="1">
                <a:latin typeface="Calibri" pitchFamily="34" charset="0"/>
              </a:rPr>
              <a:t>rs</a:t>
            </a:r>
            <a:r>
              <a:rPr lang="en-US" altLang="zh-CN" sz="1600" b="1" dirty="0">
                <a:latin typeface="Calibri" pitchFamily="34" charset="0"/>
              </a:rPr>
              <a:t>,</a:t>
            </a:r>
            <a:r>
              <a:rPr lang="zh-CN" altLang="en-US" sz="1600" b="1" dirty="0">
                <a:latin typeface="Calibri" pitchFamily="34" charset="0"/>
              </a:rPr>
              <a:t> </a:t>
            </a:r>
            <a:r>
              <a:rPr lang="en-US" altLang="zh-CN" sz="1600" b="1" dirty="0">
                <a:latin typeface="Calibri" pitchFamily="34" charset="0"/>
              </a:rPr>
              <a:t>Imm16   </a:t>
            </a:r>
            <a:r>
              <a:rPr lang="zh-CN" altLang="en-US" sz="1600" b="1" dirty="0">
                <a:latin typeface="Calibri" pitchFamily="34" charset="0"/>
              </a:rPr>
              <a:t>                   </a:t>
            </a:r>
            <a:r>
              <a:rPr lang="en-US" altLang="zh-CN" sz="1600" b="1" dirty="0"/>
              <a:t>R[</a:t>
            </a:r>
            <a:r>
              <a:rPr lang="en-US" altLang="zh-CN" sz="1600" b="1" dirty="0" err="1"/>
              <a:t>rt</a:t>
            </a:r>
            <a:r>
              <a:rPr lang="en-US" altLang="zh-CN" sz="1600" b="1" dirty="0"/>
              <a:t>]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  </a:t>
            </a:r>
            <a:r>
              <a:rPr lang="en-US" altLang="zh-CN" sz="1600" b="1" dirty="0"/>
              <a:t>M[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R[</a:t>
            </a:r>
            <a:r>
              <a:rPr lang="en-US" altLang="zh-CN" sz="1600" b="1" dirty="0" err="1"/>
              <a:t>rs</a:t>
            </a:r>
            <a:r>
              <a:rPr lang="en-US" altLang="zh-CN" sz="1600" b="1" dirty="0"/>
              <a:t>]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+</a:t>
            </a:r>
            <a:r>
              <a:rPr lang="zh-CN" altLang="en-US" sz="1600" b="1" dirty="0"/>
              <a:t> </a:t>
            </a:r>
            <a:r>
              <a:rPr lang="en-US" altLang="zh-CN" sz="1600" b="1" dirty="0" err="1">
                <a:solidFill>
                  <a:srgbClr val="FF0000"/>
                </a:solidFill>
              </a:rPr>
              <a:t>SignExtImm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]</a:t>
            </a:r>
            <a:endParaRPr lang="zh-CN" altLang="en-US" sz="1600" b="1" dirty="0"/>
          </a:p>
          <a:p>
            <a:r>
              <a:rPr lang="zh-CN" altLang="en-US" sz="1600" b="1" dirty="0">
                <a:latin typeface="Calibri" pitchFamily="34" charset="0"/>
                <a:sym typeface="Wingdings" pitchFamily="2" charset="2"/>
              </a:rPr>
              <a:t>                   </a:t>
            </a:r>
            <a:r>
              <a:rPr lang="en-US" altLang="zh-CN" sz="1600" b="1" dirty="0" err="1">
                <a:latin typeface="Calibri" pitchFamily="34" charset="0"/>
                <a:sym typeface="Wingdings" pitchFamily="2" charset="2"/>
              </a:rPr>
              <a:t>sw</a:t>
            </a:r>
            <a:r>
              <a:rPr lang="zh-CN" altLang="en-US" sz="1600" b="1" dirty="0">
                <a:latin typeface="Calibri" pitchFamily="34" charset="0"/>
                <a:sym typeface="Wingdings" pitchFamily="2" charset="2"/>
              </a:rPr>
              <a:t>     </a:t>
            </a:r>
            <a:r>
              <a:rPr lang="en-US" altLang="zh-CN" sz="1600" b="1" dirty="0" err="1">
                <a:latin typeface="Calibri" pitchFamily="34" charset="0"/>
                <a:sym typeface="Wingdings" pitchFamily="2" charset="2"/>
              </a:rPr>
              <a:t>rt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, </a:t>
            </a:r>
            <a:r>
              <a:rPr lang="en-US" altLang="zh-CN" sz="1600" b="1" dirty="0" err="1">
                <a:latin typeface="Calibri" pitchFamily="34" charset="0"/>
                <a:sym typeface="Wingdings" pitchFamily="2" charset="2"/>
              </a:rPr>
              <a:t>rs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, </a:t>
            </a:r>
            <a:r>
              <a:rPr lang="en-US" altLang="zh-CN" sz="1600" b="1" dirty="0">
                <a:latin typeface="Calibri" pitchFamily="34" charset="0"/>
              </a:rPr>
              <a:t>Imm16</a:t>
            </a:r>
            <a:r>
              <a:rPr lang="zh-CN" altLang="en-US" sz="1600" b="1" dirty="0">
                <a:latin typeface="Calibri" pitchFamily="34" charset="0"/>
              </a:rPr>
              <a:t>                     </a:t>
            </a:r>
            <a:r>
              <a:rPr lang="en-US" altLang="zh-CN" sz="1600" b="1" dirty="0"/>
              <a:t>M[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R[</a:t>
            </a:r>
            <a:r>
              <a:rPr lang="en-US" altLang="zh-CN" sz="1600" b="1" dirty="0" err="1"/>
              <a:t>rs</a:t>
            </a:r>
            <a:r>
              <a:rPr lang="en-US" altLang="zh-CN" sz="1600" b="1" dirty="0"/>
              <a:t>]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+</a:t>
            </a:r>
            <a:r>
              <a:rPr lang="zh-CN" altLang="en-US" sz="1600" b="1" dirty="0"/>
              <a:t> </a:t>
            </a:r>
            <a:r>
              <a:rPr lang="en-US" altLang="zh-CN" sz="1600" b="1" dirty="0" err="1">
                <a:solidFill>
                  <a:srgbClr val="FF0000"/>
                </a:solidFill>
              </a:rPr>
              <a:t>SignExtImm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] 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 </a:t>
            </a:r>
            <a:r>
              <a:rPr lang="en-US" altLang="zh-CN" sz="1600" b="1" dirty="0"/>
              <a:t>R[</a:t>
            </a:r>
            <a:r>
              <a:rPr lang="en-US" altLang="zh-CN" sz="1600" b="1" dirty="0" err="1"/>
              <a:t>rt</a:t>
            </a:r>
            <a:r>
              <a:rPr lang="en-US" altLang="zh-CN" sz="1600" b="1" dirty="0"/>
              <a:t>]</a:t>
            </a:r>
            <a:endParaRPr lang="zh-CN" altLang="en-US" sz="1600" b="1" dirty="0"/>
          </a:p>
          <a:p>
            <a:r>
              <a:rPr lang="en-US" altLang="zh-CN" sz="1600" b="1" dirty="0">
                <a:solidFill>
                  <a:srgbClr val="C00000"/>
                </a:solidFill>
                <a:latin typeface="Calibri" pitchFamily="34" charset="0"/>
              </a:rPr>
              <a:t>                   </a:t>
            </a:r>
            <a:r>
              <a:rPr lang="en-US" altLang="zh-CN" sz="1600" b="1" dirty="0" err="1">
                <a:solidFill>
                  <a:srgbClr val="C00000"/>
                </a:solidFill>
                <a:latin typeface="Calibri" pitchFamily="34" charset="0"/>
              </a:rPr>
              <a:t>beq</a:t>
            </a:r>
            <a:r>
              <a:rPr lang="en-US" altLang="zh-CN" sz="1600" b="1" dirty="0">
                <a:solidFill>
                  <a:srgbClr val="C00000"/>
                </a:solidFill>
                <a:latin typeface="Calibri" pitchFamily="34" charset="0"/>
              </a:rPr>
              <a:t>   </a:t>
            </a:r>
            <a:r>
              <a:rPr lang="en-US" altLang="zh-CN" sz="1600" b="1" dirty="0" err="1">
                <a:solidFill>
                  <a:srgbClr val="C00000"/>
                </a:solidFill>
                <a:latin typeface="Calibri" pitchFamily="34" charset="0"/>
              </a:rPr>
              <a:t>rs</a:t>
            </a:r>
            <a:r>
              <a:rPr lang="en-US" altLang="zh-CN" sz="1600" b="1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n-US" altLang="zh-CN" sz="1600" b="1" dirty="0" err="1">
                <a:solidFill>
                  <a:srgbClr val="C00000"/>
                </a:solidFill>
                <a:latin typeface="Calibri" pitchFamily="34" charset="0"/>
              </a:rPr>
              <a:t>rt</a:t>
            </a:r>
            <a:r>
              <a:rPr lang="en-US" altLang="zh-CN" sz="1600" b="1" dirty="0">
                <a:solidFill>
                  <a:srgbClr val="C00000"/>
                </a:solidFill>
                <a:latin typeface="Calibri" pitchFamily="34" charset="0"/>
              </a:rPr>
              <a:t>, label                         </a:t>
            </a:r>
            <a:r>
              <a:rPr lang="en-US" altLang="zh-CN" sz="1600" b="1" dirty="0">
                <a:solidFill>
                  <a:srgbClr val="C00000"/>
                </a:solidFill>
              </a:rPr>
              <a:t>if</a:t>
            </a:r>
            <a:r>
              <a:rPr lang="zh-CN" altLang="en-US" sz="1600" b="1" dirty="0">
                <a:solidFill>
                  <a:srgbClr val="C00000"/>
                </a:solidFill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(R[</a:t>
            </a:r>
            <a:r>
              <a:rPr lang="en-US" altLang="zh-CN" sz="1600" b="1" dirty="0" err="1">
                <a:solidFill>
                  <a:srgbClr val="C00000"/>
                </a:solidFill>
              </a:rPr>
              <a:t>rs</a:t>
            </a:r>
            <a:r>
              <a:rPr lang="en-US" altLang="zh-CN" sz="1600" b="1" dirty="0">
                <a:solidFill>
                  <a:srgbClr val="C00000"/>
                </a:solidFill>
              </a:rPr>
              <a:t>]==R[</a:t>
            </a:r>
            <a:r>
              <a:rPr lang="en-US" altLang="zh-CN" sz="1600" b="1" dirty="0" err="1">
                <a:solidFill>
                  <a:srgbClr val="C00000"/>
                </a:solidFill>
              </a:rPr>
              <a:t>rt</a:t>
            </a:r>
            <a:r>
              <a:rPr lang="en-US" altLang="zh-CN" sz="1600" b="1" dirty="0">
                <a:solidFill>
                  <a:srgbClr val="C00000"/>
                </a:solidFill>
              </a:rPr>
              <a:t>])</a:t>
            </a:r>
          </a:p>
          <a:p>
            <a:r>
              <a:rPr lang="en-US" altLang="zh-CN" sz="1600" b="1" dirty="0">
                <a:solidFill>
                  <a:srgbClr val="C00000"/>
                </a:solidFill>
              </a:rPr>
              <a:t>                                                                              PC=PC+4+BranchAddr</a:t>
            </a:r>
            <a:r>
              <a:rPr lang="zh-CN" altLang="en-US" sz="1600" b="1" dirty="0">
                <a:solidFill>
                  <a:srgbClr val="C00000"/>
                </a:solidFill>
              </a:rPr>
              <a:t>  （？另行处理）</a:t>
            </a:r>
          </a:p>
        </p:txBody>
      </p:sp>
      <p:sp>
        <p:nvSpPr>
          <p:cNvPr id="14368" name="TextBox 6"/>
          <p:cNvSpPr txBox="1">
            <a:spLocks noChangeArrowheads="1"/>
          </p:cNvSpPr>
          <p:nvPr/>
        </p:nvSpPr>
        <p:spPr bwMode="auto">
          <a:xfrm>
            <a:off x="611560" y="4725144"/>
            <a:ext cx="3000375" cy="1077913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的运算器完成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32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位运算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,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alibri" pitchFamily="34" charset="0"/>
              </a:rPr>
              <a:t>rt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和</a:t>
            </a:r>
            <a:r>
              <a:rPr lang="en-US" altLang="zh-CN" sz="1600" b="1" dirty="0" err="1">
                <a:solidFill>
                  <a:srgbClr val="FF0000"/>
                </a:solidFill>
                <a:latin typeface="Calibri" pitchFamily="34" charset="0"/>
              </a:rPr>
              <a:t>rs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是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32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位寄存器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,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Imm16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是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位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,</a:t>
            </a:r>
          </a:p>
          <a:p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所以需要将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Imm16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扩展成</a:t>
            </a:r>
            <a:r>
              <a:rPr lang="en-US" altLang="zh-CN" sz="1600" b="1" dirty="0">
                <a:solidFill>
                  <a:srgbClr val="FF0000"/>
                </a:solidFill>
                <a:latin typeface="Calibri" pitchFamily="34" charset="0"/>
              </a:rPr>
              <a:t>32</a:t>
            </a:r>
            <a:r>
              <a:rPr lang="zh-CN" altLang="en-US" sz="1600" b="1" dirty="0">
                <a:solidFill>
                  <a:srgbClr val="FF0000"/>
                </a:solidFill>
                <a:latin typeface="Calibri" pitchFamily="34" charset="0"/>
              </a:rPr>
              <a:t>位</a:t>
            </a:r>
            <a:endParaRPr lang="en-US" altLang="zh-CN" sz="16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grpSp>
        <p:nvGrpSpPr>
          <p:cNvPr id="2" name="组合 20"/>
          <p:cNvGrpSpPr>
            <a:grpSpLocks/>
          </p:cNvGrpSpPr>
          <p:nvPr/>
        </p:nvGrpSpPr>
        <p:grpSpPr bwMode="auto">
          <a:xfrm>
            <a:off x="3643313" y="4929188"/>
            <a:ext cx="3071812" cy="1481137"/>
            <a:chOff x="4000496" y="4929198"/>
            <a:chExt cx="3071834" cy="1481562"/>
          </a:xfrm>
        </p:grpSpPr>
        <p:sp>
          <p:nvSpPr>
            <p:cNvPr id="8" name="矩形 7"/>
            <p:cNvSpPr/>
            <p:nvPr/>
          </p:nvSpPr>
          <p:spPr>
            <a:xfrm>
              <a:off x="5143504" y="5072114"/>
              <a:ext cx="714380" cy="5716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/>
                <a:t>扩展</a:t>
              </a:r>
            </a:p>
          </p:txBody>
        </p:sp>
        <p:cxnSp>
          <p:nvCxnSpPr>
            <p:cNvPr id="10" name="直接箭头连接符 9"/>
            <p:cNvCxnSpPr>
              <a:endCxn id="8" idx="1"/>
            </p:cNvCxnSpPr>
            <p:nvPr/>
          </p:nvCxnSpPr>
          <p:spPr>
            <a:xfrm>
              <a:off x="4572000" y="5357946"/>
              <a:ext cx="571504" cy="1587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5857884" y="5357946"/>
              <a:ext cx="571504" cy="1587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rot="5400000" flipH="1" flipV="1">
              <a:off x="5287113" y="5857358"/>
              <a:ext cx="428748" cy="1588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86" name="TextBox 17"/>
            <p:cNvSpPr txBox="1">
              <a:spLocks noChangeArrowheads="1"/>
            </p:cNvSpPr>
            <p:nvPr/>
          </p:nvSpPr>
          <p:spPr bwMode="auto">
            <a:xfrm>
              <a:off x="4000496" y="5000636"/>
              <a:ext cx="85725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Calibri" pitchFamily="34" charset="0"/>
                </a:rPr>
                <a:t>Imm16</a:t>
              </a:r>
              <a:endParaRPr lang="zh-CN" altLang="en-US" sz="1600" b="1">
                <a:latin typeface="Calibri" pitchFamily="34" charset="0"/>
              </a:endParaRPr>
            </a:p>
          </p:txBody>
        </p:sp>
        <p:sp>
          <p:nvSpPr>
            <p:cNvPr id="14387" name="TextBox 18"/>
            <p:cNvSpPr txBox="1">
              <a:spLocks noChangeArrowheads="1"/>
            </p:cNvSpPr>
            <p:nvPr/>
          </p:nvSpPr>
          <p:spPr bwMode="auto">
            <a:xfrm>
              <a:off x="5929322" y="4929198"/>
              <a:ext cx="11430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Calibri" pitchFamily="34" charset="0"/>
                </a:rPr>
                <a:t>ExtImm32</a:t>
              </a:r>
              <a:endParaRPr lang="zh-CN" altLang="en-US" sz="1600" b="1">
                <a:latin typeface="Calibri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72066" y="6072526"/>
              <a:ext cx="793235" cy="3382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kern="100" dirty="0" err="1">
                  <a:latin typeface="+mn-lt"/>
                  <a:ea typeface="宋体"/>
                  <a:cs typeface="Times New Roman"/>
                </a:rPr>
                <a:t>Extsel</a:t>
              </a:r>
              <a:endParaRPr lang="zh-CN" altLang="en-US" sz="1200" kern="100" dirty="0">
                <a:latin typeface="+mn-lt"/>
                <a:ea typeface="+mn-ea"/>
                <a:cs typeface="Times New Roman"/>
              </a:endParaRPr>
            </a:p>
          </p:txBody>
        </p:sp>
      </p:grpSp>
      <p:grpSp>
        <p:nvGrpSpPr>
          <p:cNvPr id="4" name="组合 63"/>
          <p:cNvGrpSpPr>
            <a:grpSpLocks/>
          </p:cNvGrpSpPr>
          <p:nvPr/>
        </p:nvGrpSpPr>
        <p:grpSpPr bwMode="auto">
          <a:xfrm>
            <a:off x="6143625" y="4429125"/>
            <a:ext cx="1571625" cy="1143000"/>
            <a:chOff x="6143636" y="4429132"/>
            <a:chExt cx="1571636" cy="1143008"/>
          </a:xfrm>
        </p:grpSpPr>
        <p:grpSp>
          <p:nvGrpSpPr>
            <p:cNvPr id="5" name="组合 58"/>
            <p:cNvGrpSpPr>
              <a:grpSpLocks/>
            </p:cNvGrpSpPr>
            <p:nvPr/>
          </p:nvGrpSpPr>
          <p:grpSpPr bwMode="auto">
            <a:xfrm>
              <a:off x="6572264" y="4429132"/>
              <a:ext cx="715968" cy="1143008"/>
              <a:chOff x="6928660" y="4643446"/>
              <a:chExt cx="715968" cy="1143008"/>
            </a:xfrm>
          </p:grpSpPr>
          <p:cxnSp>
            <p:nvCxnSpPr>
              <p:cNvPr id="29" name="直接连接符 28"/>
              <p:cNvCxnSpPr/>
              <p:nvPr/>
            </p:nvCxnSpPr>
            <p:spPr>
              <a:xfrm rot="5400000">
                <a:off x="6750859" y="4822835"/>
                <a:ext cx="357189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rot="5400000">
                <a:off x="6716728" y="5571346"/>
                <a:ext cx="428628" cy="158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5400000">
                <a:off x="7323157" y="5179231"/>
                <a:ext cx="641354" cy="15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6930248" y="4643446"/>
                <a:ext cx="712792" cy="21431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10800000" flipV="1">
                <a:off x="6930248" y="5500702"/>
                <a:ext cx="712792" cy="28575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16200000" flipH="1">
                <a:off x="6930248" y="5000637"/>
                <a:ext cx="214313" cy="21431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10800000" flipV="1">
                <a:off x="6930248" y="5214950"/>
                <a:ext cx="214313" cy="14287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直接箭头连接符 60"/>
            <p:cNvCxnSpPr/>
            <p:nvPr/>
          </p:nvCxnSpPr>
          <p:spPr>
            <a:xfrm>
              <a:off x="6143636" y="4572008"/>
              <a:ext cx="428628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7286644" y="5000636"/>
              <a:ext cx="428628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74" name="TextBox 62"/>
            <p:cNvSpPr txBox="1">
              <a:spLocks noChangeArrowheads="1"/>
            </p:cNvSpPr>
            <p:nvPr/>
          </p:nvSpPr>
          <p:spPr bwMode="auto">
            <a:xfrm>
              <a:off x="6786578" y="4643446"/>
              <a:ext cx="428628" cy="60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100" b="1">
                  <a:latin typeface="Calibri" pitchFamily="34" charset="0"/>
                </a:rPr>
                <a:t>运算器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3568" y="332656"/>
            <a:ext cx="1928812" cy="3698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Calibri" pitchFamily="34" charset="0"/>
              </a:rPr>
              <a:t>立即数扩展电路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632" y="980728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</a:t>
            </a:r>
            <a:r>
              <a:rPr lang="en-US" altLang="zh-CN" b="1" dirty="0" err="1"/>
              <a:t>LogicSim</a:t>
            </a:r>
            <a:r>
              <a:rPr lang="zh-CN" altLang="en-US" b="1" dirty="0"/>
              <a:t>的实现？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162880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Verilog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HDL</a:t>
            </a:r>
            <a:r>
              <a:rPr lang="zh-CN" altLang="en-US" b="1" dirty="0">
                <a:solidFill>
                  <a:srgbClr val="FF0000"/>
                </a:solidFill>
              </a:rPr>
              <a:t>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7704" y="2204864"/>
            <a:ext cx="58326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module  </a:t>
            </a:r>
            <a:r>
              <a:rPr lang="en-US" altLang="zh-CN" b="1" dirty="0" err="1"/>
              <a:t>ext_imm</a:t>
            </a:r>
            <a:r>
              <a:rPr lang="en-US" altLang="zh-CN" b="1" dirty="0"/>
              <a:t> (imm16,extsel,imm32);</a:t>
            </a:r>
          </a:p>
          <a:p>
            <a:r>
              <a:rPr lang="en-US" altLang="zh-CN" b="1" dirty="0"/>
              <a:t>     input [15:0] imm16;</a:t>
            </a:r>
          </a:p>
          <a:p>
            <a:r>
              <a:rPr lang="en-US" altLang="zh-CN" b="1" dirty="0"/>
              <a:t>     input [1:0] </a:t>
            </a:r>
            <a:r>
              <a:rPr lang="en-US" altLang="zh-CN" b="1" dirty="0" err="1"/>
              <a:t>extsel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output [31:0] imm32;</a:t>
            </a:r>
          </a:p>
          <a:p>
            <a:r>
              <a:rPr lang="en-US" altLang="zh-CN" b="1" dirty="0"/>
              <a:t>     </a:t>
            </a:r>
            <a:r>
              <a:rPr lang="en-US" altLang="zh-CN" b="1" dirty="0" err="1"/>
              <a:t>reg</a:t>
            </a:r>
            <a:r>
              <a:rPr lang="en-US" altLang="zh-CN" b="1" dirty="0"/>
              <a:t>  [31:0] imm32;</a:t>
            </a:r>
          </a:p>
          <a:p>
            <a:r>
              <a:rPr lang="en-US" altLang="zh-CN" b="1" dirty="0"/>
              <a:t>          always @(*)</a:t>
            </a:r>
          </a:p>
          <a:p>
            <a:r>
              <a:rPr lang="en-US" altLang="zh-CN" b="1" dirty="0"/>
              <a:t>             </a:t>
            </a:r>
            <a:r>
              <a:rPr lang="zh-CN" altLang="en-US" b="1" dirty="0"/>
              <a:t>  </a:t>
            </a:r>
            <a:r>
              <a:rPr lang="en-US" altLang="zh-CN" b="1" dirty="0"/>
              <a:t>case  (</a:t>
            </a:r>
            <a:r>
              <a:rPr lang="en-US" altLang="zh-CN" b="1" dirty="0" err="1"/>
              <a:t>extsel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          0:  imm32=            </a:t>
            </a:r>
            <a:r>
              <a:rPr lang="zh-CN" altLang="en-US" b="1" dirty="0"/>
              <a:t> </a:t>
            </a:r>
            <a:r>
              <a:rPr lang="en-US" altLang="zh-CN" b="1" dirty="0"/>
              <a:t>//</a:t>
            </a:r>
            <a:r>
              <a:rPr lang="en-US" altLang="zh-CN" b="1" dirty="0">
                <a:solidFill>
                  <a:srgbClr val="FF0000"/>
                </a:solidFill>
              </a:rPr>
              <a:t>?</a:t>
            </a:r>
            <a:r>
              <a:rPr lang="zh-CN" altLang="en-US" b="1" dirty="0">
                <a:solidFill>
                  <a:srgbClr val="FF0000"/>
                </a:solidFill>
              </a:rPr>
              <a:t>无符号扩展      </a:t>
            </a:r>
            <a:r>
              <a:rPr lang="en-US" altLang="zh-CN" b="1" dirty="0" err="1">
                <a:solidFill>
                  <a:srgbClr val="FF0000"/>
                </a:solidFill>
              </a:rPr>
              <a:t>ori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/>
              <a:t>                  1:  imm32= </a:t>
            </a:r>
            <a:r>
              <a:rPr lang="zh-CN" altLang="en-US" b="1" dirty="0"/>
              <a:t>            </a:t>
            </a:r>
            <a:r>
              <a:rPr lang="en-US" altLang="zh-CN" b="1" dirty="0"/>
              <a:t>//</a:t>
            </a:r>
            <a:r>
              <a:rPr lang="en-US" altLang="zh-CN" b="1" dirty="0">
                <a:solidFill>
                  <a:srgbClr val="FF0000"/>
                </a:solidFill>
              </a:rPr>
              <a:t>?</a:t>
            </a:r>
            <a:r>
              <a:rPr lang="zh-CN" altLang="en-US" b="1" dirty="0">
                <a:solidFill>
                  <a:srgbClr val="FF0000"/>
                </a:solidFill>
              </a:rPr>
              <a:t>符号扩展   </a:t>
            </a:r>
            <a:r>
              <a:rPr lang="en-US" altLang="zh-CN" b="1" dirty="0" err="1">
                <a:solidFill>
                  <a:srgbClr val="FF0000"/>
                </a:solidFill>
              </a:rPr>
              <a:t>lw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</a:rPr>
              <a:t>sw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</a:rPr>
              <a:t>beq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/>
              <a:t>                  2:  imm32= </a:t>
            </a:r>
            <a:r>
              <a:rPr lang="zh-CN" altLang="en-US" b="1" dirty="0"/>
              <a:t>            </a:t>
            </a:r>
            <a:r>
              <a:rPr lang="en-US" altLang="zh-CN" b="1" dirty="0"/>
              <a:t>//</a:t>
            </a:r>
            <a:r>
              <a:rPr lang="en-US" altLang="zh-CN" b="1" dirty="0">
                <a:solidFill>
                  <a:srgbClr val="FF0000"/>
                </a:solidFill>
              </a:rPr>
              <a:t>?</a:t>
            </a:r>
            <a:r>
              <a:rPr lang="zh-CN" altLang="en-US" b="1" dirty="0">
                <a:solidFill>
                  <a:srgbClr val="FF0000"/>
                </a:solidFill>
              </a:rPr>
              <a:t>低位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扩展    </a:t>
            </a:r>
            <a:r>
              <a:rPr lang="en-US" altLang="zh-CN" b="1" dirty="0" err="1">
                <a:solidFill>
                  <a:srgbClr val="FF0000"/>
                </a:solidFill>
              </a:rPr>
              <a:t>lui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/>
              <a:t>                 default : imm32= </a:t>
            </a:r>
            <a:r>
              <a:rPr lang="zh-CN" altLang="en-US" b="1" dirty="0"/>
              <a:t>         </a:t>
            </a:r>
            <a:r>
              <a:rPr lang="en-US" altLang="zh-CN" b="1" dirty="0"/>
              <a:t>//</a:t>
            </a:r>
            <a:r>
              <a:rPr lang="en-US" altLang="zh-CN" b="1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zh-CN" b="1" dirty="0"/>
              <a:t>             </a:t>
            </a:r>
            <a:r>
              <a:rPr lang="en-US" altLang="zh-CN" b="1" dirty="0" err="1"/>
              <a:t>endcase</a:t>
            </a:r>
            <a:endParaRPr lang="en-US" altLang="zh-CN" b="1" dirty="0"/>
          </a:p>
          <a:p>
            <a:r>
              <a:rPr lang="en-US" altLang="zh-CN" b="1" dirty="0" err="1"/>
              <a:t>endmodule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156176" y="5733256"/>
            <a:ext cx="158417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同学补充完整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2051720" y="908720"/>
            <a:ext cx="3744416" cy="2313548"/>
            <a:chOff x="2051720" y="908720"/>
            <a:chExt cx="3744416" cy="2313548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3131840" y="908720"/>
              <a:ext cx="1008112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>
              <a:off x="4139952" y="1124744"/>
              <a:ext cx="0" cy="10081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131840" y="908720"/>
              <a:ext cx="0" cy="50405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131840" y="1412776"/>
              <a:ext cx="216024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3131840" y="1628800"/>
              <a:ext cx="216024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3131840" y="1844824"/>
              <a:ext cx="0" cy="50405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3131840" y="2132856"/>
              <a:ext cx="1008112" cy="2160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419872" y="1484784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ALU</a:t>
              </a:r>
              <a:endParaRPr lang="zh-CN" altLang="en-US"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2411760" y="1196752"/>
              <a:ext cx="7200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2411760" y="2132856"/>
              <a:ext cx="7200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051720" y="98072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51720" y="191683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4139952" y="1628800"/>
              <a:ext cx="648072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355976" y="119675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V="1">
              <a:off x="3635896" y="2276872"/>
              <a:ext cx="0" cy="50405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491880" y="2852936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788024" y="1124744"/>
              <a:ext cx="576064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寄存器</a:t>
              </a:r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V="1">
              <a:off x="4932040" y="2204864"/>
              <a:ext cx="0" cy="43204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5220072" y="2204864"/>
              <a:ext cx="0" cy="43204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644008" y="2636912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clk</a:t>
              </a:r>
              <a:r>
                <a:rPr lang="zh-CN" altLang="en-US" dirty="0"/>
                <a:t>    </a:t>
              </a:r>
              <a:r>
                <a:rPr lang="en-US" altLang="zh-CN" dirty="0"/>
                <a:t>reset</a:t>
              </a:r>
              <a:endParaRPr lang="zh-CN" altLang="en-US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259632" y="3501008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由运算结果需要保存，引出存储的概念、时序的概念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9632" y="4293096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讲解双稳态元件</a:t>
            </a:r>
            <a:r>
              <a:rPr lang="en-US" altLang="zh-CN" b="1" dirty="0"/>
              <a:t>-----RS</a:t>
            </a:r>
            <a:r>
              <a:rPr lang="zh-CN" altLang="en-US" b="1" dirty="0"/>
              <a:t>、</a:t>
            </a:r>
            <a:r>
              <a:rPr lang="en-US" altLang="zh-CN" b="1" dirty="0"/>
              <a:t>D</a:t>
            </a:r>
            <a:r>
              <a:rPr lang="zh-CN" altLang="en-US" b="1" dirty="0"/>
              <a:t>、</a:t>
            </a:r>
            <a:r>
              <a:rPr lang="en-US" altLang="zh-CN" b="1" dirty="0"/>
              <a:t>JK</a:t>
            </a:r>
            <a:r>
              <a:rPr lang="zh-CN" altLang="en-US" b="1" dirty="0"/>
              <a:t>锁存器</a:t>
            </a:r>
            <a:r>
              <a:rPr lang="en-US" altLang="zh-CN" b="1" dirty="0"/>
              <a:t>------D</a:t>
            </a:r>
            <a:r>
              <a:rPr lang="zh-CN" altLang="en-US" b="1" dirty="0"/>
              <a:t>、</a:t>
            </a:r>
            <a:r>
              <a:rPr lang="en-US" altLang="zh-CN" b="1" dirty="0"/>
              <a:t>JK</a:t>
            </a:r>
            <a:r>
              <a:rPr lang="zh-CN" altLang="en-US" b="1" dirty="0"/>
              <a:t>触发器</a:t>
            </a:r>
            <a:r>
              <a:rPr lang="en-US" altLang="zh-CN" b="1" dirty="0"/>
              <a:t>------</a:t>
            </a:r>
            <a:r>
              <a:rPr lang="zh-CN" altLang="en-US" b="1" dirty="0"/>
              <a:t>寄存器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3648" y="5229200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由指令中</a:t>
            </a:r>
            <a:r>
              <a:rPr lang="en-US" altLang="zh-CN" b="1" dirty="0" err="1">
                <a:solidFill>
                  <a:srgbClr val="FF0000"/>
                </a:solidFill>
              </a:rPr>
              <a:t>rs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 err="1">
                <a:solidFill>
                  <a:srgbClr val="FF0000"/>
                </a:solidFill>
              </a:rPr>
              <a:t>rt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rd</a:t>
            </a:r>
            <a:r>
              <a:rPr lang="zh-CN" altLang="en-US" b="1" dirty="0">
                <a:solidFill>
                  <a:srgbClr val="FF0000"/>
                </a:solidFill>
              </a:rPr>
              <a:t>的定义引出，寄存器堆的概念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357438" y="1643063"/>
            <a:ext cx="4643437" cy="307181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1813" y="2214563"/>
            <a:ext cx="1428750" cy="2143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Reg0[31:0]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71813" y="2571750"/>
            <a:ext cx="1428750" cy="2143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Reg1[31:0]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71813" y="3857625"/>
            <a:ext cx="1428750" cy="2143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Reg31[31:0]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rot="5400000">
            <a:off x="3928269" y="1856582"/>
            <a:ext cx="714375" cy="158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rot="5400000">
            <a:off x="2858294" y="1856582"/>
            <a:ext cx="714375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rot="5400000">
            <a:off x="3501231" y="1856582"/>
            <a:ext cx="714375" cy="158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1" name="TextBox 10"/>
          <p:cNvSpPr txBox="1">
            <a:spLocks noChangeArrowheads="1"/>
          </p:cNvSpPr>
          <p:nvPr/>
        </p:nvSpPr>
        <p:spPr bwMode="auto">
          <a:xfrm>
            <a:off x="3571875" y="3071813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……</a:t>
            </a:r>
            <a:endParaRPr lang="zh-CN" altLang="en-US">
              <a:latin typeface="Calibri" pitchFamily="34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786063" y="2357438"/>
            <a:ext cx="285750" cy="158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786063" y="2714625"/>
            <a:ext cx="285750" cy="158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786063" y="4000500"/>
            <a:ext cx="285750" cy="158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500563" y="2357438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500563" y="2714625"/>
            <a:ext cx="285750" cy="1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4500563" y="4000500"/>
            <a:ext cx="285750" cy="1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500313" y="2214563"/>
            <a:ext cx="285750" cy="2000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FF0000"/>
                </a:solidFill>
              </a:rPr>
              <a:t>译码器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214563" y="2643188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2214563" y="3857625"/>
            <a:ext cx="285750" cy="1588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928688" y="2428875"/>
            <a:ext cx="1285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目标寄存器号</a:t>
            </a:r>
            <a:endParaRPr lang="en-US" altLang="zh-CN" sz="1200">
              <a:latin typeface="Calibri" pitchFamily="34" charset="0"/>
            </a:endParaRPr>
          </a:p>
          <a:p>
            <a:r>
              <a:rPr lang="zh-CN" altLang="en-US" sz="1200">
                <a:latin typeface="Calibri" pitchFamily="34" charset="0"/>
              </a:rPr>
              <a:t> </a:t>
            </a:r>
            <a:r>
              <a:rPr lang="en-US" altLang="zh-CN" sz="1200">
                <a:latin typeface="Calibri" pitchFamily="34" charset="0"/>
              </a:rPr>
              <a:t>WReg_Numb[5:0]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1500188" y="3571875"/>
            <a:ext cx="714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写使能</a:t>
            </a:r>
            <a:endParaRPr lang="en-US" altLang="zh-CN" sz="1200">
              <a:latin typeface="Calibri" pitchFamily="34" charset="0"/>
            </a:endParaRPr>
          </a:p>
          <a:p>
            <a:r>
              <a:rPr lang="en-US" altLang="zh-CN" sz="1200">
                <a:latin typeface="Calibri" pitchFamily="34" charset="0"/>
              </a:rPr>
              <a:t>WR_en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33" name="TextBox 30"/>
          <p:cNvSpPr txBox="1">
            <a:spLocks noChangeArrowheads="1"/>
          </p:cNvSpPr>
          <p:nvPr/>
        </p:nvSpPr>
        <p:spPr bwMode="auto">
          <a:xfrm>
            <a:off x="2643188" y="1000125"/>
            <a:ext cx="928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写数据</a:t>
            </a:r>
            <a:endParaRPr lang="en-US" altLang="zh-CN" sz="1200">
              <a:latin typeface="Calibri" pitchFamily="34" charset="0"/>
            </a:endParaRPr>
          </a:p>
          <a:p>
            <a:r>
              <a:rPr lang="en-US" altLang="zh-CN" sz="1200">
                <a:latin typeface="Calibri" pitchFamily="34" charset="0"/>
              </a:rPr>
              <a:t>Wdata[31:0]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34" name="TextBox 31"/>
          <p:cNvSpPr txBox="1">
            <a:spLocks noChangeArrowheads="1"/>
          </p:cNvSpPr>
          <p:nvPr/>
        </p:nvSpPr>
        <p:spPr bwMode="auto">
          <a:xfrm>
            <a:off x="3571875" y="1000125"/>
            <a:ext cx="5000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复位</a:t>
            </a:r>
            <a:r>
              <a:rPr lang="en-US" altLang="zh-CN" sz="1200">
                <a:latin typeface="Calibri" pitchFamily="34" charset="0"/>
              </a:rPr>
              <a:t>reset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35" name="TextBox 32"/>
          <p:cNvSpPr txBox="1">
            <a:spLocks noChangeArrowheads="1"/>
          </p:cNvSpPr>
          <p:nvPr/>
        </p:nvSpPr>
        <p:spPr bwMode="auto">
          <a:xfrm>
            <a:off x="4071938" y="1000125"/>
            <a:ext cx="492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时钟</a:t>
            </a:r>
            <a:endParaRPr lang="en-US" altLang="zh-CN" sz="1200">
              <a:latin typeface="Calibri" pitchFamily="34" charset="0"/>
            </a:endParaRPr>
          </a:p>
          <a:p>
            <a:r>
              <a:rPr lang="en-US" altLang="zh-CN" sz="1200">
                <a:latin typeface="Calibri" pitchFamily="34" charset="0"/>
              </a:rPr>
              <a:t>clk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715000" y="2143125"/>
            <a:ext cx="1143000" cy="78581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选择器</a:t>
            </a:r>
          </a:p>
        </p:txBody>
      </p:sp>
      <p:sp>
        <p:nvSpPr>
          <p:cNvPr id="35" name="矩形 34"/>
          <p:cNvSpPr/>
          <p:nvPr/>
        </p:nvSpPr>
        <p:spPr>
          <a:xfrm>
            <a:off x="5715000" y="3571875"/>
            <a:ext cx="1143000" cy="78581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选择器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6858000" y="3929063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6858000" y="2500313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5429250" y="2857500"/>
            <a:ext cx="285750" cy="1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5429250" y="2214563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5429250" y="4286250"/>
            <a:ext cx="285750" cy="1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5429250" y="3643313"/>
            <a:ext cx="285750" cy="1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4" name="TextBox 41"/>
          <p:cNvSpPr txBox="1">
            <a:spLocks noChangeArrowheads="1"/>
          </p:cNvSpPr>
          <p:nvPr/>
        </p:nvSpPr>
        <p:spPr bwMode="auto">
          <a:xfrm>
            <a:off x="4857750" y="1928813"/>
            <a:ext cx="928688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Reg0[31:0]</a:t>
            </a:r>
          </a:p>
          <a:p>
            <a:endParaRPr lang="en-US" altLang="zh-CN" sz="110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……</a:t>
            </a:r>
          </a:p>
          <a:p>
            <a:endParaRPr lang="en-US" altLang="zh-CN" sz="110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Reg31[31:0]</a:t>
            </a:r>
            <a:endParaRPr lang="zh-CN" altLang="en-US" sz="110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3345" name="TextBox 42"/>
          <p:cNvSpPr txBox="1">
            <a:spLocks noChangeArrowheads="1"/>
          </p:cNvSpPr>
          <p:nvPr/>
        </p:nvSpPr>
        <p:spPr bwMode="auto">
          <a:xfrm>
            <a:off x="4857750" y="3357563"/>
            <a:ext cx="928688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Reg0[31:0]</a:t>
            </a:r>
          </a:p>
          <a:p>
            <a:endParaRPr lang="en-US" altLang="zh-CN" sz="110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……</a:t>
            </a:r>
          </a:p>
          <a:p>
            <a:endParaRPr lang="en-US" altLang="zh-CN" sz="110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altLang="zh-CN" sz="1100">
                <a:solidFill>
                  <a:srgbClr val="FF0000"/>
                </a:solidFill>
                <a:latin typeface="Calibri" pitchFamily="34" charset="0"/>
              </a:rPr>
              <a:t>Reg31[31:0]</a:t>
            </a:r>
            <a:endParaRPr lang="zh-CN" altLang="en-US" sz="110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3346" name="TextBox 43"/>
          <p:cNvSpPr txBox="1">
            <a:spLocks noChangeArrowheads="1"/>
          </p:cNvSpPr>
          <p:nvPr/>
        </p:nvSpPr>
        <p:spPr bwMode="auto">
          <a:xfrm>
            <a:off x="7143750" y="2357438"/>
            <a:ext cx="1143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Calibri" pitchFamily="34" charset="0"/>
              </a:rPr>
              <a:t>Bus_A[31:0]</a:t>
            </a:r>
            <a:endParaRPr lang="zh-CN" altLang="en-US" sz="140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3347" name="TextBox 44"/>
          <p:cNvSpPr txBox="1">
            <a:spLocks noChangeArrowheads="1"/>
          </p:cNvSpPr>
          <p:nvPr/>
        </p:nvSpPr>
        <p:spPr bwMode="auto">
          <a:xfrm>
            <a:off x="7143750" y="3786188"/>
            <a:ext cx="1143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Calibri" pitchFamily="34" charset="0"/>
              </a:rPr>
              <a:t>Bus_B[31:0]</a:t>
            </a:r>
            <a:endParaRPr lang="zh-CN" altLang="en-US" sz="140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rot="5400000">
            <a:off x="5893594" y="1821657"/>
            <a:ext cx="642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rot="5400000">
            <a:off x="5965826" y="4606925"/>
            <a:ext cx="500062" cy="1587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50" name="TextBox 48"/>
          <p:cNvSpPr txBox="1">
            <a:spLocks noChangeArrowheads="1"/>
          </p:cNvSpPr>
          <p:nvPr/>
        </p:nvSpPr>
        <p:spPr bwMode="auto">
          <a:xfrm>
            <a:off x="5572125" y="1000125"/>
            <a:ext cx="135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源寄存器号</a:t>
            </a:r>
            <a:r>
              <a:rPr lang="en-US" altLang="zh-CN" sz="1200">
                <a:latin typeface="Calibri" pitchFamily="34" charset="0"/>
              </a:rPr>
              <a:t>1</a:t>
            </a:r>
          </a:p>
          <a:p>
            <a:r>
              <a:rPr lang="zh-CN" altLang="en-US" sz="1200">
                <a:latin typeface="Calibri" pitchFamily="34" charset="0"/>
              </a:rPr>
              <a:t> </a:t>
            </a:r>
            <a:r>
              <a:rPr lang="en-US" altLang="zh-CN" sz="1200">
                <a:latin typeface="Calibri" pitchFamily="34" charset="0"/>
              </a:rPr>
              <a:t>RSReg_Numb[5:0]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51" name="TextBox 49"/>
          <p:cNvSpPr txBox="1">
            <a:spLocks noChangeArrowheads="1"/>
          </p:cNvSpPr>
          <p:nvPr/>
        </p:nvSpPr>
        <p:spPr bwMode="auto">
          <a:xfrm>
            <a:off x="5643563" y="4857750"/>
            <a:ext cx="1428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>
                <a:latin typeface="Calibri" pitchFamily="34" charset="0"/>
              </a:rPr>
              <a:t>源寄存器号</a:t>
            </a:r>
            <a:r>
              <a:rPr lang="en-US" altLang="zh-CN" sz="1200">
                <a:latin typeface="Calibri" pitchFamily="34" charset="0"/>
              </a:rPr>
              <a:t>2</a:t>
            </a:r>
          </a:p>
          <a:p>
            <a:r>
              <a:rPr lang="zh-CN" altLang="en-US" sz="1200">
                <a:latin typeface="Calibri" pitchFamily="34" charset="0"/>
              </a:rPr>
              <a:t> </a:t>
            </a:r>
            <a:r>
              <a:rPr lang="en-US" altLang="zh-CN" sz="1200">
                <a:latin typeface="Calibri" pitchFamily="34" charset="0"/>
              </a:rPr>
              <a:t>RTReg_Numb[5:0]</a:t>
            </a:r>
            <a:endParaRPr lang="zh-CN" altLang="en-US" sz="1200">
              <a:latin typeface="Calibri" pitchFamily="34" charset="0"/>
            </a:endParaRPr>
          </a:p>
        </p:txBody>
      </p:sp>
      <p:sp>
        <p:nvSpPr>
          <p:cNvPr id="13352" name="TextBox 52"/>
          <p:cNvSpPr txBox="1">
            <a:spLocks noChangeArrowheads="1"/>
          </p:cNvSpPr>
          <p:nvPr/>
        </p:nvSpPr>
        <p:spPr bwMode="auto">
          <a:xfrm>
            <a:off x="1428750" y="5572125"/>
            <a:ext cx="5715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//</a:t>
            </a:r>
            <a:r>
              <a:rPr lang="zh-CN" altLang="en-US">
                <a:latin typeface="Calibri" pitchFamily="34" charset="0"/>
              </a:rPr>
              <a:t>在</a:t>
            </a:r>
            <a:r>
              <a:rPr lang="en-US" altLang="zh-CN">
                <a:latin typeface="Calibri" pitchFamily="34" charset="0"/>
              </a:rPr>
              <a:t>Verilog  HDL </a:t>
            </a:r>
            <a:r>
              <a:rPr lang="zh-CN" altLang="en-US">
                <a:latin typeface="Calibri" pitchFamily="34" charset="0"/>
              </a:rPr>
              <a:t>模块中，定义</a:t>
            </a:r>
            <a:r>
              <a:rPr lang="en-US" altLang="zh-CN">
                <a:latin typeface="Calibri" pitchFamily="34" charset="0"/>
              </a:rPr>
              <a:t>32</a:t>
            </a:r>
            <a:r>
              <a:rPr lang="zh-CN" altLang="en-US">
                <a:latin typeface="Calibri" pitchFamily="34" charset="0"/>
              </a:rPr>
              <a:t>个</a:t>
            </a:r>
            <a:r>
              <a:rPr lang="en-US" altLang="zh-CN">
                <a:latin typeface="Calibri" pitchFamily="34" charset="0"/>
              </a:rPr>
              <a:t>32</a:t>
            </a:r>
            <a:r>
              <a:rPr lang="zh-CN" altLang="en-US">
                <a:latin typeface="Calibri" pitchFamily="34" charset="0"/>
              </a:rPr>
              <a:t>位的寄存器堆</a:t>
            </a:r>
            <a:endParaRPr lang="en-US" altLang="zh-CN">
              <a:latin typeface="Calibri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</a:rPr>
              <a:t>reg</a:t>
            </a:r>
            <a:r>
              <a:rPr lang="zh-CN" altLang="en-US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</a:rPr>
              <a:t>[31:0]</a:t>
            </a:r>
            <a:r>
              <a:rPr lang="zh-CN" altLang="en-US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</a:rPr>
              <a:t>Reg_files</a:t>
            </a:r>
            <a:r>
              <a:rPr lang="zh-CN" altLang="en-US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</a:rPr>
              <a:t>[31:0]</a:t>
            </a:r>
            <a:r>
              <a:rPr lang="zh-CN" altLang="en-US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</a:rPr>
              <a:t>;</a:t>
            </a:r>
          </a:p>
        </p:txBody>
      </p:sp>
      <p:sp>
        <p:nvSpPr>
          <p:cNvPr id="13353" name="TextBox 46"/>
          <p:cNvSpPr txBox="1">
            <a:spLocks noChangeArrowheads="1"/>
          </p:cNvSpPr>
          <p:nvPr/>
        </p:nvSpPr>
        <p:spPr bwMode="auto">
          <a:xfrm>
            <a:off x="5643563" y="6072188"/>
            <a:ext cx="2857500" cy="3698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Calibri" pitchFamily="34" charset="0"/>
              </a:rPr>
              <a:t>要求</a:t>
            </a:r>
            <a:r>
              <a:rPr lang="en-US" altLang="zh-CN">
                <a:latin typeface="Calibri" pitchFamily="34" charset="0"/>
              </a:rPr>
              <a:t>Reg0</a:t>
            </a:r>
            <a:r>
              <a:rPr lang="zh-CN" altLang="en-US">
                <a:latin typeface="Calibri" pitchFamily="34" charset="0"/>
              </a:rPr>
              <a:t>恒为</a:t>
            </a:r>
            <a:r>
              <a:rPr lang="en-US" altLang="zh-CN">
                <a:latin typeface="Calibri" pitchFamily="34" charset="0"/>
              </a:rPr>
              <a:t>0,</a:t>
            </a:r>
            <a:r>
              <a:rPr lang="zh-CN" altLang="en-US">
                <a:latin typeface="Calibri" pitchFamily="34" charset="0"/>
              </a:rPr>
              <a:t>如何处理</a:t>
            </a:r>
            <a:r>
              <a:rPr lang="en-US" altLang="zh-CN">
                <a:latin typeface="Calibri" pitchFamily="34" charset="0"/>
              </a:rPr>
              <a:t>?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3354" name="TextBox 51"/>
          <p:cNvSpPr txBox="1">
            <a:spLocks noChangeArrowheads="1"/>
          </p:cNvSpPr>
          <p:nvPr/>
        </p:nvSpPr>
        <p:spPr bwMode="auto">
          <a:xfrm>
            <a:off x="714375" y="357188"/>
            <a:ext cx="1643063" cy="3698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Calibri" pitchFamily="34" charset="0"/>
              </a:rPr>
              <a:t>寄存器堆单元</a:t>
            </a:r>
          </a:p>
        </p:txBody>
      </p:sp>
      <p:sp>
        <p:nvSpPr>
          <p:cNvPr id="13355" name="TextBox 53"/>
          <p:cNvSpPr txBox="1">
            <a:spLocks noChangeArrowheads="1"/>
          </p:cNvSpPr>
          <p:nvPr/>
        </p:nvSpPr>
        <p:spPr bwMode="auto">
          <a:xfrm>
            <a:off x="3419872" y="404664"/>
            <a:ext cx="435768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dirty="0">
                <a:latin typeface="Calibri" pitchFamily="34" charset="0"/>
              </a:rPr>
              <a:t>MIPS</a:t>
            </a:r>
            <a:r>
              <a:rPr lang="zh-CN" altLang="en-US" sz="1600" b="1" dirty="0">
                <a:latin typeface="Calibri" pitchFamily="34" charset="0"/>
              </a:rPr>
              <a:t>指令  </a:t>
            </a:r>
            <a:r>
              <a:rPr lang="en-US" altLang="zh-CN" sz="1600" b="1" dirty="0" err="1">
                <a:latin typeface="Calibri" pitchFamily="34" charset="0"/>
              </a:rPr>
              <a:t>addu</a:t>
            </a:r>
            <a:r>
              <a:rPr lang="zh-CN" altLang="en-US" sz="1600" b="1" dirty="0">
                <a:latin typeface="Calibri" pitchFamily="34" charset="0"/>
              </a:rPr>
              <a:t>  </a:t>
            </a:r>
            <a:r>
              <a:rPr lang="en-US" altLang="zh-CN" sz="1600" b="1" dirty="0">
                <a:latin typeface="Calibri" pitchFamily="34" charset="0"/>
              </a:rPr>
              <a:t>rd</a:t>
            </a:r>
            <a:r>
              <a:rPr lang="zh-CN" altLang="en-US" sz="1600" b="1" dirty="0">
                <a:latin typeface="Calibri" pitchFamily="34" charset="0"/>
              </a:rPr>
              <a:t>，</a:t>
            </a:r>
            <a:r>
              <a:rPr lang="en-US" altLang="zh-CN" sz="1600" b="1" dirty="0" err="1">
                <a:latin typeface="Calibri" pitchFamily="34" charset="0"/>
              </a:rPr>
              <a:t>rs</a:t>
            </a:r>
            <a:r>
              <a:rPr lang="zh-CN" altLang="en-US" sz="1600" b="1" dirty="0">
                <a:latin typeface="Calibri" pitchFamily="34" charset="0"/>
              </a:rPr>
              <a:t>，</a:t>
            </a:r>
            <a:r>
              <a:rPr lang="en-US" altLang="zh-CN" sz="1600" b="1" dirty="0" err="1">
                <a:latin typeface="Calibri" pitchFamily="34" charset="0"/>
              </a:rPr>
              <a:t>rt</a:t>
            </a:r>
            <a:r>
              <a:rPr lang="zh-CN" altLang="en-US" sz="1600" b="1" dirty="0">
                <a:latin typeface="Calibri" pitchFamily="34" charset="0"/>
              </a:rPr>
              <a:t>     解释 </a:t>
            </a:r>
            <a:r>
              <a:rPr lang="en-US" altLang="zh-CN" sz="1600" b="1" dirty="0">
                <a:latin typeface="Calibri" pitchFamily="34" charset="0"/>
              </a:rPr>
              <a:t>rd 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 </a:t>
            </a:r>
            <a:r>
              <a:rPr lang="en-US" altLang="zh-CN" sz="1600" b="1" dirty="0" err="1">
                <a:latin typeface="Calibri" pitchFamily="34" charset="0"/>
                <a:sym typeface="Wingdings" pitchFamily="2" charset="2"/>
              </a:rPr>
              <a:t>rs</a:t>
            </a:r>
            <a:r>
              <a:rPr lang="en-US" altLang="zh-CN" sz="1600" b="1" dirty="0">
                <a:latin typeface="Calibri" pitchFamily="34" charset="0"/>
                <a:sym typeface="Wingdings" pitchFamily="2" charset="2"/>
              </a:rPr>
              <a:t> + </a:t>
            </a:r>
            <a:r>
              <a:rPr lang="en-US" altLang="zh-CN" sz="1600" b="1" dirty="0" err="1">
                <a:latin typeface="Calibri" pitchFamily="34" charset="0"/>
                <a:sym typeface="Wingdings" pitchFamily="2" charset="2"/>
              </a:rPr>
              <a:t>rt</a:t>
            </a:r>
            <a:endParaRPr lang="zh-CN" altLang="en-US" sz="1600" b="1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1"/>
          <p:cNvSpPr txBox="1">
            <a:spLocks noChangeArrowheads="1"/>
          </p:cNvSpPr>
          <p:nvPr/>
        </p:nvSpPr>
        <p:spPr bwMode="auto">
          <a:xfrm>
            <a:off x="714375" y="357188"/>
            <a:ext cx="1643063" cy="3698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Calibri" pitchFamily="34" charset="0"/>
              </a:rPr>
              <a:t>寄存器堆单元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624" y="148478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Verilog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HDL</a:t>
            </a:r>
            <a:r>
              <a:rPr lang="zh-CN" altLang="en-US" b="1" dirty="0">
                <a:solidFill>
                  <a:srgbClr val="FF0000"/>
                </a:solidFill>
              </a:rPr>
              <a:t>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624" y="908720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</a:t>
            </a:r>
            <a:r>
              <a:rPr lang="en-US" altLang="zh-CN" b="1" dirty="0" err="1"/>
              <a:t>LogicSim</a:t>
            </a:r>
            <a:r>
              <a:rPr lang="zh-CN" altLang="en-US" b="1" dirty="0"/>
              <a:t>的实现？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616" y="1916832"/>
            <a:ext cx="63367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module</a:t>
            </a:r>
            <a:r>
              <a:rPr lang="zh-CN" altLang="en-US" b="1" dirty="0"/>
              <a:t>   </a:t>
            </a:r>
            <a:r>
              <a:rPr lang="en-US" altLang="zh-CN" b="1" dirty="0"/>
              <a:t>register (</a:t>
            </a:r>
            <a:r>
              <a:rPr lang="en-US" altLang="zh-CN" b="1" dirty="0" err="1"/>
              <a:t>clk,reset,Wdata,Rwr,rd,rs,rt,rs_out,rt_out</a:t>
            </a:r>
            <a:r>
              <a:rPr lang="en-US" altLang="zh-CN" b="1" dirty="0"/>
              <a:t>);</a:t>
            </a:r>
          </a:p>
          <a:p>
            <a:r>
              <a:rPr lang="en-US" altLang="zh-CN" b="1" dirty="0"/>
              <a:t>      input  </a:t>
            </a:r>
            <a:r>
              <a:rPr lang="en-US" altLang="zh-CN" b="1" dirty="0" err="1"/>
              <a:t>clk,reset,Rwr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input  [31:0] </a:t>
            </a:r>
            <a:r>
              <a:rPr lang="en-US" altLang="zh-CN" b="1" dirty="0" err="1"/>
              <a:t>Wdata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input  [4:0] </a:t>
            </a:r>
            <a:r>
              <a:rPr lang="en-US" altLang="zh-CN" b="1" dirty="0" err="1"/>
              <a:t>rs,rt,rd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output  [31:0] </a:t>
            </a:r>
            <a:r>
              <a:rPr lang="en-US" altLang="zh-CN" b="1" dirty="0" err="1"/>
              <a:t>rs_out,rt_out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</a:t>
            </a:r>
            <a:r>
              <a:rPr lang="en-US" altLang="zh-CN" b="1" dirty="0" err="1"/>
              <a:t>reg</a:t>
            </a:r>
            <a:r>
              <a:rPr lang="en-US" altLang="zh-CN" b="1" dirty="0"/>
              <a:t>  [31:0] </a:t>
            </a:r>
            <a:r>
              <a:rPr lang="en-US" altLang="zh-CN" b="1" dirty="0" err="1"/>
              <a:t>Reg_files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       assign  </a:t>
            </a:r>
            <a:r>
              <a:rPr lang="en-US" altLang="zh-CN" b="1" dirty="0" err="1"/>
              <a:t>rs_out</a:t>
            </a:r>
            <a:r>
              <a:rPr lang="en-US" altLang="zh-CN" b="1" dirty="0"/>
              <a:t>=</a:t>
            </a:r>
            <a:r>
              <a:rPr lang="en-US" altLang="zh-CN" b="1" dirty="0" err="1"/>
              <a:t>reg_files</a:t>
            </a:r>
            <a:r>
              <a:rPr lang="en-US" altLang="zh-CN" b="1" dirty="0"/>
              <a:t>[</a:t>
            </a:r>
            <a:r>
              <a:rPr lang="en-US" altLang="zh-CN" b="1" dirty="0" err="1"/>
              <a:t>rs</a:t>
            </a:r>
            <a:r>
              <a:rPr lang="en-US" altLang="zh-CN" b="1" dirty="0"/>
              <a:t>];</a:t>
            </a:r>
          </a:p>
          <a:p>
            <a:r>
              <a:rPr lang="en-US" altLang="zh-CN" b="1" dirty="0"/>
              <a:t>            assign  </a:t>
            </a:r>
            <a:r>
              <a:rPr lang="en-US" altLang="zh-CN" b="1" dirty="0" err="1"/>
              <a:t>rt_out</a:t>
            </a:r>
            <a:r>
              <a:rPr lang="en-US" altLang="zh-CN" b="1" dirty="0"/>
              <a:t>=</a:t>
            </a:r>
            <a:r>
              <a:rPr lang="en-US" altLang="zh-CN" b="1" dirty="0" err="1"/>
              <a:t>reg_files</a:t>
            </a:r>
            <a:r>
              <a:rPr lang="en-US" altLang="zh-CN" b="1" dirty="0"/>
              <a:t>[</a:t>
            </a:r>
            <a:r>
              <a:rPr lang="en-US" altLang="zh-CN" b="1" dirty="0" err="1"/>
              <a:t>rt</a:t>
            </a:r>
            <a:r>
              <a:rPr lang="en-US" altLang="zh-CN" b="1" dirty="0"/>
              <a:t>];</a:t>
            </a:r>
          </a:p>
          <a:p>
            <a:r>
              <a:rPr lang="zh-CN" altLang="en-US" b="1" dirty="0"/>
              <a:t>            </a:t>
            </a:r>
            <a:r>
              <a:rPr lang="en-US" altLang="zh-CN" b="1" dirty="0"/>
              <a:t>always</a:t>
            </a:r>
            <a:r>
              <a:rPr lang="zh-CN" altLang="en-US" b="1" dirty="0"/>
              <a:t> </a:t>
            </a:r>
            <a:r>
              <a:rPr lang="en-US" altLang="zh-CN" b="1" dirty="0"/>
              <a:t>@(</a:t>
            </a:r>
            <a:r>
              <a:rPr lang="en-US" altLang="zh-CN" b="1" dirty="0" err="1"/>
              <a:t>posedge</a:t>
            </a:r>
            <a:r>
              <a:rPr lang="en-US" altLang="zh-CN" b="1" dirty="0"/>
              <a:t>  </a:t>
            </a:r>
            <a:r>
              <a:rPr lang="en-US" altLang="zh-CN" b="1" dirty="0" err="1"/>
              <a:t>clk</a:t>
            </a:r>
            <a:r>
              <a:rPr lang="en-US" altLang="zh-CN" b="1" dirty="0"/>
              <a:t>  or  </a:t>
            </a:r>
            <a:r>
              <a:rPr lang="en-US" altLang="zh-CN" b="1" dirty="0" err="1"/>
              <a:t>posedge</a:t>
            </a:r>
            <a:r>
              <a:rPr lang="en-US" altLang="zh-CN" b="1" dirty="0"/>
              <a:t>  reset)</a:t>
            </a:r>
          </a:p>
          <a:p>
            <a:r>
              <a:rPr lang="en-US" altLang="zh-CN" b="1" dirty="0"/>
              <a:t>                if  (reset==1)  </a:t>
            </a:r>
          </a:p>
          <a:p>
            <a:r>
              <a:rPr lang="en-US" altLang="zh-CN" b="1" dirty="0"/>
              <a:t>                                                           //</a:t>
            </a:r>
            <a:r>
              <a:rPr lang="zh-CN" altLang="en-US" b="1" dirty="0"/>
              <a:t>清零</a:t>
            </a:r>
            <a:endParaRPr lang="en-US" altLang="zh-CN" b="1" dirty="0"/>
          </a:p>
          <a:p>
            <a:r>
              <a:rPr lang="zh-CN" altLang="en-US" b="1" dirty="0"/>
              <a:t>                </a:t>
            </a:r>
            <a:r>
              <a:rPr lang="en-US" altLang="zh-CN" b="1" dirty="0"/>
              <a:t>else</a:t>
            </a:r>
            <a:r>
              <a:rPr lang="zh-CN" altLang="en-US" b="1" dirty="0"/>
              <a:t>   </a:t>
            </a:r>
            <a:r>
              <a:rPr lang="en-US" altLang="zh-CN" b="1" dirty="0"/>
              <a:t>if</a:t>
            </a:r>
            <a:r>
              <a:rPr lang="zh-CN" altLang="en-US" b="1" dirty="0"/>
              <a:t>  </a:t>
            </a:r>
            <a:r>
              <a:rPr lang="en-US" altLang="zh-CN" b="1" dirty="0"/>
              <a:t>(</a:t>
            </a:r>
            <a:r>
              <a:rPr lang="en-US" altLang="zh-CN" b="1" dirty="0" err="1"/>
              <a:t>Rwr</a:t>
            </a:r>
            <a:r>
              <a:rPr lang="en-US" altLang="zh-CN" b="1" dirty="0"/>
              <a:t>==1)</a:t>
            </a:r>
          </a:p>
          <a:p>
            <a:r>
              <a:rPr lang="zh-CN" altLang="en-US" b="1" dirty="0"/>
              <a:t>                               </a:t>
            </a:r>
            <a:r>
              <a:rPr lang="en-US" altLang="zh-CN" b="1" dirty="0" err="1"/>
              <a:t>Reg_files</a:t>
            </a:r>
            <a:r>
              <a:rPr lang="en-US" altLang="zh-CN" b="1" dirty="0"/>
              <a:t>[rd]=</a:t>
            </a:r>
            <a:r>
              <a:rPr lang="en-US" altLang="zh-CN" b="1" dirty="0" err="1"/>
              <a:t>Wdata</a:t>
            </a:r>
            <a:r>
              <a:rPr lang="en-US" altLang="zh-CN" b="1" dirty="0"/>
              <a:t>;</a:t>
            </a:r>
          </a:p>
          <a:p>
            <a:r>
              <a:rPr lang="en-US" altLang="zh-CN" b="1" dirty="0" err="1"/>
              <a:t>endmodule</a:t>
            </a:r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516216" y="5805264"/>
            <a:ext cx="158417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同学补充完整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907704" y="1196752"/>
            <a:ext cx="3312368" cy="3024336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59632" y="620688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由取指顺序执行，引出指令存储器（</a:t>
            </a:r>
            <a:r>
              <a:rPr lang="en-US" altLang="zh-CN" dirty="0"/>
              <a:t>ROM</a:t>
            </a:r>
            <a:r>
              <a:rPr lang="zh-CN" altLang="en-US" dirty="0"/>
              <a:t>）和程序计数器（</a:t>
            </a:r>
            <a:r>
              <a:rPr lang="en-US" altLang="zh-CN" dirty="0"/>
              <a:t>PC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80112" y="1412776"/>
          <a:ext cx="9721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指令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指令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指令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36096" y="378904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指令存储器         （</a:t>
            </a:r>
            <a:r>
              <a:rPr lang="en-US" altLang="zh-CN" dirty="0"/>
              <a:t>ROM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427984" y="2564904"/>
            <a:ext cx="64807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20072" y="1268760"/>
            <a:ext cx="360040" cy="236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3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4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FF0000"/>
                </a:solidFill>
              </a:rPr>
              <a:t>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51920" y="1988840"/>
            <a:ext cx="576064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4716016" y="1628800"/>
            <a:ext cx="0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411760" y="1628800"/>
            <a:ext cx="230425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771800" y="2132856"/>
            <a:ext cx="57606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加法器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419872" y="2636912"/>
            <a:ext cx="432048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411760" y="1628800"/>
            <a:ext cx="0" cy="7920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2411760" y="2420888"/>
            <a:ext cx="36004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411760" y="2852936"/>
            <a:ext cx="3600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23728" y="263691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3995936" y="3212976"/>
            <a:ext cx="0" cy="43204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283968" y="3212976"/>
            <a:ext cx="0" cy="43204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35896" y="364502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</a:t>
            </a:r>
            <a:r>
              <a:rPr lang="zh-CN" altLang="en-US" dirty="0"/>
              <a:t>   </a:t>
            </a:r>
            <a:r>
              <a:rPr lang="en-US" altLang="zh-CN" dirty="0"/>
              <a:t>reset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195736" y="5517232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引出计数的概念</a:t>
            </a:r>
            <a:r>
              <a:rPr lang="en-US" altLang="zh-CN" b="1" dirty="0"/>
              <a:t>------</a:t>
            </a:r>
            <a:r>
              <a:rPr lang="zh-CN" altLang="en-US" b="1" dirty="0"/>
              <a:t>计数器的设计（另一个文件</a:t>
            </a:r>
            <a:r>
              <a:rPr lang="en-US" altLang="zh-CN" b="1" dirty="0"/>
              <a:t>---</a:t>
            </a:r>
            <a:r>
              <a:rPr lang="zh-CN" altLang="en-US" b="1" dirty="0"/>
              <a:t>多种设计方法）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5776" y="429309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程序计数器（</a:t>
            </a:r>
            <a:r>
              <a:rPr lang="en-US" altLang="zh-CN" dirty="0"/>
              <a:t>PC</a:t>
            </a:r>
            <a:r>
              <a:rPr lang="zh-CN" altLang="en-US" dirty="0"/>
              <a:t>）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588224" y="2492896"/>
            <a:ext cx="64807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60232" y="263691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ROMout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11560" y="404664"/>
            <a:ext cx="3312368" cy="3465676"/>
            <a:chOff x="1907704" y="1196752"/>
            <a:chExt cx="3312368" cy="3465676"/>
          </a:xfrm>
        </p:grpSpPr>
        <p:sp>
          <p:nvSpPr>
            <p:cNvPr id="2" name="矩形 1"/>
            <p:cNvSpPr/>
            <p:nvPr/>
          </p:nvSpPr>
          <p:spPr>
            <a:xfrm>
              <a:off x="1907704" y="1196752"/>
              <a:ext cx="3312368" cy="3024336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箭头连接符 2"/>
            <p:cNvCxnSpPr/>
            <p:nvPr/>
          </p:nvCxnSpPr>
          <p:spPr>
            <a:xfrm>
              <a:off x="4427984" y="2564904"/>
              <a:ext cx="648072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/>
            <p:cNvSpPr/>
            <p:nvPr/>
          </p:nvSpPr>
          <p:spPr>
            <a:xfrm>
              <a:off x="3851920" y="1988840"/>
              <a:ext cx="576064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寄存器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 flipV="1">
              <a:off x="4716016" y="1628800"/>
              <a:ext cx="0" cy="93610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>
              <a:off x="2411760" y="1628800"/>
              <a:ext cx="2304256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2771800" y="2132856"/>
              <a:ext cx="576064" cy="9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加法器</a:t>
              </a: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3419872" y="2636912"/>
              <a:ext cx="432048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411760" y="1628800"/>
              <a:ext cx="0" cy="7920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2411760" y="2420888"/>
              <a:ext cx="360040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411760" y="2852936"/>
              <a:ext cx="36004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123728" y="263691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3995936" y="3212976"/>
              <a:ext cx="0" cy="43204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4283968" y="3212976"/>
              <a:ext cx="0" cy="43204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635896" y="3645024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clk</a:t>
              </a:r>
              <a:r>
                <a:rPr lang="zh-CN" altLang="en-US" dirty="0"/>
                <a:t>   </a:t>
              </a:r>
              <a:r>
                <a:rPr lang="en-US" altLang="zh-CN" dirty="0"/>
                <a:t>reset</a:t>
              </a:r>
              <a:endParaRPr lang="zh-CN" alt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55776" y="4293096"/>
              <a:ext cx="2376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基本程序计数器（</a:t>
              </a:r>
              <a:r>
                <a:rPr lang="en-US" altLang="zh-CN" dirty="0"/>
                <a:t>PC</a:t>
              </a:r>
              <a:r>
                <a:rPr lang="zh-CN" altLang="en-US" dirty="0"/>
                <a:t>）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283968" y="332656"/>
            <a:ext cx="4320480" cy="3969732"/>
            <a:chOff x="4211960" y="1700808"/>
            <a:chExt cx="4320480" cy="3969732"/>
          </a:xfrm>
        </p:grpSpPr>
        <p:sp>
          <p:nvSpPr>
            <p:cNvPr id="18" name="矩形 17"/>
            <p:cNvSpPr/>
            <p:nvPr/>
          </p:nvSpPr>
          <p:spPr>
            <a:xfrm>
              <a:off x="4211960" y="1700808"/>
              <a:ext cx="4320480" cy="3456384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7668344" y="3284984"/>
              <a:ext cx="576064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92280" y="2708920"/>
              <a:ext cx="576064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寄存器</a:t>
              </a:r>
            </a:p>
          </p:txBody>
        </p:sp>
        <p:cxnSp>
          <p:nvCxnSpPr>
            <p:cNvPr id="21" name="直接连接符 20"/>
            <p:cNvCxnSpPr/>
            <p:nvPr/>
          </p:nvCxnSpPr>
          <p:spPr>
            <a:xfrm flipV="1">
              <a:off x="7884368" y="2348880"/>
              <a:ext cx="0" cy="93610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4355976" y="2348880"/>
              <a:ext cx="3528392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4716016" y="2636912"/>
              <a:ext cx="432048" cy="9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加法器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6804248" y="3356992"/>
              <a:ext cx="288032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355976" y="2348880"/>
              <a:ext cx="0" cy="50405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355976" y="2852936"/>
              <a:ext cx="360040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572000" y="3356992"/>
              <a:ext cx="144016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283968" y="314096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29" name="直接箭头连接符 28"/>
            <p:cNvCxnSpPr/>
            <p:nvPr/>
          </p:nvCxnSpPr>
          <p:spPr>
            <a:xfrm flipV="1">
              <a:off x="7236296" y="3933056"/>
              <a:ext cx="0" cy="43204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7596336" y="3933056"/>
              <a:ext cx="0" cy="43204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7020272" y="4365104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/>
                <a:t>clk</a:t>
              </a:r>
              <a:r>
                <a:rPr lang="zh-CN" altLang="en-US" b="1" dirty="0"/>
                <a:t>   </a:t>
              </a:r>
              <a:r>
                <a:rPr lang="en-US" altLang="zh-CN" b="1" dirty="0"/>
                <a:t>reset</a:t>
              </a:r>
              <a:endParaRPr lang="zh-CN" altLang="en-US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04048" y="5301208"/>
              <a:ext cx="316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支持</a:t>
              </a:r>
              <a:r>
                <a:rPr lang="en-US" altLang="zh-CN" dirty="0" err="1"/>
                <a:t>beq</a:t>
              </a:r>
              <a:r>
                <a:rPr lang="zh-CN" altLang="en-US" dirty="0"/>
                <a:t>的程序计数器（</a:t>
              </a:r>
              <a:r>
                <a:rPr lang="en-US" altLang="zh-CN" dirty="0"/>
                <a:t>PC</a:t>
              </a:r>
              <a:r>
                <a:rPr lang="zh-CN" altLang="en-US" dirty="0"/>
                <a:t>）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5580112" y="3573016"/>
              <a:ext cx="432048" cy="93610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加法器</a:t>
              </a:r>
            </a:p>
          </p:txBody>
        </p:sp>
        <p:sp>
          <p:nvSpPr>
            <p:cNvPr id="39" name="梯形 38"/>
            <p:cNvSpPr/>
            <p:nvPr/>
          </p:nvSpPr>
          <p:spPr>
            <a:xfrm rot="5400000">
              <a:off x="6307052" y="3206116"/>
              <a:ext cx="713220" cy="294892"/>
            </a:xfrm>
            <a:prstGeom prst="trapezoid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08000" rIns="0" bIns="0" rtlCol="0" anchor="ctr"/>
            <a:lstStyle/>
            <a:p>
              <a:r>
                <a:rPr lang="en-US" altLang="zh-CN" sz="1200" dirty="0"/>
                <a:t>0</a:t>
              </a:r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5148064" y="3140968"/>
              <a:ext cx="1368152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5292080" y="3140968"/>
              <a:ext cx="0" cy="648072"/>
            </a:xfrm>
            <a:prstGeom prst="straightConnector1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5292080" y="3789040"/>
              <a:ext cx="288032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364088" y="2708920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PC+4</a:t>
              </a:r>
              <a:endParaRPr lang="zh-CN" altLang="en-US" b="1" dirty="0"/>
            </a:p>
          </p:txBody>
        </p:sp>
        <p:cxnSp>
          <p:nvCxnSpPr>
            <p:cNvPr id="48" name="直接箭头连接符 47"/>
            <p:cNvCxnSpPr/>
            <p:nvPr/>
          </p:nvCxnSpPr>
          <p:spPr>
            <a:xfrm>
              <a:off x="5220072" y="4293096"/>
              <a:ext cx="360040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>
              <a:off x="6012160" y="4005064"/>
              <a:ext cx="216024" cy="0"/>
            </a:xfrm>
            <a:prstGeom prst="straightConnector1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V="1">
              <a:off x="6228184" y="3573016"/>
              <a:ext cx="0" cy="432048"/>
            </a:xfrm>
            <a:prstGeom prst="straightConnector1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>
              <a:off x="6228184" y="3573016"/>
              <a:ext cx="288032" cy="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 flipV="1">
              <a:off x="6660232" y="3717032"/>
              <a:ext cx="0" cy="36004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6300192" y="4005064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FF0000"/>
                  </a:solidFill>
                </a:rPr>
                <a:t>PCsel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355976" y="4149080"/>
              <a:ext cx="9361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Imm32&lt;&lt;2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7" name="矩形标注 66"/>
          <p:cNvSpPr/>
          <p:nvPr/>
        </p:nvSpPr>
        <p:spPr>
          <a:xfrm>
            <a:off x="2987824" y="4077072"/>
            <a:ext cx="1800200" cy="612648"/>
          </a:xfrm>
          <a:prstGeom prst="wedgeRectCallout">
            <a:avLst>
              <a:gd name="adj1" fmla="val 53206"/>
              <a:gd name="adj2" fmla="val -2094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修改立即数模块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0112" y="4437112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PCsel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=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beq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&amp; zero</a:t>
            </a: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  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：顺序执行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   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：跳转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548680"/>
            <a:ext cx="208823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关于</a:t>
            </a:r>
            <a:r>
              <a:rPr lang="en-US" altLang="zh-CN" b="1" dirty="0" err="1">
                <a:solidFill>
                  <a:srgbClr val="FF0000"/>
                </a:solidFill>
              </a:rPr>
              <a:t>sw</a:t>
            </a:r>
            <a:r>
              <a:rPr lang="zh-CN" altLang="en-US" b="1" dirty="0">
                <a:solidFill>
                  <a:srgbClr val="FF0000"/>
                </a:solidFill>
              </a:rPr>
              <a:t>指令的实现</a:t>
            </a:r>
          </a:p>
        </p:txBody>
      </p:sp>
      <p:cxnSp>
        <p:nvCxnSpPr>
          <p:cNvPr id="6" name="直接连接符 2"/>
          <p:cNvCxnSpPr/>
          <p:nvPr/>
        </p:nvCxnSpPr>
        <p:spPr>
          <a:xfrm>
            <a:off x="4788024" y="1988840"/>
            <a:ext cx="1008112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796136" y="2204864"/>
            <a:ext cx="0" cy="10081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788024" y="198884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788024" y="2492896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4788024" y="2708920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88024" y="2924944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4788024" y="3212976"/>
            <a:ext cx="1008112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6056" y="256490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ALU</a:t>
            </a:r>
            <a:endParaRPr lang="zh-CN" altLang="en-US" b="1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915816" y="2276872"/>
            <a:ext cx="1872208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067944" y="3212976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1960" y="184482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211960" y="27809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6136" y="2708920"/>
            <a:ext cx="648072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4208" y="24928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ALUout</a:t>
            </a:r>
            <a:endParaRPr lang="zh-CN" altLang="en-US" b="1" dirty="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5004048" y="3356992"/>
            <a:ext cx="0" cy="43204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76056" y="350100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ALUsel</a:t>
            </a:r>
            <a:endParaRPr lang="zh-CN" altLang="en-US" b="1" dirty="0"/>
          </a:p>
        </p:txBody>
      </p:sp>
      <p:sp>
        <p:nvSpPr>
          <p:cNvPr id="32" name="梯形 31"/>
          <p:cNvSpPr/>
          <p:nvPr/>
        </p:nvSpPr>
        <p:spPr>
          <a:xfrm rot="5400000">
            <a:off x="3491880" y="2996952"/>
            <a:ext cx="720080" cy="432048"/>
          </a:xfrm>
          <a:prstGeom prst="trapezoi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tlCol="0" anchor="ctr"/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33" name="直接箭头连接符 32"/>
          <p:cNvCxnSpPr>
            <a:endCxn id="32" idx="3"/>
          </p:cNvCxnSpPr>
          <p:nvPr/>
        </p:nvCxnSpPr>
        <p:spPr>
          <a:xfrm flipV="1">
            <a:off x="3851920" y="3519010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2915816" y="2996952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23928" y="35010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Bsel</a:t>
            </a:r>
            <a:endParaRPr lang="zh-CN" altLang="en-US" b="1" dirty="0"/>
          </a:p>
        </p:txBody>
      </p:sp>
      <p:cxnSp>
        <p:nvCxnSpPr>
          <p:cNvPr id="36" name="直接箭头连接符 35"/>
          <p:cNvCxnSpPr/>
          <p:nvPr/>
        </p:nvCxnSpPr>
        <p:spPr>
          <a:xfrm>
            <a:off x="3347864" y="3429000"/>
            <a:ext cx="28803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267744" y="4653136"/>
            <a:ext cx="648072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立即数调整</a:t>
            </a:r>
          </a:p>
        </p:txBody>
      </p:sp>
      <p:cxnSp>
        <p:nvCxnSpPr>
          <p:cNvPr id="38" name="直接连接符 37"/>
          <p:cNvCxnSpPr>
            <a:stCxn id="37" idx="3"/>
          </p:cNvCxnSpPr>
          <p:nvPr/>
        </p:nvCxnSpPr>
        <p:spPr>
          <a:xfrm>
            <a:off x="2915816" y="5157192"/>
            <a:ext cx="43204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3347864" y="3429000"/>
            <a:ext cx="0" cy="172819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2555776" y="5661248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95736" y="594928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Extsel</a:t>
            </a:r>
            <a:endParaRPr lang="zh-CN" alt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2987824" y="52292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ExtImm32</a:t>
            </a:r>
            <a:endParaRPr lang="zh-CN" altLang="en-US" b="1" dirty="0"/>
          </a:p>
        </p:txBody>
      </p:sp>
      <p:sp>
        <p:nvSpPr>
          <p:cNvPr id="43" name="矩形 42"/>
          <p:cNvSpPr/>
          <p:nvPr/>
        </p:nvSpPr>
        <p:spPr>
          <a:xfrm>
            <a:off x="2123728" y="1772816"/>
            <a:ext cx="792088" cy="1872208"/>
          </a:xfrm>
          <a:prstGeom prst="rect">
            <a:avLst/>
          </a:prstGeom>
          <a:solidFill>
            <a:schemeClr val="bg1"/>
          </a:solidFill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寄存器组</a:t>
            </a:r>
            <a:r>
              <a:rPr lang="en-US" altLang="zh-CN" dirty="0">
                <a:solidFill>
                  <a:srgbClr val="FF0000"/>
                </a:solidFill>
              </a:rPr>
              <a:t>REGS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1907704" y="5157192"/>
            <a:ext cx="36004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43608" y="501317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Imm16</a:t>
            </a:r>
            <a:endParaRPr lang="zh-CN" altLang="en-US" b="1" dirty="0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6876256" y="3068960"/>
          <a:ext cx="9721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732240" y="5445224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数据存储器         （</a:t>
            </a:r>
            <a:r>
              <a:rPr lang="en-US" altLang="zh-CN" dirty="0"/>
              <a:t>RAM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7884368" y="4149080"/>
            <a:ext cx="36004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12360" y="42930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RAMout</a:t>
            </a:r>
            <a:endParaRPr lang="zh-CN" altLang="en-US" dirty="0"/>
          </a:p>
        </p:txBody>
      </p:sp>
      <p:cxnSp>
        <p:nvCxnSpPr>
          <p:cNvPr id="57" name="直接箭头连接符 56"/>
          <p:cNvCxnSpPr/>
          <p:nvPr/>
        </p:nvCxnSpPr>
        <p:spPr>
          <a:xfrm>
            <a:off x="6084168" y="3212976"/>
            <a:ext cx="720080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6084168" y="2708920"/>
            <a:ext cx="0" cy="50405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796136" y="3212976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RAMaddr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3131840" y="4149080"/>
            <a:ext cx="3672408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68144" y="3789040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RAMdata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3131840" y="2996952"/>
            <a:ext cx="0" cy="1152128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6372200" y="4581128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940152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clk</a:t>
            </a:r>
            <a:endParaRPr lang="en-US" altLang="zh-CN" b="1" dirty="0"/>
          </a:p>
        </p:txBody>
      </p:sp>
      <p:cxnSp>
        <p:nvCxnSpPr>
          <p:cNvPr id="73" name="直接箭头连接符 72"/>
          <p:cNvCxnSpPr/>
          <p:nvPr/>
        </p:nvCxnSpPr>
        <p:spPr>
          <a:xfrm>
            <a:off x="6372200" y="4869160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724128" y="465313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reset</a:t>
            </a:r>
          </a:p>
        </p:txBody>
      </p:sp>
      <p:cxnSp>
        <p:nvCxnSpPr>
          <p:cNvPr id="75" name="直接箭头连接符 74"/>
          <p:cNvCxnSpPr/>
          <p:nvPr/>
        </p:nvCxnSpPr>
        <p:spPr>
          <a:xfrm>
            <a:off x="6372200" y="5157192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796136" y="49411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Mwr</a:t>
            </a:r>
            <a:endParaRPr lang="en-US" altLang="zh-CN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3059832" y="548680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存字</a:t>
            </a:r>
            <a:r>
              <a:rPr lang="zh-CN" altLang="en-US" b="1" dirty="0"/>
              <a:t>指令     操作： </a:t>
            </a:r>
            <a:r>
              <a:rPr lang="en-US" altLang="zh-CN" b="1" dirty="0"/>
              <a:t>M[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R[</a:t>
            </a:r>
            <a:r>
              <a:rPr lang="en-US" altLang="zh-CN" b="1" dirty="0" err="1">
                <a:solidFill>
                  <a:srgbClr val="FF0000"/>
                </a:solidFill>
              </a:rPr>
              <a:t>rs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+</a:t>
            </a:r>
            <a:r>
              <a:rPr lang="zh-CN" altLang="en-US" b="1" dirty="0"/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] =R[</a:t>
            </a:r>
            <a:r>
              <a:rPr lang="en-US" altLang="zh-CN" b="1" dirty="0" err="1"/>
              <a:t>rt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3563888" y="1052736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=</a:t>
            </a:r>
            <a:r>
              <a:rPr lang="zh-CN" altLang="en-US" b="1" dirty="0"/>
              <a:t> </a:t>
            </a:r>
            <a:r>
              <a:rPr lang="en-US" altLang="zh-CN" b="1" dirty="0"/>
              <a:t>{ 16{</a:t>
            </a:r>
            <a:r>
              <a:rPr lang="en-US" altLang="zh-CN" b="1" dirty="0">
                <a:solidFill>
                  <a:srgbClr val="FF0000"/>
                </a:solidFill>
              </a:rPr>
              <a:t>immediate[15]</a:t>
            </a:r>
            <a:r>
              <a:rPr lang="en-US" altLang="zh-CN" b="1" dirty="0"/>
              <a:t>} , immediate }</a:t>
            </a:r>
            <a:endParaRPr lang="zh-CN" altLang="en-US" b="1" dirty="0"/>
          </a:p>
        </p:txBody>
      </p:sp>
      <p:cxnSp>
        <p:nvCxnSpPr>
          <p:cNvPr id="81" name="直接箭头连接符 80"/>
          <p:cNvCxnSpPr/>
          <p:nvPr/>
        </p:nvCxnSpPr>
        <p:spPr>
          <a:xfrm flipV="1">
            <a:off x="2771800" y="3645024"/>
            <a:ext cx="0" cy="27003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2771800" y="1484784"/>
            <a:ext cx="0" cy="27003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627784" y="11247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rs</a:t>
            </a:r>
            <a:endParaRPr lang="en-US" altLang="zh-CN" dirty="0"/>
          </a:p>
        </p:txBody>
      </p:sp>
      <p:sp>
        <p:nvSpPr>
          <p:cNvPr id="84" name="TextBox 83"/>
          <p:cNvSpPr txBox="1"/>
          <p:nvPr/>
        </p:nvSpPr>
        <p:spPr>
          <a:xfrm>
            <a:off x="2627784" y="38610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rt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620688"/>
            <a:ext cx="259228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在</a:t>
            </a:r>
            <a:r>
              <a:rPr lang="en-US" altLang="zh-CN" b="1" dirty="0" err="1">
                <a:solidFill>
                  <a:srgbClr val="FF0000"/>
                </a:solidFill>
              </a:rPr>
              <a:t>LogicSim</a:t>
            </a:r>
            <a:r>
              <a:rPr lang="zh-CN" altLang="en-US" b="1" dirty="0">
                <a:solidFill>
                  <a:srgbClr val="FF0000"/>
                </a:solidFill>
              </a:rPr>
              <a:t>中实现</a:t>
            </a:r>
            <a:r>
              <a:rPr lang="en-US" altLang="zh-CN" b="1" dirty="0">
                <a:solidFill>
                  <a:srgbClr val="FF0000"/>
                </a:solidFill>
              </a:rPr>
              <a:t>RAM</a:t>
            </a:r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7624" y="1556792"/>
            <a:ext cx="280831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采用</a:t>
            </a:r>
            <a:r>
              <a:rPr lang="en-US" altLang="zh-CN" b="1" dirty="0" err="1">
                <a:solidFill>
                  <a:srgbClr val="FF0000"/>
                </a:solidFill>
              </a:rPr>
              <a:t>Verilog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HDL</a:t>
            </a:r>
            <a:r>
              <a:rPr lang="zh-CN" altLang="en-US" b="1" dirty="0">
                <a:solidFill>
                  <a:srgbClr val="FF0000"/>
                </a:solidFill>
              </a:rPr>
              <a:t>实现</a:t>
            </a:r>
            <a:r>
              <a:rPr lang="en-US" altLang="zh-CN" b="1" dirty="0">
                <a:solidFill>
                  <a:srgbClr val="FF0000"/>
                </a:solidFill>
              </a:rPr>
              <a:t>RAM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616" y="1988840"/>
            <a:ext cx="69127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module  RAM(</a:t>
            </a:r>
            <a:r>
              <a:rPr lang="en-US" altLang="zh-CN" b="1" dirty="0" err="1"/>
              <a:t>clk,reset,Mwr,RAMdata,RAMaddr,RAMout</a:t>
            </a:r>
            <a:r>
              <a:rPr lang="en-US" altLang="zh-CN" b="1" dirty="0"/>
              <a:t>);</a:t>
            </a:r>
          </a:p>
          <a:p>
            <a:r>
              <a:rPr lang="en-US" altLang="zh-CN" b="1" dirty="0"/>
              <a:t>     input  </a:t>
            </a:r>
            <a:r>
              <a:rPr lang="en-US" altLang="zh-CN" b="1" dirty="0" err="1"/>
              <a:t>clk,reset,Mwr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input [31:0] </a:t>
            </a:r>
            <a:r>
              <a:rPr lang="en-US" altLang="zh-CN" b="1" dirty="0" err="1"/>
              <a:t>RAMdata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input [7:0] </a:t>
            </a:r>
            <a:r>
              <a:rPr lang="en-US" altLang="zh-CN" b="1" dirty="0" err="1"/>
              <a:t>RAMaddr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output   [31:0] </a:t>
            </a:r>
            <a:r>
              <a:rPr lang="en-US" altLang="zh-CN" b="1" dirty="0" err="1"/>
              <a:t>RAMout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     </a:t>
            </a:r>
            <a:r>
              <a:rPr lang="en-US" altLang="zh-CN" b="1" dirty="0" err="1"/>
              <a:t>reg</a:t>
            </a:r>
            <a:r>
              <a:rPr lang="en-US" altLang="zh-CN" b="1" dirty="0"/>
              <a:t>  [31:0] </a:t>
            </a:r>
            <a:r>
              <a:rPr lang="en-US" altLang="zh-CN" b="1" dirty="0" err="1"/>
              <a:t>Memary</a:t>
            </a:r>
            <a:r>
              <a:rPr lang="en-US" altLang="zh-CN" b="1" dirty="0"/>
              <a:t> [255:0];</a:t>
            </a:r>
          </a:p>
          <a:p>
            <a:r>
              <a:rPr lang="en-US" altLang="zh-CN" b="1" dirty="0"/>
              <a:t>          assign  </a:t>
            </a:r>
            <a:r>
              <a:rPr lang="en-US" altLang="zh-CN" b="1" dirty="0" err="1"/>
              <a:t>RAMout</a:t>
            </a:r>
            <a:r>
              <a:rPr lang="en-US" altLang="zh-CN" b="1" dirty="0"/>
              <a:t>= </a:t>
            </a:r>
            <a:r>
              <a:rPr lang="en-US" altLang="zh-CN" b="1" dirty="0" err="1"/>
              <a:t>Memary</a:t>
            </a:r>
            <a:r>
              <a:rPr lang="en-US" altLang="zh-CN" b="1" dirty="0"/>
              <a:t> [</a:t>
            </a:r>
            <a:r>
              <a:rPr lang="en-US" altLang="zh-CN" b="1" dirty="0" err="1"/>
              <a:t>RAMaddr</a:t>
            </a:r>
            <a:r>
              <a:rPr lang="en-US" altLang="zh-CN" b="1" dirty="0"/>
              <a:t>];  //?</a:t>
            </a:r>
          </a:p>
          <a:p>
            <a:r>
              <a:rPr lang="en-US" altLang="zh-CN" b="1" dirty="0"/>
              <a:t>          always @(</a:t>
            </a:r>
            <a:r>
              <a:rPr lang="en-US" altLang="zh-CN" b="1" dirty="0" err="1"/>
              <a:t>posedeg</a:t>
            </a:r>
            <a:r>
              <a:rPr lang="en-US" altLang="zh-CN" b="1" dirty="0"/>
              <a:t>  </a:t>
            </a:r>
            <a:r>
              <a:rPr lang="en-US" altLang="zh-CN" b="1" dirty="0" err="1"/>
              <a:t>clk</a:t>
            </a:r>
            <a:r>
              <a:rPr lang="en-US" altLang="zh-CN" b="1" dirty="0"/>
              <a:t>  or  </a:t>
            </a:r>
            <a:r>
              <a:rPr lang="en-US" altLang="zh-CN" b="1" dirty="0" err="1"/>
              <a:t>posedge</a:t>
            </a:r>
            <a:r>
              <a:rPr lang="en-US" altLang="zh-CN" b="1" dirty="0"/>
              <a:t>  reset)</a:t>
            </a:r>
          </a:p>
          <a:p>
            <a:r>
              <a:rPr lang="en-US" altLang="zh-CN" b="1" dirty="0"/>
              <a:t>                 if  (reset)</a:t>
            </a:r>
          </a:p>
          <a:p>
            <a:r>
              <a:rPr lang="en-US" altLang="zh-CN" b="1" dirty="0"/>
              <a:t>                       ……   //</a:t>
            </a:r>
            <a:r>
              <a:rPr lang="en-US" altLang="zh-CN" b="1" dirty="0" err="1"/>
              <a:t>Memary</a:t>
            </a:r>
            <a:r>
              <a:rPr lang="zh-CN" altLang="en-US" b="1" dirty="0"/>
              <a:t>清零</a:t>
            </a:r>
            <a:endParaRPr lang="en-US" altLang="zh-CN" b="1" dirty="0"/>
          </a:p>
          <a:p>
            <a:r>
              <a:rPr lang="zh-CN" altLang="en-US" b="1" dirty="0"/>
              <a:t>                 </a:t>
            </a:r>
            <a:r>
              <a:rPr lang="en-US" altLang="zh-CN" b="1" dirty="0"/>
              <a:t>else  if  (</a:t>
            </a:r>
            <a:r>
              <a:rPr lang="en-US" altLang="zh-CN" b="1" dirty="0" err="1"/>
              <a:t>Mwr</a:t>
            </a:r>
            <a:r>
              <a:rPr lang="en-US" altLang="zh-CN" b="1" dirty="0"/>
              <a:t>==1)</a:t>
            </a:r>
          </a:p>
          <a:p>
            <a:r>
              <a:rPr lang="en-US" altLang="zh-CN" b="1" dirty="0"/>
              <a:t>                              </a:t>
            </a:r>
            <a:r>
              <a:rPr lang="en-US" altLang="zh-CN" b="1" dirty="0" err="1"/>
              <a:t>Memary</a:t>
            </a:r>
            <a:r>
              <a:rPr lang="en-US" altLang="zh-CN" b="1" dirty="0"/>
              <a:t> [</a:t>
            </a:r>
            <a:r>
              <a:rPr lang="en-US" altLang="zh-CN" b="1" dirty="0" err="1"/>
              <a:t>RAMaddr</a:t>
            </a:r>
            <a:r>
              <a:rPr lang="en-US" altLang="zh-CN" b="1" dirty="0"/>
              <a:t>]=</a:t>
            </a:r>
            <a:r>
              <a:rPr lang="en-US" altLang="zh-CN" b="1" dirty="0" err="1"/>
              <a:t>RAMdata</a:t>
            </a:r>
            <a:r>
              <a:rPr lang="en-US" altLang="zh-CN" b="1" dirty="0"/>
              <a:t>;  //?</a:t>
            </a:r>
          </a:p>
          <a:p>
            <a:r>
              <a:rPr lang="en-US" altLang="zh-CN" b="1" dirty="0" err="1"/>
              <a:t>endmodule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548680"/>
            <a:ext cx="223224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关于</a:t>
            </a:r>
            <a:r>
              <a:rPr lang="en-US" altLang="zh-CN" b="1" dirty="0" err="1">
                <a:solidFill>
                  <a:srgbClr val="FF0000"/>
                </a:solidFill>
              </a:rPr>
              <a:t>lw</a:t>
            </a:r>
            <a:r>
              <a:rPr lang="zh-CN" altLang="en-US" b="1" dirty="0">
                <a:solidFill>
                  <a:srgbClr val="FF0000"/>
                </a:solidFill>
              </a:rPr>
              <a:t>指令的实现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3848" y="260648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取字</a:t>
            </a:r>
            <a:r>
              <a:rPr lang="zh-CN" altLang="en-US" b="1" dirty="0"/>
              <a:t>指令     操作： </a:t>
            </a:r>
            <a:r>
              <a:rPr lang="en-US" altLang="zh-CN" b="1" dirty="0"/>
              <a:t>R[</a:t>
            </a:r>
            <a:r>
              <a:rPr lang="en-US" altLang="zh-CN" b="1" dirty="0" err="1"/>
              <a:t>rt</a:t>
            </a:r>
            <a:r>
              <a:rPr lang="en-US" altLang="zh-CN" b="1" dirty="0"/>
              <a:t>]=M[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R[s]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+</a:t>
            </a:r>
            <a:r>
              <a:rPr lang="zh-CN" altLang="en-US" b="1" dirty="0"/>
              <a:t> </a:t>
            </a:r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635896" y="764704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SignExtImm</a:t>
            </a:r>
            <a:r>
              <a:rPr lang="zh-CN" altLang="en-US" b="1" dirty="0"/>
              <a:t> </a:t>
            </a:r>
            <a:r>
              <a:rPr lang="en-US" altLang="zh-CN" b="1" dirty="0"/>
              <a:t>=</a:t>
            </a:r>
            <a:r>
              <a:rPr lang="zh-CN" altLang="en-US" b="1" dirty="0"/>
              <a:t> </a:t>
            </a:r>
            <a:r>
              <a:rPr lang="en-US" altLang="zh-CN" b="1" dirty="0"/>
              <a:t>{ 16{</a:t>
            </a:r>
            <a:r>
              <a:rPr lang="en-US" altLang="zh-CN" b="1" dirty="0">
                <a:solidFill>
                  <a:srgbClr val="FF0000"/>
                </a:solidFill>
              </a:rPr>
              <a:t>immediate[15]</a:t>
            </a:r>
            <a:r>
              <a:rPr lang="en-US" altLang="zh-CN" b="1" dirty="0"/>
              <a:t>} , immediate }</a:t>
            </a:r>
            <a:endParaRPr lang="zh-CN" altLang="en-US" b="1" dirty="0"/>
          </a:p>
        </p:txBody>
      </p:sp>
      <p:cxnSp>
        <p:nvCxnSpPr>
          <p:cNvPr id="5" name="直接连接符 2"/>
          <p:cNvCxnSpPr/>
          <p:nvPr/>
        </p:nvCxnSpPr>
        <p:spPr>
          <a:xfrm>
            <a:off x="4788024" y="1988840"/>
            <a:ext cx="1008112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796136" y="2204864"/>
            <a:ext cx="0" cy="10081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788024" y="198884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788024" y="2492896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4788024" y="2708920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788024" y="2924944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4788024" y="3212976"/>
            <a:ext cx="1008112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76056" y="256490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ALU</a:t>
            </a:r>
            <a:endParaRPr lang="zh-CN" altLang="en-US" b="1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915816" y="2276872"/>
            <a:ext cx="1872208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067944" y="3212976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11960" y="184482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211960" y="27809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796136" y="2708920"/>
            <a:ext cx="648072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44208" y="24928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ALUout</a:t>
            </a:r>
            <a:endParaRPr lang="zh-CN" altLang="en-US" b="1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5004048" y="3356992"/>
            <a:ext cx="0" cy="43204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50100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ALUsel</a:t>
            </a:r>
            <a:endParaRPr lang="zh-CN" altLang="en-US" b="1" dirty="0"/>
          </a:p>
        </p:txBody>
      </p:sp>
      <p:sp>
        <p:nvSpPr>
          <p:cNvPr id="21" name="梯形 20"/>
          <p:cNvSpPr/>
          <p:nvPr/>
        </p:nvSpPr>
        <p:spPr>
          <a:xfrm rot="5400000">
            <a:off x="3491880" y="2996952"/>
            <a:ext cx="720080" cy="432048"/>
          </a:xfrm>
          <a:prstGeom prst="trapezoi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tlCol="0" anchor="ctr"/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22" name="直接箭头连接符 21"/>
          <p:cNvCxnSpPr>
            <a:endCxn id="21" idx="3"/>
          </p:cNvCxnSpPr>
          <p:nvPr/>
        </p:nvCxnSpPr>
        <p:spPr>
          <a:xfrm flipV="1">
            <a:off x="3851920" y="3519010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915816" y="2996952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23928" y="35010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Bsel</a:t>
            </a:r>
            <a:endParaRPr lang="zh-CN" altLang="en-US" b="1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347864" y="3429000"/>
            <a:ext cx="28803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267744" y="4653136"/>
            <a:ext cx="648072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立即数调整</a:t>
            </a:r>
          </a:p>
        </p:txBody>
      </p:sp>
      <p:cxnSp>
        <p:nvCxnSpPr>
          <p:cNvPr id="27" name="直接连接符 26"/>
          <p:cNvCxnSpPr>
            <a:stCxn id="26" idx="3"/>
          </p:cNvCxnSpPr>
          <p:nvPr/>
        </p:nvCxnSpPr>
        <p:spPr>
          <a:xfrm>
            <a:off x="2915816" y="5157192"/>
            <a:ext cx="43204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3347864" y="3429000"/>
            <a:ext cx="0" cy="172819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2555776" y="5661248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95736" y="594928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Extsel</a:t>
            </a:r>
            <a:endParaRPr lang="zh-CN" alt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987824" y="52292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ExtImm32</a:t>
            </a:r>
            <a:endParaRPr lang="zh-CN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2123728" y="1772816"/>
            <a:ext cx="792088" cy="1872208"/>
          </a:xfrm>
          <a:prstGeom prst="rect">
            <a:avLst/>
          </a:prstGeom>
          <a:solidFill>
            <a:schemeClr val="bg1"/>
          </a:solidFill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寄存器组</a:t>
            </a:r>
            <a:r>
              <a:rPr lang="en-US" altLang="zh-CN" dirty="0">
                <a:solidFill>
                  <a:srgbClr val="FF0000"/>
                </a:solidFill>
              </a:rPr>
              <a:t>REGS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907704" y="5157192"/>
            <a:ext cx="36004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43608" y="501317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Imm16</a:t>
            </a:r>
            <a:endParaRPr lang="zh-CN" altLang="en-US" b="1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6876256" y="3068960"/>
          <a:ext cx="9721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732240" y="5445224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数据存储器         （</a:t>
            </a:r>
            <a:r>
              <a:rPr lang="en-US" altLang="zh-CN" dirty="0"/>
              <a:t>RAM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7884368" y="4149080"/>
            <a:ext cx="360040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12360" y="42930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RAMout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084168" y="3212976"/>
            <a:ext cx="720080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6084168" y="2708920"/>
            <a:ext cx="0" cy="504056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96136" y="3212976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RAMaddr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131840" y="4149080"/>
            <a:ext cx="3672408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68144" y="3789040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RAMdata</a:t>
            </a:r>
            <a:endParaRPr lang="zh-CN" altLang="en-US" sz="1600" dirty="0"/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3131840" y="2996952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6372200" y="4581128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40152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clk</a:t>
            </a:r>
            <a:endParaRPr lang="en-US" altLang="zh-CN" b="1" dirty="0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6372200" y="4869160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24128" y="465313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reset</a:t>
            </a: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372200" y="5157192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96136" y="49411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Mwr</a:t>
            </a:r>
            <a:endParaRPr lang="en-US" altLang="zh-CN" b="1" dirty="0"/>
          </a:p>
        </p:txBody>
      </p:sp>
      <p:cxnSp>
        <p:nvCxnSpPr>
          <p:cNvPr id="51" name="直接箭头连接符 50"/>
          <p:cNvCxnSpPr/>
          <p:nvPr/>
        </p:nvCxnSpPr>
        <p:spPr>
          <a:xfrm flipV="1">
            <a:off x="2771800" y="3645024"/>
            <a:ext cx="0" cy="27003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V="1">
            <a:off x="2771800" y="1484784"/>
            <a:ext cx="0" cy="27003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627784" y="11247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rs</a:t>
            </a:r>
            <a:endParaRPr lang="en-US" altLang="zh-CN" dirty="0"/>
          </a:p>
        </p:txBody>
      </p:sp>
      <p:sp>
        <p:nvSpPr>
          <p:cNvPr id="54" name="TextBox 53"/>
          <p:cNvSpPr txBox="1"/>
          <p:nvPr/>
        </p:nvSpPr>
        <p:spPr>
          <a:xfrm>
            <a:off x="2627784" y="38610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rt</a:t>
            </a:r>
            <a:endParaRPr lang="en-US" altLang="zh-CN" dirty="0"/>
          </a:p>
        </p:txBody>
      </p:sp>
      <p:sp>
        <p:nvSpPr>
          <p:cNvPr id="55" name="梯形 54"/>
          <p:cNvSpPr/>
          <p:nvPr/>
        </p:nvSpPr>
        <p:spPr>
          <a:xfrm rot="5400000">
            <a:off x="1259632" y="1916832"/>
            <a:ext cx="720080" cy="432048"/>
          </a:xfrm>
          <a:prstGeom prst="trapezoi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tlCol="0" anchor="ctr"/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56" name="直接箭头连接符 55"/>
          <p:cNvCxnSpPr>
            <a:endCxn id="55" idx="3"/>
          </p:cNvCxnSpPr>
          <p:nvPr/>
        </p:nvCxnSpPr>
        <p:spPr>
          <a:xfrm flipV="1">
            <a:off x="1619672" y="2438890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梯形 56"/>
          <p:cNvSpPr/>
          <p:nvPr/>
        </p:nvSpPr>
        <p:spPr>
          <a:xfrm rot="5400000">
            <a:off x="1259632" y="3140968"/>
            <a:ext cx="720080" cy="432048"/>
          </a:xfrm>
          <a:prstGeom prst="trapezoi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tlCol="0" anchor="ctr"/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58" name="直接箭头连接符 57"/>
          <p:cNvCxnSpPr>
            <a:endCxn id="57" idx="3"/>
          </p:cNvCxnSpPr>
          <p:nvPr/>
        </p:nvCxnSpPr>
        <p:spPr>
          <a:xfrm flipV="1">
            <a:off x="1619672" y="3663026"/>
            <a:ext cx="0" cy="2700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835696" y="3356992"/>
            <a:ext cx="28803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1835696" y="2132856"/>
            <a:ext cx="28803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1115616" y="1916832"/>
            <a:ext cx="28803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115616" y="2348880"/>
            <a:ext cx="288032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115616" y="3140968"/>
            <a:ext cx="288032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115616" y="3573016"/>
            <a:ext cx="288032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9512" y="213285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RAMout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51520" y="170080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ALUout</a:t>
            </a:r>
            <a:endParaRPr lang="zh-CN" alt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611560" y="256490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Regs_Dsel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55576" y="335699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rt</a:t>
            </a:r>
            <a:endParaRPr lang="en-US" altLang="zh-CN" dirty="0"/>
          </a:p>
        </p:txBody>
      </p:sp>
      <p:sp>
        <p:nvSpPr>
          <p:cNvPr id="70" name="TextBox 69"/>
          <p:cNvSpPr txBox="1"/>
          <p:nvPr/>
        </p:nvSpPr>
        <p:spPr>
          <a:xfrm>
            <a:off x="755576" y="29249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568" y="3861048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Regs_Rsel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75856" y="6381328"/>
            <a:ext cx="5400600" cy="30777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根据</a:t>
            </a:r>
            <a:r>
              <a:rPr lang="en-US" altLang="zh-CN" sz="1400" b="1" dirty="0" err="1"/>
              <a:t>addu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subu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ori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lui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sw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lw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beq</a:t>
            </a:r>
            <a:r>
              <a:rPr lang="zh-CN" altLang="en-US" sz="1400" b="1" dirty="0"/>
              <a:t>讲解相关通路和控制信号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476672"/>
            <a:ext cx="77768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根据</a:t>
            </a:r>
            <a:r>
              <a:rPr lang="en-US" altLang="zh-CN" sz="1400" b="1" dirty="0" err="1"/>
              <a:t>addu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subu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ori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lui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sw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lw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beq</a:t>
            </a:r>
            <a:r>
              <a:rPr lang="zh-CN" altLang="en-US" sz="1400" b="1" dirty="0"/>
              <a:t>讲解相关通路和控制信号后，列表设计</a:t>
            </a:r>
            <a:r>
              <a:rPr lang="zh-CN" altLang="en-US" sz="1400" b="1" dirty="0">
                <a:solidFill>
                  <a:srgbClr val="FF0000"/>
                </a:solidFill>
              </a:rPr>
              <a:t>控制信号发生器。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1560" y="908720"/>
            <a:ext cx="468052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指令译码器</a:t>
            </a:r>
            <a:r>
              <a:rPr lang="en-US" altLang="zh-CN" b="1" dirty="0"/>
              <a:t>+</a:t>
            </a:r>
            <a:r>
              <a:rPr lang="zh-CN" altLang="en-US" b="1" dirty="0"/>
              <a:t>控制信号发生器，称为控制器。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57652"/>
              </p:ext>
            </p:extLst>
          </p:nvPr>
        </p:nvGraphicFramePr>
        <p:xfrm>
          <a:off x="251517" y="1397000"/>
          <a:ext cx="8640963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ALU_sel</a:t>
                      </a:r>
                      <a:r>
                        <a:rPr lang="en-US" altLang="zh-CN" b="1" dirty="0"/>
                        <a:t>   </a:t>
                      </a:r>
                    </a:p>
                    <a:p>
                      <a:r>
                        <a:rPr lang="en-US" altLang="zh-CN" b="1" dirty="0"/>
                        <a:t>  [2:0]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EXT_sel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  [1:0]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B_sel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Regs_Dsel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Regs_Rsel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Reg_wr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M_wr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PC_sel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addu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subu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ori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010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lui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lw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sw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beq</a:t>
                      </a:r>
                      <a:endParaRPr lang="en-US" altLang="zh-CN" b="1" dirty="0"/>
                    </a:p>
                    <a:p>
                      <a:r>
                        <a:rPr lang="en-US" altLang="zh-CN" b="1" dirty="0"/>
                        <a:t>(zero=1)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616" y="5157192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ALU_sel</a:t>
            </a:r>
            <a:r>
              <a:rPr lang="en-US" altLang="zh-CN" b="1" dirty="0"/>
              <a:t>[2]=0</a:t>
            </a:r>
          </a:p>
          <a:p>
            <a:r>
              <a:rPr lang="en-US" altLang="zh-CN" b="1" dirty="0" err="1"/>
              <a:t>ALU_sel</a:t>
            </a:r>
            <a:r>
              <a:rPr lang="en-US" altLang="zh-CN" b="1" dirty="0"/>
              <a:t>[1]=</a:t>
            </a:r>
            <a:r>
              <a:rPr lang="en-US" altLang="zh-CN" b="1" dirty="0" err="1"/>
              <a:t>ori</a:t>
            </a:r>
            <a:r>
              <a:rPr lang="en-US" altLang="zh-CN" b="1" dirty="0"/>
              <a:t> </a:t>
            </a:r>
          </a:p>
          <a:p>
            <a:r>
              <a:rPr lang="en-US" altLang="zh-CN" b="1" dirty="0" err="1"/>
              <a:t>ALU_sel</a:t>
            </a:r>
            <a:r>
              <a:rPr lang="en-US" altLang="zh-CN" b="1" dirty="0"/>
              <a:t>[0]=</a:t>
            </a:r>
            <a:r>
              <a:rPr lang="en-US" altLang="zh-CN" b="1" dirty="0" err="1"/>
              <a:t>subu</a:t>
            </a:r>
            <a:r>
              <a:rPr lang="en-US" altLang="zh-CN" b="1" dirty="0"/>
              <a:t> | </a:t>
            </a:r>
            <a:r>
              <a:rPr lang="en-US" altLang="zh-CN" b="1" dirty="0" err="1"/>
              <a:t>beq</a:t>
            </a:r>
            <a:endParaRPr lang="en-US" altLang="zh-C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580112" y="522920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PC_sel</a:t>
            </a:r>
            <a:r>
              <a:rPr lang="en-US" altLang="zh-CN" b="1" dirty="0"/>
              <a:t>=</a:t>
            </a:r>
            <a:r>
              <a:rPr lang="en-US" altLang="zh-CN" b="1" dirty="0" err="1"/>
              <a:t>beq</a:t>
            </a:r>
            <a:r>
              <a:rPr lang="en-US" altLang="zh-CN" b="1" dirty="0"/>
              <a:t>  &amp;  zero</a:t>
            </a:r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220072" y="602128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其它？？？同学完成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1196752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至此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基于</a:t>
            </a:r>
            <a:r>
              <a:rPr lang="en-US" altLang="zh-CN" b="1" dirty="0"/>
              <a:t>7</a:t>
            </a:r>
            <a:r>
              <a:rPr lang="zh-CN" altLang="en-US" b="1" dirty="0"/>
              <a:t>条</a:t>
            </a:r>
            <a:r>
              <a:rPr lang="en-US" altLang="zh-CN" b="1" dirty="0"/>
              <a:t>MIPS</a:t>
            </a:r>
            <a:r>
              <a:rPr lang="zh-CN" altLang="en-US" b="1" dirty="0"/>
              <a:t>指令的</a:t>
            </a:r>
            <a:r>
              <a:rPr lang="en-US" altLang="zh-CN" b="1" dirty="0"/>
              <a:t>CPU</a:t>
            </a:r>
            <a:r>
              <a:rPr lang="zh-CN" altLang="en-US" b="1" dirty="0"/>
              <a:t>设计思路和方法，已形成。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7704" y="270892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同学可进行</a:t>
            </a:r>
            <a:r>
              <a:rPr lang="en-US" altLang="zh-CN" b="1" dirty="0" err="1"/>
              <a:t>LogicSim</a:t>
            </a:r>
            <a:r>
              <a:rPr lang="zh-CN" altLang="en-US" b="1" dirty="0"/>
              <a:t>实现。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7704" y="3717032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亦可以采用</a:t>
            </a:r>
            <a:r>
              <a:rPr lang="en-US" altLang="zh-CN" b="1" dirty="0" err="1"/>
              <a:t>Verilog</a:t>
            </a:r>
            <a:r>
              <a:rPr lang="zh-CN" altLang="en-US" b="1" dirty="0"/>
              <a:t>  </a:t>
            </a:r>
            <a:r>
              <a:rPr lang="en-US" altLang="zh-CN" b="1" dirty="0"/>
              <a:t>HDL</a:t>
            </a:r>
            <a:r>
              <a:rPr lang="zh-CN" altLang="en-US" b="1" dirty="0"/>
              <a:t>实现。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2280</Words>
  <Application>Microsoft Office PowerPoint</Application>
  <PresentationFormat>全屏显示(4:3)</PresentationFormat>
  <Paragraphs>631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宋体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pjc</dc:creator>
  <cp:lastModifiedBy>LC_State</cp:lastModifiedBy>
  <cp:revision>112</cp:revision>
  <dcterms:created xsi:type="dcterms:W3CDTF">2014-10-22T03:33:34Z</dcterms:created>
  <dcterms:modified xsi:type="dcterms:W3CDTF">2024-11-26T13:53:52Z</dcterms:modified>
</cp:coreProperties>
</file>