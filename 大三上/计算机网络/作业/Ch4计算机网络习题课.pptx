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1"/>
  </p:notesMasterIdLst>
  <p:sldIdLst>
    <p:sldId id="279" r:id="rId2"/>
    <p:sldId id="281" r:id="rId3"/>
    <p:sldId id="310" r:id="rId4"/>
    <p:sldId id="283" r:id="rId5"/>
    <p:sldId id="284" r:id="rId6"/>
    <p:sldId id="302" r:id="rId7"/>
    <p:sldId id="295" r:id="rId8"/>
    <p:sldId id="303" r:id="rId9"/>
    <p:sldId id="304" r:id="rId10"/>
    <p:sldId id="305" r:id="rId11"/>
    <p:sldId id="306" r:id="rId12"/>
    <p:sldId id="307" r:id="rId13"/>
    <p:sldId id="308" r:id="rId14"/>
    <p:sldId id="311" r:id="rId15"/>
    <p:sldId id="288" r:id="rId16"/>
    <p:sldId id="309" r:id="rId17"/>
    <p:sldId id="290" r:id="rId18"/>
    <p:sldId id="272" r:id="rId19"/>
    <p:sldId id="312" r:id="rId2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372" autoAdjust="0"/>
    <p:restoredTop sz="95220" autoAdjust="0"/>
  </p:normalViewPr>
  <p:slideViewPr>
    <p:cSldViewPr>
      <p:cViewPr varScale="1">
        <p:scale>
          <a:sx n="106" d="100"/>
          <a:sy n="106" d="100"/>
        </p:scale>
        <p:origin x="55" y="65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A4BE2E8C-B321-196D-4CA7-10E93C54941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F003B05E-C65F-9623-126E-8E2E603541F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F5DAA7BC-3242-E9FD-2E45-D7468F2EA60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B70D2C17-7E45-D651-1A7E-895FB9183A0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8374" name="Rectangle 6">
            <a:extLst>
              <a:ext uri="{FF2B5EF4-FFF2-40B4-BE49-F238E27FC236}">
                <a16:creationId xmlns:a16="http://schemas.microsoft.com/office/drawing/2014/main" id="{E37C3876-1774-B387-38B2-E5645C58264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8375" name="Rectangle 7">
            <a:extLst>
              <a:ext uri="{FF2B5EF4-FFF2-40B4-BE49-F238E27FC236}">
                <a16:creationId xmlns:a16="http://schemas.microsoft.com/office/drawing/2014/main" id="{2E367B51-118C-BB7A-6455-C1C98766B5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A4C96A4-406D-D346-AD34-283EC79356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C5A2DC49-E4E3-9E77-75D5-12B19E8769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4C6A770-BDFB-1F40-BF94-AF30C41B08DC}" type="slidenum">
              <a:rPr lang="en-US" altLang="zh-CN" smtClean="0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A0B1F3DF-46B6-4634-1014-E5A350685D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06D270F8-7B32-6886-5261-8E108C945B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2-&gt;2-&gt;2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9CC29EFA-33F8-EB26-9005-5F99B75753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D412A81-9719-C842-9074-27054D83ED88}" type="slidenum">
              <a:rPr lang="en-US" altLang="zh-CN" smtClean="0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9CC3CD79-7D58-16B3-5D7A-A55D670588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88932701-5167-624C-F4B5-4A8B44508F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>
                <a:latin typeface="Arial" panose="020B0604020202020204" pitchFamily="34" charset="0"/>
              </a:rPr>
              <a:t>19-&gt;15-</a:t>
            </a:r>
            <a:r>
              <a:rPr lang="en-US" altLang="zh-CN">
                <a:latin typeface="Arial" panose="020B0604020202020204" pitchFamily="34" charset="0"/>
              </a:rPr>
              <a:t>&gt;17</a:t>
            </a:r>
          </a:p>
          <a:p>
            <a:pPr eaLnBrk="1" hangingPunct="1">
              <a:defRPr/>
            </a:pP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zh-CN" altLang="en-US" b="1" dirty="0">
                <a:latin typeface="Arial" panose="020B0604020202020204" pitchFamily="34" charset="0"/>
              </a:rPr>
              <a:t>“抓住”</a:t>
            </a:r>
            <a:r>
              <a:rPr lang="zh-CN" altLang="en-US" dirty="0">
                <a:latin typeface="Arial" panose="020B0604020202020204" pitchFamily="34" charset="0"/>
              </a:rPr>
              <a:t>的意思是指所有其他站都知道该站正在传输数据，所以不会干扰它。</a:t>
            </a:r>
            <a:r>
              <a:rPr lang="en-US" altLang="zh-CN" b="1" dirty="0">
                <a:latin typeface="+mj-ea"/>
                <a:ea typeface="+mj-ea"/>
              </a:rPr>
              <a:t>(</a:t>
            </a:r>
            <a:r>
              <a:rPr lang="zh-CN" altLang="en-US" b="1" dirty="0">
                <a:latin typeface="+mj-ea"/>
                <a:ea typeface="+mj-ea"/>
              </a:rPr>
              <a:t>见 </a:t>
            </a:r>
            <a:r>
              <a:rPr lang="en-US" altLang="zh-CN" b="1" dirty="0">
                <a:latin typeface="+mj-ea"/>
                <a:ea typeface="+mj-ea"/>
              </a:rPr>
              <a:t>CN6E</a:t>
            </a:r>
            <a:r>
              <a:rPr lang="zh-CN" altLang="en-US" b="1" dirty="0">
                <a:latin typeface="+mj-ea"/>
                <a:ea typeface="+mj-ea"/>
              </a:rPr>
              <a:t> </a:t>
            </a:r>
            <a:r>
              <a:rPr lang="en-US" altLang="zh-CN" b="1" dirty="0">
                <a:latin typeface="宋体" panose="02010600030101010101" pitchFamily="2" charset="-122"/>
              </a:rPr>
              <a:t>P.213-214</a:t>
            </a:r>
            <a:r>
              <a:rPr lang="en-US" altLang="zh-CN" b="1" dirty="0">
                <a:latin typeface="+mj-ea"/>
                <a:ea typeface="+mj-ea"/>
              </a:rPr>
              <a:t>) </a:t>
            </a:r>
          </a:p>
          <a:p>
            <a:pPr eaLnBrk="1" hangingPunct="1">
              <a:defRPr/>
            </a:pP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0C093DD-9AAE-8574-EA87-2AADFA54BA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CD099A0-94B9-C44E-AE7C-494C38EE5D69}" type="slidenum">
              <a:rPr lang="en-US" altLang="zh-CN" smtClean="0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B0421C1D-4ED2-EE0E-65D7-00B12E59FE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C7527274-A100-6DAD-1E75-D24D04454F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21-&gt;</a:t>
            </a:r>
            <a:r>
              <a:rPr lang="zh-CN" altLang="en-US">
                <a:latin typeface="Arial" panose="020B0604020202020204" pitchFamily="34" charset="0"/>
              </a:rPr>
              <a:t>补充</a:t>
            </a:r>
            <a:r>
              <a:rPr lang="en-US" altLang="zh-CN">
                <a:latin typeface="Arial" panose="020B0604020202020204" pitchFamily="34" charset="0"/>
              </a:rPr>
              <a:t>-&gt;18</a:t>
            </a:r>
          </a:p>
          <a:p>
            <a:pPr eaLnBrk="1" hangingPunct="1"/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C9690597-DCA9-C1F7-51EF-417DE6A984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4FC32FC-8503-AE4C-8378-840DC546A599}" type="slidenum">
              <a:rPr lang="en-US" altLang="zh-CN" smtClean="0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8F785A0C-ED57-DC5D-D579-78B4830665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F22F90B-F700-2F5E-451A-14B583C5B7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22-&gt;17-&gt;19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0ED5988B-D398-28CE-F74B-59A30F4B11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69AD219-FF7F-8B46-BEB1-31E90C1644FB}" type="slidenum">
              <a:rPr lang="en-US" altLang="zh-CN" smtClean="0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87105DA2-55E0-022A-EBB9-6C76BC90C1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C635416-91BB-CAF9-A35A-32F4B43BB5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23-&gt;18-&gt;20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23333624-99C5-2AB9-ACBF-609D38E9A5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00BCEEF-5386-2944-8F04-FBAB2792A7B9}" type="slidenum">
              <a:rPr lang="en-US" altLang="zh-CN" smtClean="0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971458BA-C8C6-754B-0D42-5AE4E0EDFE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321B93FB-361C-E0A0-D925-7084B9E83E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37-&gt;38-&gt;43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4383A5BC-C86D-A453-A800-BC8914006F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0C26A6E-F605-1142-AF84-8D9029657BE3}" type="slidenum">
              <a:rPr lang="en-US" altLang="zh-CN" smtClean="0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89F6B4AF-71DB-6492-D341-74CEADDB58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F404520-7443-BA1E-572A-B312AA1C23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(a)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forward this packet on ports 2, 3, and 4.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forward it on 1, 2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and 3.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(b)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forward this packet on ports 1, 3, and 4.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forward it on 1, 2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and 3.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(c)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not forward this packet on any of its ports, and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not see it.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(d)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forward this packet on port 2.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not see it.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(e)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forward this packet on port 4 and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forward it on port 1.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(f)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forward this packet on ports 1, 3 and 4.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forward it on port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2.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EBA6E266-F505-9B86-8AEE-E19CEEE6BF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E30F5D2-ECBE-2A4A-8DC3-A871703966E9}" type="slidenum">
              <a:rPr lang="en-US" altLang="zh-CN" smtClean="0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04EBB9C0-F03F-0850-D257-A6C7B1FDF4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4D97F843-A744-7788-211D-01A3ED0219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(c)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not forward this packet on any of its ports, and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not see it.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(d)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forward this packet on port 2.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not see it.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(e)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forward this packet on port 4 and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forward it on port 1.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(f)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forward this packet on ports 1, 3 and 4.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forward it on port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2.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>
            <a:extLst>
              <a:ext uri="{FF2B5EF4-FFF2-40B4-BE49-F238E27FC236}">
                <a16:creationId xmlns:a16="http://schemas.microsoft.com/office/drawing/2014/main" id="{99C69AF7-268E-4931-D5BA-21507EC171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81FD80E-6154-6C48-A7C6-1B7941D9B8ED}" type="slidenum">
              <a:rPr lang="en-US" altLang="zh-CN" smtClean="0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D533C495-8C70-DA38-C37B-179309480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F9C0F5D-6DDC-4205-9D5C-C6EF919FE4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(c)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not forward this packet on any of its ports, and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not see it.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(d)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forward this packet on port 2.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not see it.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(e)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forward this packet on port 4 and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forward it on port 1.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(f)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forward this packet on ports 1, 3 and 4.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forward it on port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2.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AD987216-DC92-B1FF-83C8-9387C9FB47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11A998D-9A5B-164C-8DBF-17F7A0D821B0}" type="slidenum">
              <a:rPr lang="en-US" altLang="zh-CN" smtClean="0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8892FA23-F5A9-6832-66D3-E4A24C2596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E5B6B3D1-3AE5-3A61-37FF-2455C2157C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(e)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forward this packet on port 4 and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forward it on port 1.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(f)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forward this packet on ports 1, 3 and 4.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forward it on port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2.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D4456856-A293-8EA7-6BC8-14BF40CAA5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0CBC6A6-E595-594D-92A1-A5D63CE3FAAD}" type="slidenum">
              <a:rPr lang="en-US" altLang="zh-CN" smtClean="0"/>
              <a:pPr>
                <a:spcBef>
                  <a:spcPct val="0"/>
                </a:spcBef>
              </a:pPr>
              <a:t>12</a:t>
            </a:fld>
            <a:endParaRPr lang="en-US" altLang="zh-CN"/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6F10D0D6-8620-A46C-246B-5069D1D9D9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8F116F9-60CC-7F96-BF18-545097E33B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(e)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forward this packet on port 4 and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forward it on port 1.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(f)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forward this packet on ports 1, 3 and 4.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forward it on port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2.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D6939531-BAD4-2749-C810-A6831EBFD8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F9069ED-EBF2-C84C-99A2-BD5B23FB6292}" type="slidenum">
              <a:rPr lang="en-US" altLang="zh-CN" smtClean="0"/>
              <a:pPr>
                <a:spcBef>
                  <a:spcPct val="0"/>
                </a:spcBef>
              </a:pPr>
              <a:t>13</a:t>
            </a:fld>
            <a:endParaRPr lang="en-US" altLang="zh-CN"/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21E5462D-4182-44BA-7C09-4D144180BA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706EF906-0860-5D91-0BF2-D5F23805B2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(e)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forward this packet on port 4 and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forward it on port 1.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(f) </a:t>
            </a:r>
            <a:r>
              <a:rPr lang="en-US" altLang="zh-CN" i="1">
                <a:latin typeface="Arial" panose="020B0604020202020204" pitchFamily="34" charset="0"/>
              </a:rPr>
              <a:t>B1 </a:t>
            </a:r>
            <a:r>
              <a:rPr lang="en-US" altLang="zh-CN">
                <a:latin typeface="Arial" panose="020B0604020202020204" pitchFamily="34" charset="0"/>
              </a:rPr>
              <a:t>will forward this packet on ports 1, 3 and 4. </a:t>
            </a:r>
            <a:r>
              <a:rPr lang="en-US" altLang="zh-CN" i="1">
                <a:latin typeface="Arial" panose="020B0604020202020204" pitchFamily="34" charset="0"/>
              </a:rPr>
              <a:t>B2 </a:t>
            </a:r>
            <a:r>
              <a:rPr lang="en-US" altLang="zh-CN">
                <a:latin typeface="Arial" panose="020B0604020202020204" pitchFamily="34" charset="0"/>
              </a:rPr>
              <a:t>will forward it on port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2.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5674A5A5-DB39-35E7-031B-FD37CBDC21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0DE8191-D98E-4F4A-A685-EC19F18DBBC2}" type="slidenum">
              <a:rPr lang="en-US" altLang="zh-CN" smtClean="0"/>
              <a:pPr>
                <a:spcBef>
                  <a:spcPct val="0"/>
                </a:spcBef>
              </a:pPr>
              <a:t>15</a:t>
            </a:fld>
            <a:endParaRPr lang="en-US" altLang="zh-CN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6B0CBF29-9D33-5D95-391B-8A82584B58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B113FE1E-E5B3-E142-059C-78A78E293C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38-&gt;40-&gt;49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C9D80B66-10B8-B70F-DC91-CEC6879091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5638FE1-435C-7046-BC4D-73580B1519B0}" type="slidenum">
              <a:rPr lang="en-US" altLang="zh-CN" smtClean="0"/>
              <a:pPr>
                <a:spcBef>
                  <a:spcPct val="0"/>
                </a:spcBef>
              </a:pPr>
              <a:t>16</a:t>
            </a:fld>
            <a:endParaRPr lang="en-US" altLang="zh-CN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3C4A668A-CCA7-C2B9-6CD1-74D4DF66E7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5F49DC8-7827-3DE8-6298-AD85A0A720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44-&gt;41-&gt;50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3E9F30B-03A1-6DCB-2EB8-C80A032A4385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B7CC2507-F049-6E6B-0315-3AD69B58BC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206B5A4C-CC2B-13B6-3B61-5F24109F17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B8B21C39-CA09-815E-05B3-906FA6654A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93D74AE1-DDA7-B0B4-5A75-0F7A8BE26F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C731FFA-90C6-DBCD-63D9-45A7E1CE0A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CEFDD66-2D27-7A6D-6EDA-83E40D0530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F13EA6C6-48B5-3AD9-9EB7-7CAB0CFA2B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B9D1F094-F450-1A1E-C245-59B6D6E6D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55CAC265-2421-3BB6-2AF2-A7A7BABE657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95E68EB8-18AA-1C27-3057-0CD81E1AD5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5D546902-65AC-B788-2566-22C7DD8FDC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3720F18B-DFA6-5B66-4D9C-DD019C6305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B8A56A15-DF7F-5345-A412-78469487D01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48927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A80D11B-843B-8067-478B-EC1C87F456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1D0DE5C-C183-37A2-FFDA-F81034908E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B32AEF9-D762-4D1D-08D1-37239DBC65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71A1C-2167-BD40-8BA1-D806AE5EB89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7138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D2A179F-B756-68D5-4C51-E1C69E41AC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84BBF48-FF92-1E27-C117-E8D1D29676F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0AFBE614-233D-C6B1-4789-29D901B2AC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BA3DBB-F35E-474F-9CDC-9305A11AA9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2287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9175E2F-8EC1-68D7-ABBE-F2013EC615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8D9E430-EB07-B188-CADB-EBF64AF7B2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04AB7D05-F5ED-2D7A-649C-25DD3D05E2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5BD1A0-9510-D04C-9C5B-A9C05CB532F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5074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8DD2109-4418-592A-223C-78C7EEEACB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401FD0B8-D005-5539-6969-89A571811A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C46C7B8D-D7D4-B38E-CEBC-7192EC641D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0AB9D3-78EF-CB45-B648-31256B464B0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7900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2FE04F0B-FDF9-5028-04A7-8B602DE815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8F5A27D1-BE7A-5200-BF64-EA0B52AAC4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6225D14B-4A44-1315-0FC2-75C1B1056A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7AC2DF-89F5-E14E-972C-5C26FBE3A92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2941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FDF57C5B-B143-8A24-6E28-F2C59080AF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BA618674-1456-B527-3097-FB2EE6E11E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F2039D44-0ACE-6830-D15E-BFB78D238D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BA97A7-D9BB-8A4A-AF1C-423230497A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790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FC829E6-4865-984F-BA57-65279958A5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8E38EA0-598C-DA4F-2D7F-D9F6AAF6F8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5EA1D102-BA0B-9C8C-17EA-AEBB5A9122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23C667-39F9-8841-8972-E981CDD792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0914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FCDD9480-BB16-0355-EF29-14B920EC29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CD677EAD-146E-6DA1-018F-CE37BC9D64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CD52991-6228-3F1F-53FE-95544E2C42C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688E33-D5A9-024E-920F-50A9C4DD3B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2733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89763CD-1D13-3A71-75C8-B4A33B8703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781E138-33DC-6DC3-86F4-F57639285B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E19A1F2-5199-BE7B-348D-0D587E3E44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60E835-71B1-904D-A929-1DB4E05A3F3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420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92A2053A-67BF-0BB4-A323-EF6E16A14D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CA4D005F-6256-0403-CCE4-C5D8B77869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40A2E02-BA0A-C137-584C-D0AFE4BCF2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3C9DE4-71EF-7046-9BB4-E0FB470E85A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0072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C0F4EED-27B2-936C-5E76-A0EE0FAD49B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5CD1178-B848-60FC-8908-679588A5242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94F73D6-A9D1-2CF5-FCDF-8BDF1A7F12C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46D694A-C924-8075-9749-F6822F05157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38B5F17-E254-BC43-D2F2-67C062CBE91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1F3DE34A-D767-035B-56C2-0D982EDA0F8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AC57055F-E34B-1690-BCBB-1E3A1376069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zh-CN" sz="2400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07EBBC9E-F62D-DECD-FEF5-3370C3E454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561785BA-03ED-3FE4-F989-7A2D1CF153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>
            <a:extLst>
              <a:ext uri="{FF2B5EF4-FFF2-40B4-BE49-F238E27FC236}">
                <a16:creationId xmlns:a16="http://schemas.microsoft.com/office/drawing/2014/main" id="{DCE16842-7A89-D7A7-F95C-2A7E13FB66B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E3304377-AFCF-ACC2-33E1-161B54DD418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2DCFAB65-9497-C5F8-4A1F-A195D8B21A7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4AB1584-E2CE-A942-8A43-724047A8B1F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892970CB-324A-49F6-95B7-BE96AA7B3D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Ch4 </a:t>
            </a:r>
            <a:r>
              <a:rPr lang="zh-CN" altLang="en-US" b="1">
                <a:latin typeface="宋体" panose="02010600030101010101" pitchFamily="2" charset="-122"/>
              </a:rPr>
              <a:t>介质访问控制子层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F094E759-AAE4-765D-8FF1-DD501889A4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78486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．</a:t>
            </a:r>
            <a:r>
              <a:rPr lang="en-US" altLang="zh-CN" sz="2400" b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个站共享一个</a:t>
            </a:r>
            <a:r>
              <a:rPr lang="en-US" altLang="zh-CN" sz="2400" b="1" dirty="0">
                <a:latin typeface="宋体" panose="02010600030101010101" pitchFamily="2" charset="-122"/>
              </a:rPr>
              <a:t>56kbps</a:t>
            </a:r>
            <a:r>
              <a:rPr lang="zh-CN" altLang="en-US" sz="2400" b="1" dirty="0">
                <a:latin typeface="宋体" panose="02010600030101010101" pitchFamily="2" charset="-122"/>
              </a:rPr>
              <a:t>的纯</a:t>
            </a:r>
            <a:r>
              <a:rPr lang="en-US" altLang="zh-CN" sz="2400" b="1" dirty="0">
                <a:latin typeface="宋体" panose="02010600030101010101" pitchFamily="2" charset="-122"/>
              </a:rPr>
              <a:t>ALOHA</a:t>
            </a:r>
            <a:r>
              <a:rPr lang="zh-CN" altLang="en-US" sz="2400" b="1" dirty="0">
                <a:latin typeface="宋体" panose="02010600030101010101" pitchFamily="2" charset="-122"/>
              </a:rPr>
              <a:t>信道。每个站平均每</a:t>
            </a:r>
            <a:r>
              <a:rPr lang="en-US" altLang="zh-CN" sz="2400" b="1" dirty="0">
                <a:latin typeface="宋体" panose="02010600030101010101" pitchFamily="2" charset="-122"/>
              </a:rPr>
              <a:t>100</a:t>
            </a:r>
            <a:r>
              <a:rPr lang="zh-CN" altLang="en-US" sz="2400" b="1" dirty="0">
                <a:latin typeface="宋体" panose="02010600030101010101" pitchFamily="2" charset="-122"/>
              </a:rPr>
              <a:t>秒输出一个</a:t>
            </a:r>
            <a:r>
              <a:rPr lang="en-US" altLang="zh-CN" sz="2400" b="1" dirty="0">
                <a:latin typeface="宋体" panose="02010600030101010101" pitchFamily="2" charset="-122"/>
              </a:rPr>
              <a:t>1000</a:t>
            </a:r>
            <a:r>
              <a:rPr lang="zh-CN" altLang="en-US" sz="2400" b="1" dirty="0">
                <a:latin typeface="宋体" panose="02010600030101010101" pitchFamily="2" charset="-122"/>
              </a:rPr>
              <a:t>位的帧，即使前面的帧还没有被送出去，它也这样进行（比如这些站可以将送出的帧缓存起来）。请问</a:t>
            </a:r>
            <a:r>
              <a:rPr lang="en-US" altLang="zh-CN" sz="2400" b="1" dirty="0">
                <a:latin typeface="宋体" panose="02010600030101010101" pitchFamily="2" charset="-122"/>
              </a:rPr>
              <a:t>N</a:t>
            </a:r>
            <a:r>
              <a:rPr lang="zh-CN" altLang="en-US" sz="2400" b="1" dirty="0">
                <a:latin typeface="宋体" panose="02010600030101010101" pitchFamily="2" charset="-122"/>
              </a:rPr>
              <a:t>的最大值是多少？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对于纯</a:t>
            </a:r>
            <a:r>
              <a:rPr lang="en-US" altLang="zh-CN" sz="2400" b="1" dirty="0">
                <a:latin typeface="宋体" panose="02010600030101010101" pitchFamily="2" charset="-122"/>
              </a:rPr>
              <a:t>ALOHA</a:t>
            </a:r>
            <a:r>
              <a:rPr lang="zh-CN" altLang="en-US" sz="2400" b="1" dirty="0">
                <a:latin typeface="宋体" panose="02010600030101010101" pitchFamily="2" charset="-122"/>
              </a:rPr>
              <a:t>，可用的带宽是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 56kb/s*18.4%=10.304kb/s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latin typeface="宋体" panose="02010600030101010101" pitchFamily="2" charset="-122"/>
              </a:rPr>
              <a:t>每个站需要的带宽是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    </a:t>
            </a:r>
            <a:r>
              <a:rPr lang="en-US" altLang="zh-CN" sz="2400" b="1" dirty="0">
                <a:latin typeface="宋体" panose="02010600030101010101" pitchFamily="2" charset="-122"/>
              </a:rPr>
              <a:t>1000/100=10b/s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  </a:t>
            </a:r>
            <a:r>
              <a:rPr lang="en-US" altLang="zh-CN" b="1" dirty="0">
                <a:latin typeface="宋体" panose="02010600030101010101" pitchFamily="2" charset="-122"/>
              </a:rPr>
              <a:t>∴ </a:t>
            </a:r>
            <a:r>
              <a:rPr lang="en-US" altLang="zh-CN" sz="2400" b="1" dirty="0">
                <a:latin typeface="宋体" panose="02010600030101010101" pitchFamily="2" charset="-122"/>
              </a:rPr>
              <a:t>N=10304/10≈1030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48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88333A77-61CF-AE11-D48B-938960B14B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2050" y="333375"/>
            <a:ext cx="7793038" cy="1462088"/>
          </a:xfrm>
        </p:spPr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Ch4 </a:t>
            </a:r>
            <a:r>
              <a:rPr lang="zh-CN" altLang="en-US" b="1">
                <a:latin typeface="宋体" panose="02010600030101010101" pitchFamily="2" charset="-122"/>
              </a:rPr>
              <a:t>介质访问控制子层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895D8E2C-5B65-C61E-B7C9-69BCCEE920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017713"/>
            <a:ext cx="8270875" cy="45799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CN" sz="1800" b="1" dirty="0">
                <a:latin typeface="宋体" panose="02010600030101010101" pitchFamily="2" charset="-122"/>
              </a:rPr>
              <a:t>*17</a:t>
            </a:r>
            <a:r>
              <a:rPr lang="zh-CN" altLang="en-US" sz="1800" b="1" dirty="0">
                <a:latin typeface="宋体" panose="02010600030101010101" pitchFamily="2" charset="-122"/>
              </a:rPr>
              <a:t>．一个</a:t>
            </a:r>
            <a:r>
              <a:rPr lang="en-US" altLang="zh-CN" sz="1800" b="1" dirty="0">
                <a:latin typeface="宋体" panose="02010600030101010101" pitchFamily="2" charset="-122"/>
              </a:rPr>
              <a:t>1km</a:t>
            </a:r>
            <a:r>
              <a:rPr lang="zh-CN" altLang="en-US" sz="1800" b="1" dirty="0">
                <a:latin typeface="宋体" panose="02010600030101010101" pitchFamily="2" charset="-122"/>
              </a:rPr>
              <a:t>长、</a:t>
            </a:r>
            <a:r>
              <a:rPr lang="en-US" altLang="zh-CN" sz="1800" b="1" dirty="0">
                <a:latin typeface="宋体" panose="02010600030101010101" pitchFamily="2" charset="-122"/>
              </a:rPr>
              <a:t>10Mbps</a:t>
            </a:r>
            <a:r>
              <a:rPr lang="zh-CN" altLang="en-US" sz="1800" b="1" dirty="0">
                <a:latin typeface="宋体" panose="02010600030101010101" pitchFamily="2" charset="-122"/>
              </a:rPr>
              <a:t>的</a:t>
            </a:r>
            <a:r>
              <a:rPr lang="en-US" altLang="zh-CN" sz="1800" b="1" dirty="0">
                <a:latin typeface="宋体" panose="02010600030101010101" pitchFamily="2" charset="-122"/>
              </a:rPr>
              <a:t>CSMA/CD LAN</a:t>
            </a:r>
            <a:r>
              <a:rPr lang="zh-CN" altLang="en-US" sz="1800" b="1" dirty="0">
                <a:latin typeface="宋体" panose="02010600030101010101" pitchFamily="2" charset="-122"/>
              </a:rPr>
              <a:t>（不是</a:t>
            </a:r>
            <a:r>
              <a:rPr lang="en-US" altLang="zh-CN" sz="1800" b="1" dirty="0">
                <a:latin typeface="宋体" panose="02010600030101010101" pitchFamily="2" charset="-122"/>
              </a:rPr>
              <a:t>802.3</a:t>
            </a:r>
            <a:r>
              <a:rPr lang="zh-CN" altLang="en-US" sz="1800" b="1" dirty="0">
                <a:latin typeface="宋体" panose="02010600030101010101" pitchFamily="2" charset="-122"/>
              </a:rPr>
              <a:t>），其传播速度为</a:t>
            </a:r>
            <a:r>
              <a:rPr lang="en-US" altLang="zh-CN" sz="1800" b="1" dirty="0">
                <a:latin typeface="宋体" panose="02010600030101010101" pitchFamily="2" charset="-122"/>
              </a:rPr>
              <a:t>200m/</a:t>
            </a:r>
            <a:r>
              <a:rPr lang="en-US" altLang="zh-CN" sz="1800" b="1" dirty="0" err="1">
                <a:latin typeface="宋体" panose="02010600030101010101" pitchFamily="2" charset="-122"/>
              </a:rPr>
              <a:t>μs</a:t>
            </a:r>
            <a:r>
              <a:rPr lang="zh-CN" altLang="en-US" sz="1800" b="1" dirty="0">
                <a:latin typeface="宋体" panose="02010600030101010101" pitchFamily="2" charset="-122"/>
              </a:rPr>
              <a:t>。在这个系统中不允许使用中继器。数据帧的长度为</a:t>
            </a:r>
            <a:r>
              <a:rPr lang="en-US" altLang="zh-CN" sz="1800" b="1" dirty="0">
                <a:latin typeface="宋体" panose="02010600030101010101" pitchFamily="2" charset="-122"/>
              </a:rPr>
              <a:t>256</a:t>
            </a:r>
            <a:r>
              <a:rPr lang="zh-CN" altLang="en-US" sz="1800" b="1" dirty="0">
                <a:latin typeface="宋体" panose="02010600030101010101" pitchFamily="2" charset="-122"/>
              </a:rPr>
              <a:t>位，其中包括</a:t>
            </a:r>
            <a:r>
              <a:rPr lang="en-US" altLang="zh-CN" sz="1800" b="1" dirty="0">
                <a:latin typeface="宋体" panose="02010600030101010101" pitchFamily="2" charset="-122"/>
              </a:rPr>
              <a:t>32</a:t>
            </a:r>
            <a:r>
              <a:rPr lang="zh-CN" altLang="en-US" sz="1800" b="1" dirty="0">
                <a:latin typeface="宋体" panose="02010600030101010101" pitchFamily="2" charset="-122"/>
              </a:rPr>
              <a:t>位的头部、校验和以及其他的开销。在一次成功的传输之后，第一个位时槽将被预留给接收方，以便他抓住信道并发送一个</a:t>
            </a:r>
            <a:r>
              <a:rPr lang="en-US" altLang="zh-CN" sz="1800" b="1" dirty="0">
                <a:latin typeface="宋体" panose="02010600030101010101" pitchFamily="2" charset="-122"/>
              </a:rPr>
              <a:t>32</a:t>
            </a:r>
            <a:r>
              <a:rPr lang="zh-CN" altLang="en-US" sz="1800" b="1" dirty="0">
                <a:latin typeface="宋体" panose="02010600030101010101" pitchFamily="2" charset="-122"/>
              </a:rPr>
              <a:t>位的确认帧。假设没有冲突，请问除去开销之后的有效数据率是多少？</a:t>
            </a:r>
          </a:p>
          <a:p>
            <a:pPr eaLnBrk="1" hangingPunct="1">
              <a:lnSpc>
                <a:spcPct val="80000"/>
              </a:lnSpc>
              <a:defRPr/>
            </a:pPr>
            <a:endParaRPr lang="zh-CN" altLang="en-US" sz="1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1800" b="1" dirty="0">
                <a:latin typeface="宋体" panose="02010600030101010101" pitchFamily="2" charset="-122"/>
              </a:rPr>
              <a:t>电缆的往返传输时延为</a:t>
            </a:r>
            <a:r>
              <a:rPr lang="en-US" altLang="zh-CN" sz="1800" b="1" dirty="0">
                <a:latin typeface="+mj-ea"/>
              </a:rPr>
              <a:t>1km/(200m/us)*2=10μs </a:t>
            </a:r>
            <a:r>
              <a:rPr lang="zh-CN" altLang="en-US" sz="1800" b="1" dirty="0">
                <a:latin typeface="宋体" panose="02010600030101010101" pitchFamily="2" charset="-122"/>
              </a:rPr>
              <a:t>。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1800" b="1" dirty="0">
                <a:latin typeface="宋体" panose="02010600030101010101" pitchFamily="2" charset="-122"/>
              </a:rPr>
              <a:t>     一个完整的传输有</a:t>
            </a:r>
            <a:r>
              <a:rPr lang="en-US" altLang="zh-CN" sz="1800" b="1" dirty="0">
                <a:latin typeface="宋体" panose="02010600030101010101" pitchFamily="2" charset="-122"/>
              </a:rPr>
              <a:t>6</a:t>
            </a:r>
            <a:r>
              <a:rPr lang="zh-CN" altLang="en-US" sz="1800" b="1" dirty="0">
                <a:latin typeface="宋体" panose="02010600030101010101" pitchFamily="2" charset="-122"/>
              </a:rPr>
              <a:t>个过程：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1800" b="1" dirty="0">
                <a:latin typeface="宋体" panose="02010600030101010101" pitchFamily="2" charset="-122"/>
              </a:rPr>
              <a:t>        发送方“抓住”电缆（</a:t>
            </a:r>
            <a:r>
              <a:rPr lang="en-US" altLang="zh-CN" sz="1800" b="1" dirty="0">
                <a:latin typeface="宋体" panose="02010600030101010101" pitchFamily="2" charset="-122"/>
              </a:rPr>
              <a:t>10μs</a:t>
            </a:r>
            <a:r>
              <a:rPr lang="zh-CN" altLang="en-US" sz="1800" b="1" dirty="0">
                <a:latin typeface="宋体" panose="02010600030101010101" pitchFamily="2" charset="-122"/>
              </a:rPr>
              <a:t>） </a:t>
            </a:r>
            <a:endParaRPr lang="en-US" altLang="zh-CN" sz="18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1800" b="1" dirty="0">
                <a:latin typeface="宋体" panose="02010600030101010101" pitchFamily="2" charset="-122"/>
              </a:rPr>
              <a:t>  		</a:t>
            </a:r>
            <a:r>
              <a:rPr lang="zh-CN" altLang="en-US" sz="1800" b="1" dirty="0">
                <a:latin typeface="宋体" panose="02010600030101010101" pitchFamily="2" charset="-122"/>
              </a:rPr>
              <a:t>发送数据帧（</a:t>
            </a:r>
            <a:r>
              <a:rPr lang="en-US" altLang="zh-CN" sz="1800" b="1" dirty="0">
                <a:latin typeface="宋体" panose="02010600030101010101" pitchFamily="2" charset="-122"/>
              </a:rPr>
              <a:t>256b/10Mbps=25.6μs</a:t>
            </a:r>
            <a:r>
              <a:rPr lang="zh-CN" altLang="en-US" sz="1800" b="1" dirty="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1800" b="1" dirty="0">
                <a:latin typeface="宋体" panose="02010600030101010101" pitchFamily="2" charset="-122"/>
              </a:rPr>
              <a:t>        传输时延（</a:t>
            </a:r>
            <a:r>
              <a:rPr lang="en-US" altLang="zh-CN" sz="1800" b="1" dirty="0">
                <a:latin typeface="宋体" panose="02010600030101010101" pitchFamily="2" charset="-122"/>
              </a:rPr>
              <a:t>5μs</a:t>
            </a:r>
            <a:r>
              <a:rPr lang="zh-CN" altLang="en-US" sz="1800" b="1" dirty="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1800" b="1" dirty="0">
                <a:latin typeface="宋体" panose="02010600030101010101" pitchFamily="2" charset="-122"/>
              </a:rPr>
              <a:t>        接收方“抓住”电缆（</a:t>
            </a:r>
            <a:r>
              <a:rPr lang="en-US" altLang="zh-CN" sz="1800" b="1" dirty="0">
                <a:latin typeface="宋体" panose="02010600030101010101" pitchFamily="2" charset="-122"/>
              </a:rPr>
              <a:t>10μs</a:t>
            </a:r>
            <a:r>
              <a:rPr lang="zh-CN" altLang="en-US" sz="1800" b="1" dirty="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1800" b="1" dirty="0">
                <a:latin typeface="宋体" panose="02010600030101010101" pitchFamily="2" charset="-122"/>
              </a:rPr>
              <a:t>        发送确认帧（</a:t>
            </a:r>
            <a:r>
              <a:rPr lang="en-US" altLang="zh-CN" sz="1800" b="1" dirty="0">
                <a:latin typeface="宋体" panose="02010600030101010101" pitchFamily="2" charset="-122"/>
              </a:rPr>
              <a:t>3.2μs</a:t>
            </a:r>
            <a:r>
              <a:rPr lang="zh-CN" altLang="en-US" sz="1800" b="1" dirty="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1800" b="1" dirty="0">
                <a:latin typeface="宋体" panose="02010600030101010101" pitchFamily="2" charset="-122"/>
              </a:rPr>
              <a:t>        传输时延（</a:t>
            </a:r>
            <a:r>
              <a:rPr lang="en-US" altLang="zh-CN" sz="1800" b="1" dirty="0">
                <a:latin typeface="宋体" panose="02010600030101010101" pitchFamily="2" charset="-122"/>
              </a:rPr>
              <a:t>5μs</a:t>
            </a:r>
            <a:r>
              <a:rPr lang="zh-CN" altLang="en-US" sz="1800" b="1" dirty="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1800" b="1" dirty="0">
                <a:latin typeface="宋体" panose="02010600030101010101" pitchFamily="2" charset="-122"/>
              </a:rPr>
              <a:t>     </a:t>
            </a:r>
            <a:r>
              <a:rPr lang="en-US" altLang="zh-CN" sz="1800" b="1" dirty="0">
                <a:latin typeface="宋体" panose="02010600030101010101" pitchFamily="2" charset="-122"/>
              </a:rPr>
              <a:t>6</a:t>
            </a:r>
            <a:r>
              <a:rPr lang="zh-CN" altLang="en-US" sz="1800" b="1" dirty="0">
                <a:latin typeface="宋体" panose="02010600030101010101" pitchFamily="2" charset="-122"/>
              </a:rPr>
              <a:t>阶段的时间总和是</a:t>
            </a:r>
            <a:r>
              <a:rPr lang="en-US" altLang="zh-CN" sz="1800" b="1" dirty="0">
                <a:latin typeface="宋体" panose="02010600030101010101" pitchFamily="2" charset="-122"/>
              </a:rPr>
              <a:t>58.8μs</a:t>
            </a:r>
            <a:r>
              <a:rPr lang="zh-CN" altLang="en-US" sz="1800" b="1" dirty="0">
                <a:latin typeface="宋体" panose="02010600030101010101" pitchFamily="2" charset="-122"/>
              </a:rPr>
              <a:t>，这期间共发送</a:t>
            </a:r>
            <a:r>
              <a:rPr lang="en-US" altLang="zh-CN" sz="1800" b="1" dirty="0">
                <a:latin typeface="宋体" panose="02010600030101010101" pitchFamily="2" charset="-122"/>
              </a:rPr>
              <a:t>224</a:t>
            </a:r>
            <a:r>
              <a:rPr lang="zh-CN" altLang="en-US" sz="1800" b="1" dirty="0">
                <a:latin typeface="宋体" panose="02010600030101010101" pitchFamily="2" charset="-122"/>
              </a:rPr>
              <a:t>个数据位（</a:t>
            </a:r>
            <a:r>
              <a:rPr lang="en-US" altLang="zh-CN" sz="1800" b="1" dirty="0">
                <a:latin typeface="宋体" panose="02010600030101010101" pitchFamily="2" charset="-122"/>
              </a:rPr>
              <a:t>224=256-32</a:t>
            </a:r>
            <a:r>
              <a:rPr lang="zh-CN" altLang="en-US" sz="1800" b="1" dirty="0">
                <a:latin typeface="宋体" panose="02010600030101010101" pitchFamily="2" charset="-122"/>
              </a:rPr>
              <a:t>）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1800" b="1" dirty="0">
                <a:latin typeface="宋体" panose="02010600030101010101" pitchFamily="2" charset="-122"/>
              </a:rPr>
              <a:t>     所以，有效数据速率为</a:t>
            </a:r>
            <a:r>
              <a:rPr lang="en-US" altLang="zh-CN" sz="1800" b="1" dirty="0">
                <a:latin typeface="宋体" panose="02010600030101010101" pitchFamily="2" charset="-122"/>
              </a:rPr>
              <a:t>224b/58.8μs=3.8Mbps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86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ED36ECB9-25CF-5511-1CED-878BBB904C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Ch4 </a:t>
            </a:r>
            <a:r>
              <a:rPr lang="zh-CN" altLang="en-US" b="1">
                <a:latin typeface="宋体" panose="02010600030101010101" pitchFamily="2" charset="-122"/>
              </a:rPr>
              <a:t>介质访问控制子层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A5878118-B1CC-CE1A-1B28-C285B16130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017713"/>
            <a:ext cx="8415338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zh-CN" sz="2400" b="1" dirty="0">
                <a:latin typeface="宋体" panose="02010600030101010101" pitchFamily="2" charset="-122"/>
              </a:rPr>
              <a:t>18. </a:t>
            </a:r>
            <a:r>
              <a:rPr lang="zh-CN" altLang="en-US" sz="2400" b="1" dirty="0">
                <a:latin typeface="宋体" panose="02010600030101010101" pitchFamily="2" charset="-122"/>
              </a:rPr>
              <a:t>考虑建立一个</a:t>
            </a:r>
            <a:r>
              <a:rPr lang="en-US" altLang="zh-CN" sz="2400" b="1" dirty="0">
                <a:latin typeface="宋体" panose="02010600030101010101" pitchFamily="2" charset="-122"/>
              </a:rPr>
              <a:t>CSMA/CD</a:t>
            </a:r>
            <a:r>
              <a:rPr lang="zh-CN" altLang="en-US" sz="2400" b="1" dirty="0">
                <a:latin typeface="宋体" panose="02010600030101010101" pitchFamily="2" charset="-122"/>
              </a:rPr>
              <a:t>网络，在</a:t>
            </a:r>
            <a:r>
              <a:rPr lang="en-US" altLang="zh-CN" sz="2400" b="1" dirty="0">
                <a:latin typeface="宋体" panose="02010600030101010101" pitchFamily="2" charset="-122"/>
              </a:rPr>
              <a:t>1km</a:t>
            </a:r>
            <a:r>
              <a:rPr lang="zh-CN" altLang="en-US" sz="2400" b="1" dirty="0">
                <a:latin typeface="宋体" panose="02010600030101010101" pitchFamily="2" charset="-122"/>
              </a:rPr>
              <a:t>的线缆上运行速率为</a:t>
            </a:r>
            <a:r>
              <a:rPr lang="en-US" altLang="zh-CN" sz="2400" b="1" dirty="0">
                <a:latin typeface="宋体" panose="02010600030101010101" pitchFamily="2" charset="-122"/>
              </a:rPr>
              <a:t>1Gb/s</a:t>
            </a:r>
            <a:r>
              <a:rPr lang="zh-CN" altLang="en-US" sz="2400" b="1" dirty="0">
                <a:latin typeface="宋体" panose="02010600030101010101" pitchFamily="2" charset="-122"/>
              </a:rPr>
              <a:t>，线缆中间没有中继器。信号在电缆中的速度为</a:t>
            </a:r>
            <a:r>
              <a:rPr lang="en-US" altLang="zh-CN" sz="2400" b="1" dirty="0">
                <a:latin typeface="宋体" panose="02010600030101010101" pitchFamily="2" charset="-122"/>
              </a:rPr>
              <a:t>200 000km/s</a:t>
            </a:r>
            <a:r>
              <a:rPr lang="zh-CN" altLang="en-US" sz="2400" b="1" dirty="0">
                <a:latin typeface="宋体" panose="02010600030101010101" pitchFamily="2" charset="-122"/>
              </a:rPr>
              <a:t>。请问最小的帧长度为多少？</a:t>
            </a:r>
          </a:p>
          <a:p>
            <a:pPr eaLnBrk="1" hangingPunct="1">
              <a:lnSpc>
                <a:spcPct val="80000"/>
              </a:lnSpc>
              <a:defRPr/>
            </a:pP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zh-CN" altLang="en-US" sz="2400" b="1" dirty="0">
                <a:latin typeface="宋体" panose="02010600030101010101" pitchFamily="2" charset="-122"/>
              </a:rPr>
              <a:t>对于</a:t>
            </a:r>
            <a:r>
              <a:rPr lang="en-US" altLang="zh-CN" sz="2400" b="1" dirty="0">
                <a:latin typeface="宋体" panose="02010600030101010101" pitchFamily="2" charset="-122"/>
              </a:rPr>
              <a:t>1km</a:t>
            </a:r>
            <a:r>
              <a:rPr lang="zh-CN" altLang="en-US" sz="2400" b="1" dirty="0">
                <a:latin typeface="宋体" panose="02010600030101010101" pitchFamily="2" charset="-122"/>
              </a:rPr>
              <a:t>电缆，单向传播时延为</a:t>
            </a:r>
            <a:r>
              <a:rPr lang="en-US" altLang="zh-CN" sz="2400" b="1" dirty="0">
                <a:latin typeface="宋体" panose="02010600030101010101" pitchFamily="2" charset="-122"/>
              </a:rPr>
              <a:t>1km/(200000km/s)=5μs</a:t>
            </a:r>
            <a:r>
              <a:rPr lang="zh-CN" altLang="en-US" sz="2400" b="1" dirty="0">
                <a:latin typeface="宋体" panose="02010600030101010101" pitchFamily="2" charset="-122"/>
              </a:rPr>
              <a:t>，往返时延为</a:t>
            </a:r>
            <a:r>
              <a:rPr lang="en-US" altLang="zh-CN" sz="2400" b="1" dirty="0">
                <a:latin typeface="宋体" panose="02010600030101010101" pitchFamily="2" charset="-122"/>
              </a:rPr>
              <a:t>2τ=10μs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latin typeface="宋体" panose="02010600030101010101" pitchFamily="2" charset="-122"/>
              </a:rPr>
              <a:t>为了能够按照</a:t>
            </a:r>
            <a:r>
              <a:rPr lang="en-US" altLang="zh-CN" sz="2400" b="1" dirty="0">
                <a:latin typeface="宋体" panose="02010600030101010101" pitchFamily="2" charset="-122"/>
              </a:rPr>
              <a:t>CSMA/CD</a:t>
            </a:r>
            <a:r>
              <a:rPr lang="zh-CN" altLang="en-US" sz="2400" b="1" dirty="0">
                <a:latin typeface="宋体" panose="02010600030101010101" pitchFamily="2" charset="-122"/>
              </a:rPr>
              <a:t>工作，最小帧的发送时间不能小于</a:t>
            </a:r>
            <a:r>
              <a:rPr lang="en-US" altLang="zh-CN" sz="2400" b="1" dirty="0">
                <a:latin typeface="宋体" panose="02010600030101010101" pitchFamily="2" charset="-122"/>
              </a:rPr>
              <a:t>10μs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宋体" panose="02010600030101010101" pitchFamily="2" charset="-122"/>
              </a:rPr>
              <a:t>  </a:t>
            </a:r>
            <a:r>
              <a:rPr lang="zh-CN" altLang="en-US" sz="2400" b="1" dirty="0">
                <a:latin typeface="宋体" panose="02010600030101010101" pitchFamily="2" charset="-122"/>
              </a:rPr>
              <a:t>以</a:t>
            </a:r>
            <a:r>
              <a:rPr lang="en-US" altLang="zh-CN" sz="2400" b="1" dirty="0">
                <a:latin typeface="宋体" panose="02010600030101010101" pitchFamily="2" charset="-122"/>
              </a:rPr>
              <a:t>1Gbps</a:t>
            </a:r>
            <a:r>
              <a:rPr lang="zh-CN" altLang="en-US" sz="2400" b="1" dirty="0">
                <a:latin typeface="宋体" panose="02010600030101010101" pitchFamily="2" charset="-122"/>
              </a:rPr>
              <a:t>速率工作，</a:t>
            </a:r>
            <a:r>
              <a:rPr lang="en-US" altLang="zh-CN" sz="2400" b="1" dirty="0">
                <a:latin typeface="宋体" panose="02010600030101010101" pitchFamily="2" charset="-122"/>
              </a:rPr>
              <a:t>10μs</a:t>
            </a:r>
            <a:r>
              <a:rPr lang="zh-CN" altLang="en-US" sz="2400" b="1" dirty="0">
                <a:latin typeface="宋体" panose="02010600030101010101" pitchFamily="2" charset="-122"/>
              </a:rPr>
              <a:t>可以发送的比特数为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zh-CN" altLang="en-US" sz="2400" b="1" dirty="0">
                <a:latin typeface="宋体" panose="02010600030101010101" pitchFamily="2" charset="-122"/>
              </a:rPr>
              <a:t>	  </a:t>
            </a:r>
            <a:r>
              <a:rPr lang="en-US" altLang="zh-CN" sz="2400" b="1" dirty="0">
                <a:latin typeface="+mj-ea"/>
              </a:rPr>
              <a:t>1Gbps</a:t>
            </a:r>
            <a:r>
              <a:rPr lang="zh-CN" altLang="en-US" sz="2400" b="1" dirty="0">
                <a:latin typeface="+mj-ea"/>
              </a:rPr>
              <a:t>*</a:t>
            </a:r>
            <a:r>
              <a:rPr lang="en-US" altLang="zh-CN" sz="2400" b="1" dirty="0">
                <a:latin typeface="+mj-ea"/>
              </a:rPr>
              <a:t>10us=10000</a:t>
            </a:r>
            <a:r>
              <a:rPr lang="zh-CN" altLang="en-US" sz="2400" b="1" dirty="0">
                <a:latin typeface="+mj-ea"/>
              </a:rPr>
              <a:t>位</a:t>
            </a:r>
            <a:endParaRPr lang="en-US" altLang="zh-CN" sz="2400" b="1" baseline="30000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altLang="zh-CN" sz="2400" b="1" dirty="0">
                <a:latin typeface="宋体" panose="02010600030101010101" pitchFamily="2" charset="-122"/>
              </a:rPr>
              <a:t>  </a:t>
            </a:r>
            <a:r>
              <a:rPr lang="en-US" altLang="zh-CN" b="1" dirty="0">
                <a:latin typeface="宋体" panose="02010600030101010101" pitchFamily="2" charset="-122"/>
              </a:rPr>
              <a:t>∴</a:t>
            </a:r>
            <a:r>
              <a:rPr lang="zh-CN" altLang="en-US" sz="2400" b="1" dirty="0">
                <a:latin typeface="宋体" panose="02010600030101010101" pitchFamily="2" charset="-122"/>
              </a:rPr>
              <a:t>最小帧是</a:t>
            </a:r>
            <a:r>
              <a:rPr lang="en-US" altLang="zh-CN" sz="2400" b="1" dirty="0">
                <a:latin typeface="宋体" panose="02010600030101010101" pitchFamily="2" charset="-122"/>
              </a:rPr>
              <a:t>10 000</a:t>
            </a:r>
            <a:r>
              <a:rPr lang="zh-CN" altLang="en-US" sz="2400" b="1" dirty="0">
                <a:latin typeface="宋体" panose="02010600030101010101" pitchFamily="2" charset="-122"/>
              </a:rPr>
              <a:t>位或</a:t>
            </a:r>
            <a:r>
              <a:rPr lang="en-US" altLang="zh-CN" sz="2400" b="1" dirty="0">
                <a:latin typeface="宋体" panose="02010600030101010101" pitchFamily="2" charset="-122"/>
              </a:rPr>
              <a:t>1250</a:t>
            </a:r>
            <a:r>
              <a:rPr lang="zh-CN" altLang="en-US" sz="2400" b="1" dirty="0">
                <a:latin typeface="宋体" panose="02010600030101010101" pitchFamily="2" charset="-122"/>
              </a:rPr>
              <a:t>字节</a:t>
            </a:r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A1EBFF2A-A77B-DA32-567B-D236F9C937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62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6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6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6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E63BB5AB-C783-A97D-481E-13A3F5B1F2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Ch4 </a:t>
            </a:r>
            <a:r>
              <a:rPr lang="zh-CN" altLang="en-US" b="1">
                <a:latin typeface="宋体" panose="02010600030101010101" pitchFamily="2" charset="-122"/>
              </a:rPr>
              <a:t>介质访问控制子层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07FA617C-A493-1EF8-2FD4-88CFB79D10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2017713"/>
            <a:ext cx="8424863" cy="4625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latin typeface="宋体" panose="02010600030101010101" pitchFamily="2" charset="-122"/>
              </a:rPr>
              <a:t>19</a:t>
            </a:r>
            <a:r>
              <a:rPr lang="zh-CN" altLang="en-US" sz="2400" b="1" dirty="0">
                <a:latin typeface="宋体" panose="02010600030101010101" pitchFamily="2" charset="-122"/>
              </a:rPr>
              <a:t>．一个通过以太网传送的</a:t>
            </a:r>
            <a:r>
              <a:rPr lang="en-US" altLang="zh-CN" sz="2400" b="1" dirty="0">
                <a:latin typeface="宋体" panose="02010600030101010101" pitchFamily="2" charset="-122"/>
              </a:rPr>
              <a:t>IP</a:t>
            </a:r>
            <a:r>
              <a:rPr lang="zh-CN" altLang="en-US" sz="2400" b="1" dirty="0">
                <a:latin typeface="宋体" panose="02010600030101010101" pitchFamily="2" charset="-122"/>
              </a:rPr>
              <a:t>分组有</a:t>
            </a:r>
            <a:r>
              <a:rPr lang="en-US" altLang="zh-CN" sz="2400" b="1" dirty="0">
                <a:latin typeface="宋体" panose="02010600030101010101" pitchFamily="2" charset="-122"/>
              </a:rPr>
              <a:t>60</a:t>
            </a:r>
            <a:r>
              <a:rPr lang="zh-CN" altLang="en-US" sz="2400" b="1" dirty="0">
                <a:latin typeface="宋体" panose="02010600030101010101" pitchFamily="2" charset="-122"/>
              </a:rPr>
              <a:t>字节长，其中包括所有的头部。如果没有使用</a:t>
            </a:r>
            <a:r>
              <a:rPr lang="en-US" altLang="zh-CN" sz="2400" b="1" dirty="0">
                <a:latin typeface="宋体" panose="02010600030101010101" pitchFamily="2" charset="-122"/>
              </a:rPr>
              <a:t>LLC</a:t>
            </a:r>
            <a:r>
              <a:rPr lang="zh-CN" altLang="en-US" sz="2400" b="1" dirty="0">
                <a:latin typeface="宋体" panose="02010600030101010101" pitchFamily="2" charset="-122"/>
              </a:rPr>
              <a:t>的话，则以太网帧中需要填补字节吗？如果需要的话，请问需要填补多少字节？</a:t>
            </a:r>
          </a:p>
          <a:p>
            <a:pPr eaLnBrk="1" hangingPunct="1">
              <a:lnSpc>
                <a:spcPct val="90000"/>
              </a:lnSpc>
            </a:pP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endParaRPr lang="zh-CN" altLang="en-US" sz="2400" b="1" dirty="0"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sz="2400" b="1" dirty="0">
                <a:latin typeface="宋体" panose="02010600030101010101" pitchFamily="2" charset="-122"/>
              </a:rPr>
              <a:t>最小以太帧有</a:t>
            </a:r>
            <a:r>
              <a:rPr lang="en-US" altLang="zh-CN" sz="2400" b="1" dirty="0">
                <a:latin typeface="宋体" panose="02010600030101010101" pitchFamily="2" charset="-122"/>
              </a:rPr>
              <a:t>64</a:t>
            </a:r>
            <a:r>
              <a:rPr lang="zh-CN" altLang="en-US" sz="2400" b="1" dirty="0">
                <a:latin typeface="宋体" panose="02010600030101010101" pitchFamily="2" charset="-122"/>
              </a:rPr>
              <a:t>字节长，包括帧头部的目的地址、源地址、类型</a:t>
            </a:r>
            <a:r>
              <a:rPr lang="en-US" altLang="zh-CN" sz="2400" b="1" dirty="0">
                <a:latin typeface="宋体" panose="02010600030101010101" pitchFamily="2" charset="-122"/>
              </a:rPr>
              <a:t>/</a:t>
            </a:r>
            <a:r>
              <a:rPr lang="zh-CN" altLang="en-US" sz="2400" b="1" dirty="0">
                <a:latin typeface="宋体" panose="02010600030101010101" pitchFamily="2" charset="-122"/>
              </a:rPr>
              <a:t>长度和校验和。由于头部占</a:t>
            </a:r>
            <a:r>
              <a:rPr lang="en-US" altLang="zh-CN" sz="2400" b="1" dirty="0">
                <a:latin typeface="宋体" panose="02010600030101010101" pitchFamily="2" charset="-122"/>
              </a:rPr>
              <a:t>18</a:t>
            </a:r>
            <a:r>
              <a:rPr lang="zh-CN" altLang="en-US" sz="2400" b="1" dirty="0">
                <a:latin typeface="宋体" panose="02010600030101010101" pitchFamily="2" charset="-122"/>
              </a:rPr>
              <a:t>字节长，</a:t>
            </a:r>
            <a:r>
              <a:rPr lang="en-US" altLang="zh-CN" sz="2400" b="1" dirty="0">
                <a:latin typeface="宋体" panose="02010600030101010101" pitchFamily="2" charset="-122"/>
              </a:rPr>
              <a:t>IP</a:t>
            </a:r>
            <a:r>
              <a:rPr lang="zh-CN" altLang="en-US" sz="2400" b="1" dirty="0">
                <a:latin typeface="宋体" panose="02010600030101010101" pitchFamily="2" charset="-122"/>
              </a:rPr>
              <a:t>分组占</a:t>
            </a:r>
            <a:r>
              <a:rPr lang="en-US" altLang="zh-CN" sz="2400" b="1" dirty="0">
                <a:latin typeface="宋体" panose="02010600030101010101" pitchFamily="2" charset="-122"/>
              </a:rPr>
              <a:t>60</a:t>
            </a:r>
            <a:r>
              <a:rPr lang="zh-CN" altLang="en-US" sz="2400" b="1" dirty="0">
                <a:latin typeface="宋体" panose="02010600030101010101" pitchFamily="2" charset="-122"/>
              </a:rPr>
              <a:t>字节长，总的帧长度是</a:t>
            </a:r>
            <a:r>
              <a:rPr lang="en-US" altLang="zh-CN" sz="2400" b="1" dirty="0">
                <a:latin typeface="宋体" panose="02010600030101010101" pitchFamily="2" charset="-122"/>
              </a:rPr>
              <a:t>78</a:t>
            </a:r>
            <a:r>
              <a:rPr lang="zh-CN" altLang="en-US" sz="2400" b="1" dirty="0">
                <a:latin typeface="宋体" panose="02010600030101010101" pitchFamily="2" charset="-122"/>
              </a:rPr>
              <a:t>字节，这超过了</a:t>
            </a:r>
            <a:r>
              <a:rPr lang="en-US" altLang="zh-CN" sz="2400" b="1" dirty="0">
                <a:latin typeface="宋体" panose="02010600030101010101" pitchFamily="2" charset="-122"/>
              </a:rPr>
              <a:t>64</a:t>
            </a:r>
            <a:r>
              <a:rPr lang="zh-CN" altLang="en-US" sz="2400" b="1" dirty="0">
                <a:latin typeface="宋体" panose="02010600030101010101" pitchFamily="2" charset="-122"/>
              </a:rPr>
              <a:t>字节的最小帧长。因此，不需要填充</a:t>
            </a:r>
          </a:p>
        </p:txBody>
      </p:sp>
      <p:pic>
        <p:nvPicPr>
          <p:cNvPr id="38916" name="Picture 4">
            <a:extLst>
              <a:ext uri="{FF2B5EF4-FFF2-40B4-BE49-F238E27FC236}">
                <a16:creationId xmlns:a16="http://schemas.microsoft.com/office/drawing/2014/main" id="{94D3883D-8711-2742-D25E-81ADA581E1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3213100"/>
            <a:ext cx="7605713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BD67C00E-F62B-7EE4-562C-73014A3C0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latin typeface="宋体" panose="02010600030101010101" pitchFamily="2" charset="-122"/>
              </a:rPr>
              <a:t>Ch4 </a:t>
            </a:r>
            <a:r>
              <a:rPr lang="zh-CN" altLang="en-US" b="1" dirty="0">
                <a:latin typeface="宋体" panose="02010600030101010101" pitchFamily="2" charset="-122"/>
              </a:rPr>
              <a:t>介质访问控制子层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B4C36E31-7809-9CB9-2869-AF228EF62F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7921625" cy="411480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宋体" panose="02010600030101010101" pitchFamily="2" charset="-122"/>
              </a:rPr>
              <a:t>20</a:t>
            </a:r>
            <a:r>
              <a:rPr lang="zh-CN" altLang="en-US" sz="2800" b="1" dirty="0">
                <a:latin typeface="宋体" panose="02010600030101010101" pitchFamily="2" charset="-122"/>
              </a:rPr>
              <a:t>．以太网帧必需至少</a:t>
            </a:r>
            <a:r>
              <a:rPr lang="en-US" altLang="zh-CN" sz="2800" b="1" dirty="0">
                <a:latin typeface="宋体" panose="02010600030101010101" pitchFamily="2" charset="-122"/>
              </a:rPr>
              <a:t>64</a:t>
            </a:r>
            <a:r>
              <a:rPr lang="zh-CN" altLang="en-US" sz="2800" b="1" dirty="0">
                <a:latin typeface="宋体" panose="02010600030101010101" pitchFamily="2" charset="-122"/>
              </a:rPr>
              <a:t>字节长，这样做的理由是，当电缆的另一端发生冲突的时候，传送方仍然还在发送过程中。快速以太网也有同样的</a:t>
            </a:r>
            <a:r>
              <a:rPr lang="en-US" altLang="zh-CN" sz="2800" b="1" dirty="0">
                <a:latin typeface="宋体" panose="02010600030101010101" pitchFamily="2" charset="-122"/>
              </a:rPr>
              <a:t>64</a:t>
            </a:r>
            <a:r>
              <a:rPr lang="zh-CN" altLang="en-US" sz="2800" b="1" dirty="0">
                <a:latin typeface="宋体" panose="02010600030101010101" pitchFamily="2" charset="-122"/>
              </a:rPr>
              <a:t>字节最小帧长度限制，但是，它可以以快</a:t>
            </a:r>
            <a:r>
              <a:rPr lang="en-US" altLang="zh-CN" sz="2800" b="1" dirty="0">
                <a:latin typeface="宋体" panose="02010600030101010101" pitchFamily="2" charset="-122"/>
              </a:rPr>
              <a:t>10</a:t>
            </a:r>
            <a:r>
              <a:rPr lang="zh-CN" altLang="en-US" sz="2800" b="1" dirty="0">
                <a:latin typeface="宋体" panose="02010600030101010101" pitchFamily="2" charset="-122"/>
              </a:rPr>
              <a:t>倍的速度发送数据。请问它如何有可能维持同样的最小帧长度限制？</a:t>
            </a:r>
          </a:p>
          <a:p>
            <a:pPr eaLnBrk="1" hangingPunct="1"/>
            <a:endParaRPr lang="zh-CN" altLang="en-US" sz="2800" b="1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2800" b="1" dirty="0">
                <a:latin typeface="宋体" panose="02010600030101010101" pitchFamily="2" charset="-122"/>
              </a:rPr>
              <a:t>快速以太网的电缆最大长度是以太网的</a:t>
            </a:r>
            <a:r>
              <a:rPr lang="en-US" altLang="zh-CN" sz="2800" b="1" dirty="0">
                <a:latin typeface="宋体" panose="02010600030101010101" pitchFamily="2" charset="-122"/>
              </a:rPr>
              <a:t>1/10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7927D50F-B726-F941-9C05-F9314A8D88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Ch4 </a:t>
            </a:r>
            <a:r>
              <a:rPr lang="zh-CN" altLang="en-US" b="1">
                <a:latin typeface="宋体" panose="02010600030101010101" pitchFamily="2" charset="-122"/>
              </a:rPr>
              <a:t>介质访问控制子层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6915BD86-1344-0B32-6B6C-21402F2D31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844675"/>
            <a:ext cx="8135937" cy="43307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000" b="1">
                <a:latin typeface="宋体" panose="02010600030101010101" pitchFamily="2" charset="-122"/>
              </a:rPr>
              <a:t>43</a:t>
            </a:r>
            <a:r>
              <a:rPr lang="zh-CN" altLang="en-US" sz="2000" b="1">
                <a:latin typeface="宋体" panose="02010600030101010101" pitchFamily="2" charset="-122"/>
              </a:rPr>
              <a:t>．考虑图</a:t>
            </a:r>
            <a:r>
              <a:rPr lang="en-US" altLang="zh-CN" sz="2000" b="1">
                <a:latin typeface="宋体" panose="02010600030101010101" pitchFamily="2" charset="-122"/>
              </a:rPr>
              <a:t>4-33(b)</a:t>
            </a:r>
            <a:r>
              <a:rPr lang="zh-CN" altLang="en-US" sz="2000" b="1">
                <a:latin typeface="宋体" panose="02010600030101010101" pitchFamily="2" charset="-122"/>
              </a:rPr>
              <a:t>中用网桥</a:t>
            </a:r>
            <a:r>
              <a:rPr lang="en-US" altLang="zh-CN" sz="2000" b="1">
                <a:latin typeface="宋体" panose="02010600030101010101" pitchFamily="2" charset="-122"/>
              </a:rPr>
              <a:t>B1</a:t>
            </a:r>
            <a:r>
              <a:rPr lang="zh-CN" altLang="en-US" sz="2000" b="1">
                <a:latin typeface="宋体" panose="02010600030101010101" pitchFamily="2" charset="-122"/>
              </a:rPr>
              <a:t>和</a:t>
            </a:r>
            <a:r>
              <a:rPr lang="en-US" altLang="zh-CN" sz="2000" b="1">
                <a:latin typeface="宋体" panose="02010600030101010101" pitchFamily="2" charset="-122"/>
              </a:rPr>
              <a:t>B2</a:t>
            </a:r>
            <a:r>
              <a:rPr lang="zh-CN" altLang="en-US" sz="2000" b="1">
                <a:latin typeface="宋体" panose="02010600030101010101" pitchFamily="2" charset="-122"/>
              </a:rPr>
              <a:t>连接的扩展局域网。假设两个网桥的哈希表都是空的。对于下面的传输序列，请列出转发数据包所用的全部端口。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    （</a:t>
            </a:r>
            <a:r>
              <a:rPr lang="en-US" altLang="zh-CN" sz="2000" b="1">
                <a:latin typeface="宋体" panose="02010600030101010101" pitchFamily="2" charset="-122"/>
              </a:rPr>
              <a:t>a</a:t>
            </a:r>
            <a:r>
              <a:rPr lang="zh-CN" altLang="en-US" sz="2000" b="1">
                <a:latin typeface="宋体" panose="02010600030101010101" pitchFamily="2" charset="-122"/>
              </a:rPr>
              <a:t>）</a:t>
            </a:r>
            <a:r>
              <a:rPr lang="en-US" altLang="zh-CN" sz="2000" b="1">
                <a:latin typeface="宋体" panose="02010600030101010101" pitchFamily="2" charset="-122"/>
              </a:rPr>
              <a:t>A</a:t>
            </a:r>
            <a:r>
              <a:rPr lang="zh-CN" altLang="en-US" sz="2000" b="1">
                <a:latin typeface="宋体" panose="02010600030101010101" pitchFamily="2" charset="-122"/>
              </a:rPr>
              <a:t>发送一个帧给</a:t>
            </a:r>
            <a:r>
              <a:rPr lang="en-US" altLang="zh-CN" sz="2000" b="1">
                <a:latin typeface="宋体" panose="02010600030101010101" pitchFamily="2" charset="-122"/>
              </a:rPr>
              <a:t>C</a:t>
            </a:r>
            <a:r>
              <a:rPr lang="zh-CN" altLang="en-US" sz="2000" b="1">
                <a:latin typeface="宋体" panose="02010600030101010101" pitchFamily="2" charset="-122"/>
              </a:rPr>
              <a:t>。  （</a:t>
            </a:r>
            <a:r>
              <a:rPr lang="en-US" altLang="zh-CN" sz="2000" b="1">
                <a:latin typeface="宋体" panose="02010600030101010101" pitchFamily="2" charset="-122"/>
              </a:rPr>
              <a:t>b</a:t>
            </a:r>
            <a:r>
              <a:rPr lang="zh-CN" altLang="en-US" sz="2000" b="1">
                <a:latin typeface="宋体" panose="02010600030101010101" pitchFamily="2" charset="-122"/>
              </a:rPr>
              <a:t>）</a:t>
            </a:r>
            <a:r>
              <a:rPr lang="en-US" altLang="zh-CN" sz="2000" b="1">
                <a:latin typeface="宋体" panose="02010600030101010101" pitchFamily="2" charset="-122"/>
              </a:rPr>
              <a:t>E</a:t>
            </a:r>
            <a:r>
              <a:rPr lang="zh-CN" altLang="en-US" sz="2000" b="1">
                <a:latin typeface="宋体" panose="02010600030101010101" pitchFamily="2" charset="-122"/>
              </a:rPr>
              <a:t>发送一个帧给</a:t>
            </a:r>
            <a:r>
              <a:rPr lang="en-US" altLang="zh-CN" sz="2000" b="1">
                <a:latin typeface="宋体" panose="02010600030101010101" pitchFamily="2" charset="-122"/>
              </a:rPr>
              <a:t>F</a:t>
            </a:r>
            <a:r>
              <a:rPr lang="zh-CN" altLang="en-US" sz="2000" b="1">
                <a:latin typeface="宋体" panose="02010600030101010101" pitchFamily="2" charset="-122"/>
              </a:rPr>
              <a:t>。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    （</a:t>
            </a:r>
            <a:r>
              <a:rPr lang="en-US" altLang="zh-CN" sz="2000" b="1">
                <a:latin typeface="宋体" panose="02010600030101010101" pitchFamily="2" charset="-122"/>
              </a:rPr>
              <a:t>c</a:t>
            </a:r>
            <a:r>
              <a:rPr lang="zh-CN" altLang="en-US" sz="2000" b="1">
                <a:latin typeface="宋体" panose="02010600030101010101" pitchFamily="2" charset="-122"/>
              </a:rPr>
              <a:t>）</a:t>
            </a:r>
            <a:r>
              <a:rPr lang="en-US" altLang="zh-CN" sz="2000" b="1">
                <a:latin typeface="宋体" panose="02010600030101010101" pitchFamily="2" charset="-122"/>
              </a:rPr>
              <a:t>F</a:t>
            </a:r>
            <a:r>
              <a:rPr lang="zh-CN" altLang="en-US" sz="2000" b="1">
                <a:latin typeface="宋体" panose="02010600030101010101" pitchFamily="2" charset="-122"/>
              </a:rPr>
              <a:t>发送一个帧给</a:t>
            </a:r>
            <a:r>
              <a:rPr lang="en-US" altLang="zh-CN" sz="2000" b="1">
                <a:latin typeface="宋体" panose="02010600030101010101" pitchFamily="2" charset="-122"/>
              </a:rPr>
              <a:t>E</a:t>
            </a:r>
            <a:r>
              <a:rPr lang="zh-CN" altLang="en-US" sz="2000" b="1">
                <a:latin typeface="宋体" panose="02010600030101010101" pitchFamily="2" charset="-122"/>
              </a:rPr>
              <a:t>。  （</a:t>
            </a:r>
            <a:r>
              <a:rPr lang="en-US" altLang="zh-CN" sz="2000" b="1">
                <a:latin typeface="宋体" panose="02010600030101010101" pitchFamily="2" charset="-122"/>
              </a:rPr>
              <a:t>d</a:t>
            </a:r>
            <a:r>
              <a:rPr lang="zh-CN" altLang="en-US" sz="2000" b="1">
                <a:latin typeface="宋体" panose="02010600030101010101" pitchFamily="2" charset="-122"/>
              </a:rPr>
              <a:t>）</a:t>
            </a:r>
            <a:r>
              <a:rPr lang="en-US" altLang="zh-CN" sz="2000" b="1">
                <a:latin typeface="宋体" panose="02010600030101010101" pitchFamily="2" charset="-122"/>
              </a:rPr>
              <a:t>G</a:t>
            </a:r>
            <a:r>
              <a:rPr lang="zh-CN" altLang="en-US" sz="2000" b="1">
                <a:latin typeface="宋体" panose="02010600030101010101" pitchFamily="2" charset="-122"/>
              </a:rPr>
              <a:t>发送一个帧给</a:t>
            </a:r>
            <a:r>
              <a:rPr lang="en-US" altLang="zh-CN" sz="2000" b="1">
                <a:latin typeface="宋体" panose="02010600030101010101" pitchFamily="2" charset="-122"/>
              </a:rPr>
              <a:t>E</a:t>
            </a:r>
            <a:r>
              <a:rPr lang="zh-CN" altLang="en-US" sz="2000" b="1">
                <a:latin typeface="宋体" panose="02010600030101010101" pitchFamily="2" charset="-122"/>
              </a:rPr>
              <a:t>。 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000" b="1">
                <a:latin typeface="宋体" panose="02010600030101010101" pitchFamily="2" charset="-122"/>
              </a:rPr>
              <a:t>    （</a:t>
            </a:r>
            <a:r>
              <a:rPr lang="en-US" altLang="zh-CN" sz="2000" b="1">
                <a:latin typeface="宋体" panose="02010600030101010101" pitchFamily="2" charset="-122"/>
              </a:rPr>
              <a:t>e</a:t>
            </a:r>
            <a:r>
              <a:rPr lang="zh-CN" altLang="en-US" sz="2000" b="1">
                <a:latin typeface="宋体" panose="02010600030101010101" pitchFamily="2" charset="-122"/>
              </a:rPr>
              <a:t>）</a:t>
            </a:r>
            <a:r>
              <a:rPr lang="en-US" altLang="zh-CN" sz="2000" b="1">
                <a:latin typeface="宋体" panose="02010600030101010101" pitchFamily="2" charset="-122"/>
              </a:rPr>
              <a:t>D</a:t>
            </a:r>
            <a:r>
              <a:rPr lang="zh-CN" altLang="en-US" sz="2000" b="1">
                <a:latin typeface="宋体" panose="02010600030101010101" pitchFamily="2" charset="-122"/>
              </a:rPr>
              <a:t>发送一个帧给</a:t>
            </a:r>
            <a:r>
              <a:rPr lang="en-US" altLang="zh-CN" sz="2000" b="1">
                <a:latin typeface="宋体" panose="02010600030101010101" pitchFamily="2" charset="-122"/>
              </a:rPr>
              <a:t>A</a:t>
            </a:r>
            <a:r>
              <a:rPr lang="zh-CN" altLang="en-US" sz="2000" b="1">
                <a:latin typeface="宋体" panose="02010600030101010101" pitchFamily="2" charset="-122"/>
              </a:rPr>
              <a:t>。  （</a:t>
            </a:r>
            <a:r>
              <a:rPr lang="en-US" altLang="zh-CN" sz="2000" b="1">
                <a:latin typeface="宋体" panose="02010600030101010101" pitchFamily="2" charset="-122"/>
              </a:rPr>
              <a:t>f</a:t>
            </a:r>
            <a:r>
              <a:rPr lang="zh-CN" altLang="en-US" sz="2000" b="1">
                <a:latin typeface="宋体" panose="02010600030101010101" pitchFamily="2" charset="-122"/>
              </a:rPr>
              <a:t>）</a:t>
            </a:r>
            <a:r>
              <a:rPr lang="en-US" altLang="zh-CN" sz="2000" b="1">
                <a:latin typeface="宋体" panose="02010600030101010101" pitchFamily="2" charset="-122"/>
              </a:rPr>
              <a:t>B</a:t>
            </a:r>
            <a:r>
              <a:rPr lang="zh-CN" altLang="en-US" sz="2000" b="1">
                <a:latin typeface="宋体" panose="02010600030101010101" pitchFamily="2" charset="-122"/>
              </a:rPr>
              <a:t>发送一个帧给</a:t>
            </a:r>
            <a:r>
              <a:rPr lang="en-US" altLang="zh-CN" sz="2000" b="1">
                <a:latin typeface="宋体" panose="02010600030101010101" pitchFamily="2" charset="-122"/>
              </a:rPr>
              <a:t>F</a:t>
            </a:r>
            <a:r>
              <a:rPr lang="zh-CN" altLang="en-US" sz="2000" b="1">
                <a:latin typeface="宋体" panose="02010600030101010101" pitchFamily="2" charset="-122"/>
              </a:rPr>
              <a:t>。 </a:t>
            </a:r>
          </a:p>
        </p:txBody>
      </p:sp>
      <p:pic>
        <p:nvPicPr>
          <p:cNvPr id="26627" name="图片 2">
            <a:extLst>
              <a:ext uri="{FF2B5EF4-FFF2-40B4-BE49-F238E27FC236}">
                <a16:creationId xmlns:a16="http://schemas.microsoft.com/office/drawing/2014/main" id="{C718829B-B508-0D22-C831-8A084B183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3838575"/>
            <a:ext cx="6407150" cy="280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50D4F69A-27EE-3A61-2210-AB8CB0BF1C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2138363"/>
            <a:ext cx="7772400" cy="3994150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宋体" panose="02010600030101010101" pitchFamily="2" charset="-122"/>
              </a:rPr>
              <a:t>复习：进入的帧在网桥上的路由过程取决于它源</a:t>
            </a:r>
            <a:r>
              <a:rPr lang="en-US" altLang="zh-CN" b="1" dirty="0">
                <a:latin typeface="宋体" panose="02010600030101010101" pitchFamily="2" charset="-122"/>
              </a:rPr>
              <a:t>LAN</a:t>
            </a:r>
            <a:r>
              <a:rPr lang="zh-CN" altLang="en-US" b="1" dirty="0">
                <a:latin typeface="宋体" panose="02010600030101010101" pitchFamily="2" charset="-122"/>
              </a:rPr>
              <a:t>和它的目标</a:t>
            </a:r>
            <a:r>
              <a:rPr lang="en-US" altLang="zh-CN" b="1" dirty="0">
                <a:latin typeface="宋体" panose="02010600030101010101" pitchFamily="2" charset="-122"/>
              </a:rPr>
              <a:t>LAN</a:t>
            </a:r>
          </a:p>
          <a:p>
            <a:pPr lvl="1" eaLnBrk="1" hangingPunct="1"/>
            <a:r>
              <a:rPr lang="zh-CN" altLang="en-US" b="1" dirty="0">
                <a:latin typeface="宋体" panose="02010600030101010101" pitchFamily="2" charset="-122"/>
              </a:rPr>
              <a:t>目的</a:t>
            </a:r>
            <a:r>
              <a:rPr lang="en-US" altLang="zh-CN" b="1" dirty="0">
                <a:latin typeface="宋体" panose="02010600030101010101" pitchFamily="2" charset="-122"/>
              </a:rPr>
              <a:t>LAN</a:t>
            </a:r>
            <a:r>
              <a:rPr lang="zh-CN" altLang="en-US" b="1" dirty="0">
                <a:latin typeface="宋体" panose="02010600030101010101" pitchFamily="2" charset="-122"/>
              </a:rPr>
              <a:t>与源</a:t>
            </a:r>
            <a:r>
              <a:rPr lang="en-US" altLang="zh-CN" b="1" dirty="0">
                <a:latin typeface="宋体" panose="02010600030101010101" pitchFamily="2" charset="-122"/>
              </a:rPr>
              <a:t>LAN</a:t>
            </a:r>
            <a:r>
              <a:rPr lang="zh-CN" altLang="en-US" b="1" dirty="0">
                <a:latin typeface="宋体" panose="02010600030101010101" pitchFamily="2" charset="-122"/>
              </a:rPr>
              <a:t>相同，则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丢弃</a:t>
            </a:r>
            <a:r>
              <a:rPr lang="zh-CN" altLang="en-US" b="1" dirty="0">
                <a:latin typeface="宋体" panose="02010600030101010101" pitchFamily="2" charset="-122"/>
              </a:rPr>
              <a:t>帧</a:t>
            </a:r>
          </a:p>
          <a:p>
            <a:pPr lvl="1" eaLnBrk="1" hangingPunct="1"/>
            <a:r>
              <a:rPr lang="zh-CN" altLang="en-US" b="1" dirty="0">
                <a:latin typeface="宋体" panose="02010600030101010101" pitchFamily="2" charset="-122"/>
              </a:rPr>
              <a:t>目的</a:t>
            </a:r>
            <a:r>
              <a:rPr lang="en-US" altLang="zh-CN" b="1" dirty="0">
                <a:latin typeface="宋体" panose="02010600030101010101" pitchFamily="2" charset="-122"/>
              </a:rPr>
              <a:t>LAN</a:t>
            </a:r>
            <a:r>
              <a:rPr lang="zh-CN" altLang="en-US" b="1" dirty="0">
                <a:latin typeface="宋体" panose="02010600030101010101" pitchFamily="2" charset="-122"/>
              </a:rPr>
              <a:t>与源</a:t>
            </a:r>
            <a:r>
              <a:rPr lang="en-US" altLang="zh-CN" b="1" dirty="0">
                <a:latin typeface="宋体" panose="02010600030101010101" pitchFamily="2" charset="-122"/>
              </a:rPr>
              <a:t>LAN</a:t>
            </a:r>
            <a:r>
              <a:rPr lang="zh-CN" altLang="en-US" b="1" dirty="0">
                <a:latin typeface="宋体" panose="02010600030101010101" pitchFamily="2" charset="-122"/>
              </a:rPr>
              <a:t>不同，则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转发</a:t>
            </a:r>
            <a:r>
              <a:rPr lang="zh-CN" altLang="en-US" b="1" dirty="0">
                <a:latin typeface="宋体" panose="02010600030101010101" pitchFamily="2" charset="-122"/>
              </a:rPr>
              <a:t>帧</a:t>
            </a:r>
          </a:p>
          <a:p>
            <a:pPr lvl="1" eaLnBrk="1" hangingPunct="1"/>
            <a:r>
              <a:rPr lang="zh-CN" altLang="en-US" b="1" dirty="0">
                <a:latin typeface="宋体" panose="02010600030101010101" pitchFamily="2" charset="-122"/>
              </a:rPr>
              <a:t>目的</a:t>
            </a:r>
            <a:r>
              <a:rPr lang="en-US" altLang="zh-CN" b="1" dirty="0">
                <a:latin typeface="宋体" panose="02010600030101010101" pitchFamily="2" charset="-122"/>
              </a:rPr>
              <a:t>LAN</a:t>
            </a:r>
            <a:r>
              <a:rPr lang="zh-CN" altLang="en-US" b="1" dirty="0">
                <a:latin typeface="宋体" panose="02010600030101010101" pitchFamily="2" charset="-122"/>
              </a:rPr>
              <a:t>未知，则使用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扩散</a:t>
            </a:r>
            <a:r>
              <a:rPr lang="zh-CN" altLang="en-US" b="1" dirty="0">
                <a:latin typeface="宋体" panose="02010600030101010101" pitchFamily="2" charset="-122"/>
              </a:rPr>
              <a:t>法</a:t>
            </a:r>
          </a:p>
          <a:p>
            <a:pPr eaLnBrk="1" hangingPunct="1"/>
            <a:endParaRPr lang="en-US" altLang="zh-CN" b="1" dirty="0">
              <a:latin typeface="宋体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EE08182-6C13-1D7D-04BB-6765C7AA8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</p:spPr>
        <p:txBody>
          <a:bodyPr anchor="b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b="1" kern="0" dirty="0">
                <a:latin typeface="宋体" panose="02010600030101010101" pitchFamily="2" charset="-122"/>
              </a:rPr>
              <a:t>Ch4 </a:t>
            </a:r>
            <a:r>
              <a:rPr lang="zh-CN" altLang="en-US" b="1" kern="0" dirty="0">
                <a:latin typeface="宋体" panose="02010600030101010101" pitchFamily="2" charset="-122"/>
              </a:rPr>
              <a:t>介质访问控制子层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27">
            <a:extLst>
              <a:ext uri="{FF2B5EF4-FFF2-40B4-BE49-F238E27FC236}">
                <a16:creationId xmlns:a16="http://schemas.microsoft.com/office/drawing/2014/main" id="{B466FC49-EBE5-8E26-1104-9773361941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" y="2598738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29698" name="Text Box 30">
            <a:extLst>
              <a:ext uri="{FF2B5EF4-FFF2-40B4-BE49-F238E27FC236}">
                <a16:creationId xmlns:a16="http://schemas.microsoft.com/office/drawing/2014/main" id="{4D1EDFA4-0765-8854-3DC7-EC7BA0EF5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6313" y="5618163"/>
            <a:ext cx="7346950" cy="7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>
                <a:latin typeface="宋体" panose="02010600030101010101" pitchFamily="2" charset="-122"/>
              </a:rPr>
              <a:t>（</a:t>
            </a:r>
            <a:r>
              <a:rPr lang="en-US" altLang="zh-CN" sz="1800" b="1">
                <a:latin typeface="宋体" panose="02010600030101010101" pitchFamily="2" charset="-122"/>
              </a:rPr>
              <a:t>a</a:t>
            </a:r>
            <a:r>
              <a:rPr lang="zh-CN" altLang="en-US" sz="1800" b="1">
                <a:latin typeface="宋体" panose="02010600030101010101" pitchFamily="2" charset="-122"/>
              </a:rPr>
              <a:t>）</a:t>
            </a:r>
            <a:r>
              <a:rPr lang="en-US" altLang="zh-CN" sz="1800" b="1">
                <a:solidFill>
                  <a:schemeClr val="hlink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1800" b="1">
                <a:solidFill>
                  <a:schemeClr val="hlink"/>
                </a:solidFill>
                <a:latin typeface="宋体" panose="02010600030101010101" pitchFamily="2" charset="-122"/>
              </a:rPr>
              <a:t>发送一个帧给</a:t>
            </a:r>
            <a:r>
              <a:rPr lang="en-US" altLang="zh-CN" sz="1800" b="1">
                <a:solidFill>
                  <a:schemeClr val="hlink"/>
                </a:solidFill>
                <a:latin typeface="宋体" panose="02010600030101010101" pitchFamily="2" charset="-122"/>
              </a:rPr>
              <a:t>C</a:t>
            </a:r>
            <a:r>
              <a:rPr lang="zh-CN" altLang="en-US" sz="1800" b="1">
                <a:solidFill>
                  <a:schemeClr val="hlink"/>
                </a:solidFill>
                <a:latin typeface="宋体" panose="02010600030101010101" pitchFamily="2" charset="-122"/>
              </a:rPr>
              <a:t>后</a:t>
            </a:r>
            <a:r>
              <a:rPr lang="zh-CN" altLang="en-US" sz="1800" b="1">
                <a:latin typeface="宋体" panose="02010600030101010101" pitchFamily="2" charset="-122"/>
              </a:rPr>
              <a:t>，网桥</a:t>
            </a:r>
            <a:r>
              <a:rPr lang="en-US" altLang="zh-CN" sz="1800" b="1">
                <a:latin typeface="宋体" panose="02010600030101010101" pitchFamily="2" charset="-122"/>
              </a:rPr>
              <a:t>B1</a:t>
            </a:r>
            <a:r>
              <a:rPr lang="zh-CN" altLang="en-US" sz="1800" b="1">
                <a:latin typeface="宋体" panose="02010600030101010101" pitchFamily="2" charset="-122"/>
              </a:rPr>
              <a:t>和</a:t>
            </a:r>
            <a:r>
              <a:rPr lang="en-US" altLang="zh-CN" sz="1800" b="1">
                <a:latin typeface="宋体" panose="02010600030101010101" pitchFamily="2" charset="-122"/>
              </a:rPr>
              <a:t>B2</a:t>
            </a:r>
            <a:r>
              <a:rPr lang="zh-CN" altLang="en-US" sz="1800" b="1">
                <a:latin typeface="宋体" panose="02010600030101010101" pitchFamily="2" charset="-122"/>
              </a:rPr>
              <a:t>的哈希表变化情况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>
                <a:latin typeface="宋体" panose="02010600030101010101" pitchFamily="2" charset="-122"/>
              </a:rPr>
              <a:t>  </a:t>
            </a:r>
            <a:r>
              <a:rPr lang="en-US" altLang="zh-CN" sz="1800" b="1">
                <a:latin typeface="宋体" panose="02010600030101010101" pitchFamily="2" charset="-122"/>
              </a:rPr>
              <a:t>B1</a:t>
            </a:r>
            <a:r>
              <a:rPr lang="zh-CN" altLang="en-US" sz="1800" b="1">
                <a:latin typeface="宋体" panose="02010600030101010101" pitchFamily="2" charset="-122"/>
              </a:rPr>
              <a:t>向端口</a:t>
            </a:r>
            <a:r>
              <a:rPr lang="en-US" altLang="zh-CN" sz="1800" b="1">
                <a:latin typeface="宋体" panose="02010600030101010101" pitchFamily="2" charset="-122"/>
              </a:rPr>
              <a:t>2</a:t>
            </a:r>
            <a:r>
              <a:rPr lang="zh-CN" altLang="en-US" sz="1800" b="1">
                <a:latin typeface="宋体" panose="02010600030101010101" pitchFamily="2" charset="-122"/>
              </a:rPr>
              <a:t>，</a:t>
            </a:r>
            <a:r>
              <a:rPr lang="en-US" altLang="zh-CN" sz="1800" b="1">
                <a:latin typeface="宋体" panose="02010600030101010101" pitchFamily="2" charset="-122"/>
              </a:rPr>
              <a:t>3</a:t>
            </a:r>
            <a:r>
              <a:rPr lang="zh-CN" altLang="en-US" sz="1800" b="1">
                <a:latin typeface="宋体" panose="02010600030101010101" pitchFamily="2" charset="-122"/>
              </a:rPr>
              <a:t>和</a:t>
            </a:r>
            <a:r>
              <a:rPr lang="en-US" altLang="zh-CN" sz="1800" b="1">
                <a:latin typeface="宋体" panose="02010600030101010101" pitchFamily="2" charset="-122"/>
              </a:rPr>
              <a:t>4</a:t>
            </a:r>
            <a:r>
              <a:rPr lang="zh-CN" altLang="en-US" sz="1800" b="1">
                <a:latin typeface="宋体" panose="02010600030101010101" pitchFamily="2" charset="-122"/>
              </a:rPr>
              <a:t>转发该帧，</a:t>
            </a:r>
            <a:r>
              <a:rPr lang="en-US" altLang="zh-CN" sz="1800" b="1">
                <a:latin typeface="宋体" panose="02010600030101010101" pitchFamily="2" charset="-122"/>
              </a:rPr>
              <a:t>B2</a:t>
            </a:r>
            <a:r>
              <a:rPr lang="zh-CN" altLang="en-US" sz="1800" b="1">
                <a:latin typeface="宋体" panose="02010600030101010101" pitchFamily="2" charset="-122"/>
              </a:rPr>
              <a:t>向端口</a:t>
            </a:r>
            <a:r>
              <a:rPr lang="en-US" altLang="zh-CN" sz="1800" b="1">
                <a:latin typeface="宋体" panose="02010600030101010101" pitchFamily="2" charset="-122"/>
              </a:rPr>
              <a:t>1</a:t>
            </a:r>
            <a:r>
              <a:rPr lang="zh-CN" altLang="en-US" sz="1800" b="1">
                <a:latin typeface="宋体" panose="02010600030101010101" pitchFamily="2" charset="-122"/>
              </a:rPr>
              <a:t>，</a:t>
            </a:r>
            <a:r>
              <a:rPr lang="en-US" altLang="zh-CN" sz="1800" b="1">
                <a:latin typeface="宋体" panose="02010600030101010101" pitchFamily="2" charset="-122"/>
              </a:rPr>
              <a:t>2</a:t>
            </a:r>
            <a:r>
              <a:rPr lang="zh-CN" altLang="en-US" sz="1800" b="1">
                <a:latin typeface="宋体" panose="02010600030101010101" pitchFamily="2" charset="-122"/>
              </a:rPr>
              <a:t>和</a:t>
            </a:r>
            <a:r>
              <a:rPr lang="en-US" altLang="zh-CN" sz="1800" b="1">
                <a:latin typeface="宋体" panose="02010600030101010101" pitchFamily="2" charset="-122"/>
              </a:rPr>
              <a:t>3</a:t>
            </a:r>
            <a:r>
              <a:rPr lang="zh-CN" altLang="en-US" sz="1800" b="1">
                <a:latin typeface="宋体" panose="02010600030101010101" pitchFamily="2" charset="-122"/>
              </a:rPr>
              <a:t>转发该帧</a:t>
            </a:r>
          </a:p>
        </p:txBody>
      </p:sp>
      <p:pic>
        <p:nvPicPr>
          <p:cNvPr id="29699" name="Picture 31">
            <a:extLst>
              <a:ext uri="{FF2B5EF4-FFF2-40B4-BE49-F238E27FC236}">
                <a16:creationId xmlns:a16="http://schemas.microsoft.com/office/drawing/2014/main" id="{B93A6E9C-C2C5-4FFE-748F-EA4D8D201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349500"/>
            <a:ext cx="6789737" cy="297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6628" name="Group 32">
            <a:extLst>
              <a:ext uri="{FF2B5EF4-FFF2-40B4-BE49-F238E27FC236}">
                <a16:creationId xmlns:a16="http://schemas.microsoft.com/office/drawing/2014/main" id="{DAFD1C2A-66A8-B980-9D32-820D0AC12F12}"/>
              </a:ext>
            </a:extLst>
          </p:cNvPr>
          <p:cNvGrpSpPr>
            <a:grpSpLocks/>
          </p:cNvGrpSpPr>
          <p:nvPr/>
        </p:nvGrpSpPr>
        <p:grpSpPr bwMode="auto">
          <a:xfrm>
            <a:off x="2560638" y="2565400"/>
            <a:ext cx="571500" cy="215900"/>
            <a:chOff x="249" y="1026"/>
            <a:chExt cx="360" cy="136"/>
          </a:xfrm>
        </p:grpSpPr>
        <p:sp>
          <p:nvSpPr>
            <p:cNvPr id="29705" name="Rectangle 33">
              <a:extLst>
                <a:ext uri="{FF2B5EF4-FFF2-40B4-BE49-F238E27FC236}">
                  <a16:creationId xmlns:a16="http://schemas.microsoft.com/office/drawing/2014/main" id="{ADC79C64-A4F8-E40F-B47F-B07193C4E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29706" name="Rectangle 34">
              <a:extLst>
                <a:ext uri="{FF2B5EF4-FFF2-40B4-BE49-F238E27FC236}">
                  <a16:creationId xmlns:a16="http://schemas.microsoft.com/office/drawing/2014/main" id="{BD9D8C3E-C2E4-26EB-F1BE-AAE7C0B09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26629" name="Group 35">
            <a:extLst>
              <a:ext uri="{FF2B5EF4-FFF2-40B4-BE49-F238E27FC236}">
                <a16:creationId xmlns:a16="http://schemas.microsoft.com/office/drawing/2014/main" id="{BAF70BC2-20C8-1A37-A783-5D6A787A3858}"/>
              </a:ext>
            </a:extLst>
          </p:cNvPr>
          <p:cNvGrpSpPr>
            <a:grpSpLocks/>
          </p:cNvGrpSpPr>
          <p:nvPr/>
        </p:nvGrpSpPr>
        <p:grpSpPr bwMode="auto">
          <a:xfrm>
            <a:off x="4360863" y="2565400"/>
            <a:ext cx="571500" cy="215900"/>
            <a:chOff x="249" y="1026"/>
            <a:chExt cx="360" cy="136"/>
          </a:xfrm>
        </p:grpSpPr>
        <p:sp>
          <p:nvSpPr>
            <p:cNvPr id="29703" name="Rectangle 36">
              <a:extLst>
                <a:ext uri="{FF2B5EF4-FFF2-40B4-BE49-F238E27FC236}">
                  <a16:creationId xmlns:a16="http://schemas.microsoft.com/office/drawing/2014/main" id="{39EEFEA9-637E-E709-8AA9-C7B69CCF63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29704" name="Rectangle 37">
              <a:extLst>
                <a:ext uri="{FF2B5EF4-FFF2-40B4-BE49-F238E27FC236}">
                  <a16:creationId xmlns:a16="http://schemas.microsoft.com/office/drawing/2014/main" id="{A2E17E07-4326-37D8-43A1-0D545BFA0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4</a:t>
              </a:r>
            </a:p>
          </p:txBody>
        </p:sp>
      </p:grpSp>
      <p:sp>
        <p:nvSpPr>
          <p:cNvPr id="29702" name="Rectangle 2">
            <a:extLst>
              <a:ext uri="{FF2B5EF4-FFF2-40B4-BE49-F238E27FC236}">
                <a16:creationId xmlns:a16="http://schemas.microsoft.com/office/drawing/2014/main" id="{EDCC4589-5D25-5340-CB67-28A7FECBE7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Ch4 </a:t>
            </a:r>
            <a:r>
              <a:rPr lang="zh-CN" altLang="en-US" b="1">
                <a:latin typeface="宋体" panose="02010600030101010101" pitchFamily="2" charset="-122"/>
              </a:rPr>
              <a:t>介质访问控制子层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ext Box 2">
            <a:extLst>
              <a:ext uri="{FF2B5EF4-FFF2-40B4-BE49-F238E27FC236}">
                <a16:creationId xmlns:a16="http://schemas.microsoft.com/office/drawing/2014/main" id="{A0940BB1-D623-D4E6-4462-C17C428CE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" y="2598738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31746" name="Text Box 3">
            <a:extLst>
              <a:ext uri="{FF2B5EF4-FFF2-40B4-BE49-F238E27FC236}">
                <a16:creationId xmlns:a16="http://schemas.microsoft.com/office/drawing/2014/main" id="{EF148324-CD15-C8F5-691F-38831C973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589588"/>
            <a:ext cx="7345363" cy="7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>
                <a:latin typeface="宋体" panose="02010600030101010101" pitchFamily="2" charset="-122"/>
              </a:rPr>
              <a:t>（</a:t>
            </a:r>
            <a:r>
              <a:rPr lang="en-US" altLang="zh-CN" sz="1800" b="1">
                <a:latin typeface="宋体" panose="02010600030101010101" pitchFamily="2" charset="-122"/>
              </a:rPr>
              <a:t>b</a:t>
            </a:r>
            <a:r>
              <a:rPr lang="zh-CN" altLang="en-US" sz="1800" b="1">
                <a:latin typeface="宋体" panose="02010600030101010101" pitchFamily="2" charset="-122"/>
              </a:rPr>
              <a:t>）</a:t>
            </a:r>
            <a:r>
              <a:rPr lang="en-US" altLang="zh-CN" sz="1800" b="1">
                <a:solidFill>
                  <a:schemeClr val="hlink"/>
                </a:solidFill>
                <a:latin typeface="宋体" panose="02010600030101010101" pitchFamily="2" charset="-122"/>
              </a:rPr>
              <a:t>E</a:t>
            </a:r>
            <a:r>
              <a:rPr lang="zh-CN" altLang="en-US" sz="1800" b="1">
                <a:solidFill>
                  <a:schemeClr val="hlink"/>
                </a:solidFill>
                <a:latin typeface="宋体" panose="02010600030101010101" pitchFamily="2" charset="-122"/>
              </a:rPr>
              <a:t>发送一个帧给</a:t>
            </a:r>
            <a:r>
              <a:rPr lang="en-US" altLang="zh-CN" sz="1800" b="1">
                <a:solidFill>
                  <a:schemeClr val="hlink"/>
                </a:solidFill>
                <a:latin typeface="宋体" panose="02010600030101010101" pitchFamily="2" charset="-122"/>
              </a:rPr>
              <a:t>F</a:t>
            </a:r>
            <a:r>
              <a:rPr lang="zh-CN" altLang="en-US" sz="1800" b="1">
                <a:solidFill>
                  <a:schemeClr val="hlink"/>
                </a:solidFill>
                <a:latin typeface="宋体" panose="02010600030101010101" pitchFamily="2" charset="-122"/>
              </a:rPr>
              <a:t>后</a:t>
            </a:r>
            <a:r>
              <a:rPr lang="zh-CN" altLang="en-US" sz="1800" b="1">
                <a:latin typeface="宋体" panose="02010600030101010101" pitchFamily="2" charset="-122"/>
              </a:rPr>
              <a:t>，网桥</a:t>
            </a:r>
            <a:r>
              <a:rPr lang="en-US" altLang="zh-CN" sz="1800" b="1">
                <a:latin typeface="宋体" panose="02010600030101010101" pitchFamily="2" charset="-122"/>
              </a:rPr>
              <a:t>B1</a:t>
            </a:r>
            <a:r>
              <a:rPr lang="zh-CN" altLang="en-US" sz="1800" b="1">
                <a:latin typeface="宋体" panose="02010600030101010101" pitchFamily="2" charset="-122"/>
              </a:rPr>
              <a:t>和</a:t>
            </a:r>
            <a:r>
              <a:rPr lang="en-US" altLang="zh-CN" sz="1800" b="1">
                <a:latin typeface="宋体" panose="02010600030101010101" pitchFamily="2" charset="-122"/>
              </a:rPr>
              <a:t>B2</a:t>
            </a:r>
            <a:r>
              <a:rPr lang="zh-CN" altLang="en-US" sz="1800" b="1">
                <a:latin typeface="宋体" panose="02010600030101010101" pitchFamily="2" charset="-122"/>
              </a:rPr>
              <a:t>的哈希表变化情况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>
                <a:latin typeface="宋体" panose="02010600030101010101" pitchFamily="2" charset="-122"/>
              </a:rPr>
              <a:t>  </a:t>
            </a:r>
            <a:r>
              <a:rPr lang="en-US" altLang="zh-CN" sz="1800" b="1">
                <a:latin typeface="宋体" panose="02010600030101010101" pitchFamily="2" charset="-122"/>
              </a:rPr>
              <a:t>B2</a:t>
            </a:r>
            <a:r>
              <a:rPr lang="zh-CN" altLang="en-US" sz="1800" b="1">
                <a:latin typeface="宋体" panose="02010600030101010101" pitchFamily="2" charset="-122"/>
              </a:rPr>
              <a:t>向端口</a:t>
            </a:r>
            <a:r>
              <a:rPr lang="en-US" altLang="zh-CN" sz="1800" b="1">
                <a:latin typeface="宋体" panose="02010600030101010101" pitchFamily="2" charset="-122"/>
              </a:rPr>
              <a:t>1</a:t>
            </a:r>
            <a:r>
              <a:rPr lang="zh-CN" altLang="en-US" sz="1800" b="1">
                <a:latin typeface="宋体" panose="02010600030101010101" pitchFamily="2" charset="-122"/>
              </a:rPr>
              <a:t>，</a:t>
            </a:r>
            <a:r>
              <a:rPr lang="en-US" altLang="zh-CN" sz="1800" b="1">
                <a:latin typeface="宋体" panose="02010600030101010101" pitchFamily="2" charset="-122"/>
              </a:rPr>
              <a:t>3</a:t>
            </a:r>
            <a:r>
              <a:rPr lang="zh-CN" altLang="en-US" sz="1800" b="1">
                <a:latin typeface="宋体" panose="02010600030101010101" pitchFamily="2" charset="-122"/>
              </a:rPr>
              <a:t>和</a:t>
            </a:r>
            <a:r>
              <a:rPr lang="en-US" altLang="zh-CN" sz="1800" b="1">
                <a:latin typeface="宋体" panose="02010600030101010101" pitchFamily="2" charset="-122"/>
              </a:rPr>
              <a:t>4</a:t>
            </a:r>
            <a:r>
              <a:rPr lang="zh-CN" altLang="en-US" sz="1800" b="1">
                <a:latin typeface="宋体" panose="02010600030101010101" pitchFamily="2" charset="-122"/>
              </a:rPr>
              <a:t>转发该帧， </a:t>
            </a:r>
            <a:r>
              <a:rPr lang="en-US" altLang="zh-CN" sz="1800" b="1">
                <a:latin typeface="宋体" panose="02010600030101010101" pitchFamily="2" charset="-122"/>
              </a:rPr>
              <a:t>B1</a:t>
            </a:r>
            <a:r>
              <a:rPr lang="zh-CN" altLang="en-US" sz="1800" b="1">
                <a:latin typeface="宋体" panose="02010600030101010101" pitchFamily="2" charset="-122"/>
              </a:rPr>
              <a:t>向端口</a:t>
            </a:r>
            <a:r>
              <a:rPr lang="en-US" altLang="zh-CN" sz="1800" b="1">
                <a:latin typeface="宋体" panose="02010600030101010101" pitchFamily="2" charset="-122"/>
              </a:rPr>
              <a:t>1</a:t>
            </a:r>
            <a:r>
              <a:rPr lang="zh-CN" altLang="en-US" sz="1800" b="1">
                <a:latin typeface="宋体" panose="02010600030101010101" pitchFamily="2" charset="-122"/>
              </a:rPr>
              <a:t>，</a:t>
            </a:r>
            <a:r>
              <a:rPr lang="en-US" altLang="zh-CN" sz="1800" b="1">
                <a:latin typeface="宋体" panose="02010600030101010101" pitchFamily="2" charset="-122"/>
              </a:rPr>
              <a:t>2</a:t>
            </a:r>
            <a:r>
              <a:rPr lang="zh-CN" altLang="en-US" sz="1800" b="1">
                <a:latin typeface="宋体" panose="02010600030101010101" pitchFamily="2" charset="-122"/>
              </a:rPr>
              <a:t>和</a:t>
            </a:r>
            <a:r>
              <a:rPr lang="en-US" altLang="zh-CN" sz="1800" b="1">
                <a:latin typeface="宋体" panose="02010600030101010101" pitchFamily="2" charset="-122"/>
              </a:rPr>
              <a:t>3</a:t>
            </a:r>
            <a:r>
              <a:rPr lang="zh-CN" altLang="en-US" sz="1800" b="1">
                <a:latin typeface="宋体" panose="02010600030101010101" pitchFamily="2" charset="-122"/>
              </a:rPr>
              <a:t>转发该帧</a:t>
            </a:r>
          </a:p>
        </p:txBody>
      </p:sp>
      <p:pic>
        <p:nvPicPr>
          <p:cNvPr id="31747" name="Picture 4">
            <a:extLst>
              <a:ext uri="{FF2B5EF4-FFF2-40B4-BE49-F238E27FC236}">
                <a16:creationId xmlns:a16="http://schemas.microsoft.com/office/drawing/2014/main" id="{E0E1C152-49D9-CB40-FD28-249FCE973A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349500"/>
            <a:ext cx="6789737" cy="297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1748" name="Group 5">
            <a:extLst>
              <a:ext uri="{FF2B5EF4-FFF2-40B4-BE49-F238E27FC236}">
                <a16:creationId xmlns:a16="http://schemas.microsoft.com/office/drawing/2014/main" id="{8AB6EAAF-605F-81BF-BED3-363305D3D09A}"/>
              </a:ext>
            </a:extLst>
          </p:cNvPr>
          <p:cNvGrpSpPr>
            <a:grpSpLocks/>
          </p:cNvGrpSpPr>
          <p:nvPr/>
        </p:nvGrpSpPr>
        <p:grpSpPr bwMode="auto">
          <a:xfrm>
            <a:off x="2560638" y="2420938"/>
            <a:ext cx="571500" cy="215900"/>
            <a:chOff x="249" y="1026"/>
            <a:chExt cx="360" cy="136"/>
          </a:xfrm>
        </p:grpSpPr>
        <p:sp>
          <p:nvSpPr>
            <p:cNvPr id="31759" name="Rectangle 6">
              <a:extLst>
                <a:ext uri="{FF2B5EF4-FFF2-40B4-BE49-F238E27FC236}">
                  <a16:creationId xmlns:a16="http://schemas.microsoft.com/office/drawing/2014/main" id="{3E17645C-AC9D-DA6D-0B64-2DBF38C55F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31760" name="Rectangle 7">
              <a:extLst>
                <a:ext uri="{FF2B5EF4-FFF2-40B4-BE49-F238E27FC236}">
                  <a16:creationId xmlns:a16="http://schemas.microsoft.com/office/drawing/2014/main" id="{CD857025-437E-DFFA-611F-A4BD0D0D1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31749" name="Group 8">
            <a:extLst>
              <a:ext uri="{FF2B5EF4-FFF2-40B4-BE49-F238E27FC236}">
                <a16:creationId xmlns:a16="http://schemas.microsoft.com/office/drawing/2014/main" id="{04C71C3B-7E4F-088E-8396-52A3C63908B9}"/>
              </a:ext>
            </a:extLst>
          </p:cNvPr>
          <p:cNvGrpSpPr>
            <a:grpSpLocks/>
          </p:cNvGrpSpPr>
          <p:nvPr/>
        </p:nvGrpSpPr>
        <p:grpSpPr bwMode="auto">
          <a:xfrm>
            <a:off x="4432300" y="2420938"/>
            <a:ext cx="571500" cy="215900"/>
            <a:chOff x="249" y="1026"/>
            <a:chExt cx="360" cy="136"/>
          </a:xfrm>
        </p:grpSpPr>
        <p:sp>
          <p:nvSpPr>
            <p:cNvPr id="31757" name="Rectangle 9">
              <a:extLst>
                <a:ext uri="{FF2B5EF4-FFF2-40B4-BE49-F238E27FC236}">
                  <a16:creationId xmlns:a16="http://schemas.microsoft.com/office/drawing/2014/main" id="{4330AA06-63DC-D1D3-0A25-96EF359D3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31758" name="Rectangle 10">
              <a:extLst>
                <a:ext uri="{FF2B5EF4-FFF2-40B4-BE49-F238E27FC236}">
                  <a16:creationId xmlns:a16="http://schemas.microsoft.com/office/drawing/2014/main" id="{23B0304A-E80F-3435-831F-66B79B6045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28678" name="Group 11">
            <a:extLst>
              <a:ext uri="{FF2B5EF4-FFF2-40B4-BE49-F238E27FC236}">
                <a16:creationId xmlns:a16="http://schemas.microsoft.com/office/drawing/2014/main" id="{D6DF952A-6B8A-27B8-4AE8-7FD3A32A6042}"/>
              </a:ext>
            </a:extLst>
          </p:cNvPr>
          <p:cNvGrpSpPr>
            <a:grpSpLocks/>
          </p:cNvGrpSpPr>
          <p:nvPr/>
        </p:nvGrpSpPr>
        <p:grpSpPr bwMode="auto">
          <a:xfrm>
            <a:off x="4424363" y="2636838"/>
            <a:ext cx="571500" cy="215900"/>
            <a:chOff x="249" y="1026"/>
            <a:chExt cx="360" cy="136"/>
          </a:xfrm>
        </p:grpSpPr>
        <p:sp>
          <p:nvSpPr>
            <p:cNvPr id="31755" name="Rectangle 12">
              <a:extLst>
                <a:ext uri="{FF2B5EF4-FFF2-40B4-BE49-F238E27FC236}">
                  <a16:creationId xmlns:a16="http://schemas.microsoft.com/office/drawing/2014/main" id="{E246294A-61E0-8385-B9FF-5DEFF6FB8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E</a:t>
              </a:r>
            </a:p>
          </p:txBody>
        </p:sp>
        <p:sp>
          <p:nvSpPr>
            <p:cNvPr id="31756" name="Rectangle 13">
              <a:extLst>
                <a:ext uri="{FF2B5EF4-FFF2-40B4-BE49-F238E27FC236}">
                  <a16:creationId xmlns:a16="http://schemas.microsoft.com/office/drawing/2014/main" id="{D36DF611-E19E-2A80-A291-E4A3FF176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28679" name="Group 14">
            <a:extLst>
              <a:ext uri="{FF2B5EF4-FFF2-40B4-BE49-F238E27FC236}">
                <a16:creationId xmlns:a16="http://schemas.microsoft.com/office/drawing/2014/main" id="{45D5CE1E-4BF1-BD45-7F25-2AE0777C8FDD}"/>
              </a:ext>
            </a:extLst>
          </p:cNvPr>
          <p:cNvGrpSpPr>
            <a:grpSpLocks/>
          </p:cNvGrpSpPr>
          <p:nvPr/>
        </p:nvGrpSpPr>
        <p:grpSpPr bwMode="auto">
          <a:xfrm>
            <a:off x="2560638" y="2636838"/>
            <a:ext cx="571500" cy="215900"/>
            <a:chOff x="249" y="1026"/>
            <a:chExt cx="360" cy="136"/>
          </a:xfrm>
        </p:grpSpPr>
        <p:sp>
          <p:nvSpPr>
            <p:cNvPr id="31753" name="Rectangle 15">
              <a:extLst>
                <a:ext uri="{FF2B5EF4-FFF2-40B4-BE49-F238E27FC236}">
                  <a16:creationId xmlns:a16="http://schemas.microsoft.com/office/drawing/2014/main" id="{971D8AE0-3DD0-3A6B-1B4B-5DDBACECC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E</a:t>
              </a:r>
            </a:p>
          </p:txBody>
        </p:sp>
        <p:sp>
          <p:nvSpPr>
            <p:cNvPr id="31754" name="Rectangle 16">
              <a:extLst>
                <a:ext uri="{FF2B5EF4-FFF2-40B4-BE49-F238E27FC236}">
                  <a16:creationId xmlns:a16="http://schemas.microsoft.com/office/drawing/2014/main" id="{656B5404-439E-0A27-2487-A011AB2725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4</a:t>
              </a:r>
            </a:p>
          </p:txBody>
        </p:sp>
      </p:grpSp>
      <p:sp>
        <p:nvSpPr>
          <p:cNvPr id="31752" name="Rectangle 2">
            <a:extLst>
              <a:ext uri="{FF2B5EF4-FFF2-40B4-BE49-F238E27FC236}">
                <a16:creationId xmlns:a16="http://schemas.microsoft.com/office/drawing/2014/main" id="{6739229C-70E8-312A-0D6F-09C3EDC098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Ch4 </a:t>
            </a:r>
            <a:r>
              <a:rPr lang="zh-CN" altLang="en-US" b="1">
                <a:latin typeface="宋体" panose="02010600030101010101" pitchFamily="2" charset="-122"/>
              </a:rPr>
              <a:t>介质访问控制子层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ext Box 2">
            <a:extLst>
              <a:ext uri="{FF2B5EF4-FFF2-40B4-BE49-F238E27FC236}">
                <a16:creationId xmlns:a16="http://schemas.microsoft.com/office/drawing/2014/main" id="{DF6D1DA7-7177-FF41-0684-757C0135C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" y="2598738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33794" name="Text Box 3">
            <a:extLst>
              <a:ext uri="{FF2B5EF4-FFF2-40B4-BE49-F238E27FC236}">
                <a16:creationId xmlns:a16="http://schemas.microsoft.com/office/drawing/2014/main" id="{770E54A3-74E9-E4BE-50AE-4E7FFCF54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589588"/>
            <a:ext cx="7345363" cy="7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>
                <a:latin typeface="宋体" panose="02010600030101010101" pitchFamily="2" charset="-122"/>
              </a:rPr>
              <a:t>（</a:t>
            </a:r>
            <a:r>
              <a:rPr lang="en-US" altLang="zh-CN" sz="1800" b="1">
                <a:latin typeface="宋体" panose="02010600030101010101" pitchFamily="2" charset="-122"/>
              </a:rPr>
              <a:t>c</a:t>
            </a:r>
            <a:r>
              <a:rPr lang="zh-CN" altLang="en-US" sz="1800" b="1">
                <a:latin typeface="宋体" panose="02010600030101010101" pitchFamily="2" charset="-122"/>
              </a:rPr>
              <a:t>）</a:t>
            </a:r>
            <a:r>
              <a:rPr lang="en-US" altLang="zh-CN" sz="1800" b="1">
                <a:solidFill>
                  <a:schemeClr val="hlink"/>
                </a:solidFill>
                <a:latin typeface="宋体" panose="02010600030101010101" pitchFamily="2" charset="-122"/>
              </a:rPr>
              <a:t>F</a:t>
            </a:r>
            <a:r>
              <a:rPr lang="zh-CN" altLang="en-US" sz="1800" b="1">
                <a:solidFill>
                  <a:schemeClr val="hlink"/>
                </a:solidFill>
                <a:latin typeface="宋体" panose="02010600030101010101" pitchFamily="2" charset="-122"/>
              </a:rPr>
              <a:t>发送一个帧给</a:t>
            </a:r>
            <a:r>
              <a:rPr lang="en-US" altLang="zh-CN" sz="1800" b="1">
                <a:solidFill>
                  <a:schemeClr val="hlink"/>
                </a:solidFill>
                <a:latin typeface="宋体" panose="02010600030101010101" pitchFamily="2" charset="-122"/>
              </a:rPr>
              <a:t>E</a:t>
            </a:r>
            <a:r>
              <a:rPr lang="zh-CN" altLang="en-US" sz="1800" b="1">
                <a:solidFill>
                  <a:schemeClr val="hlink"/>
                </a:solidFill>
                <a:latin typeface="宋体" panose="02010600030101010101" pitchFamily="2" charset="-122"/>
              </a:rPr>
              <a:t>后</a:t>
            </a:r>
            <a:r>
              <a:rPr lang="zh-CN" altLang="en-US" sz="1800" b="1">
                <a:latin typeface="宋体" panose="02010600030101010101" pitchFamily="2" charset="-122"/>
              </a:rPr>
              <a:t>，网桥</a:t>
            </a:r>
            <a:r>
              <a:rPr lang="en-US" altLang="zh-CN" sz="1800" b="1">
                <a:latin typeface="宋体" panose="02010600030101010101" pitchFamily="2" charset="-122"/>
              </a:rPr>
              <a:t>B1</a:t>
            </a:r>
            <a:r>
              <a:rPr lang="zh-CN" altLang="en-US" sz="1800" b="1">
                <a:latin typeface="宋体" panose="02010600030101010101" pitchFamily="2" charset="-122"/>
              </a:rPr>
              <a:t>和</a:t>
            </a:r>
            <a:r>
              <a:rPr lang="en-US" altLang="zh-CN" sz="1800" b="1">
                <a:latin typeface="宋体" panose="02010600030101010101" pitchFamily="2" charset="-122"/>
              </a:rPr>
              <a:t>B2</a:t>
            </a:r>
            <a:r>
              <a:rPr lang="zh-CN" altLang="en-US" sz="1800" b="1">
                <a:latin typeface="宋体" panose="02010600030101010101" pitchFamily="2" charset="-122"/>
              </a:rPr>
              <a:t>的哈希表变化情况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>
                <a:latin typeface="宋体" panose="02010600030101010101" pitchFamily="2" charset="-122"/>
              </a:rPr>
              <a:t>  </a:t>
            </a:r>
            <a:r>
              <a:rPr lang="en-US" altLang="zh-CN" sz="1800" b="1">
                <a:latin typeface="宋体" panose="02010600030101010101" pitchFamily="2" charset="-122"/>
              </a:rPr>
              <a:t>B2</a:t>
            </a:r>
            <a:r>
              <a:rPr lang="zh-CN" altLang="en-US" sz="1800" b="1">
                <a:latin typeface="宋体" panose="02010600030101010101" pitchFamily="2" charset="-122"/>
              </a:rPr>
              <a:t>不向任何端口转发该帧， </a:t>
            </a:r>
            <a:r>
              <a:rPr lang="en-US" altLang="zh-CN" sz="1800" b="1">
                <a:latin typeface="宋体" panose="02010600030101010101" pitchFamily="2" charset="-122"/>
              </a:rPr>
              <a:t>B1</a:t>
            </a:r>
            <a:r>
              <a:rPr lang="zh-CN" altLang="en-US" sz="1800" b="1">
                <a:latin typeface="宋体" panose="02010600030101010101" pitchFamily="2" charset="-122"/>
              </a:rPr>
              <a:t>将收不到该帧</a:t>
            </a:r>
          </a:p>
        </p:txBody>
      </p:sp>
      <p:pic>
        <p:nvPicPr>
          <p:cNvPr id="33795" name="Picture 4">
            <a:extLst>
              <a:ext uri="{FF2B5EF4-FFF2-40B4-BE49-F238E27FC236}">
                <a16:creationId xmlns:a16="http://schemas.microsoft.com/office/drawing/2014/main" id="{655F7CCD-5E3C-6897-EEA4-DAEB6A768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349500"/>
            <a:ext cx="6789737" cy="297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3796" name="Group 5">
            <a:extLst>
              <a:ext uri="{FF2B5EF4-FFF2-40B4-BE49-F238E27FC236}">
                <a16:creationId xmlns:a16="http://schemas.microsoft.com/office/drawing/2014/main" id="{E44DA505-A257-06E2-6B85-EA08357D2475}"/>
              </a:ext>
            </a:extLst>
          </p:cNvPr>
          <p:cNvGrpSpPr>
            <a:grpSpLocks/>
          </p:cNvGrpSpPr>
          <p:nvPr/>
        </p:nvGrpSpPr>
        <p:grpSpPr bwMode="auto">
          <a:xfrm>
            <a:off x="2560638" y="2349500"/>
            <a:ext cx="571500" cy="215900"/>
            <a:chOff x="249" y="1026"/>
            <a:chExt cx="360" cy="136"/>
          </a:xfrm>
        </p:grpSpPr>
        <p:sp>
          <p:nvSpPr>
            <p:cNvPr id="33810" name="Rectangle 6">
              <a:extLst>
                <a:ext uri="{FF2B5EF4-FFF2-40B4-BE49-F238E27FC236}">
                  <a16:creationId xmlns:a16="http://schemas.microsoft.com/office/drawing/2014/main" id="{0CC7FEDA-C989-7596-72FD-C0B634B89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33811" name="Rectangle 7">
              <a:extLst>
                <a:ext uri="{FF2B5EF4-FFF2-40B4-BE49-F238E27FC236}">
                  <a16:creationId xmlns:a16="http://schemas.microsoft.com/office/drawing/2014/main" id="{4622DDBF-7FFA-66D5-7268-1A9C11FF12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33797" name="Group 8">
            <a:extLst>
              <a:ext uri="{FF2B5EF4-FFF2-40B4-BE49-F238E27FC236}">
                <a16:creationId xmlns:a16="http://schemas.microsoft.com/office/drawing/2014/main" id="{7F80FB2D-A25C-6BF6-B65E-E6BA4CC8A2B3}"/>
              </a:ext>
            </a:extLst>
          </p:cNvPr>
          <p:cNvGrpSpPr>
            <a:grpSpLocks/>
          </p:cNvGrpSpPr>
          <p:nvPr/>
        </p:nvGrpSpPr>
        <p:grpSpPr bwMode="auto">
          <a:xfrm>
            <a:off x="4364038" y="2349500"/>
            <a:ext cx="571500" cy="215900"/>
            <a:chOff x="249" y="1026"/>
            <a:chExt cx="360" cy="136"/>
          </a:xfrm>
        </p:grpSpPr>
        <p:sp>
          <p:nvSpPr>
            <p:cNvPr id="33808" name="Rectangle 9">
              <a:extLst>
                <a:ext uri="{FF2B5EF4-FFF2-40B4-BE49-F238E27FC236}">
                  <a16:creationId xmlns:a16="http://schemas.microsoft.com/office/drawing/2014/main" id="{1FA8751D-CED6-D119-0FAA-68371EE66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33809" name="Rectangle 10">
              <a:extLst>
                <a:ext uri="{FF2B5EF4-FFF2-40B4-BE49-F238E27FC236}">
                  <a16:creationId xmlns:a16="http://schemas.microsoft.com/office/drawing/2014/main" id="{86ADB2E7-AE40-B44F-F831-7274033383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33798" name="Group 11">
            <a:extLst>
              <a:ext uri="{FF2B5EF4-FFF2-40B4-BE49-F238E27FC236}">
                <a16:creationId xmlns:a16="http://schemas.microsoft.com/office/drawing/2014/main" id="{F1EB7EFB-F419-38D6-6491-B013BA850FB6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2565400"/>
            <a:ext cx="571500" cy="215900"/>
            <a:chOff x="249" y="1026"/>
            <a:chExt cx="360" cy="136"/>
          </a:xfrm>
        </p:grpSpPr>
        <p:sp>
          <p:nvSpPr>
            <p:cNvPr id="33806" name="Rectangle 12">
              <a:extLst>
                <a:ext uri="{FF2B5EF4-FFF2-40B4-BE49-F238E27FC236}">
                  <a16:creationId xmlns:a16="http://schemas.microsoft.com/office/drawing/2014/main" id="{4C006094-286D-8B7A-5E2A-C691F38FC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E</a:t>
              </a:r>
            </a:p>
          </p:txBody>
        </p:sp>
        <p:sp>
          <p:nvSpPr>
            <p:cNvPr id="33807" name="Rectangle 13">
              <a:extLst>
                <a:ext uri="{FF2B5EF4-FFF2-40B4-BE49-F238E27FC236}">
                  <a16:creationId xmlns:a16="http://schemas.microsoft.com/office/drawing/2014/main" id="{17257905-006E-2A58-1733-C4E8E75F15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33799" name="Group 14">
            <a:extLst>
              <a:ext uri="{FF2B5EF4-FFF2-40B4-BE49-F238E27FC236}">
                <a16:creationId xmlns:a16="http://schemas.microsoft.com/office/drawing/2014/main" id="{8F75AAC4-1FD2-C25D-278A-D6807A3796C8}"/>
              </a:ext>
            </a:extLst>
          </p:cNvPr>
          <p:cNvGrpSpPr>
            <a:grpSpLocks/>
          </p:cNvGrpSpPr>
          <p:nvPr/>
        </p:nvGrpSpPr>
        <p:grpSpPr bwMode="auto">
          <a:xfrm>
            <a:off x="2560638" y="2565400"/>
            <a:ext cx="571500" cy="215900"/>
            <a:chOff x="249" y="1026"/>
            <a:chExt cx="360" cy="136"/>
          </a:xfrm>
        </p:grpSpPr>
        <p:sp>
          <p:nvSpPr>
            <p:cNvPr id="33804" name="Rectangle 15">
              <a:extLst>
                <a:ext uri="{FF2B5EF4-FFF2-40B4-BE49-F238E27FC236}">
                  <a16:creationId xmlns:a16="http://schemas.microsoft.com/office/drawing/2014/main" id="{7E0885FB-24AC-64BA-6C70-9403F6E37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E</a:t>
              </a:r>
            </a:p>
          </p:txBody>
        </p:sp>
        <p:sp>
          <p:nvSpPr>
            <p:cNvPr id="33805" name="Rectangle 16">
              <a:extLst>
                <a:ext uri="{FF2B5EF4-FFF2-40B4-BE49-F238E27FC236}">
                  <a16:creationId xmlns:a16="http://schemas.microsoft.com/office/drawing/2014/main" id="{F8AAACEB-E3DA-96F9-C655-56A92CD96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30728" name="Group 17">
            <a:extLst>
              <a:ext uri="{FF2B5EF4-FFF2-40B4-BE49-F238E27FC236}">
                <a16:creationId xmlns:a16="http://schemas.microsoft.com/office/drawing/2014/main" id="{CDE6DEC0-C310-8A4C-401C-B083FCCCB257}"/>
              </a:ext>
            </a:extLst>
          </p:cNvPr>
          <p:cNvGrpSpPr>
            <a:grpSpLocks/>
          </p:cNvGrpSpPr>
          <p:nvPr/>
        </p:nvGrpSpPr>
        <p:grpSpPr bwMode="auto">
          <a:xfrm>
            <a:off x="4359275" y="2781300"/>
            <a:ext cx="571500" cy="215900"/>
            <a:chOff x="249" y="1026"/>
            <a:chExt cx="360" cy="136"/>
          </a:xfrm>
        </p:grpSpPr>
        <p:sp>
          <p:nvSpPr>
            <p:cNvPr id="33802" name="Rectangle 18">
              <a:extLst>
                <a:ext uri="{FF2B5EF4-FFF2-40B4-BE49-F238E27FC236}">
                  <a16:creationId xmlns:a16="http://schemas.microsoft.com/office/drawing/2014/main" id="{300CAED5-2D6C-9DD6-A113-DB0958043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F</a:t>
              </a:r>
            </a:p>
          </p:txBody>
        </p:sp>
        <p:sp>
          <p:nvSpPr>
            <p:cNvPr id="33803" name="Rectangle 19">
              <a:extLst>
                <a:ext uri="{FF2B5EF4-FFF2-40B4-BE49-F238E27FC236}">
                  <a16:creationId xmlns:a16="http://schemas.microsoft.com/office/drawing/2014/main" id="{BDC75D54-D068-1560-3195-D48036821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2</a:t>
              </a:r>
            </a:p>
          </p:txBody>
        </p:sp>
      </p:grpSp>
      <p:sp>
        <p:nvSpPr>
          <p:cNvPr id="33801" name="Rectangle 2">
            <a:extLst>
              <a:ext uri="{FF2B5EF4-FFF2-40B4-BE49-F238E27FC236}">
                <a16:creationId xmlns:a16="http://schemas.microsoft.com/office/drawing/2014/main" id="{48C22A4C-4879-CC4F-7584-DB3931F549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Ch4 </a:t>
            </a:r>
            <a:r>
              <a:rPr lang="zh-CN" altLang="en-US" b="1">
                <a:latin typeface="宋体" panose="02010600030101010101" pitchFamily="2" charset="-122"/>
              </a:rPr>
              <a:t>介质访问控制子层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ext Box 2">
            <a:extLst>
              <a:ext uri="{FF2B5EF4-FFF2-40B4-BE49-F238E27FC236}">
                <a16:creationId xmlns:a16="http://schemas.microsoft.com/office/drawing/2014/main" id="{DF90FB11-8EE9-899F-23D5-0F288B5DE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" y="2598738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35842" name="Text Box 3">
            <a:extLst>
              <a:ext uri="{FF2B5EF4-FFF2-40B4-BE49-F238E27FC236}">
                <a16:creationId xmlns:a16="http://schemas.microsoft.com/office/drawing/2014/main" id="{443B5CA6-1A48-F592-4354-16696161E7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589588"/>
            <a:ext cx="7345363" cy="7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>
                <a:latin typeface="宋体" panose="02010600030101010101" pitchFamily="2" charset="-122"/>
              </a:rPr>
              <a:t>（</a:t>
            </a:r>
            <a:r>
              <a:rPr lang="en-US" altLang="zh-CN" sz="1800" b="1">
                <a:latin typeface="宋体" panose="02010600030101010101" pitchFamily="2" charset="-122"/>
              </a:rPr>
              <a:t>d</a:t>
            </a:r>
            <a:r>
              <a:rPr lang="zh-CN" altLang="en-US" sz="1800" b="1">
                <a:latin typeface="宋体" panose="02010600030101010101" pitchFamily="2" charset="-122"/>
              </a:rPr>
              <a:t>）</a:t>
            </a:r>
            <a:r>
              <a:rPr lang="en-US" altLang="zh-CN" sz="1800" b="1">
                <a:solidFill>
                  <a:schemeClr val="hlink"/>
                </a:solidFill>
                <a:latin typeface="宋体" panose="02010600030101010101" pitchFamily="2" charset="-122"/>
              </a:rPr>
              <a:t>G</a:t>
            </a:r>
            <a:r>
              <a:rPr lang="zh-CN" altLang="en-US" sz="1800" b="1">
                <a:solidFill>
                  <a:schemeClr val="hlink"/>
                </a:solidFill>
                <a:latin typeface="宋体" panose="02010600030101010101" pitchFamily="2" charset="-122"/>
              </a:rPr>
              <a:t>发送一个帧给</a:t>
            </a:r>
            <a:r>
              <a:rPr lang="en-US" altLang="zh-CN" sz="1800" b="1">
                <a:solidFill>
                  <a:schemeClr val="hlink"/>
                </a:solidFill>
                <a:latin typeface="宋体" panose="02010600030101010101" pitchFamily="2" charset="-122"/>
              </a:rPr>
              <a:t>E</a:t>
            </a:r>
            <a:r>
              <a:rPr lang="zh-CN" altLang="en-US" sz="1800" b="1">
                <a:solidFill>
                  <a:schemeClr val="hlink"/>
                </a:solidFill>
                <a:latin typeface="宋体" panose="02010600030101010101" pitchFamily="2" charset="-122"/>
              </a:rPr>
              <a:t>后</a:t>
            </a:r>
            <a:r>
              <a:rPr lang="zh-CN" altLang="en-US" sz="1800" b="1">
                <a:latin typeface="宋体" panose="02010600030101010101" pitchFamily="2" charset="-122"/>
              </a:rPr>
              <a:t>，网桥</a:t>
            </a:r>
            <a:r>
              <a:rPr lang="en-US" altLang="zh-CN" sz="1800" b="1">
                <a:latin typeface="宋体" panose="02010600030101010101" pitchFamily="2" charset="-122"/>
              </a:rPr>
              <a:t>B1</a:t>
            </a:r>
            <a:r>
              <a:rPr lang="zh-CN" altLang="en-US" sz="1800" b="1">
                <a:latin typeface="宋体" panose="02010600030101010101" pitchFamily="2" charset="-122"/>
              </a:rPr>
              <a:t>和</a:t>
            </a:r>
            <a:r>
              <a:rPr lang="en-US" altLang="zh-CN" sz="1800" b="1">
                <a:latin typeface="宋体" panose="02010600030101010101" pitchFamily="2" charset="-122"/>
              </a:rPr>
              <a:t>B2</a:t>
            </a:r>
            <a:r>
              <a:rPr lang="zh-CN" altLang="en-US" sz="1800" b="1">
                <a:latin typeface="宋体" panose="02010600030101010101" pitchFamily="2" charset="-122"/>
              </a:rPr>
              <a:t>的哈希表变化情况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>
                <a:latin typeface="宋体" panose="02010600030101010101" pitchFamily="2" charset="-122"/>
              </a:rPr>
              <a:t>  </a:t>
            </a:r>
            <a:r>
              <a:rPr lang="en-US" altLang="zh-CN" sz="1800" b="1">
                <a:latin typeface="宋体" panose="02010600030101010101" pitchFamily="2" charset="-122"/>
              </a:rPr>
              <a:t>B2</a:t>
            </a:r>
            <a:r>
              <a:rPr lang="zh-CN" altLang="en-US" sz="1800" b="1">
                <a:latin typeface="宋体" panose="02010600030101010101" pitchFamily="2" charset="-122"/>
              </a:rPr>
              <a:t>向端口</a:t>
            </a:r>
            <a:r>
              <a:rPr lang="en-US" altLang="zh-CN" sz="1800" b="1">
                <a:latin typeface="宋体" panose="02010600030101010101" pitchFamily="2" charset="-122"/>
              </a:rPr>
              <a:t>2</a:t>
            </a:r>
            <a:r>
              <a:rPr lang="zh-CN" altLang="en-US" sz="1800" b="1">
                <a:latin typeface="宋体" panose="02010600030101010101" pitchFamily="2" charset="-122"/>
              </a:rPr>
              <a:t>转发该帧， </a:t>
            </a:r>
            <a:r>
              <a:rPr lang="en-US" altLang="zh-CN" sz="1800" b="1">
                <a:latin typeface="宋体" panose="02010600030101010101" pitchFamily="2" charset="-122"/>
              </a:rPr>
              <a:t>B1</a:t>
            </a:r>
            <a:r>
              <a:rPr lang="zh-CN" altLang="en-US" sz="1800" b="1">
                <a:latin typeface="宋体" panose="02010600030101010101" pitchFamily="2" charset="-122"/>
              </a:rPr>
              <a:t>将收不到该帧</a:t>
            </a:r>
          </a:p>
        </p:txBody>
      </p:sp>
      <p:pic>
        <p:nvPicPr>
          <p:cNvPr id="35843" name="Picture 4">
            <a:extLst>
              <a:ext uri="{FF2B5EF4-FFF2-40B4-BE49-F238E27FC236}">
                <a16:creationId xmlns:a16="http://schemas.microsoft.com/office/drawing/2014/main" id="{F42E19A2-20CA-A500-1FF9-3A61540671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349500"/>
            <a:ext cx="6789737" cy="297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5844" name="Group 5">
            <a:extLst>
              <a:ext uri="{FF2B5EF4-FFF2-40B4-BE49-F238E27FC236}">
                <a16:creationId xmlns:a16="http://schemas.microsoft.com/office/drawing/2014/main" id="{2395BD83-F8C8-44E2-ECD4-B19DB089BBFD}"/>
              </a:ext>
            </a:extLst>
          </p:cNvPr>
          <p:cNvGrpSpPr>
            <a:grpSpLocks/>
          </p:cNvGrpSpPr>
          <p:nvPr/>
        </p:nvGrpSpPr>
        <p:grpSpPr bwMode="auto">
          <a:xfrm>
            <a:off x="2560638" y="2060575"/>
            <a:ext cx="571500" cy="215900"/>
            <a:chOff x="249" y="1026"/>
            <a:chExt cx="360" cy="136"/>
          </a:xfrm>
        </p:grpSpPr>
        <p:sp>
          <p:nvSpPr>
            <p:cNvPr id="35861" name="Rectangle 6">
              <a:extLst>
                <a:ext uri="{FF2B5EF4-FFF2-40B4-BE49-F238E27FC236}">
                  <a16:creationId xmlns:a16="http://schemas.microsoft.com/office/drawing/2014/main" id="{9D36F6EF-9586-2C8C-9B66-1832150D9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35862" name="Rectangle 7">
              <a:extLst>
                <a:ext uri="{FF2B5EF4-FFF2-40B4-BE49-F238E27FC236}">
                  <a16:creationId xmlns:a16="http://schemas.microsoft.com/office/drawing/2014/main" id="{ADB7BFC0-5BDE-6429-8265-4971DC665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35845" name="Group 8">
            <a:extLst>
              <a:ext uri="{FF2B5EF4-FFF2-40B4-BE49-F238E27FC236}">
                <a16:creationId xmlns:a16="http://schemas.microsoft.com/office/drawing/2014/main" id="{4F7CFBFA-EF2C-24B7-E8C2-9C0E9F183F4E}"/>
              </a:ext>
            </a:extLst>
          </p:cNvPr>
          <p:cNvGrpSpPr>
            <a:grpSpLocks/>
          </p:cNvGrpSpPr>
          <p:nvPr/>
        </p:nvGrpSpPr>
        <p:grpSpPr bwMode="auto">
          <a:xfrm>
            <a:off x="4364038" y="2060575"/>
            <a:ext cx="571500" cy="215900"/>
            <a:chOff x="249" y="1026"/>
            <a:chExt cx="360" cy="136"/>
          </a:xfrm>
        </p:grpSpPr>
        <p:sp>
          <p:nvSpPr>
            <p:cNvPr id="35859" name="Rectangle 9">
              <a:extLst>
                <a:ext uri="{FF2B5EF4-FFF2-40B4-BE49-F238E27FC236}">
                  <a16:creationId xmlns:a16="http://schemas.microsoft.com/office/drawing/2014/main" id="{9ABD12F1-4F57-7845-1662-F891875885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35860" name="Rectangle 10">
              <a:extLst>
                <a:ext uri="{FF2B5EF4-FFF2-40B4-BE49-F238E27FC236}">
                  <a16:creationId xmlns:a16="http://schemas.microsoft.com/office/drawing/2014/main" id="{35FABB20-AD44-70D6-C1AA-24658115A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35846" name="Group 11">
            <a:extLst>
              <a:ext uri="{FF2B5EF4-FFF2-40B4-BE49-F238E27FC236}">
                <a16:creationId xmlns:a16="http://schemas.microsoft.com/office/drawing/2014/main" id="{3ABE8ADF-ADE2-03D0-5DD1-1CC574556DC8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2276475"/>
            <a:ext cx="571500" cy="215900"/>
            <a:chOff x="249" y="1026"/>
            <a:chExt cx="360" cy="136"/>
          </a:xfrm>
        </p:grpSpPr>
        <p:sp>
          <p:nvSpPr>
            <p:cNvPr id="35857" name="Rectangle 12">
              <a:extLst>
                <a:ext uri="{FF2B5EF4-FFF2-40B4-BE49-F238E27FC236}">
                  <a16:creationId xmlns:a16="http://schemas.microsoft.com/office/drawing/2014/main" id="{F6A37142-9ADA-166D-64BB-8B11A8DE2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E</a:t>
              </a:r>
            </a:p>
          </p:txBody>
        </p:sp>
        <p:sp>
          <p:nvSpPr>
            <p:cNvPr id="35858" name="Rectangle 13">
              <a:extLst>
                <a:ext uri="{FF2B5EF4-FFF2-40B4-BE49-F238E27FC236}">
                  <a16:creationId xmlns:a16="http://schemas.microsoft.com/office/drawing/2014/main" id="{61E81575-540A-0CEA-F0C6-9395A41BFC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35847" name="Group 14">
            <a:extLst>
              <a:ext uri="{FF2B5EF4-FFF2-40B4-BE49-F238E27FC236}">
                <a16:creationId xmlns:a16="http://schemas.microsoft.com/office/drawing/2014/main" id="{C0A12B5D-F3C6-0DEE-D8D7-5550E477512E}"/>
              </a:ext>
            </a:extLst>
          </p:cNvPr>
          <p:cNvGrpSpPr>
            <a:grpSpLocks/>
          </p:cNvGrpSpPr>
          <p:nvPr/>
        </p:nvGrpSpPr>
        <p:grpSpPr bwMode="auto">
          <a:xfrm>
            <a:off x="2560638" y="2276475"/>
            <a:ext cx="571500" cy="215900"/>
            <a:chOff x="249" y="1026"/>
            <a:chExt cx="360" cy="136"/>
          </a:xfrm>
        </p:grpSpPr>
        <p:sp>
          <p:nvSpPr>
            <p:cNvPr id="35855" name="Rectangle 15">
              <a:extLst>
                <a:ext uri="{FF2B5EF4-FFF2-40B4-BE49-F238E27FC236}">
                  <a16:creationId xmlns:a16="http://schemas.microsoft.com/office/drawing/2014/main" id="{7CDE614D-8BFC-60EA-8B72-25E9DAA071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E</a:t>
              </a:r>
            </a:p>
          </p:txBody>
        </p:sp>
        <p:sp>
          <p:nvSpPr>
            <p:cNvPr id="35856" name="Rectangle 16">
              <a:extLst>
                <a:ext uri="{FF2B5EF4-FFF2-40B4-BE49-F238E27FC236}">
                  <a16:creationId xmlns:a16="http://schemas.microsoft.com/office/drawing/2014/main" id="{F6C106CF-87AE-8B77-708F-C0C4CC2A8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35848" name="Group 17">
            <a:extLst>
              <a:ext uri="{FF2B5EF4-FFF2-40B4-BE49-F238E27FC236}">
                <a16:creationId xmlns:a16="http://schemas.microsoft.com/office/drawing/2014/main" id="{923EB053-E13B-C491-075F-9ABB8570A941}"/>
              </a:ext>
            </a:extLst>
          </p:cNvPr>
          <p:cNvGrpSpPr>
            <a:grpSpLocks/>
          </p:cNvGrpSpPr>
          <p:nvPr/>
        </p:nvGrpSpPr>
        <p:grpSpPr bwMode="auto">
          <a:xfrm>
            <a:off x="4359275" y="2492375"/>
            <a:ext cx="571500" cy="215900"/>
            <a:chOff x="249" y="1026"/>
            <a:chExt cx="360" cy="136"/>
          </a:xfrm>
        </p:grpSpPr>
        <p:sp>
          <p:nvSpPr>
            <p:cNvPr id="35853" name="Rectangle 18">
              <a:extLst>
                <a:ext uri="{FF2B5EF4-FFF2-40B4-BE49-F238E27FC236}">
                  <a16:creationId xmlns:a16="http://schemas.microsoft.com/office/drawing/2014/main" id="{854052BA-D272-0A50-2361-2C28C42617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F</a:t>
              </a:r>
            </a:p>
          </p:txBody>
        </p:sp>
        <p:sp>
          <p:nvSpPr>
            <p:cNvPr id="35854" name="Rectangle 19">
              <a:extLst>
                <a:ext uri="{FF2B5EF4-FFF2-40B4-BE49-F238E27FC236}">
                  <a16:creationId xmlns:a16="http://schemas.microsoft.com/office/drawing/2014/main" id="{C59BFF0B-202E-04E2-5618-AEE2E5C13E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32777" name="Group 20">
            <a:extLst>
              <a:ext uri="{FF2B5EF4-FFF2-40B4-BE49-F238E27FC236}">
                <a16:creationId xmlns:a16="http://schemas.microsoft.com/office/drawing/2014/main" id="{D611125A-4BBF-9532-B72C-CCDFC39BEABC}"/>
              </a:ext>
            </a:extLst>
          </p:cNvPr>
          <p:cNvGrpSpPr>
            <a:grpSpLocks/>
          </p:cNvGrpSpPr>
          <p:nvPr/>
        </p:nvGrpSpPr>
        <p:grpSpPr bwMode="auto">
          <a:xfrm>
            <a:off x="4359275" y="2708275"/>
            <a:ext cx="571500" cy="215900"/>
            <a:chOff x="249" y="1026"/>
            <a:chExt cx="360" cy="136"/>
          </a:xfrm>
        </p:grpSpPr>
        <p:sp>
          <p:nvSpPr>
            <p:cNvPr id="35851" name="Rectangle 21">
              <a:extLst>
                <a:ext uri="{FF2B5EF4-FFF2-40B4-BE49-F238E27FC236}">
                  <a16:creationId xmlns:a16="http://schemas.microsoft.com/office/drawing/2014/main" id="{71D59FF7-003D-C964-D96F-84B3788DE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G</a:t>
              </a:r>
            </a:p>
          </p:txBody>
        </p:sp>
        <p:sp>
          <p:nvSpPr>
            <p:cNvPr id="35852" name="Rectangle 22">
              <a:extLst>
                <a:ext uri="{FF2B5EF4-FFF2-40B4-BE49-F238E27FC236}">
                  <a16:creationId xmlns:a16="http://schemas.microsoft.com/office/drawing/2014/main" id="{F8AF557E-1FBE-D343-13E1-466B9B771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3</a:t>
              </a:r>
            </a:p>
          </p:txBody>
        </p:sp>
      </p:grpSp>
      <p:sp>
        <p:nvSpPr>
          <p:cNvPr id="35850" name="Rectangle 2">
            <a:extLst>
              <a:ext uri="{FF2B5EF4-FFF2-40B4-BE49-F238E27FC236}">
                <a16:creationId xmlns:a16="http://schemas.microsoft.com/office/drawing/2014/main" id="{FBE7B5A0-50E6-0068-FB18-88C51FB44D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Ch4 </a:t>
            </a:r>
            <a:r>
              <a:rPr lang="zh-CN" altLang="en-US" b="1">
                <a:latin typeface="宋体" panose="02010600030101010101" pitchFamily="2" charset="-122"/>
              </a:rPr>
              <a:t>介质访问控制子层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ext Box 2">
            <a:extLst>
              <a:ext uri="{FF2B5EF4-FFF2-40B4-BE49-F238E27FC236}">
                <a16:creationId xmlns:a16="http://schemas.microsoft.com/office/drawing/2014/main" id="{4C4C4954-08B0-5DCC-3CDA-14E6E41D7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" y="2598738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34818" name="Text Box 3">
            <a:extLst>
              <a:ext uri="{FF2B5EF4-FFF2-40B4-BE49-F238E27FC236}">
                <a16:creationId xmlns:a16="http://schemas.microsoft.com/office/drawing/2014/main" id="{FF9D53BA-5A01-7E90-E55E-33383CDA7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589588"/>
            <a:ext cx="7345363" cy="77946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1800" b="1" dirty="0">
                <a:latin typeface="宋体" panose="02010600030101010101" pitchFamily="2" charset="-122"/>
              </a:rPr>
              <a:t>（</a:t>
            </a:r>
            <a:r>
              <a:rPr lang="en-US" altLang="zh-CN" sz="1800" b="1" dirty="0">
                <a:latin typeface="宋体" panose="02010600030101010101" pitchFamily="2" charset="-122"/>
              </a:rPr>
              <a:t>e</a:t>
            </a:r>
            <a:r>
              <a:rPr lang="zh-CN" altLang="en-US" sz="1800" b="1" dirty="0">
                <a:latin typeface="宋体" panose="02010600030101010101" pitchFamily="2" charset="-122"/>
              </a:rPr>
              <a:t>）</a:t>
            </a:r>
            <a:r>
              <a:rPr lang="en-US" altLang="zh-CN" sz="1800" b="1" dirty="0">
                <a:solidFill>
                  <a:schemeClr val="hlink"/>
                </a:solidFill>
                <a:latin typeface="宋体" panose="02010600030101010101" pitchFamily="2" charset="-122"/>
              </a:rPr>
              <a:t>D</a:t>
            </a:r>
            <a:r>
              <a:rPr lang="zh-CN" altLang="en-US" sz="1800" b="1" dirty="0">
                <a:solidFill>
                  <a:schemeClr val="hlink"/>
                </a:solidFill>
                <a:latin typeface="宋体" panose="02010600030101010101" pitchFamily="2" charset="-122"/>
              </a:rPr>
              <a:t>发送一个帧给</a:t>
            </a:r>
            <a:r>
              <a:rPr lang="en-US" altLang="zh-CN" sz="1800" b="1" dirty="0">
                <a:solidFill>
                  <a:schemeClr val="hlink"/>
                </a:solidFill>
                <a:latin typeface="宋体" panose="02010600030101010101" pitchFamily="2" charset="-122"/>
              </a:rPr>
              <a:t>A</a:t>
            </a:r>
            <a:r>
              <a:rPr lang="zh-CN" altLang="en-US" sz="1800" b="1" dirty="0">
                <a:solidFill>
                  <a:schemeClr val="hlink"/>
                </a:solidFill>
                <a:latin typeface="宋体" panose="02010600030101010101" pitchFamily="2" charset="-122"/>
              </a:rPr>
              <a:t>后</a:t>
            </a:r>
            <a:r>
              <a:rPr lang="zh-CN" altLang="en-US" sz="1800" b="1" dirty="0">
                <a:latin typeface="宋体" panose="02010600030101010101" pitchFamily="2" charset="-122"/>
              </a:rPr>
              <a:t>，网桥</a:t>
            </a:r>
            <a:r>
              <a:rPr lang="en-US" altLang="zh-CN" sz="1800" b="1" dirty="0">
                <a:latin typeface="宋体" panose="02010600030101010101" pitchFamily="2" charset="-122"/>
              </a:rPr>
              <a:t>B1</a:t>
            </a:r>
            <a:r>
              <a:rPr lang="zh-CN" altLang="en-US" sz="1800" b="1" dirty="0">
                <a:latin typeface="宋体" panose="02010600030101010101" pitchFamily="2" charset="-122"/>
              </a:rPr>
              <a:t>和</a:t>
            </a:r>
            <a:r>
              <a:rPr lang="en-US" altLang="zh-CN" sz="1800" b="1" dirty="0">
                <a:latin typeface="宋体" panose="02010600030101010101" pitchFamily="2" charset="-122"/>
              </a:rPr>
              <a:t>B2</a:t>
            </a:r>
            <a:r>
              <a:rPr lang="zh-CN" altLang="en-US" sz="1800" b="1" dirty="0">
                <a:latin typeface="宋体" panose="02010600030101010101" pitchFamily="2" charset="-122"/>
              </a:rPr>
              <a:t>的哈希表变化情况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sz="1800" b="1" dirty="0">
                <a:latin typeface="宋体" panose="02010600030101010101" pitchFamily="2" charset="-122"/>
              </a:rPr>
              <a:t>  </a:t>
            </a:r>
            <a:r>
              <a:rPr lang="en-US" altLang="zh-CN" sz="1800" b="1" dirty="0">
                <a:latin typeface="宋体" panose="02010600030101010101" pitchFamily="2" charset="-122"/>
              </a:rPr>
              <a:t>B2</a:t>
            </a:r>
            <a:r>
              <a:rPr lang="zh-CN" altLang="en-US" sz="1800" b="1" dirty="0">
                <a:latin typeface="宋体" panose="02010600030101010101" pitchFamily="2" charset="-122"/>
              </a:rPr>
              <a:t>向端口</a:t>
            </a:r>
            <a:r>
              <a:rPr lang="en-US" altLang="zh-CN" sz="1800" b="1" dirty="0">
                <a:latin typeface="宋体" panose="02010600030101010101" pitchFamily="2" charset="-122"/>
              </a:rPr>
              <a:t>4</a:t>
            </a:r>
            <a:r>
              <a:rPr lang="zh-CN" altLang="en-US" sz="1800" b="1" dirty="0">
                <a:latin typeface="宋体" panose="02010600030101010101" pitchFamily="2" charset="-122"/>
              </a:rPr>
              <a:t>转发该帧， </a:t>
            </a:r>
            <a:r>
              <a:rPr lang="en-US" altLang="zh-CN" sz="1800" b="1" dirty="0">
                <a:latin typeface="宋体" panose="02010600030101010101" pitchFamily="2" charset="-122"/>
              </a:rPr>
              <a:t>B1</a:t>
            </a:r>
            <a:r>
              <a:rPr lang="zh-CN" altLang="en-US" sz="1800" b="1" dirty="0"/>
              <a:t>向</a:t>
            </a:r>
            <a:r>
              <a:rPr lang="zh-CN" altLang="en-US" sz="1800" b="1" dirty="0">
                <a:latin typeface="+mj-ea"/>
                <a:ea typeface="+mj-ea"/>
              </a:rPr>
              <a:t>端口</a:t>
            </a:r>
            <a:r>
              <a:rPr lang="en-US" altLang="zh-CN" sz="1800" b="1" dirty="0">
                <a:latin typeface="+mj-ea"/>
                <a:ea typeface="+mj-ea"/>
              </a:rPr>
              <a:t>1</a:t>
            </a:r>
            <a:r>
              <a:rPr lang="zh-CN" altLang="en-US" sz="1800" b="1" dirty="0">
                <a:latin typeface="+mj-ea"/>
                <a:ea typeface="+mj-ea"/>
              </a:rPr>
              <a:t>转</a:t>
            </a:r>
            <a:r>
              <a:rPr lang="zh-CN" altLang="en-US" sz="1800" b="1" dirty="0"/>
              <a:t>发该帧</a:t>
            </a:r>
          </a:p>
        </p:txBody>
      </p:sp>
      <p:pic>
        <p:nvPicPr>
          <p:cNvPr id="37891" name="Picture 4">
            <a:extLst>
              <a:ext uri="{FF2B5EF4-FFF2-40B4-BE49-F238E27FC236}">
                <a16:creationId xmlns:a16="http://schemas.microsoft.com/office/drawing/2014/main" id="{7C7BAE59-3754-62C1-A74F-986EC77CD9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349500"/>
            <a:ext cx="6789737" cy="297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7892" name="Group 5">
            <a:extLst>
              <a:ext uri="{FF2B5EF4-FFF2-40B4-BE49-F238E27FC236}">
                <a16:creationId xmlns:a16="http://schemas.microsoft.com/office/drawing/2014/main" id="{9150007E-68C2-D732-E8FA-E6E9EDD57ABB}"/>
              </a:ext>
            </a:extLst>
          </p:cNvPr>
          <p:cNvGrpSpPr>
            <a:grpSpLocks/>
          </p:cNvGrpSpPr>
          <p:nvPr/>
        </p:nvGrpSpPr>
        <p:grpSpPr bwMode="auto">
          <a:xfrm>
            <a:off x="2487613" y="1989138"/>
            <a:ext cx="571500" cy="215900"/>
            <a:chOff x="249" y="1026"/>
            <a:chExt cx="360" cy="136"/>
          </a:xfrm>
        </p:grpSpPr>
        <p:sp>
          <p:nvSpPr>
            <p:cNvPr id="37915" name="Rectangle 6">
              <a:extLst>
                <a:ext uri="{FF2B5EF4-FFF2-40B4-BE49-F238E27FC236}">
                  <a16:creationId xmlns:a16="http://schemas.microsoft.com/office/drawing/2014/main" id="{D3E2E5FB-8AAB-5A3A-096D-9C96A7636F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37916" name="Rectangle 7">
              <a:extLst>
                <a:ext uri="{FF2B5EF4-FFF2-40B4-BE49-F238E27FC236}">
                  <a16:creationId xmlns:a16="http://schemas.microsoft.com/office/drawing/2014/main" id="{F0BC9B56-25DE-2BA3-D6A6-9236B4DF9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37893" name="Group 8">
            <a:extLst>
              <a:ext uri="{FF2B5EF4-FFF2-40B4-BE49-F238E27FC236}">
                <a16:creationId xmlns:a16="http://schemas.microsoft.com/office/drawing/2014/main" id="{8E968E0A-F2FF-77D7-F4CD-96DBB157714F}"/>
              </a:ext>
            </a:extLst>
          </p:cNvPr>
          <p:cNvGrpSpPr>
            <a:grpSpLocks/>
          </p:cNvGrpSpPr>
          <p:nvPr/>
        </p:nvGrpSpPr>
        <p:grpSpPr bwMode="auto">
          <a:xfrm>
            <a:off x="4432300" y="1989138"/>
            <a:ext cx="571500" cy="215900"/>
            <a:chOff x="249" y="1026"/>
            <a:chExt cx="360" cy="136"/>
          </a:xfrm>
        </p:grpSpPr>
        <p:sp>
          <p:nvSpPr>
            <p:cNvPr id="37913" name="Rectangle 9">
              <a:extLst>
                <a:ext uri="{FF2B5EF4-FFF2-40B4-BE49-F238E27FC236}">
                  <a16:creationId xmlns:a16="http://schemas.microsoft.com/office/drawing/2014/main" id="{164674DB-AB1D-0A17-6E9B-BA7BF6B3C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37914" name="Rectangle 10">
              <a:extLst>
                <a:ext uri="{FF2B5EF4-FFF2-40B4-BE49-F238E27FC236}">
                  <a16:creationId xmlns:a16="http://schemas.microsoft.com/office/drawing/2014/main" id="{DB0905C8-F16C-5493-ECA2-3EAB9BBDE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37894" name="Group 11">
            <a:extLst>
              <a:ext uri="{FF2B5EF4-FFF2-40B4-BE49-F238E27FC236}">
                <a16:creationId xmlns:a16="http://schemas.microsoft.com/office/drawing/2014/main" id="{641C8B66-D998-FB73-D9C7-421FB976B17B}"/>
              </a:ext>
            </a:extLst>
          </p:cNvPr>
          <p:cNvGrpSpPr>
            <a:grpSpLocks/>
          </p:cNvGrpSpPr>
          <p:nvPr/>
        </p:nvGrpSpPr>
        <p:grpSpPr bwMode="auto">
          <a:xfrm>
            <a:off x="4424363" y="2205038"/>
            <a:ext cx="571500" cy="215900"/>
            <a:chOff x="249" y="1026"/>
            <a:chExt cx="360" cy="136"/>
          </a:xfrm>
        </p:grpSpPr>
        <p:sp>
          <p:nvSpPr>
            <p:cNvPr id="37911" name="Rectangle 12">
              <a:extLst>
                <a:ext uri="{FF2B5EF4-FFF2-40B4-BE49-F238E27FC236}">
                  <a16:creationId xmlns:a16="http://schemas.microsoft.com/office/drawing/2014/main" id="{659CDE0A-3238-1BB3-0C96-FC71A7AFB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E</a:t>
              </a:r>
            </a:p>
          </p:txBody>
        </p:sp>
        <p:sp>
          <p:nvSpPr>
            <p:cNvPr id="37912" name="Rectangle 13">
              <a:extLst>
                <a:ext uri="{FF2B5EF4-FFF2-40B4-BE49-F238E27FC236}">
                  <a16:creationId xmlns:a16="http://schemas.microsoft.com/office/drawing/2014/main" id="{5F7C7EF9-C9B9-8E61-6625-930C56804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37895" name="Group 14">
            <a:extLst>
              <a:ext uri="{FF2B5EF4-FFF2-40B4-BE49-F238E27FC236}">
                <a16:creationId xmlns:a16="http://schemas.microsoft.com/office/drawing/2014/main" id="{96762D60-3A70-B894-BCB6-926929C60C59}"/>
              </a:ext>
            </a:extLst>
          </p:cNvPr>
          <p:cNvGrpSpPr>
            <a:grpSpLocks/>
          </p:cNvGrpSpPr>
          <p:nvPr/>
        </p:nvGrpSpPr>
        <p:grpSpPr bwMode="auto">
          <a:xfrm>
            <a:off x="2487613" y="2205038"/>
            <a:ext cx="571500" cy="215900"/>
            <a:chOff x="249" y="1026"/>
            <a:chExt cx="360" cy="136"/>
          </a:xfrm>
        </p:grpSpPr>
        <p:sp>
          <p:nvSpPr>
            <p:cNvPr id="37909" name="Rectangle 15">
              <a:extLst>
                <a:ext uri="{FF2B5EF4-FFF2-40B4-BE49-F238E27FC236}">
                  <a16:creationId xmlns:a16="http://schemas.microsoft.com/office/drawing/2014/main" id="{4A128017-6906-A8FF-736B-FB5FB7FFF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E</a:t>
              </a:r>
            </a:p>
          </p:txBody>
        </p:sp>
        <p:sp>
          <p:nvSpPr>
            <p:cNvPr id="37910" name="Rectangle 16">
              <a:extLst>
                <a:ext uri="{FF2B5EF4-FFF2-40B4-BE49-F238E27FC236}">
                  <a16:creationId xmlns:a16="http://schemas.microsoft.com/office/drawing/2014/main" id="{90C99462-37CA-A1A7-F566-118D21A61E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37896" name="Group 17">
            <a:extLst>
              <a:ext uri="{FF2B5EF4-FFF2-40B4-BE49-F238E27FC236}">
                <a16:creationId xmlns:a16="http://schemas.microsoft.com/office/drawing/2014/main" id="{E47D2793-7B67-C6D3-07ED-2F2C6C70407B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2420938"/>
            <a:ext cx="571500" cy="215900"/>
            <a:chOff x="249" y="1026"/>
            <a:chExt cx="360" cy="136"/>
          </a:xfrm>
        </p:grpSpPr>
        <p:sp>
          <p:nvSpPr>
            <p:cNvPr id="37907" name="Rectangle 18">
              <a:extLst>
                <a:ext uri="{FF2B5EF4-FFF2-40B4-BE49-F238E27FC236}">
                  <a16:creationId xmlns:a16="http://schemas.microsoft.com/office/drawing/2014/main" id="{E06E5F19-C5C9-EF2D-9F9A-48453424F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F</a:t>
              </a:r>
            </a:p>
          </p:txBody>
        </p:sp>
        <p:sp>
          <p:nvSpPr>
            <p:cNvPr id="37908" name="Rectangle 19">
              <a:extLst>
                <a:ext uri="{FF2B5EF4-FFF2-40B4-BE49-F238E27FC236}">
                  <a16:creationId xmlns:a16="http://schemas.microsoft.com/office/drawing/2014/main" id="{B195CC93-081E-B3E3-51E9-CE7DC071DF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37897" name="Group 20">
            <a:extLst>
              <a:ext uri="{FF2B5EF4-FFF2-40B4-BE49-F238E27FC236}">
                <a16:creationId xmlns:a16="http://schemas.microsoft.com/office/drawing/2014/main" id="{1A47C714-9D47-F300-2830-02AB81636B9B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2636838"/>
            <a:ext cx="571500" cy="215900"/>
            <a:chOff x="249" y="1026"/>
            <a:chExt cx="360" cy="136"/>
          </a:xfrm>
        </p:grpSpPr>
        <p:sp>
          <p:nvSpPr>
            <p:cNvPr id="37905" name="Rectangle 21">
              <a:extLst>
                <a:ext uri="{FF2B5EF4-FFF2-40B4-BE49-F238E27FC236}">
                  <a16:creationId xmlns:a16="http://schemas.microsoft.com/office/drawing/2014/main" id="{947BCD54-9788-206D-8122-A548F1DAB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G</a:t>
              </a:r>
            </a:p>
          </p:txBody>
        </p:sp>
        <p:sp>
          <p:nvSpPr>
            <p:cNvPr id="37906" name="Rectangle 22">
              <a:extLst>
                <a:ext uri="{FF2B5EF4-FFF2-40B4-BE49-F238E27FC236}">
                  <a16:creationId xmlns:a16="http://schemas.microsoft.com/office/drawing/2014/main" id="{70CAF8F9-ECA1-444C-18A7-7275C1F1B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34826" name="Group 23">
            <a:extLst>
              <a:ext uri="{FF2B5EF4-FFF2-40B4-BE49-F238E27FC236}">
                <a16:creationId xmlns:a16="http://schemas.microsoft.com/office/drawing/2014/main" id="{D60EFE9E-05A4-1EA0-AE38-21BEA5B47E54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2852738"/>
            <a:ext cx="571500" cy="215900"/>
            <a:chOff x="249" y="1026"/>
            <a:chExt cx="360" cy="136"/>
          </a:xfrm>
        </p:grpSpPr>
        <p:sp>
          <p:nvSpPr>
            <p:cNvPr id="37903" name="Rectangle 24">
              <a:extLst>
                <a:ext uri="{FF2B5EF4-FFF2-40B4-BE49-F238E27FC236}">
                  <a16:creationId xmlns:a16="http://schemas.microsoft.com/office/drawing/2014/main" id="{2395ADE0-7520-EF41-5458-862F2BAC0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D</a:t>
              </a:r>
            </a:p>
          </p:txBody>
        </p:sp>
        <p:sp>
          <p:nvSpPr>
            <p:cNvPr id="37904" name="Rectangle 25">
              <a:extLst>
                <a:ext uri="{FF2B5EF4-FFF2-40B4-BE49-F238E27FC236}">
                  <a16:creationId xmlns:a16="http://schemas.microsoft.com/office/drawing/2014/main" id="{9B2714F2-70D9-B403-7321-E1678418B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34827" name="Group 26">
            <a:extLst>
              <a:ext uri="{FF2B5EF4-FFF2-40B4-BE49-F238E27FC236}">
                <a16:creationId xmlns:a16="http://schemas.microsoft.com/office/drawing/2014/main" id="{B5C5D9C1-4D13-B776-77C0-266CBDCA440A}"/>
              </a:ext>
            </a:extLst>
          </p:cNvPr>
          <p:cNvGrpSpPr>
            <a:grpSpLocks/>
          </p:cNvGrpSpPr>
          <p:nvPr/>
        </p:nvGrpSpPr>
        <p:grpSpPr bwMode="auto">
          <a:xfrm>
            <a:off x="2484438" y="2420938"/>
            <a:ext cx="571500" cy="215900"/>
            <a:chOff x="249" y="1026"/>
            <a:chExt cx="360" cy="136"/>
          </a:xfrm>
        </p:grpSpPr>
        <p:sp>
          <p:nvSpPr>
            <p:cNvPr id="37901" name="Rectangle 27">
              <a:extLst>
                <a:ext uri="{FF2B5EF4-FFF2-40B4-BE49-F238E27FC236}">
                  <a16:creationId xmlns:a16="http://schemas.microsoft.com/office/drawing/2014/main" id="{67F42447-C4D4-F53C-808D-3CC7C13E8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D</a:t>
              </a:r>
            </a:p>
          </p:txBody>
        </p:sp>
        <p:sp>
          <p:nvSpPr>
            <p:cNvPr id="37902" name="Rectangle 28">
              <a:extLst>
                <a:ext uri="{FF2B5EF4-FFF2-40B4-BE49-F238E27FC236}">
                  <a16:creationId xmlns:a16="http://schemas.microsoft.com/office/drawing/2014/main" id="{A05D52E8-1AC7-F430-0164-125A2B069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4</a:t>
              </a:r>
            </a:p>
          </p:txBody>
        </p:sp>
      </p:grpSp>
      <p:sp>
        <p:nvSpPr>
          <p:cNvPr id="37900" name="Rectangle 2">
            <a:extLst>
              <a:ext uri="{FF2B5EF4-FFF2-40B4-BE49-F238E27FC236}">
                <a16:creationId xmlns:a16="http://schemas.microsoft.com/office/drawing/2014/main" id="{DAFF4A8C-7297-9D4E-04E3-3EC194EF19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Ch4 </a:t>
            </a:r>
            <a:r>
              <a:rPr lang="zh-CN" altLang="en-US" b="1">
                <a:latin typeface="宋体" panose="02010600030101010101" pitchFamily="2" charset="-122"/>
              </a:rPr>
              <a:t>介质访问控制子层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ext Box 2">
            <a:extLst>
              <a:ext uri="{FF2B5EF4-FFF2-40B4-BE49-F238E27FC236}">
                <a16:creationId xmlns:a16="http://schemas.microsoft.com/office/drawing/2014/main" id="{900E5763-DA14-5EF7-284B-8DCEAC806C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8750" y="2598738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zh-CN" altLang="zh-CN" sz="1800"/>
          </a:p>
        </p:txBody>
      </p:sp>
      <p:sp>
        <p:nvSpPr>
          <p:cNvPr id="39938" name="Text Box 3">
            <a:extLst>
              <a:ext uri="{FF2B5EF4-FFF2-40B4-BE49-F238E27FC236}">
                <a16:creationId xmlns:a16="http://schemas.microsoft.com/office/drawing/2014/main" id="{733314DB-27CF-2AA2-88BE-A12319125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589588"/>
            <a:ext cx="7345363" cy="779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>
                <a:latin typeface="宋体" panose="02010600030101010101" pitchFamily="2" charset="-122"/>
              </a:rPr>
              <a:t>（</a:t>
            </a:r>
            <a:r>
              <a:rPr lang="en-US" altLang="zh-CN" sz="1800" b="1">
                <a:latin typeface="宋体" panose="02010600030101010101" pitchFamily="2" charset="-122"/>
              </a:rPr>
              <a:t>f</a:t>
            </a:r>
            <a:r>
              <a:rPr lang="zh-CN" altLang="en-US" sz="1800" b="1">
                <a:latin typeface="宋体" panose="02010600030101010101" pitchFamily="2" charset="-122"/>
              </a:rPr>
              <a:t>）</a:t>
            </a:r>
            <a:r>
              <a:rPr lang="en-US" altLang="zh-CN" sz="1800" b="1">
                <a:solidFill>
                  <a:schemeClr val="hlink"/>
                </a:solidFill>
                <a:latin typeface="宋体" panose="02010600030101010101" pitchFamily="2" charset="-122"/>
              </a:rPr>
              <a:t>B</a:t>
            </a:r>
            <a:r>
              <a:rPr lang="zh-CN" altLang="en-US" sz="1800" b="1">
                <a:solidFill>
                  <a:schemeClr val="hlink"/>
                </a:solidFill>
                <a:latin typeface="宋体" panose="02010600030101010101" pitchFamily="2" charset="-122"/>
              </a:rPr>
              <a:t>发送一个帧给</a:t>
            </a:r>
            <a:r>
              <a:rPr lang="en-US" altLang="zh-CN" sz="1800" b="1">
                <a:solidFill>
                  <a:schemeClr val="hlink"/>
                </a:solidFill>
                <a:latin typeface="宋体" panose="02010600030101010101" pitchFamily="2" charset="-122"/>
              </a:rPr>
              <a:t>F</a:t>
            </a:r>
            <a:r>
              <a:rPr lang="zh-CN" altLang="en-US" sz="1800" b="1">
                <a:solidFill>
                  <a:schemeClr val="hlink"/>
                </a:solidFill>
                <a:latin typeface="宋体" panose="02010600030101010101" pitchFamily="2" charset="-122"/>
              </a:rPr>
              <a:t>后</a:t>
            </a:r>
            <a:r>
              <a:rPr lang="zh-CN" altLang="en-US" sz="1800" b="1">
                <a:latin typeface="宋体" panose="02010600030101010101" pitchFamily="2" charset="-122"/>
              </a:rPr>
              <a:t>，网桥</a:t>
            </a:r>
            <a:r>
              <a:rPr lang="en-US" altLang="zh-CN" sz="1800" b="1">
                <a:latin typeface="宋体" panose="02010600030101010101" pitchFamily="2" charset="-122"/>
              </a:rPr>
              <a:t>B1</a:t>
            </a:r>
            <a:r>
              <a:rPr lang="zh-CN" altLang="en-US" sz="1800" b="1">
                <a:latin typeface="宋体" panose="02010600030101010101" pitchFamily="2" charset="-122"/>
              </a:rPr>
              <a:t>和</a:t>
            </a:r>
            <a:r>
              <a:rPr lang="en-US" altLang="zh-CN" sz="1800" b="1">
                <a:latin typeface="宋体" panose="02010600030101010101" pitchFamily="2" charset="-122"/>
              </a:rPr>
              <a:t>B2</a:t>
            </a:r>
            <a:r>
              <a:rPr lang="zh-CN" altLang="en-US" sz="1800" b="1">
                <a:latin typeface="宋体" panose="02010600030101010101" pitchFamily="2" charset="-122"/>
              </a:rPr>
              <a:t>的哈希表变化情况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b="1">
                <a:latin typeface="宋体" panose="02010600030101010101" pitchFamily="2" charset="-122"/>
              </a:rPr>
              <a:t>  </a:t>
            </a:r>
            <a:r>
              <a:rPr lang="en-US" altLang="zh-CN" sz="1800" b="1">
                <a:latin typeface="宋体" panose="02010600030101010101" pitchFamily="2" charset="-122"/>
              </a:rPr>
              <a:t>B1</a:t>
            </a:r>
            <a:r>
              <a:rPr lang="zh-CN" altLang="en-US" sz="1800" b="1">
                <a:latin typeface="宋体" panose="02010600030101010101" pitchFamily="2" charset="-122"/>
              </a:rPr>
              <a:t>向端口</a:t>
            </a:r>
            <a:r>
              <a:rPr lang="en-US" altLang="zh-CN" sz="1800" b="1">
                <a:latin typeface="宋体" panose="02010600030101010101" pitchFamily="2" charset="-122"/>
              </a:rPr>
              <a:t>1</a:t>
            </a:r>
            <a:r>
              <a:rPr lang="zh-CN" altLang="en-US" sz="1800" b="1">
                <a:latin typeface="宋体" panose="02010600030101010101" pitchFamily="2" charset="-122"/>
              </a:rPr>
              <a:t>，</a:t>
            </a:r>
            <a:r>
              <a:rPr lang="en-US" altLang="zh-CN" sz="1800" b="1">
                <a:latin typeface="宋体" panose="02010600030101010101" pitchFamily="2" charset="-122"/>
              </a:rPr>
              <a:t>3</a:t>
            </a:r>
            <a:r>
              <a:rPr lang="zh-CN" altLang="en-US" sz="1800" b="1">
                <a:latin typeface="宋体" panose="02010600030101010101" pitchFamily="2" charset="-122"/>
              </a:rPr>
              <a:t>和</a:t>
            </a:r>
            <a:r>
              <a:rPr lang="en-US" altLang="zh-CN" sz="1800" b="1">
                <a:latin typeface="宋体" panose="02010600030101010101" pitchFamily="2" charset="-122"/>
              </a:rPr>
              <a:t>4</a:t>
            </a:r>
            <a:r>
              <a:rPr lang="zh-CN" altLang="en-US" sz="1800" b="1">
                <a:latin typeface="宋体" panose="02010600030101010101" pitchFamily="2" charset="-122"/>
              </a:rPr>
              <a:t>转发该帧， </a:t>
            </a:r>
            <a:r>
              <a:rPr lang="en-US" altLang="zh-CN" sz="1800" b="1">
                <a:latin typeface="宋体" panose="02010600030101010101" pitchFamily="2" charset="-122"/>
              </a:rPr>
              <a:t>B2</a:t>
            </a:r>
            <a:r>
              <a:rPr lang="zh-CN" altLang="en-US" sz="1800" b="1"/>
              <a:t>向</a:t>
            </a:r>
            <a:r>
              <a:rPr lang="zh-CN" altLang="en-US" sz="1800" b="1">
                <a:latin typeface="宋体" panose="02010600030101010101" pitchFamily="2" charset="-122"/>
              </a:rPr>
              <a:t>端口</a:t>
            </a:r>
            <a:r>
              <a:rPr lang="en-US" altLang="zh-CN" sz="1800" b="1">
                <a:latin typeface="宋体" panose="02010600030101010101" pitchFamily="2" charset="-122"/>
              </a:rPr>
              <a:t>2</a:t>
            </a:r>
            <a:r>
              <a:rPr lang="zh-CN" altLang="en-US" sz="1800" b="1">
                <a:latin typeface="宋体" panose="02010600030101010101" pitchFamily="2" charset="-122"/>
              </a:rPr>
              <a:t>转发该帧</a:t>
            </a:r>
          </a:p>
        </p:txBody>
      </p:sp>
      <p:pic>
        <p:nvPicPr>
          <p:cNvPr id="39939" name="Picture 4">
            <a:extLst>
              <a:ext uri="{FF2B5EF4-FFF2-40B4-BE49-F238E27FC236}">
                <a16:creationId xmlns:a16="http://schemas.microsoft.com/office/drawing/2014/main" id="{12943BE2-794C-D339-909E-EA9FD6D96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2276475"/>
            <a:ext cx="6789737" cy="297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9940" name="Group 5">
            <a:extLst>
              <a:ext uri="{FF2B5EF4-FFF2-40B4-BE49-F238E27FC236}">
                <a16:creationId xmlns:a16="http://schemas.microsoft.com/office/drawing/2014/main" id="{3956C127-1A4A-2637-8E9C-66FD6B7EB460}"/>
              </a:ext>
            </a:extLst>
          </p:cNvPr>
          <p:cNvGrpSpPr>
            <a:grpSpLocks/>
          </p:cNvGrpSpPr>
          <p:nvPr/>
        </p:nvGrpSpPr>
        <p:grpSpPr bwMode="auto">
          <a:xfrm>
            <a:off x="2632075" y="1916113"/>
            <a:ext cx="571500" cy="215900"/>
            <a:chOff x="249" y="1026"/>
            <a:chExt cx="360" cy="136"/>
          </a:xfrm>
        </p:grpSpPr>
        <p:sp>
          <p:nvSpPr>
            <p:cNvPr id="39969" name="Rectangle 6">
              <a:extLst>
                <a:ext uri="{FF2B5EF4-FFF2-40B4-BE49-F238E27FC236}">
                  <a16:creationId xmlns:a16="http://schemas.microsoft.com/office/drawing/2014/main" id="{890B2CE1-356B-9C73-5157-AE05AFB24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39970" name="Rectangle 7">
              <a:extLst>
                <a:ext uri="{FF2B5EF4-FFF2-40B4-BE49-F238E27FC236}">
                  <a16:creationId xmlns:a16="http://schemas.microsoft.com/office/drawing/2014/main" id="{030DC921-AE81-BF43-A4C6-AF6CE2FB37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39941" name="Group 8">
            <a:extLst>
              <a:ext uri="{FF2B5EF4-FFF2-40B4-BE49-F238E27FC236}">
                <a16:creationId xmlns:a16="http://schemas.microsoft.com/office/drawing/2014/main" id="{347FC0D2-8DDA-69DA-D6C8-5FA3FCD099CC}"/>
              </a:ext>
            </a:extLst>
          </p:cNvPr>
          <p:cNvGrpSpPr>
            <a:grpSpLocks/>
          </p:cNvGrpSpPr>
          <p:nvPr/>
        </p:nvGrpSpPr>
        <p:grpSpPr bwMode="auto">
          <a:xfrm>
            <a:off x="4432300" y="1916113"/>
            <a:ext cx="571500" cy="215900"/>
            <a:chOff x="249" y="1026"/>
            <a:chExt cx="360" cy="136"/>
          </a:xfrm>
        </p:grpSpPr>
        <p:sp>
          <p:nvSpPr>
            <p:cNvPr id="39967" name="Rectangle 9">
              <a:extLst>
                <a:ext uri="{FF2B5EF4-FFF2-40B4-BE49-F238E27FC236}">
                  <a16:creationId xmlns:a16="http://schemas.microsoft.com/office/drawing/2014/main" id="{A4575F65-F0D8-9E83-D4EF-5A5B99E84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A</a:t>
              </a:r>
            </a:p>
          </p:txBody>
        </p:sp>
        <p:sp>
          <p:nvSpPr>
            <p:cNvPr id="39968" name="Rectangle 10">
              <a:extLst>
                <a:ext uri="{FF2B5EF4-FFF2-40B4-BE49-F238E27FC236}">
                  <a16:creationId xmlns:a16="http://schemas.microsoft.com/office/drawing/2014/main" id="{541B517C-9880-2E65-AC9A-F0DF8B9B5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39942" name="Group 11">
            <a:extLst>
              <a:ext uri="{FF2B5EF4-FFF2-40B4-BE49-F238E27FC236}">
                <a16:creationId xmlns:a16="http://schemas.microsoft.com/office/drawing/2014/main" id="{977F6815-1709-E925-375A-CEB01BD302B2}"/>
              </a:ext>
            </a:extLst>
          </p:cNvPr>
          <p:cNvGrpSpPr>
            <a:grpSpLocks/>
          </p:cNvGrpSpPr>
          <p:nvPr/>
        </p:nvGrpSpPr>
        <p:grpSpPr bwMode="auto">
          <a:xfrm>
            <a:off x="4424363" y="2132013"/>
            <a:ext cx="571500" cy="215900"/>
            <a:chOff x="249" y="1026"/>
            <a:chExt cx="360" cy="136"/>
          </a:xfrm>
        </p:grpSpPr>
        <p:sp>
          <p:nvSpPr>
            <p:cNvPr id="39965" name="Rectangle 12">
              <a:extLst>
                <a:ext uri="{FF2B5EF4-FFF2-40B4-BE49-F238E27FC236}">
                  <a16:creationId xmlns:a16="http://schemas.microsoft.com/office/drawing/2014/main" id="{946BD31A-22E2-E0DA-7598-E605526B4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E</a:t>
              </a:r>
            </a:p>
          </p:txBody>
        </p:sp>
        <p:sp>
          <p:nvSpPr>
            <p:cNvPr id="39966" name="Rectangle 13">
              <a:extLst>
                <a:ext uri="{FF2B5EF4-FFF2-40B4-BE49-F238E27FC236}">
                  <a16:creationId xmlns:a16="http://schemas.microsoft.com/office/drawing/2014/main" id="{A69906A4-DC1F-6DB5-E95C-8D3F16671E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39943" name="Group 14">
            <a:extLst>
              <a:ext uri="{FF2B5EF4-FFF2-40B4-BE49-F238E27FC236}">
                <a16:creationId xmlns:a16="http://schemas.microsoft.com/office/drawing/2014/main" id="{748D1F2F-A550-082A-3C48-6272A4D68B12}"/>
              </a:ext>
            </a:extLst>
          </p:cNvPr>
          <p:cNvGrpSpPr>
            <a:grpSpLocks/>
          </p:cNvGrpSpPr>
          <p:nvPr/>
        </p:nvGrpSpPr>
        <p:grpSpPr bwMode="auto">
          <a:xfrm>
            <a:off x="2632075" y="2132013"/>
            <a:ext cx="571500" cy="215900"/>
            <a:chOff x="249" y="1026"/>
            <a:chExt cx="360" cy="136"/>
          </a:xfrm>
        </p:grpSpPr>
        <p:sp>
          <p:nvSpPr>
            <p:cNvPr id="39963" name="Rectangle 15">
              <a:extLst>
                <a:ext uri="{FF2B5EF4-FFF2-40B4-BE49-F238E27FC236}">
                  <a16:creationId xmlns:a16="http://schemas.microsoft.com/office/drawing/2014/main" id="{B7C36F46-C7E9-0C3E-D656-0461BFD1E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E</a:t>
              </a:r>
            </a:p>
          </p:txBody>
        </p:sp>
        <p:sp>
          <p:nvSpPr>
            <p:cNvPr id="39964" name="Rectangle 16">
              <a:extLst>
                <a:ext uri="{FF2B5EF4-FFF2-40B4-BE49-F238E27FC236}">
                  <a16:creationId xmlns:a16="http://schemas.microsoft.com/office/drawing/2014/main" id="{2D181D5D-CF51-6079-F89B-D55801630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39944" name="Group 17">
            <a:extLst>
              <a:ext uri="{FF2B5EF4-FFF2-40B4-BE49-F238E27FC236}">
                <a16:creationId xmlns:a16="http://schemas.microsoft.com/office/drawing/2014/main" id="{4459FB9B-36BC-1E54-5257-8E68AC6CAA5F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2347913"/>
            <a:ext cx="571500" cy="215900"/>
            <a:chOff x="249" y="1026"/>
            <a:chExt cx="360" cy="136"/>
          </a:xfrm>
        </p:grpSpPr>
        <p:sp>
          <p:nvSpPr>
            <p:cNvPr id="39961" name="Rectangle 18">
              <a:extLst>
                <a:ext uri="{FF2B5EF4-FFF2-40B4-BE49-F238E27FC236}">
                  <a16:creationId xmlns:a16="http://schemas.microsoft.com/office/drawing/2014/main" id="{93DFEE65-F61D-3053-B927-532CA49C9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F</a:t>
              </a:r>
            </a:p>
          </p:txBody>
        </p:sp>
        <p:sp>
          <p:nvSpPr>
            <p:cNvPr id="39962" name="Rectangle 19">
              <a:extLst>
                <a:ext uri="{FF2B5EF4-FFF2-40B4-BE49-F238E27FC236}">
                  <a16:creationId xmlns:a16="http://schemas.microsoft.com/office/drawing/2014/main" id="{B058384B-3F26-B676-73F8-18789EE97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39945" name="Group 20">
            <a:extLst>
              <a:ext uri="{FF2B5EF4-FFF2-40B4-BE49-F238E27FC236}">
                <a16:creationId xmlns:a16="http://schemas.microsoft.com/office/drawing/2014/main" id="{09727012-DBA8-6C87-6EE9-4D2456E22420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2563813"/>
            <a:ext cx="571500" cy="215900"/>
            <a:chOff x="249" y="1026"/>
            <a:chExt cx="360" cy="136"/>
          </a:xfrm>
        </p:grpSpPr>
        <p:sp>
          <p:nvSpPr>
            <p:cNvPr id="39959" name="Rectangle 21">
              <a:extLst>
                <a:ext uri="{FF2B5EF4-FFF2-40B4-BE49-F238E27FC236}">
                  <a16:creationId xmlns:a16="http://schemas.microsoft.com/office/drawing/2014/main" id="{E4F477D9-651F-A672-62E3-16D199F46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G</a:t>
              </a:r>
            </a:p>
          </p:txBody>
        </p:sp>
        <p:sp>
          <p:nvSpPr>
            <p:cNvPr id="39960" name="Rectangle 22">
              <a:extLst>
                <a:ext uri="{FF2B5EF4-FFF2-40B4-BE49-F238E27FC236}">
                  <a16:creationId xmlns:a16="http://schemas.microsoft.com/office/drawing/2014/main" id="{E9809703-E90D-91EB-FAA1-74EC687F1C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3</a:t>
              </a:r>
            </a:p>
          </p:txBody>
        </p:sp>
      </p:grpSp>
      <p:grpSp>
        <p:nvGrpSpPr>
          <p:cNvPr id="39946" name="Group 23">
            <a:extLst>
              <a:ext uri="{FF2B5EF4-FFF2-40B4-BE49-F238E27FC236}">
                <a16:creationId xmlns:a16="http://schemas.microsoft.com/office/drawing/2014/main" id="{BC14F9F1-DAE0-F394-315E-68E61DCD3189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2779713"/>
            <a:ext cx="571500" cy="215900"/>
            <a:chOff x="249" y="1026"/>
            <a:chExt cx="360" cy="136"/>
          </a:xfrm>
        </p:grpSpPr>
        <p:sp>
          <p:nvSpPr>
            <p:cNvPr id="39957" name="Rectangle 24">
              <a:extLst>
                <a:ext uri="{FF2B5EF4-FFF2-40B4-BE49-F238E27FC236}">
                  <a16:creationId xmlns:a16="http://schemas.microsoft.com/office/drawing/2014/main" id="{173F266F-2749-1E0A-597C-1963D6287D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D</a:t>
              </a:r>
            </a:p>
          </p:txBody>
        </p:sp>
        <p:sp>
          <p:nvSpPr>
            <p:cNvPr id="39958" name="Rectangle 25">
              <a:extLst>
                <a:ext uri="{FF2B5EF4-FFF2-40B4-BE49-F238E27FC236}">
                  <a16:creationId xmlns:a16="http://schemas.microsoft.com/office/drawing/2014/main" id="{2116585C-E3B8-7500-BA76-5EF0A4EA8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1</a:t>
              </a:r>
            </a:p>
          </p:txBody>
        </p:sp>
      </p:grpSp>
      <p:grpSp>
        <p:nvGrpSpPr>
          <p:cNvPr id="39947" name="Group 26">
            <a:extLst>
              <a:ext uri="{FF2B5EF4-FFF2-40B4-BE49-F238E27FC236}">
                <a16:creationId xmlns:a16="http://schemas.microsoft.com/office/drawing/2014/main" id="{DA1C8670-0166-F62A-173D-A1F736EA0E71}"/>
              </a:ext>
            </a:extLst>
          </p:cNvPr>
          <p:cNvGrpSpPr>
            <a:grpSpLocks/>
          </p:cNvGrpSpPr>
          <p:nvPr/>
        </p:nvGrpSpPr>
        <p:grpSpPr bwMode="auto">
          <a:xfrm>
            <a:off x="2628900" y="2347913"/>
            <a:ext cx="571500" cy="215900"/>
            <a:chOff x="249" y="1026"/>
            <a:chExt cx="360" cy="136"/>
          </a:xfrm>
        </p:grpSpPr>
        <p:sp>
          <p:nvSpPr>
            <p:cNvPr id="39955" name="Rectangle 27">
              <a:extLst>
                <a:ext uri="{FF2B5EF4-FFF2-40B4-BE49-F238E27FC236}">
                  <a16:creationId xmlns:a16="http://schemas.microsoft.com/office/drawing/2014/main" id="{FFB37FF4-2BA9-3221-37E8-E61CB2E48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D</a:t>
              </a:r>
            </a:p>
          </p:txBody>
        </p:sp>
        <p:sp>
          <p:nvSpPr>
            <p:cNvPr id="39956" name="Rectangle 28">
              <a:extLst>
                <a:ext uri="{FF2B5EF4-FFF2-40B4-BE49-F238E27FC236}">
                  <a16:creationId xmlns:a16="http://schemas.microsoft.com/office/drawing/2014/main" id="{E16DC642-84B9-8ED5-6472-E2BB4740A1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4</a:t>
              </a:r>
            </a:p>
          </p:txBody>
        </p:sp>
      </p:grpSp>
      <p:grpSp>
        <p:nvGrpSpPr>
          <p:cNvPr id="36876" name="Group 29">
            <a:extLst>
              <a:ext uri="{FF2B5EF4-FFF2-40B4-BE49-F238E27FC236}">
                <a16:creationId xmlns:a16="http://schemas.microsoft.com/office/drawing/2014/main" id="{A1661793-3C8E-0016-6069-FD633DB0CB96}"/>
              </a:ext>
            </a:extLst>
          </p:cNvPr>
          <p:cNvGrpSpPr>
            <a:grpSpLocks/>
          </p:cNvGrpSpPr>
          <p:nvPr/>
        </p:nvGrpSpPr>
        <p:grpSpPr bwMode="auto">
          <a:xfrm>
            <a:off x="2628900" y="2563813"/>
            <a:ext cx="571500" cy="215900"/>
            <a:chOff x="249" y="1026"/>
            <a:chExt cx="360" cy="136"/>
          </a:xfrm>
        </p:grpSpPr>
        <p:sp>
          <p:nvSpPr>
            <p:cNvPr id="39953" name="Rectangle 30">
              <a:extLst>
                <a:ext uri="{FF2B5EF4-FFF2-40B4-BE49-F238E27FC236}">
                  <a16:creationId xmlns:a16="http://schemas.microsoft.com/office/drawing/2014/main" id="{2D093D74-7BFB-088B-9D80-AE8D615029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39954" name="Rectangle 31">
              <a:extLst>
                <a:ext uri="{FF2B5EF4-FFF2-40B4-BE49-F238E27FC236}">
                  <a16:creationId xmlns:a16="http://schemas.microsoft.com/office/drawing/2014/main" id="{9C45C652-9B63-ACF6-4C56-E37BC4602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2</a:t>
              </a:r>
            </a:p>
          </p:txBody>
        </p:sp>
      </p:grpSp>
      <p:grpSp>
        <p:nvGrpSpPr>
          <p:cNvPr id="36877" name="Group 32">
            <a:extLst>
              <a:ext uri="{FF2B5EF4-FFF2-40B4-BE49-F238E27FC236}">
                <a16:creationId xmlns:a16="http://schemas.microsoft.com/office/drawing/2014/main" id="{EADD627E-0EE5-53BA-1653-E71D9C7D25ED}"/>
              </a:ext>
            </a:extLst>
          </p:cNvPr>
          <p:cNvGrpSpPr>
            <a:grpSpLocks/>
          </p:cNvGrpSpPr>
          <p:nvPr/>
        </p:nvGrpSpPr>
        <p:grpSpPr bwMode="auto">
          <a:xfrm>
            <a:off x="4432300" y="2995613"/>
            <a:ext cx="571500" cy="215900"/>
            <a:chOff x="249" y="1026"/>
            <a:chExt cx="360" cy="136"/>
          </a:xfrm>
        </p:grpSpPr>
        <p:sp>
          <p:nvSpPr>
            <p:cNvPr id="39951" name="Rectangle 33">
              <a:extLst>
                <a:ext uri="{FF2B5EF4-FFF2-40B4-BE49-F238E27FC236}">
                  <a16:creationId xmlns:a16="http://schemas.microsoft.com/office/drawing/2014/main" id="{B97D9CAF-C871-AD7B-BB10-A4316A414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B</a:t>
              </a:r>
            </a:p>
          </p:txBody>
        </p:sp>
        <p:sp>
          <p:nvSpPr>
            <p:cNvPr id="39952" name="Rectangle 34">
              <a:extLst>
                <a:ext uri="{FF2B5EF4-FFF2-40B4-BE49-F238E27FC236}">
                  <a16:creationId xmlns:a16="http://schemas.microsoft.com/office/drawing/2014/main" id="{1EFC31C6-B1EF-89D9-A39E-36A88E18F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" y="1026"/>
              <a:ext cx="182" cy="136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 b="1">
                  <a:latin typeface="宋体" panose="02010600030101010101" pitchFamily="2" charset="-122"/>
                </a:rPr>
                <a:t>4</a:t>
              </a:r>
            </a:p>
          </p:txBody>
        </p:sp>
      </p:grpSp>
      <p:sp>
        <p:nvSpPr>
          <p:cNvPr id="39950" name="Rectangle 2">
            <a:extLst>
              <a:ext uri="{FF2B5EF4-FFF2-40B4-BE49-F238E27FC236}">
                <a16:creationId xmlns:a16="http://schemas.microsoft.com/office/drawing/2014/main" id="{75CC5870-1EC7-D2F3-FD1A-DCF279C9E2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Ch4 </a:t>
            </a:r>
            <a:r>
              <a:rPr lang="zh-CN" altLang="en-US" b="1">
                <a:latin typeface="宋体" panose="02010600030101010101" pitchFamily="2" charset="-122"/>
              </a:rPr>
              <a:t>介质访问控制子层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矩形 3">
            <a:extLst>
              <a:ext uri="{FF2B5EF4-FFF2-40B4-BE49-F238E27FC236}">
                <a16:creationId xmlns:a16="http://schemas.microsoft.com/office/drawing/2014/main" id="{ABD53DE5-5B67-FF7D-7561-27C60C999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2133600"/>
            <a:ext cx="7632700" cy="30464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>
                <a:latin typeface="+mj-ea"/>
                <a:ea typeface="+mj-ea"/>
              </a:rPr>
              <a:t>（</a:t>
            </a:r>
            <a:r>
              <a:rPr lang="en-US" altLang="zh-CN" sz="2400" b="1" dirty="0">
                <a:latin typeface="+mj-ea"/>
                <a:ea typeface="+mj-ea"/>
              </a:rPr>
              <a:t>a</a:t>
            </a:r>
            <a:r>
              <a:rPr lang="zh-CN" altLang="en-US" sz="2400" b="1" dirty="0">
                <a:latin typeface="+mj-ea"/>
                <a:ea typeface="+mj-ea"/>
              </a:rPr>
              <a:t>）</a:t>
            </a:r>
            <a:r>
              <a:rPr lang="en-US" altLang="zh-CN" sz="2400" b="1" dirty="0">
                <a:latin typeface="+mj-ea"/>
                <a:ea typeface="+mj-ea"/>
              </a:rPr>
              <a:t>B1</a:t>
            </a:r>
            <a:r>
              <a:rPr lang="zh-CN" altLang="en-US" sz="2400" b="1" dirty="0">
                <a:latin typeface="+mj-ea"/>
                <a:ea typeface="+mj-ea"/>
              </a:rPr>
              <a:t>向端口</a:t>
            </a:r>
            <a:r>
              <a:rPr lang="en-US" altLang="zh-CN" sz="2400" b="1" dirty="0">
                <a:latin typeface="+mj-ea"/>
                <a:ea typeface="+mj-ea"/>
              </a:rPr>
              <a:t>2</a:t>
            </a:r>
            <a:r>
              <a:rPr lang="zh-CN" altLang="en-US" sz="2400" b="1" dirty="0">
                <a:latin typeface="+mj-ea"/>
                <a:ea typeface="+mj-ea"/>
              </a:rPr>
              <a:t>，</a:t>
            </a:r>
            <a:r>
              <a:rPr lang="en-US" altLang="zh-CN" sz="2400" b="1" dirty="0">
                <a:latin typeface="+mj-ea"/>
                <a:ea typeface="+mj-ea"/>
              </a:rPr>
              <a:t>3</a:t>
            </a:r>
            <a:r>
              <a:rPr lang="zh-CN" altLang="en-US" sz="2400" b="1" dirty="0">
                <a:latin typeface="+mj-ea"/>
                <a:ea typeface="+mj-ea"/>
              </a:rPr>
              <a:t>和</a:t>
            </a:r>
            <a:r>
              <a:rPr lang="en-US" altLang="zh-CN" sz="2400" b="1" dirty="0">
                <a:latin typeface="+mj-ea"/>
                <a:ea typeface="+mj-ea"/>
              </a:rPr>
              <a:t>4</a:t>
            </a:r>
            <a:r>
              <a:rPr lang="zh-CN" altLang="en-US" sz="2400" b="1" dirty="0">
                <a:latin typeface="+mj-ea"/>
                <a:ea typeface="+mj-ea"/>
              </a:rPr>
              <a:t>转发该帧，</a:t>
            </a:r>
            <a:r>
              <a:rPr lang="en-US" altLang="zh-CN" sz="2400" b="1" dirty="0">
                <a:latin typeface="+mj-ea"/>
                <a:ea typeface="+mj-ea"/>
              </a:rPr>
              <a:t>B2</a:t>
            </a:r>
            <a:r>
              <a:rPr lang="zh-CN" altLang="en-US" sz="2400" b="1" dirty="0">
                <a:latin typeface="+mj-ea"/>
                <a:ea typeface="+mj-ea"/>
              </a:rPr>
              <a:t>向端口</a:t>
            </a:r>
            <a:r>
              <a:rPr lang="en-US" altLang="zh-CN" sz="2400" b="1" dirty="0">
                <a:latin typeface="+mj-ea"/>
                <a:ea typeface="+mj-ea"/>
              </a:rPr>
              <a:t>1</a:t>
            </a:r>
            <a:r>
              <a:rPr lang="zh-CN" altLang="en-US" sz="2400" b="1" dirty="0">
                <a:latin typeface="+mj-ea"/>
                <a:ea typeface="+mj-ea"/>
              </a:rPr>
              <a:t>，</a:t>
            </a:r>
            <a:r>
              <a:rPr lang="en-US" altLang="zh-CN" sz="2400" b="1" dirty="0">
                <a:latin typeface="+mj-ea"/>
                <a:ea typeface="+mj-ea"/>
              </a:rPr>
              <a:t>2</a:t>
            </a:r>
            <a:r>
              <a:rPr lang="zh-CN" altLang="en-US" sz="2400" b="1" dirty="0">
                <a:latin typeface="+mj-ea"/>
                <a:ea typeface="+mj-ea"/>
              </a:rPr>
              <a:t>和</a:t>
            </a:r>
            <a:r>
              <a:rPr lang="en-US" altLang="zh-CN" sz="2400" b="1" dirty="0">
                <a:latin typeface="+mj-ea"/>
                <a:ea typeface="+mj-ea"/>
              </a:rPr>
              <a:t>3</a:t>
            </a:r>
            <a:r>
              <a:rPr lang="zh-CN" altLang="en-US" sz="2400" b="1" dirty="0">
                <a:latin typeface="+mj-ea"/>
                <a:ea typeface="+mj-ea"/>
              </a:rPr>
              <a:t>转发该帧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>
                <a:latin typeface="+mj-ea"/>
                <a:ea typeface="+mj-ea"/>
              </a:rPr>
              <a:t>（</a:t>
            </a:r>
            <a:r>
              <a:rPr lang="en-US" altLang="zh-CN" sz="2400" b="1" dirty="0">
                <a:latin typeface="+mj-ea"/>
                <a:ea typeface="+mj-ea"/>
              </a:rPr>
              <a:t>b</a:t>
            </a:r>
            <a:r>
              <a:rPr lang="zh-CN" altLang="en-US" sz="2400" b="1" dirty="0">
                <a:latin typeface="+mj-ea"/>
                <a:ea typeface="+mj-ea"/>
              </a:rPr>
              <a:t>）</a:t>
            </a:r>
            <a:r>
              <a:rPr lang="en-US" altLang="zh-CN" sz="2400" b="1" dirty="0">
                <a:latin typeface="+mj-ea"/>
                <a:ea typeface="+mj-ea"/>
              </a:rPr>
              <a:t>B1</a:t>
            </a:r>
            <a:r>
              <a:rPr lang="zh-CN" altLang="en-US" sz="2400" b="1" dirty="0">
                <a:latin typeface="+mj-ea"/>
                <a:ea typeface="+mj-ea"/>
              </a:rPr>
              <a:t>向端口</a:t>
            </a:r>
            <a:r>
              <a:rPr lang="en-US" altLang="zh-CN" sz="2400" b="1" dirty="0">
                <a:latin typeface="+mj-ea"/>
                <a:ea typeface="+mj-ea"/>
              </a:rPr>
              <a:t>1</a:t>
            </a:r>
            <a:r>
              <a:rPr lang="zh-CN" altLang="en-US" sz="2400" b="1" dirty="0">
                <a:latin typeface="+mj-ea"/>
                <a:ea typeface="+mj-ea"/>
              </a:rPr>
              <a:t>，</a:t>
            </a:r>
            <a:r>
              <a:rPr lang="en-US" altLang="zh-CN" sz="2400" b="1" dirty="0">
                <a:latin typeface="+mj-ea"/>
                <a:ea typeface="+mj-ea"/>
              </a:rPr>
              <a:t>2</a:t>
            </a:r>
            <a:r>
              <a:rPr lang="zh-CN" altLang="en-US" sz="2400" b="1" dirty="0">
                <a:latin typeface="+mj-ea"/>
                <a:ea typeface="+mj-ea"/>
              </a:rPr>
              <a:t>和</a:t>
            </a:r>
            <a:r>
              <a:rPr lang="en-US" altLang="zh-CN" sz="2400" b="1" dirty="0">
                <a:latin typeface="+mj-ea"/>
                <a:ea typeface="+mj-ea"/>
              </a:rPr>
              <a:t>3</a:t>
            </a:r>
            <a:r>
              <a:rPr lang="zh-CN" altLang="en-US" sz="2400" b="1" dirty="0">
                <a:latin typeface="+mj-ea"/>
                <a:ea typeface="+mj-ea"/>
              </a:rPr>
              <a:t>转发该帧，</a:t>
            </a:r>
            <a:r>
              <a:rPr lang="en-US" altLang="zh-CN" sz="2400" b="1" dirty="0">
                <a:latin typeface="+mj-ea"/>
                <a:ea typeface="+mj-ea"/>
              </a:rPr>
              <a:t>B2</a:t>
            </a:r>
            <a:r>
              <a:rPr lang="zh-CN" altLang="en-US" sz="2400" b="1" dirty="0">
                <a:latin typeface="+mj-ea"/>
                <a:ea typeface="+mj-ea"/>
              </a:rPr>
              <a:t>向端口</a:t>
            </a:r>
            <a:r>
              <a:rPr lang="en-US" altLang="zh-CN" sz="2400" b="1" dirty="0">
                <a:latin typeface="+mj-ea"/>
                <a:ea typeface="+mj-ea"/>
              </a:rPr>
              <a:t>1</a:t>
            </a:r>
            <a:r>
              <a:rPr lang="zh-CN" altLang="en-US" sz="2400" b="1" dirty="0">
                <a:latin typeface="+mj-ea"/>
                <a:ea typeface="+mj-ea"/>
              </a:rPr>
              <a:t>，</a:t>
            </a:r>
            <a:r>
              <a:rPr lang="en-US" altLang="zh-CN" sz="2400" b="1" dirty="0">
                <a:latin typeface="+mj-ea"/>
                <a:ea typeface="+mj-ea"/>
              </a:rPr>
              <a:t>3</a:t>
            </a:r>
            <a:r>
              <a:rPr lang="zh-CN" altLang="en-US" sz="2400" b="1" dirty="0">
                <a:latin typeface="+mj-ea"/>
                <a:ea typeface="+mj-ea"/>
              </a:rPr>
              <a:t>和</a:t>
            </a:r>
            <a:r>
              <a:rPr lang="en-US" altLang="zh-CN" sz="2400" b="1" dirty="0">
                <a:latin typeface="+mj-ea"/>
                <a:ea typeface="+mj-ea"/>
              </a:rPr>
              <a:t>4</a:t>
            </a:r>
            <a:r>
              <a:rPr lang="zh-CN" altLang="en-US" sz="2400" b="1" dirty="0">
                <a:latin typeface="+mj-ea"/>
                <a:ea typeface="+mj-ea"/>
              </a:rPr>
              <a:t>转发该帧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>
                <a:latin typeface="+mj-ea"/>
                <a:ea typeface="+mj-ea"/>
              </a:rPr>
              <a:t>（</a:t>
            </a:r>
            <a:r>
              <a:rPr lang="en-US" altLang="zh-CN" sz="2400" b="1" dirty="0">
                <a:latin typeface="+mj-ea"/>
                <a:ea typeface="+mj-ea"/>
              </a:rPr>
              <a:t>c</a:t>
            </a:r>
            <a:r>
              <a:rPr lang="zh-CN" altLang="en-US" sz="2400" b="1" dirty="0">
                <a:latin typeface="+mj-ea"/>
                <a:ea typeface="+mj-ea"/>
              </a:rPr>
              <a:t>）</a:t>
            </a:r>
            <a:r>
              <a:rPr lang="en-US" altLang="zh-CN" sz="2400" b="1" dirty="0">
                <a:latin typeface="+mj-ea"/>
                <a:ea typeface="+mj-ea"/>
              </a:rPr>
              <a:t>B1</a:t>
            </a:r>
            <a:r>
              <a:rPr lang="zh-CN" altLang="en-US" sz="2400" b="1" dirty="0">
                <a:latin typeface="+mj-ea"/>
                <a:ea typeface="+mj-ea"/>
              </a:rPr>
              <a:t>将收不到该帧，</a:t>
            </a:r>
            <a:r>
              <a:rPr lang="en-US" altLang="zh-CN" sz="2400" b="1" dirty="0">
                <a:latin typeface="+mj-ea"/>
                <a:ea typeface="+mj-ea"/>
              </a:rPr>
              <a:t> B2</a:t>
            </a:r>
            <a:r>
              <a:rPr lang="zh-CN" altLang="en-US" sz="2400" b="1" dirty="0">
                <a:latin typeface="+mj-ea"/>
                <a:ea typeface="+mj-ea"/>
              </a:rPr>
              <a:t>不向任何端口转发该帧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>
                <a:latin typeface="+mj-ea"/>
                <a:ea typeface="+mj-ea"/>
              </a:rPr>
              <a:t>（</a:t>
            </a:r>
            <a:r>
              <a:rPr lang="en-US" altLang="zh-CN" sz="2400" b="1" dirty="0">
                <a:latin typeface="+mj-ea"/>
                <a:ea typeface="+mj-ea"/>
              </a:rPr>
              <a:t>d</a:t>
            </a:r>
            <a:r>
              <a:rPr lang="zh-CN" altLang="en-US" sz="2400" b="1" dirty="0">
                <a:latin typeface="+mj-ea"/>
                <a:ea typeface="+mj-ea"/>
              </a:rPr>
              <a:t>）</a:t>
            </a:r>
            <a:r>
              <a:rPr lang="en-US" altLang="zh-CN" sz="2400" b="1" dirty="0">
                <a:latin typeface="+mj-ea"/>
                <a:ea typeface="+mj-ea"/>
              </a:rPr>
              <a:t>B1</a:t>
            </a:r>
            <a:r>
              <a:rPr lang="zh-CN" altLang="en-US" sz="2400" b="1" dirty="0">
                <a:latin typeface="+mj-ea"/>
                <a:ea typeface="+mj-ea"/>
              </a:rPr>
              <a:t>将收不到该帧，</a:t>
            </a:r>
            <a:r>
              <a:rPr lang="en-US" altLang="zh-CN" sz="2400" b="1" dirty="0">
                <a:latin typeface="+mj-ea"/>
                <a:ea typeface="+mj-ea"/>
              </a:rPr>
              <a:t> B2</a:t>
            </a:r>
            <a:r>
              <a:rPr lang="zh-CN" altLang="en-US" sz="2400" b="1" dirty="0">
                <a:latin typeface="+mj-ea"/>
                <a:ea typeface="+mj-ea"/>
              </a:rPr>
              <a:t>向端口</a:t>
            </a:r>
            <a:r>
              <a:rPr lang="en-US" altLang="zh-CN" sz="2400" b="1" dirty="0">
                <a:latin typeface="+mj-ea"/>
                <a:ea typeface="+mj-ea"/>
              </a:rPr>
              <a:t>2</a:t>
            </a:r>
            <a:r>
              <a:rPr lang="zh-CN" altLang="en-US" sz="2400" b="1" dirty="0">
                <a:latin typeface="+mj-ea"/>
                <a:ea typeface="+mj-ea"/>
              </a:rPr>
              <a:t>转发该帧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>
                <a:latin typeface="+mj-ea"/>
                <a:ea typeface="+mj-ea"/>
              </a:rPr>
              <a:t>（</a:t>
            </a:r>
            <a:r>
              <a:rPr lang="en-US" altLang="zh-CN" sz="2400" b="1" dirty="0">
                <a:latin typeface="+mj-ea"/>
                <a:ea typeface="+mj-ea"/>
              </a:rPr>
              <a:t>e</a:t>
            </a:r>
            <a:r>
              <a:rPr lang="zh-CN" altLang="en-US" sz="2400" b="1" dirty="0">
                <a:latin typeface="+mj-ea"/>
                <a:ea typeface="+mj-ea"/>
              </a:rPr>
              <a:t>）</a:t>
            </a:r>
            <a:r>
              <a:rPr lang="en-US" altLang="zh-CN" sz="2400" b="1" dirty="0">
                <a:latin typeface="+mj-ea"/>
                <a:ea typeface="+mj-ea"/>
              </a:rPr>
              <a:t>B1</a:t>
            </a:r>
            <a:r>
              <a:rPr lang="zh-CN" altLang="en-US" sz="2400" b="1" dirty="0">
                <a:latin typeface="+mj-ea"/>
                <a:ea typeface="+mj-ea"/>
              </a:rPr>
              <a:t>向端口</a:t>
            </a:r>
            <a:r>
              <a:rPr lang="en-US" altLang="zh-CN" sz="2400" b="1" dirty="0">
                <a:latin typeface="+mj-ea"/>
                <a:ea typeface="+mj-ea"/>
              </a:rPr>
              <a:t>1</a:t>
            </a:r>
            <a:r>
              <a:rPr lang="zh-CN" altLang="en-US" sz="2400" b="1" dirty="0">
                <a:latin typeface="+mj-ea"/>
                <a:ea typeface="+mj-ea"/>
              </a:rPr>
              <a:t>转发该帧，</a:t>
            </a:r>
            <a:r>
              <a:rPr lang="en-US" altLang="zh-CN" sz="2400" b="1" dirty="0">
                <a:latin typeface="+mj-ea"/>
                <a:ea typeface="+mj-ea"/>
              </a:rPr>
              <a:t> B2</a:t>
            </a:r>
            <a:r>
              <a:rPr lang="zh-CN" altLang="en-US" sz="2400" b="1" dirty="0">
                <a:latin typeface="+mj-ea"/>
                <a:ea typeface="+mj-ea"/>
              </a:rPr>
              <a:t>向端口</a:t>
            </a:r>
            <a:r>
              <a:rPr lang="en-US" altLang="zh-CN" sz="2400" b="1" dirty="0">
                <a:latin typeface="+mj-ea"/>
                <a:ea typeface="+mj-ea"/>
              </a:rPr>
              <a:t>4</a:t>
            </a:r>
            <a:r>
              <a:rPr lang="zh-CN" altLang="en-US" sz="2400" b="1" dirty="0">
                <a:latin typeface="+mj-ea"/>
                <a:ea typeface="+mj-ea"/>
              </a:rPr>
              <a:t>转发该帧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b="1" dirty="0">
                <a:latin typeface="+mj-ea"/>
                <a:ea typeface="+mj-ea"/>
              </a:rPr>
              <a:t>（</a:t>
            </a:r>
            <a:r>
              <a:rPr lang="en-US" altLang="zh-CN" sz="2400" b="1" dirty="0">
                <a:latin typeface="+mj-ea"/>
                <a:ea typeface="+mj-ea"/>
              </a:rPr>
              <a:t>f</a:t>
            </a:r>
            <a:r>
              <a:rPr lang="zh-CN" altLang="en-US" sz="2400" b="1" dirty="0">
                <a:latin typeface="+mj-ea"/>
                <a:ea typeface="+mj-ea"/>
              </a:rPr>
              <a:t>）</a:t>
            </a:r>
            <a:r>
              <a:rPr lang="en-US" altLang="zh-CN" sz="2400" b="1" dirty="0">
                <a:latin typeface="+mj-ea"/>
                <a:ea typeface="+mj-ea"/>
              </a:rPr>
              <a:t>B1</a:t>
            </a:r>
            <a:r>
              <a:rPr lang="zh-CN" altLang="en-US" sz="2400" b="1" dirty="0">
                <a:latin typeface="+mj-ea"/>
                <a:ea typeface="+mj-ea"/>
              </a:rPr>
              <a:t>向端口</a:t>
            </a:r>
            <a:r>
              <a:rPr lang="en-US" altLang="zh-CN" sz="2400" b="1" dirty="0">
                <a:latin typeface="+mj-ea"/>
                <a:ea typeface="+mj-ea"/>
              </a:rPr>
              <a:t>1</a:t>
            </a:r>
            <a:r>
              <a:rPr lang="zh-CN" altLang="en-US" sz="2400" b="1" dirty="0">
                <a:latin typeface="+mj-ea"/>
                <a:ea typeface="+mj-ea"/>
              </a:rPr>
              <a:t>，</a:t>
            </a:r>
            <a:r>
              <a:rPr lang="en-US" altLang="zh-CN" sz="2400" b="1" dirty="0">
                <a:latin typeface="+mj-ea"/>
                <a:ea typeface="+mj-ea"/>
              </a:rPr>
              <a:t>3</a:t>
            </a:r>
            <a:r>
              <a:rPr lang="zh-CN" altLang="en-US" sz="2400" b="1" dirty="0">
                <a:latin typeface="+mj-ea"/>
                <a:ea typeface="+mj-ea"/>
              </a:rPr>
              <a:t>和</a:t>
            </a:r>
            <a:r>
              <a:rPr lang="en-US" altLang="zh-CN" sz="2400" b="1" dirty="0">
                <a:latin typeface="+mj-ea"/>
                <a:ea typeface="+mj-ea"/>
              </a:rPr>
              <a:t>4</a:t>
            </a:r>
            <a:r>
              <a:rPr lang="zh-CN" altLang="en-US" sz="2400" b="1" dirty="0">
                <a:latin typeface="+mj-ea"/>
                <a:ea typeface="+mj-ea"/>
              </a:rPr>
              <a:t>转发该帧， </a:t>
            </a:r>
            <a:r>
              <a:rPr lang="en-US" altLang="zh-CN" sz="2400" b="1" dirty="0">
                <a:latin typeface="+mj-ea"/>
                <a:ea typeface="+mj-ea"/>
              </a:rPr>
              <a:t>B</a:t>
            </a:r>
            <a:r>
              <a:rPr lang="zh-CN" altLang="en-US" sz="2400" b="1" dirty="0">
                <a:latin typeface="+mj-ea"/>
                <a:ea typeface="+mj-ea"/>
              </a:rPr>
              <a:t>向端口</a:t>
            </a:r>
            <a:r>
              <a:rPr lang="en-US" altLang="zh-CN" sz="2400" b="1" dirty="0">
                <a:latin typeface="+mj-ea"/>
                <a:ea typeface="+mj-ea"/>
              </a:rPr>
              <a:t>2</a:t>
            </a:r>
            <a:r>
              <a:rPr lang="zh-CN" altLang="en-US" sz="2400" b="1" dirty="0">
                <a:latin typeface="+mj-ea"/>
                <a:ea typeface="+mj-ea"/>
              </a:rPr>
              <a:t>转发该帧</a:t>
            </a: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AE48A2BC-ACF2-5C1D-82F5-A914F4BF6D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Ch4 </a:t>
            </a:r>
            <a:r>
              <a:rPr lang="zh-CN" altLang="en-US" b="1">
                <a:latin typeface="宋体" panose="02010600030101010101" pitchFamily="2" charset="-122"/>
              </a:rPr>
              <a:t>介质访问控制子层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3">
            <a:extLst>
              <a:ext uri="{FF2B5EF4-FFF2-40B4-BE49-F238E27FC236}">
                <a16:creationId xmlns:a16="http://schemas.microsoft.com/office/drawing/2014/main" id="{978B2EAC-D57A-26A6-EFFE-204C6B208A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989138"/>
            <a:ext cx="7772400" cy="4186237"/>
          </a:xfrm>
        </p:spPr>
        <p:txBody>
          <a:bodyPr/>
          <a:lstStyle/>
          <a:p>
            <a:pPr eaLnBrk="1" hangingPunct="1"/>
            <a:r>
              <a:rPr lang="en-US" altLang="zh-CN" sz="2000" b="1" dirty="0">
                <a:latin typeface="宋体" panose="02010600030101010101" pitchFamily="2" charset="-122"/>
              </a:rPr>
              <a:t>*49</a:t>
            </a:r>
            <a:r>
              <a:rPr lang="zh-CN" altLang="en-US" sz="2000" b="1" dirty="0">
                <a:latin typeface="宋体" panose="02010600030101010101" pitchFamily="2" charset="-122"/>
              </a:rPr>
              <a:t>．在</a:t>
            </a:r>
            <a:r>
              <a:rPr lang="en-US" altLang="zh-CN" sz="2000" b="1" dirty="0">
                <a:latin typeface="宋体" panose="02010600030101010101" pitchFamily="2" charset="-122"/>
              </a:rPr>
              <a:t>4.8.3</a:t>
            </a:r>
            <a:r>
              <a:rPr lang="zh-CN" altLang="en-US" sz="2000" b="1" dirty="0">
                <a:latin typeface="宋体" panose="02010600030101010101" pitchFamily="2" charset="-122"/>
              </a:rPr>
              <a:t>中提到，一些网桥甚至可能不会出现在生成树中。请描述一个场景，其中一个网桥可能无法出现在生成树中</a:t>
            </a:r>
            <a:endParaRPr lang="en-US" altLang="zh-CN" sz="2000" b="1" dirty="0">
              <a:latin typeface="宋体" panose="02010600030101010101" pitchFamily="2" charset="-122"/>
            </a:endParaRPr>
          </a:p>
          <a:p>
            <a:pPr eaLnBrk="1" hangingPunct="1"/>
            <a:endParaRPr lang="en-US" altLang="zh-CN" sz="2000" b="1" dirty="0">
              <a:latin typeface="宋体" panose="02010600030101010101" pitchFamily="2" charset="-122"/>
            </a:endParaRPr>
          </a:p>
          <a:p>
            <a:pPr eaLnBrk="1" hangingPunct="1"/>
            <a:endParaRPr lang="en-US" altLang="zh-CN" sz="2000" b="1" dirty="0">
              <a:latin typeface="宋体" panose="02010600030101010101" pitchFamily="2" charset="-122"/>
            </a:endParaRPr>
          </a:p>
          <a:p>
            <a:pPr eaLnBrk="1" hangingPunct="1"/>
            <a:endParaRPr lang="en-US" altLang="zh-CN" sz="2000" b="1" dirty="0">
              <a:latin typeface="宋体" panose="02010600030101010101" pitchFamily="2" charset="-122"/>
            </a:endParaRPr>
          </a:p>
          <a:p>
            <a:pPr eaLnBrk="1" hangingPunct="1"/>
            <a:endParaRPr lang="en-US" altLang="zh-CN" sz="2000" b="1" dirty="0">
              <a:latin typeface="宋体" panose="02010600030101010101" pitchFamily="2" charset="-122"/>
            </a:endParaRPr>
          </a:p>
          <a:p>
            <a:pPr eaLnBrk="1" hangingPunct="1"/>
            <a:endParaRPr lang="en-US" altLang="zh-CN" sz="2000" b="1" dirty="0">
              <a:latin typeface="宋体" panose="02010600030101010101" pitchFamily="2" charset="-122"/>
            </a:endParaRPr>
          </a:p>
          <a:p>
            <a:pPr eaLnBrk="1" hangingPunct="1"/>
            <a:endParaRPr lang="en-US" altLang="zh-CN" sz="2000" b="1" dirty="0">
              <a:latin typeface="宋体" panose="02010600030101010101" pitchFamily="2" charset="-122"/>
            </a:endParaRPr>
          </a:p>
          <a:p>
            <a:pPr eaLnBrk="1" hangingPunct="1"/>
            <a:endParaRPr lang="en-US" altLang="zh-CN" sz="2000" b="1" dirty="0">
              <a:latin typeface="宋体" panose="02010600030101010101" pitchFamily="2" charset="-122"/>
            </a:endParaRPr>
          </a:p>
          <a:p>
            <a:pPr eaLnBrk="1" hangingPunct="1"/>
            <a:endParaRPr lang="en-US" altLang="zh-CN" sz="2000" b="1" dirty="0">
              <a:latin typeface="宋体" panose="02010600030101010101" pitchFamily="2" charset="-122"/>
            </a:endParaRPr>
          </a:p>
          <a:p>
            <a:pPr eaLnBrk="1" hangingPunct="1"/>
            <a:endParaRPr lang="en-US" altLang="zh-CN" sz="2000" b="1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sz="2000" b="1" dirty="0">
                <a:latin typeface="宋体" panose="02010600030101010101" pitchFamily="2" charset="-122"/>
              </a:rPr>
              <a:t>上图中网桥</a:t>
            </a:r>
            <a:r>
              <a:rPr lang="en-US" altLang="zh-CN" sz="2000" b="1" dirty="0">
                <a:latin typeface="宋体" panose="02010600030101010101" pitchFamily="2" charset="-122"/>
              </a:rPr>
              <a:t>G</a:t>
            </a:r>
            <a:r>
              <a:rPr lang="zh-CN" altLang="en-US" sz="2000" b="1" dirty="0">
                <a:latin typeface="宋体" panose="02010600030101010101" pitchFamily="2" charset="-122"/>
              </a:rPr>
              <a:t>可能无法出现在生成树中</a:t>
            </a:r>
          </a:p>
        </p:txBody>
      </p:sp>
      <p:pic>
        <p:nvPicPr>
          <p:cNvPr id="43010" name="Picture 6">
            <a:extLst>
              <a:ext uri="{FF2B5EF4-FFF2-40B4-BE49-F238E27FC236}">
                <a16:creationId xmlns:a16="http://schemas.microsoft.com/office/drawing/2014/main" id="{A9C0863C-B0F5-28A7-B25C-2C9D5B1BB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636838"/>
            <a:ext cx="6985000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1" name="Rectangle 8">
            <a:extLst>
              <a:ext uri="{FF2B5EF4-FFF2-40B4-BE49-F238E27FC236}">
                <a16:creationId xmlns:a16="http://schemas.microsoft.com/office/drawing/2014/main" id="{681B64F2-E059-5440-F801-433F3CC6F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688" y="4838700"/>
            <a:ext cx="555625" cy="6270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3012" name="Rectangle 9">
            <a:extLst>
              <a:ext uri="{FF2B5EF4-FFF2-40B4-BE49-F238E27FC236}">
                <a16:creationId xmlns:a16="http://schemas.microsoft.com/office/drawing/2014/main" id="{D1CD5736-D408-370F-9E06-587153A35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2950" y="4684713"/>
            <a:ext cx="452438" cy="62706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3013" name="Rectangle 16">
            <a:extLst>
              <a:ext uri="{FF2B5EF4-FFF2-40B4-BE49-F238E27FC236}">
                <a16:creationId xmlns:a16="http://schemas.microsoft.com/office/drawing/2014/main" id="{873866E1-20DB-B949-149D-6EC8B1F68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2563" y="3805238"/>
            <a:ext cx="454025" cy="403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3014" name="Rectangle 17">
            <a:extLst>
              <a:ext uri="{FF2B5EF4-FFF2-40B4-BE49-F238E27FC236}">
                <a16:creationId xmlns:a16="http://schemas.microsoft.com/office/drawing/2014/main" id="{48F84137-E32E-0A9C-77D9-C586A6D8D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0350" y="4391025"/>
            <a:ext cx="1223963" cy="9366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3015" name="Rectangle 2">
            <a:extLst>
              <a:ext uri="{FF2B5EF4-FFF2-40B4-BE49-F238E27FC236}">
                <a16:creationId xmlns:a16="http://schemas.microsoft.com/office/drawing/2014/main" id="{47BFE2D3-C6B0-CE8D-40E4-4F5C543644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Ch4 </a:t>
            </a:r>
            <a:r>
              <a:rPr lang="zh-CN" altLang="en-US" b="1">
                <a:latin typeface="宋体" panose="02010600030101010101" pitchFamily="2" charset="-122"/>
              </a:rPr>
              <a:t>介质访问控制子层</a:t>
            </a:r>
          </a:p>
        </p:txBody>
      </p:sp>
      <p:sp>
        <p:nvSpPr>
          <p:cNvPr id="43016" name="Rectangle 16">
            <a:extLst>
              <a:ext uri="{FF2B5EF4-FFF2-40B4-BE49-F238E27FC236}">
                <a16:creationId xmlns:a16="http://schemas.microsoft.com/office/drawing/2014/main" id="{C607887B-D12F-3C93-404A-F6AA20256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25" y="4208463"/>
            <a:ext cx="379413" cy="403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3017" name="Rectangle 16">
            <a:extLst>
              <a:ext uri="{FF2B5EF4-FFF2-40B4-BE49-F238E27FC236}">
                <a16:creationId xmlns:a16="http://schemas.microsoft.com/office/drawing/2014/main" id="{81BEF373-8CA6-5674-97A7-853132492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4619625"/>
            <a:ext cx="381000" cy="184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43018" name="Rectangle 16">
            <a:extLst>
              <a:ext uri="{FF2B5EF4-FFF2-40B4-BE49-F238E27FC236}">
                <a16:creationId xmlns:a16="http://schemas.microsoft.com/office/drawing/2014/main" id="{A18C0D9E-5362-1186-4107-4B5DFBA32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5775" y="4510088"/>
            <a:ext cx="295275" cy="40322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DF7D5144-357C-3F38-C915-5F00F5C758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 dirty="0">
                <a:latin typeface="宋体" panose="02010600030101010101" pitchFamily="2" charset="-122"/>
              </a:rPr>
              <a:t>Ch4 </a:t>
            </a:r>
            <a:r>
              <a:rPr lang="zh-CN" altLang="en-US" b="1" dirty="0">
                <a:latin typeface="宋体" panose="02010600030101010101" pitchFamily="2" charset="-122"/>
              </a:rPr>
              <a:t>介质访问控制子层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B386D1EB-22A6-22A2-8C55-937347F081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017713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zh-CN" sz="2400" b="1">
                <a:latin typeface="宋体" panose="02010600030101010101" pitchFamily="2" charset="-122"/>
              </a:rPr>
              <a:t>*50</a:t>
            </a:r>
            <a:r>
              <a:rPr lang="zh-CN" altLang="en-US" sz="2400" b="1">
                <a:latin typeface="宋体" panose="02010600030101010101" pitchFamily="2" charset="-122"/>
              </a:rPr>
              <a:t>．为了使得</a:t>
            </a:r>
            <a:r>
              <a:rPr lang="en-US" altLang="zh-CN" sz="2400" b="1">
                <a:latin typeface="宋体" panose="02010600030101010101" pitchFamily="2" charset="-122"/>
              </a:rPr>
              <a:t>VLAN</a:t>
            </a:r>
            <a:r>
              <a:rPr lang="zh-CN" altLang="en-US" sz="2400" b="1">
                <a:latin typeface="宋体" panose="02010600030101010101" pitchFamily="2" charset="-122"/>
              </a:rPr>
              <a:t>可以工作，在交换机和网桥内部需要有相应的配置表。如果图</a:t>
            </a:r>
            <a:r>
              <a:rPr lang="en-US" altLang="zh-CN" sz="2400" b="1">
                <a:latin typeface="宋体" panose="02010600030101010101" pitchFamily="2" charset="-122"/>
              </a:rPr>
              <a:t>4-39</a:t>
            </a:r>
            <a:r>
              <a:rPr lang="zh-CN" altLang="en-US" sz="2400" b="1">
                <a:latin typeface="宋体" panose="02010600030101010101" pitchFamily="2" charset="-122"/>
              </a:rPr>
              <a:t>中的</a:t>
            </a:r>
            <a:r>
              <a:rPr lang="en-US" altLang="zh-CN" sz="2400" b="1">
                <a:latin typeface="宋体" panose="02010600030101010101" pitchFamily="2" charset="-122"/>
              </a:rPr>
              <a:t>VLAN</a:t>
            </a:r>
            <a:r>
              <a:rPr lang="zh-CN" altLang="en-US" sz="2400" b="1">
                <a:latin typeface="宋体" panose="02010600030101010101" pitchFamily="2" charset="-122"/>
              </a:rPr>
              <a:t>使用集线器而不是分支的电缆，那会怎么样呢？集线器也需要配置表吗？为什么需要，或者为什么不需要？</a:t>
            </a:r>
          </a:p>
        </p:txBody>
      </p:sp>
      <p:pic>
        <p:nvPicPr>
          <p:cNvPr id="45059" name="图片 2">
            <a:extLst>
              <a:ext uri="{FF2B5EF4-FFF2-40B4-BE49-F238E27FC236}">
                <a16:creationId xmlns:a16="http://schemas.microsoft.com/office/drawing/2014/main" id="{B9C386A7-796B-19B3-7E8D-D5AFB4324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775" y="3567113"/>
            <a:ext cx="6985000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765024F2-CB3D-3A08-3173-4640B4312C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宋体" panose="02010600030101010101" pitchFamily="2" charset="-122"/>
              </a:rPr>
              <a:t>Ch4 </a:t>
            </a:r>
            <a:r>
              <a:rPr lang="zh-CN" altLang="en-US" b="1">
                <a:latin typeface="宋体" panose="02010600030101010101" pitchFamily="2" charset="-122"/>
              </a:rPr>
              <a:t>介质访问控制子层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18FCEDB1-DBC4-44B9-21E0-83C197AADB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989138"/>
            <a:ext cx="7772400" cy="4114800"/>
          </a:xfrm>
        </p:spPr>
        <p:txBody>
          <a:bodyPr/>
          <a:lstStyle/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不需要。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latin typeface="宋体" panose="02010600030101010101" pitchFamily="2" charset="-122"/>
              </a:rPr>
              <a:t>   集线器只是将所有的输入线连接起来，不需要配置。集线器中无路由，进入集线器中的每一帧将被发送的所有其他的线路上。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C03B31A6-1F5B-6A7B-3A95-7E8B62EB0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 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91D61A75-558C-3359-6A91-EEDA6797A3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528" y="2132856"/>
            <a:ext cx="8496944" cy="2952328"/>
          </a:xfrm>
        </p:spPr>
        <p:txBody>
          <a:bodyPr/>
          <a:lstStyle/>
          <a:p>
            <a:r>
              <a:rPr kumimoji="1" lang="zh-CN" altLang="en-US" dirty="0">
                <a:latin typeface="Arial" panose="020B0604020202020204" pitchFamily="34" charset="0"/>
              </a:rPr>
              <a:t>补充题</a:t>
            </a:r>
            <a:r>
              <a:rPr kumimoji="1" lang="en-US" altLang="zh-CN" dirty="0">
                <a:latin typeface="Arial" panose="020B0604020202020204" pitchFamily="34" charset="0"/>
              </a:rPr>
              <a:t>.  </a:t>
            </a:r>
            <a:r>
              <a:rPr kumimoji="1" lang="zh-CN" altLang="en-US" dirty="0">
                <a:latin typeface="Arial" panose="020B0604020202020204" pitchFamily="34" charset="0"/>
              </a:rPr>
              <a:t>考虑在一条</a:t>
            </a:r>
            <a:r>
              <a:rPr kumimoji="1" lang="en-US" altLang="zh-CN" dirty="0">
                <a:latin typeface="Arial" panose="020B0604020202020204" pitchFamily="34" charset="0"/>
              </a:rPr>
              <a:t>1km</a:t>
            </a:r>
            <a:r>
              <a:rPr kumimoji="1" lang="zh-CN" altLang="en-US" dirty="0">
                <a:latin typeface="Arial" panose="020B0604020202020204" pitchFamily="34" charset="0"/>
              </a:rPr>
              <a:t>长的电缆（无中继器）上建立一个</a:t>
            </a:r>
            <a:r>
              <a:rPr kumimoji="1" lang="en-US" altLang="zh-CN" dirty="0">
                <a:latin typeface="Arial" panose="020B0604020202020204" pitchFamily="34" charset="0"/>
              </a:rPr>
              <a:t>1Gbps</a:t>
            </a:r>
            <a:r>
              <a:rPr kumimoji="1" lang="zh-CN" altLang="en-US" dirty="0">
                <a:latin typeface="Arial" panose="020B0604020202020204" pitchFamily="34" charset="0"/>
              </a:rPr>
              <a:t>速率的</a:t>
            </a:r>
            <a:r>
              <a:rPr kumimoji="1" lang="en-US" altLang="zh-CN" dirty="0">
                <a:latin typeface="Arial" panose="020B0604020202020204" pitchFamily="34" charset="0"/>
              </a:rPr>
              <a:t>CSMA/CD</a:t>
            </a:r>
            <a:r>
              <a:rPr kumimoji="1" lang="zh-CN" altLang="en-US" dirty="0">
                <a:latin typeface="Arial" panose="020B0604020202020204" pitchFamily="34" charset="0"/>
              </a:rPr>
              <a:t>网络。信号在电缆中的速度为</a:t>
            </a:r>
            <a:r>
              <a:rPr kumimoji="1" lang="en-US" altLang="zh-CN" dirty="0">
                <a:latin typeface="Arial" panose="020B0604020202020204" pitchFamily="34" charset="0"/>
              </a:rPr>
              <a:t>200 000km/s</a:t>
            </a:r>
            <a:r>
              <a:rPr kumimoji="1" lang="zh-CN" altLang="en-US" dirty="0">
                <a:latin typeface="Arial" panose="020B0604020202020204" pitchFamily="34" charset="0"/>
              </a:rPr>
              <a:t>。请问最小的帧长度为多少？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53DCC8-2F6B-A73D-F6A8-E8A68FD7C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2060848"/>
            <a:ext cx="7772400" cy="4114800"/>
          </a:xfrm>
        </p:spPr>
        <p:txBody>
          <a:bodyPr/>
          <a:lstStyle/>
          <a:p>
            <a:r>
              <a:rPr kumimoji="1" lang="en-US" altLang="zh-CN" dirty="0">
                <a:latin typeface="Arial" panose="020B0604020202020204" pitchFamily="34" charset="0"/>
              </a:rPr>
              <a:t>38</a:t>
            </a:r>
            <a:r>
              <a:rPr kumimoji="1" lang="zh-CN" altLang="en-US" dirty="0">
                <a:latin typeface="Arial" panose="020B0604020202020204" pitchFamily="34" charset="0"/>
              </a:rPr>
              <a:t>．考虑图</a:t>
            </a:r>
            <a:r>
              <a:rPr kumimoji="1" lang="en-US" altLang="zh-CN" dirty="0">
                <a:latin typeface="Arial" panose="020B0604020202020204" pitchFamily="34" charset="0"/>
              </a:rPr>
              <a:t>4.41(b)</a:t>
            </a:r>
            <a:r>
              <a:rPr kumimoji="1" lang="zh-CN" altLang="en-US" dirty="0">
                <a:latin typeface="Arial" panose="020B0604020202020204" pitchFamily="34" charset="0"/>
              </a:rPr>
              <a:t>中用网桥</a:t>
            </a:r>
            <a:r>
              <a:rPr kumimoji="1" lang="en-US" altLang="zh-CN" dirty="0">
                <a:latin typeface="Arial" panose="020B0604020202020204" pitchFamily="34" charset="0"/>
              </a:rPr>
              <a:t>B1</a:t>
            </a:r>
            <a:r>
              <a:rPr kumimoji="1" lang="zh-CN" altLang="en-US" dirty="0">
                <a:latin typeface="Arial" panose="020B0604020202020204" pitchFamily="34" charset="0"/>
              </a:rPr>
              <a:t>和</a:t>
            </a:r>
            <a:r>
              <a:rPr kumimoji="1" lang="en-US" altLang="zh-CN" dirty="0">
                <a:latin typeface="Arial" panose="020B0604020202020204" pitchFamily="34" charset="0"/>
              </a:rPr>
              <a:t>B2</a:t>
            </a:r>
            <a:r>
              <a:rPr kumimoji="1" lang="zh-CN" altLang="en-US" dirty="0">
                <a:latin typeface="Arial" panose="020B0604020202020204" pitchFamily="34" charset="0"/>
              </a:rPr>
              <a:t>连接的扩展局域网。假设两个网桥的哈希表都是空的。对于下面的传输序列，请列出转发数据包所用的全部端口。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4941614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1360</TotalTime>
  <Words>2043</Words>
  <Application>Microsoft Office PowerPoint</Application>
  <PresentationFormat>全屏显示(4:3)</PresentationFormat>
  <Paragraphs>217</Paragraphs>
  <Slides>19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4" baseType="lpstr">
      <vt:lpstr>宋体</vt:lpstr>
      <vt:lpstr>Arial</vt:lpstr>
      <vt:lpstr>Tahoma</vt:lpstr>
      <vt:lpstr>Wingdings</vt:lpstr>
      <vt:lpstr>Blends</vt:lpstr>
      <vt:lpstr>Ch4 介质访问控制子层</vt:lpstr>
      <vt:lpstr>Ch4 介质访问控制子层</vt:lpstr>
      <vt:lpstr>Ch4 介质访问控制子层</vt:lpstr>
      <vt:lpstr>Ch4 介质访问控制子层</vt:lpstr>
      <vt:lpstr>Ch4 介质访问控制子层</vt:lpstr>
      <vt:lpstr>Ch4 介质访问控制子层</vt:lpstr>
      <vt:lpstr>PowerPoint 演示文稿</vt:lpstr>
      <vt:lpstr>Ch4 介质访问控制子层</vt:lpstr>
      <vt:lpstr>Ch4 介质访问控制子层</vt:lpstr>
      <vt:lpstr>Ch4 介质访问控制子层</vt:lpstr>
      <vt:lpstr>Ch4 介质访问控制子层</vt:lpstr>
      <vt:lpstr>Ch4 介质访问控制子层</vt:lpstr>
      <vt:lpstr>Ch4 介质访问控制子层</vt:lpstr>
      <vt:lpstr>Ch4 介质访问控制子层</vt:lpstr>
      <vt:lpstr>Ch4 介质访问控制子层</vt:lpstr>
      <vt:lpstr>Ch4 介质访问控制子层</vt:lpstr>
      <vt:lpstr>Ch4 介质访问控制子层</vt:lpstr>
      <vt:lpstr> </vt:lpstr>
      <vt:lpstr>PowerPoint 演示文稿</vt:lpstr>
    </vt:vector>
  </TitlesOfParts>
  <Company>bjut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计算机网络作业答案</dc:title>
  <dc:creator>renxt</dc:creator>
  <cp:lastModifiedBy>LC State</cp:lastModifiedBy>
  <cp:revision>423</cp:revision>
  <dcterms:created xsi:type="dcterms:W3CDTF">2007-03-15T10:32:50Z</dcterms:created>
  <dcterms:modified xsi:type="dcterms:W3CDTF">2026-01-06T12:40:45Z</dcterms:modified>
</cp:coreProperties>
</file>