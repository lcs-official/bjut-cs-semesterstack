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1"/>
  </p:notesMasterIdLst>
  <p:sldIdLst>
    <p:sldId id="268" r:id="rId2"/>
    <p:sldId id="269" r:id="rId3"/>
    <p:sldId id="265" r:id="rId4"/>
    <p:sldId id="273" r:id="rId5"/>
    <p:sldId id="275" r:id="rId6"/>
    <p:sldId id="276" r:id="rId7"/>
    <p:sldId id="280" r:id="rId8"/>
    <p:sldId id="279" r:id="rId9"/>
    <p:sldId id="278" r:id="rId1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15"/>
    <p:restoredTop sz="95220" autoAdjust="0"/>
  </p:normalViewPr>
  <p:slideViewPr>
    <p:cSldViewPr>
      <p:cViewPr varScale="1">
        <p:scale>
          <a:sx n="88" d="100"/>
          <a:sy n="88" d="100"/>
        </p:scale>
        <p:origin x="843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603A826-385A-4D26-2AD8-3B8BEB24BC3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E9398BA7-A869-EAB2-B34D-9858D9A33CD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B492540E-02E1-655A-EDF4-7B816627FE4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F88B3C1F-4749-F55E-7256-A53DDA0BB3A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6326" name="Rectangle 6">
            <a:extLst>
              <a:ext uri="{FF2B5EF4-FFF2-40B4-BE49-F238E27FC236}">
                <a16:creationId xmlns:a16="http://schemas.microsoft.com/office/drawing/2014/main" id="{CFDB308D-ECE7-019E-B4C3-D6D486955BA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40B107A7-A4DE-DD95-B587-1AA3435F49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4407E90-2BE3-9F4E-9A21-36A4D379EA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2D446E62-BCA1-538A-908D-8DAD699C99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E6908EE-8C8E-0646-AE63-F2AA83240803}" type="slidenum">
              <a:rPr lang="en-US" altLang="zh-CN" smtClean="0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B43DD999-41EE-91F1-27F2-0E3A1C7D08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96142EC9-BB33-F7E4-BFF2-66AEE47EBC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3-&gt;3-&gt;2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5E13C613-FAB9-8564-579F-D3381F5EEB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421020D-7B5F-2841-997D-8D69C84D38D7}" type="slidenum">
              <a:rPr lang="en-US" altLang="zh-CN" smtClean="0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152C6CA3-503F-4AA2-8144-9AAD86B630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F687579-96DB-25B6-274E-FA916D1ECB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5-&gt;6-&gt;4</a:t>
            </a:r>
            <a:r>
              <a:rPr lang="zh-CN" altLang="en-US">
                <a:latin typeface="Arial" panose="020B0604020202020204" pitchFamily="34" charset="0"/>
              </a:rPr>
              <a:t>（编码变成解码）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FD07F432-F36F-DEE5-CB8D-B0E75FAFD3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25508B6-7E38-D047-87DB-83870DFB397B}" type="slidenum">
              <a:rPr lang="en-US" altLang="zh-CN" smtClean="0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5BFC0484-B575-BF14-647D-0BFBB03023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CFE49B2-CE3D-A2F1-1EFE-5E54809C0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1-&gt;1-&gt;6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D1AB57E8-981A-35CC-1BAD-8FFE063F9F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0999866-6DBC-1649-BA4F-A244205F4F4B}" type="slidenum">
              <a:rPr lang="en-US" altLang="zh-CN" smtClean="0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8943C438-DA98-9DA0-5273-B29B08CC7D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9C87E1F-EF07-00B5-687C-1D39DD51E6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Arial" panose="020B0604020202020204" pitchFamily="34" charset="0"/>
              </a:rPr>
              <a:t>17 -&gt;20-&gt;28</a:t>
            </a:r>
          </a:p>
          <a:p>
            <a:pPr eaLnBrk="1" hangingPunct="1">
              <a:defRPr/>
            </a:pPr>
            <a:r>
              <a:rPr lang="zh-CN" altLang="en-US" dirty="0">
                <a:latin typeface="Arial" panose="020B0604020202020204" pitchFamily="34" charset="0"/>
              </a:rPr>
              <a:t>题中可以认为确认帧非常短，</a:t>
            </a:r>
            <a:r>
              <a:rPr lang="zh-CN" altLang="en-US" dirty="0">
                <a:solidFill>
                  <a:srgbClr val="FF0000"/>
                </a:solidFill>
                <a:latin typeface="+mj-ea"/>
              </a:rPr>
              <a:t>发送</a:t>
            </a:r>
            <a:r>
              <a:rPr lang="zh-CN" altLang="en-US">
                <a:solidFill>
                  <a:srgbClr val="FF0000"/>
                </a:solidFill>
                <a:latin typeface="+mj-ea"/>
                <a:ea typeface="+mj-ea"/>
              </a:rPr>
              <a:t>确认帧时间</a:t>
            </a:r>
            <a:r>
              <a:rPr lang="zh-CN" altLang="en-US" dirty="0">
                <a:latin typeface="Arial" panose="020B0604020202020204" pitchFamily="34" charset="0"/>
              </a:rPr>
              <a:t>近似为</a:t>
            </a:r>
            <a:r>
              <a:rPr lang="en-US" altLang="zh-CN" dirty="0">
                <a:latin typeface="Arial" panose="020B0604020202020204" pitchFamily="34" charset="0"/>
              </a:rPr>
              <a:t>0</a:t>
            </a:r>
            <a:r>
              <a:rPr lang="zh-CN" altLang="en-US" dirty="0">
                <a:latin typeface="Arial" panose="020B0604020202020204" pitchFamily="34" charset="0"/>
              </a:rPr>
              <a:t>。效率</a:t>
            </a:r>
            <a:r>
              <a:rPr lang="en-US" altLang="zh-CN" dirty="0">
                <a:latin typeface="Arial" panose="020B0604020202020204" pitchFamily="34" charset="0"/>
              </a:rPr>
              <a:t>=</a:t>
            </a:r>
            <a:r>
              <a:rPr lang="zh-CN" altLang="en-US" dirty="0">
                <a:latin typeface="Arial" panose="020B0604020202020204" pitchFamily="34" charset="0"/>
              </a:rPr>
              <a:t>发送数据帧时间</a:t>
            </a:r>
            <a:r>
              <a:rPr lang="en-US" altLang="zh-CN" dirty="0">
                <a:latin typeface="Arial" panose="020B0604020202020204" pitchFamily="34" charset="0"/>
              </a:rPr>
              <a:t>/</a:t>
            </a:r>
            <a:r>
              <a:rPr lang="zh-CN" altLang="en-US" dirty="0">
                <a:latin typeface="Arial" panose="020B0604020202020204" pitchFamily="34" charset="0"/>
              </a:rPr>
              <a:t>（发送数据帧时间</a:t>
            </a:r>
            <a:r>
              <a:rPr lang="en-US" altLang="zh-CN" dirty="0">
                <a:latin typeface="Arial" panose="020B0604020202020204" pitchFamily="34" charset="0"/>
              </a:rPr>
              <a:t>+</a:t>
            </a:r>
            <a:r>
              <a:rPr lang="zh-CN" altLang="en-US" dirty="0">
                <a:latin typeface="Arial" panose="020B0604020202020204" pitchFamily="34" charset="0"/>
              </a:rPr>
              <a:t>数据帧传输时间</a:t>
            </a:r>
            <a:r>
              <a:rPr lang="en-US" altLang="zh-CN" dirty="0">
                <a:latin typeface="Arial" panose="020B0604020202020204" pitchFamily="34" charset="0"/>
              </a:rPr>
              <a:t>+0+</a:t>
            </a:r>
            <a:r>
              <a:rPr lang="zh-CN" altLang="en-US" dirty="0">
                <a:latin typeface="Arial" panose="020B0604020202020204" pitchFamily="34" charset="0"/>
              </a:rPr>
              <a:t>确认帧传输时间）。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en-US" dirty="0">
                <a:latin typeface="Arial" panose="020B0604020202020204" pitchFamily="34" charset="0"/>
              </a:rPr>
              <a:t>发送数据帧时间</a:t>
            </a:r>
            <a:r>
              <a:rPr lang="en-US" altLang="zh-CN" dirty="0">
                <a:latin typeface="Arial" panose="020B0604020202020204" pitchFamily="34" charset="0"/>
              </a:rPr>
              <a:t>&gt;=</a:t>
            </a:r>
            <a:r>
              <a:rPr lang="zh-CN" altLang="en-US" dirty="0">
                <a:latin typeface="Arial" panose="020B0604020202020204" pitchFamily="34" charset="0"/>
              </a:rPr>
              <a:t>数据帧传输时间（</a:t>
            </a:r>
            <a:r>
              <a:rPr lang="en-US" altLang="zh-CN" dirty="0">
                <a:latin typeface="Arial" panose="020B0604020202020204" pitchFamily="34" charset="0"/>
              </a:rPr>
              <a:t>20</a:t>
            </a:r>
            <a:r>
              <a:rPr lang="zh-CN" altLang="zh-CN" dirty="0">
                <a:latin typeface="Arial" panose="020B0604020202020204" pitchFamily="34" charset="0"/>
              </a:rPr>
              <a:t>ms）+</a:t>
            </a:r>
            <a:r>
              <a:rPr lang="zh-CN" altLang="en-US" dirty="0">
                <a:latin typeface="Arial" panose="020B0604020202020204" pitchFamily="34" charset="0"/>
              </a:rPr>
              <a:t>确认帧传输时间（</a:t>
            </a:r>
            <a:r>
              <a:rPr lang="en-US" altLang="zh-CN" dirty="0">
                <a:latin typeface="Arial" panose="020B0604020202020204" pitchFamily="34" charset="0"/>
              </a:rPr>
              <a:t>20</a:t>
            </a:r>
            <a:r>
              <a:rPr lang="zh-CN" altLang="zh-CN" dirty="0">
                <a:latin typeface="Arial" panose="020B0604020202020204" pitchFamily="34" charset="0"/>
              </a:rPr>
              <a:t>ms），</a:t>
            </a:r>
            <a:r>
              <a:rPr lang="zh-CN" altLang="en-US" dirty="0">
                <a:latin typeface="Arial" panose="020B0604020202020204" pitchFamily="34" charset="0"/>
              </a:rPr>
              <a:t>就至少</a:t>
            </a:r>
            <a:r>
              <a:rPr lang="en-US" altLang="zh-CN" dirty="0">
                <a:latin typeface="Arial" panose="020B0604020202020204" pitchFamily="34" charset="0"/>
              </a:rPr>
              <a:t>50%</a:t>
            </a:r>
            <a:r>
              <a:rPr lang="zh-CN" altLang="en-US" dirty="0">
                <a:latin typeface="Arial" panose="020B0604020202020204" pitchFamily="34" charset="0"/>
              </a:rPr>
              <a:t>的效率。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0B840649-8E67-9506-EEF1-806D29E5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03B1CB9-F437-BB48-BADA-BBEB1266D40A}" type="slidenum">
              <a:rPr lang="en-US" altLang="zh-CN" smtClean="0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D4EF1D3C-1C8F-7710-65B3-1E66E176EF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B73F80B-8DD0-FB9F-3B2E-A08535216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29 -&gt;32-&gt;44</a:t>
            </a:r>
          </a:p>
          <a:p>
            <a:pPr eaLnBrk="1" hangingPunct="1"/>
            <a:endParaRPr lang="en-US" altLang="zh-CN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b="1">
                <a:latin typeface="Arial" panose="020B0604020202020204" pitchFamily="34" charset="0"/>
              </a:rPr>
              <a:t>信道利用率</a:t>
            </a:r>
            <a:r>
              <a:rPr lang="en-US" altLang="zh-CN">
                <a:latin typeface="Arial" panose="020B0604020202020204" pitchFamily="34" charset="0"/>
              </a:rPr>
              <a:t>=</a:t>
            </a:r>
            <a:r>
              <a:rPr lang="zh-CN" altLang="en-US">
                <a:latin typeface="Arial" panose="020B0604020202020204" pitchFamily="34" charset="0"/>
              </a:rPr>
              <a:t>指发送方在一个发送周期的时间内，发送有效数据所需要的时间占整个发送周期的比率。简化版，</a:t>
            </a:r>
            <a:r>
              <a:rPr lang="zh-CN" altLang="en-US" b="1">
                <a:latin typeface="宋体" panose="02010600030101010101" pitchFamily="2" charset="-122"/>
              </a:rPr>
              <a:t>信道利用率</a:t>
            </a:r>
            <a:r>
              <a:rPr lang="en-US" altLang="zh-CN">
                <a:latin typeface="Arial" panose="020B0604020202020204" pitchFamily="34" charset="0"/>
              </a:rPr>
              <a:t>=</a:t>
            </a:r>
            <a:r>
              <a:rPr lang="zh-CN" altLang="en-US">
                <a:latin typeface="Arial" panose="020B0604020202020204" pitchFamily="34" charset="0"/>
              </a:rPr>
              <a:t>发送时间</a:t>
            </a:r>
            <a:r>
              <a:rPr lang="en-US" altLang="zh-CN">
                <a:latin typeface="Arial" panose="020B0604020202020204" pitchFamily="34" charset="0"/>
              </a:rPr>
              <a:t>/</a:t>
            </a:r>
            <a:r>
              <a:rPr lang="zh-CN" altLang="en-US">
                <a:latin typeface="Arial" panose="020B0604020202020204" pitchFamily="34" charset="0"/>
              </a:rPr>
              <a:t>总时间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/>
            <a:endParaRPr lang="en-US" altLang="zh-CN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确认信息被捎带在数据帧中，可以认为确认帧长度为数据帧长度，要考虑发送确认帧的时间</a:t>
            </a:r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88D6E30B-795F-1F9D-E778-5B142C0793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7C8B124-BBDA-9A43-A630-2C9AB43B457D}" type="slidenum">
              <a:rPr lang="en-US" altLang="zh-CN" smtClean="0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797362B8-B520-0297-F98A-4D68E09479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104A718A-F565-CF6D-8669-AD978A857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31 -&gt;34-&gt;46</a:t>
            </a:r>
          </a:p>
          <a:p>
            <a:pPr eaLnBrk="1" hangingPunct="1"/>
            <a:endParaRPr lang="en-US" altLang="zh-CN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非常短的确认，也就是确认帧长度近似为</a:t>
            </a:r>
            <a:r>
              <a:rPr lang="en-US" altLang="zh-CN">
                <a:latin typeface="Arial" panose="020B0604020202020204" pitchFamily="34" charset="0"/>
              </a:rPr>
              <a:t>0</a:t>
            </a:r>
            <a:r>
              <a:rPr lang="zh-CN" altLang="en-US">
                <a:latin typeface="Arial" panose="020B0604020202020204" pitchFamily="34" charset="0"/>
              </a:rPr>
              <a:t>，就不考虑发送确认帧的时间</a:t>
            </a:r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D68CC61E-27B1-5407-9D1C-92FB899815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9078114-9432-584C-A9D9-267C9E59EFFD}" type="slidenum">
              <a:rPr lang="en-US" altLang="zh-CN" smtClean="0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4E83BD7E-C9AF-E3E2-20F7-07C5EBFF51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18CAEE6-1721-E573-9DF9-A8AFEF917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37 -&gt;37-&gt;49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At its smallest, each frame has 2 flag bytes, 1 protocol byte, and 2 checksum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bytes, for a total of 5 overhead bytes per frame. For maximum overhead, 2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flag bytes, 1 byte each for address and control, 2 bytes for protocol and 4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bytes for checksum. This totals to 10 overhead bytes.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B465D063-8ABF-78FF-1A69-A1C29EC264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89184A8-3364-904E-9D9D-0D3F7D2B4C9C}" type="slidenum">
              <a:rPr lang="en-US" altLang="zh-CN" smtClean="0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BCB09208-73D4-4365-7E54-68928F174A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CDC2F2E1-DC5B-225E-89E7-019BBDFB3F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37 -&gt;37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At its smallest, each frame has 2 flag bytes, 1 protocol byte, and 2 checksum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bytes, for a total of 5 overhead bytes per frame. For maximum overhead, 2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flag bytes, 1 byte each for address and control, 2 bytes for protocol and 4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bytes for checksum. This totals to 10 overhead bytes.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CA4C0F8-E4E0-ADAE-9C4D-1C61CBC09C30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5B8F3BEB-F81C-FB01-0D5E-C7BE0E2D49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68C57108-06B4-6E6D-CBC1-3062C74E4D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70E9B11F-9D3A-E847-FCE0-8676D8096A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2CE74AFB-DF62-3B44-4C37-C93E591452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9A467ED-4077-9998-C383-B0938D86C9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A76DD19-0688-E7E1-9258-A40534E86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9482A477-3CD7-701C-B504-51C71E677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A845960C-44E5-CE7D-CA03-A0621C946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CD7C313A-7A8B-DB34-6C75-DB92CB8D905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DFCAC17-E4D4-EFC6-8919-EB6EAA29A3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D24B15B-4998-46C4-1F76-88F3601090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13462AA3-F2C6-DB02-0A35-B162153E98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C611CC69-9C9B-D94E-A114-2DC1A74187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858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7DFBC6C-4E21-6C7F-1423-31048B68DA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39341AE-8CAE-67DB-18B2-C85A31A3F8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75E3AD1-092B-03A1-882E-DD2894BB69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E558B-B71E-AA47-9A79-6588F8FD19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0551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449547E-3B7C-C06B-B5A9-7EF0708A77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67C3597-DC93-236F-777A-716B2AB575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FDF2E19-AC82-6EAB-F42A-2D3065A90C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0D5DA-C274-7E4F-9D96-64163D70F3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2031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6DC594E-FAFB-F31E-BF0F-336BCCBBE1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BB41C18-2100-A21A-A61F-0B085B1BD0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6C6983F-7D6A-C2CC-63F0-43F603A6D9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D9DE11-210A-2348-8C94-B1D21A862D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9499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967C8DE-3C53-5C9A-BF99-A2254719EA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19344CF0-04A8-D89C-11F4-EB06E0E82D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FA5FFCF5-B2FB-D043-B9FF-594715AEC5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FBFA83-C2DE-9F4A-A0EA-AB8606BE65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1948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96424128-5591-C178-D112-2D057FC5D3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3667638A-A5E3-6A6E-28CD-DE526DCC94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EA351F9F-0940-CFFD-0A46-A7872AC5E9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8A778F-28B4-0541-A8E1-EAD67776CD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6979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445FD382-7B1F-D6C2-5521-323918313C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CCDBFD90-F8D0-8970-9772-93C25CD440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A95C0487-A397-EF1A-4D68-8E7F4C23A9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6660A-6595-3D4B-A586-423E0853A7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923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CD35B28-E0BF-A9AD-D836-CE9BC6153C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6DD399F-9435-F8DD-BF2D-E1E5220CB7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481130E-535D-D5E0-0D99-DB676D219D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CBBE06-7F14-ED46-965C-5684A89F53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3264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6C05C77-81D8-F486-1720-693EA8B5A3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60507C8-478A-3EF1-3E7E-876D8E2563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C26F85E-6A3E-E337-E0A3-E0017A3806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89BE1-8C8F-2E41-94D7-D02DB202C4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6067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E1722D3-DFFF-7DDE-DFF9-0F2DC2FA41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350CC63-CB78-1632-6D1A-EE332A017F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4787A91-BCF2-B86D-1874-A36DA62408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18D4FD-2941-E24D-BF34-87267A281C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70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0F81C1D-6DBF-E5E4-4F75-7C8C0FB159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3329346-8E68-B4F8-8039-C5D6AA1210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7A136F4-1E5C-217A-941E-447D5042CA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306405-2104-4E4E-89C5-7BBD4EB134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8960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61D5A61-FD9D-21E5-E341-1E6262E72C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DA26F91-D72A-C3F2-FD64-C700D95BFF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B97E2EE-8F5C-B0BC-00AA-E8CB4E03C6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7CBE5-8B18-A34B-871D-DA7CF0053B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8555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C26AFA5-D559-48EC-0670-D40E9877C4F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FDE4EB8-BE84-255A-6532-639270A2E2B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655F7D7-B3B8-FDBD-0B93-D989E64760A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4CF2A0A-D125-24CC-B1CA-145E8826E8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CE00F8-5F14-939E-862C-18C9C2594A2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3D7D2B91-6877-75C4-BB71-19F3D7F8F87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A79F9692-12F4-066F-5DB2-E6C9DAD24CE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258A5CF9-635E-D443-49A9-9ED0A43AFA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D5930411-0175-A7EC-FAD4-EE21A143F5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6F955AEA-E1EB-B47E-613F-44ACF814925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ADBA9FAF-A45F-72C6-76D9-55E02587DD8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A8FBEAC5-F4F9-EC7B-0223-2E3F7A68321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5B8A036-4AFE-AF40-BB39-D51388B8C4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  <p:sldLayoutId id="214748403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1BCA4156-1626-6516-8B5D-704CE211E0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Ch3 </a:t>
            </a:r>
            <a:r>
              <a:rPr lang="zh-CN" altLang="en-US" b="1">
                <a:latin typeface="宋体" panose="02010600030101010101" pitchFamily="2" charset="-122"/>
              </a:rPr>
              <a:t>数据链路层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A44589E-C0FB-8905-8DDD-B59A6236D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989138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</a:rPr>
              <a:t>．一个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数据流</a:t>
            </a:r>
            <a:r>
              <a:rPr lang="zh-CN" altLang="en-US" b="1" dirty="0">
                <a:solidFill>
                  <a:schemeClr val="hlink"/>
                </a:solidFill>
                <a:latin typeface="宋体" panose="02010600030101010101" pitchFamily="2" charset="-122"/>
              </a:rPr>
              <a:t>中</a:t>
            </a:r>
            <a:r>
              <a:rPr lang="zh-CN" altLang="en-US" b="1" dirty="0">
                <a:latin typeface="宋体" panose="02010600030101010101" pitchFamily="2" charset="-122"/>
              </a:rPr>
              <a:t>出现了这样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数据段</a:t>
            </a:r>
            <a:r>
              <a:rPr lang="zh-CN" altLang="en-US" b="1" dirty="0">
                <a:latin typeface="宋体" panose="02010600030101010101" pitchFamily="2" charset="-122"/>
              </a:rPr>
              <a:t>：</a:t>
            </a:r>
            <a:r>
              <a:rPr lang="en-US" altLang="zh-CN" b="1" dirty="0">
                <a:latin typeface="宋体" panose="02010600030101010101" pitchFamily="2" charset="-122"/>
              </a:rPr>
              <a:t>A B ESC C ESC FLAG </a:t>
            </a:r>
            <a:r>
              <a:rPr lang="en-US" altLang="zh-CN" b="1" dirty="0" err="1">
                <a:latin typeface="宋体" panose="02010600030101010101" pitchFamily="2" charset="-122"/>
              </a:rPr>
              <a:t>FLAG</a:t>
            </a:r>
            <a:r>
              <a:rPr lang="en-US" altLang="zh-CN" b="1" dirty="0">
                <a:latin typeface="宋体" panose="02010600030101010101" pitchFamily="2" charset="-122"/>
              </a:rPr>
              <a:t> D</a:t>
            </a:r>
            <a:r>
              <a:rPr lang="zh-CN" altLang="en-US" b="1" dirty="0">
                <a:latin typeface="宋体" panose="02010600030101010101" pitchFamily="2" charset="-122"/>
              </a:rPr>
              <a:t>，假设采用本章介绍的字节填充算法，试问经过填充之后的输出是什么？</a:t>
            </a:r>
          </a:p>
          <a:p>
            <a:pPr eaLnBrk="1" hangingPunct="1"/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/>
            <a:r>
              <a:rPr lang="en-US" altLang="zh-CN" b="1" dirty="0">
                <a:latin typeface="宋体" panose="02010600030101010101" pitchFamily="2" charset="-122"/>
              </a:rPr>
              <a:t>A B </a:t>
            </a:r>
            <a:r>
              <a:rPr lang="en-US" altLang="zh-CN" b="1" dirty="0">
                <a:solidFill>
                  <a:schemeClr val="hlink"/>
                </a:solidFill>
                <a:latin typeface="宋体" panose="02010600030101010101" pitchFamily="2" charset="-122"/>
              </a:rPr>
              <a:t>ESC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err="1">
                <a:latin typeface="宋体" panose="02010600030101010101" pitchFamily="2" charset="-122"/>
              </a:rPr>
              <a:t>ESC</a:t>
            </a:r>
            <a:r>
              <a:rPr lang="en-US" altLang="zh-CN" b="1" dirty="0">
                <a:latin typeface="宋体" panose="02010600030101010101" pitchFamily="2" charset="-122"/>
              </a:rPr>
              <a:t> C </a:t>
            </a:r>
            <a:r>
              <a:rPr lang="en-US" altLang="zh-CN" b="1" dirty="0">
                <a:solidFill>
                  <a:schemeClr val="hlink"/>
                </a:solidFill>
                <a:latin typeface="宋体" panose="02010600030101010101" pitchFamily="2" charset="-122"/>
              </a:rPr>
              <a:t>ESC </a:t>
            </a:r>
            <a:r>
              <a:rPr lang="en-US" altLang="zh-CN" b="1" dirty="0" err="1">
                <a:latin typeface="宋体" panose="02010600030101010101" pitchFamily="2" charset="-122"/>
              </a:rPr>
              <a:t>ESC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err="1">
                <a:solidFill>
                  <a:schemeClr val="hlink"/>
                </a:solidFill>
                <a:latin typeface="宋体" panose="02010600030101010101" pitchFamily="2" charset="-122"/>
              </a:rPr>
              <a:t>ESC</a:t>
            </a:r>
            <a:r>
              <a:rPr lang="en-US" altLang="zh-CN" b="1" dirty="0">
                <a:latin typeface="宋体" panose="02010600030101010101" pitchFamily="2" charset="-122"/>
              </a:rPr>
              <a:t> FLAG</a:t>
            </a:r>
            <a:r>
              <a:rPr lang="en-US" altLang="zh-CN" b="1" dirty="0">
                <a:solidFill>
                  <a:schemeClr val="hlink"/>
                </a:solidFill>
                <a:latin typeface="宋体" panose="02010600030101010101" pitchFamily="2" charset="-122"/>
              </a:rPr>
              <a:t> ESC</a:t>
            </a:r>
            <a:r>
              <a:rPr lang="en-US" altLang="zh-CN" b="1" dirty="0">
                <a:latin typeface="宋体" panose="02010600030101010101" pitchFamily="2" charset="-122"/>
              </a:rPr>
              <a:t> FLAG 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8345A904-3E14-FDB6-1857-CDF578127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Ch3 </a:t>
            </a:r>
            <a:r>
              <a:rPr lang="zh-CN" altLang="en-US" b="1">
                <a:latin typeface="宋体" panose="02010600030101010101" pitchFamily="2" charset="-122"/>
              </a:rPr>
              <a:t>数据链路层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345BB394-C8B5-A6E9-6FFB-1A526C3A38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7632203" cy="3283495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宋体" panose="02010600030101010101" pitchFamily="2" charset="-122"/>
              </a:rPr>
              <a:t>4</a:t>
            </a:r>
            <a:r>
              <a:rPr lang="zh-CN" altLang="en-US" b="1" dirty="0">
                <a:latin typeface="宋体" panose="02010600030101010101" pitchFamily="2" charset="-122"/>
              </a:rPr>
              <a:t>．你收到了下面的数据段：</a:t>
            </a:r>
            <a:r>
              <a:rPr lang="en-US" altLang="zh-CN" b="1" dirty="0">
                <a:latin typeface="宋体" panose="02010600030101010101" pitchFamily="2" charset="-122"/>
              </a:rPr>
              <a:t>0110 0111 1100 1111 0111 1101,</a:t>
            </a:r>
            <a:r>
              <a:rPr lang="zh-CN" altLang="en-US" b="1" dirty="0">
                <a:latin typeface="宋体" panose="02010600030101010101" pitchFamily="2" charset="-122"/>
              </a:rPr>
              <a:t>并且你知道该协议使用了比特填充编码。请给出经过解码之后的数据。</a:t>
            </a:r>
          </a:p>
          <a:p>
            <a:pPr eaLnBrk="1" hangingPunct="1"/>
            <a:r>
              <a:rPr lang="en-US" altLang="zh-CN" b="1" dirty="0">
                <a:latin typeface="宋体" panose="02010600030101010101" pitchFamily="2" charset="-122"/>
              </a:rPr>
              <a:t>0110 0111 11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0</a:t>
            </a:r>
            <a:r>
              <a:rPr lang="en-US" altLang="zh-CN" b="1" dirty="0">
                <a:latin typeface="宋体" panose="02010600030101010101" pitchFamily="2" charset="-122"/>
              </a:rPr>
              <a:t>0 1111 0111 11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0</a:t>
            </a:r>
            <a:r>
              <a:rPr lang="en-US" altLang="zh-CN" b="1" dirty="0">
                <a:latin typeface="宋体" panose="02010600030101010101" pitchFamily="2" charset="-122"/>
              </a:rPr>
              <a:t>1</a:t>
            </a:r>
          </a:p>
          <a:p>
            <a:pPr eaLnBrk="1" hangingPunct="1"/>
            <a:r>
              <a:rPr lang="en-US" altLang="zh-CN" b="1" dirty="0">
                <a:latin typeface="宋体" panose="02010600030101010101" pitchFamily="2" charset="-122"/>
              </a:rPr>
              <a:t>0110 0111 110 1111 0111 111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9855D8F8-88A8-5C16-0FDD-AEC52F4FF7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Ch3 </a:t>
            </a:r>
            <a:r>
              <a:rPr lang="zh-CN" altLang="en-US" b="1">
                <a:latin typeface="宋体" panose="02010600030101010101" pitchFamily="2" charset="-122"/>
              </a:rPr>
              <a:t>数据链路层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4B331EF8-21A8-B08D-48D2-539C66DCE6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90713"/>
            <a:ext cx="8353425" cy="43576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400" b="1" dirty="0">
                <a:latin typeface="宋体" panose="02010600030101010101" pitchFamily="2" charset="-122"/>
              </a:rPr>
              <a:t>6</a:t>
            </a:r>
            <a:r>
              <a:rPr lang="zh-CN" altLang="en-US" sz="2400" b="1" dirty="0">
                <a:latin typeface="宋体" panose="02010600030101010101" pitchFamily="2" charset="-122"/>
              </a:rPr>
              <a:t>．一个上层的分组被切分成</a:t>
            </a:r>
            <a:r>
              <a:rPr lang="en-US" altLang="zh-CN" sz="2400" b="1" dirty="0">
                <a:latin typeface="宋体" panose="02010600030101010101" pitchFamily="2" charset="-122"/>
              </a:rPr>
              <a:t>10</a:t>
            </a:r>
            <a:r>
              <a:rPr lang="zh-CN" altLang="en-US" sz="2400" b="1" dirty="0">
                <a:latin typeface="宋体" panose="02010600030101010101" pitchFamily="2" charset="-122"/>
              </a:rPr>
              <a:t>帧，每一帧有</a:t>
            </a:r>
            <a:r>
              <a:rPr lang="en-US" altLang="zh-CN" sz="2400" b="1" dirty="0">
                <a:latin typeface="宋体" panose="02010600030101010101" pitchFamily="2" charset="-122"/>
              </a:rPr>
              <a:t>80%</a:t>
            </a:r>
            <a:r>
              <a:rPr lang="zh-CN" altLang="en-US" sz="2400" b="1" dirty="0">
                <a:latin typeface="宋体" panose="02010600030101010101" pitchFamily="2" charset="-122"/>
              </a:rPr>
              <a:t>的机会可以无损害地到达。如果数据链路协议没有提供错误控制的话，请问，该报文平均需要发送多少次才能完整地到达接收方？</a:t>
            </a:r>
          </a:p>
          <a:p>
            <a:pPr eaLnBrk="1" hangingPunct="1">
              <a:lnSpc>
                <a:spcPct val="80000"/>
              </a:lnSpc>
            </a:pP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由于每帧无损坏到达的机会是</a:t>
            </a:r>
            <a:r>
              <a:rPr lang="en-US" altLang="zh-CN" sz="2400" b="1" dirty="0">
                <a:latin typeface="宋体" panose="02010600030101010101" pitchFamily="2" charset="-122"/>
              </a:rPr>
              <a:t>80%</a:t>
            </a:r>
            <a:r>
              <a:rPr lang="zh-CN" altLang="en-US" sz="2400" b="1" dirty="0">
                <a:latin typeface="宋体" panose="02010600030101010101" pitchFamily="2" charset="-122"/>
              </a:rPr>
              <a:t>，报文分成</a:t>
            </a:r>
            <a:r>
              <a:rPr lang="en-US" altLang="zh-CN" sz="2400" b="1" dirty="0">
                <a:latin typeface="宋体" panose="02010600030101010101" pitchFamily="2" charset="-122"/>
              </a:rPr>
              <a:t>10</a:t>
            </a:r>
            <a:r>
              <a:rPr lang="zh-CN" altLang="en-US" sz="2400" b="1" dirty="0">
                <a:latin typeface="宋体" panose="02010600030101010101" pitchFamily="2" charset="-122"/>
              </a:rPr>
              <a:t>帧，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因此，报文无损坏到达接收方（即每个帧无损害到达）的机会                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报文第</a:t>
            </a:r>
            <a:r>
              <a:rPr lang="en-US" altLang="zh-CN" sz="2400" b="1" dirty="0" err="1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次无损坏到达接收方，而前</a:t>
            </a:r>
            <a:r>
              <a:rPr lang="en-US" altLang="zh-CN" sz="2400" b="1" dirty="0">
                <a:latin typeface="宋体" panose="02010600030101010101" pitchFamily="2" charset="-122"/>
              </a:rPr>
              <a:t>i-1</a:t>
            </a:r>
            <a:r>
              <a:rPr lang="zh-CN" altLang="en-US" sz="2400" b="1" dirty="0">
                <a:latin typeface="宋体" panose="02010600030101010101" pitchFamily="2" charset="-122"/>
              </a:rPr>
              <a:t>次都被损坏的机会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</a:rPr>
              <a:t>          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报文完整地到达接收方平均需要的发送次数</a:t>
            </a:r>
          </a:p>
        </p:txBody>
      </p:sp>
      <p:sp>
        <p:nvSpPr>
          <p:cNvPr id="23555" name="Rectangle 5">
            <a:extLst>
              <a:ext uri="{FF2B5EF4-FFF2-40B4-BE49-F238E27FC236}">
                <a16:creationId xmlns:a16="http://schemas.microsoft.com/office/drawing/2014/main" id="{FFE08432-BBC3-0760-AB50-E18FDB2D0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3556" name="Rectangle 7">
            <a:extLst>
              <a:ext uri="{FF2B5EF4-FFF2-40B4-BE49-F238E27FC236}">
                <a16:creationId xmlns:a16="http://schemas.microsoft.com/office/drawing/2014/main" id="{63049DC1-CC3A-71E7-171C-2ACD0CA14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3557" name="Rectangle 9">
            <a:extLst>
              <a:ext uri="{FF2B5EF4-FFF2-40B4-BE49-F238E27FC236}">
                <a16:creationId xmlns:a16="http://schemas.microsoft.com/office/drawing/2014/main" id="{0BBA995C-E6EC-D61F-3518-6B6F69743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3558" name="Rectangle 11">
            <a:extLst>
              <a:ext uri="{FF2B5EF4-FFF2-40B4-BE49-F238E27FC236}">
                <a16:creationId xmlns:a16="http://schemas.microsoft.com/office/drawing/2014/main" id="{BD8AC753-48A5-83E7-1B26-1B8829BB3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23559" name="Object 10">
            <a:extLst>
              <a:ext uri="{FF2B5EF4-FFF2-40B4-BE49-F238E27FC236}">
                <a16:creationId xmlns:a16="http://schemas.microsoft.com/office/drawing/2014/main" id="{F094100B-371F-E80F-DC91-C2226FD2B0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4149725"/>
          <a:ext cx="18716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5742900" imgH="5270500" progId="Equation.3">
                  <p:embed/>
                </p:oleObj>
              </mc:Choice>
              <mc:Fallback>
                <p:oleObj name="公式" r:id="rId3" imgW="25742900" imgH="5270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149725"/>
                        <a:ext cx="18716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Rectangle 13">
            <a:extLst>
              <a:ext uri="{FF2B5EF4-FFF2-40B4-BE49-F238E27FC236}">
                <a16:creationId xmlns:a16="http://schemas.microsoft.com/office/drawing/2014/main" id="{0CC44994-B57E-0BD4-D4DF-525D48111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23561" name="Object 12">
            <a:extLst>
              <a:ext uri="{FF2B5EF4-FFF2-40B4-BE49-F238E27FC236}">
                <a16:creationId xmlns:a16="http://schemas.microsoft.com/office/drawing/2014/main" id="{589ED1DE-F660-123C-22F6-3A16C01D3F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4941888"/>
          <a:ext cx="1800225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2237700" imgH="5562600" progId="Equation.3">
                  <p:embed/>
                </p:oleObj>
              </mc:Choice>
              <mc:Fallback>
                <p:oleObj name="公式" r:id="rId5" imgW="22237700" imgH="5562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941888"/>
                        <a:ext cx="1800225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Rectangle 15">
            <a:extLst>
              <a:ext uri="{FF2B5EF4-FFF2-40B4-BE49-F238E27FC236}">
                <a16:creationId xmlns:a16="http://schemas.microsoft.com/office/drawing/2014/main" id="{A4A71853-FAB4-81FD-23FB-FE04136AA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23563" name="Object 14">
            <a:extLst>
              <a:ext uri="{FF2B5EF4-FFF2-40B4-BE49-F238E27FC236}">
                <a16:creationId xmlns:a16="http://schemas.microsoft.com/office/drawing/2014/main" id="{04D11DD2-0C0F-3E5F-B2A2-03D5E6BE3A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5876925"/>
          <a:ext cx="678815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95961200" imgH="9944100" progId="Equation.3">
                  <p:embed/>
                </p:oleObj>
              </mc:Choice>
              <mc:Fallback>
                <p:oleObj name="公式" r:id="rId7" imgW="95961200" imgH="99441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876925"/>
                        <a:ext cx="678815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C25B2BBA-B5F0-5D4B-4275-3FD55554B7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Ch3 </a:t>
            </a:r>
            <a:r>
              <a:rPr lang="zh-CN" altLang="en-US" b="1">
                <a:latin typeface="宋体" panose="02010600030101010101" pitchFamily="2" charset="-122"/>
              </a:rPr>
              <a:t>数据链路层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7ED9752-0530-455F-DFF7-03883AB0B9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8270875" cy="48402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CN" sz="2800" b="1" dirty="0">
                <a:latin typeface="+mj-ea"/>
                <a:ea typeface="+mj-ea"/>
              </a:rPr>
              <a:t>28</a:t>
            </a:r>
            <a:r>
              <a:rPr lang="zh-CN" altLang="en-US" sz="2800" b="1" dirty="0">
                <a:latin typeface="+mj-ea"/>
                <a:ea typeface="+mj-ea"/>
              </a:rPr>
              <a:t>．一个信道的速率为</a:t>
            </a:r>
            <a:r>
              <a:rPr lang="en-US" altLang="zh-CN" sz="2800" b="1" dirty="0">
                <a:latin typeface="+mj-ea"/>
                <a:ea typeface="+mj-ea"/>
              </a:rPr>
              <a:t>4kbps</a:t>
            </a:r>
            <a:r>
              <a:rPr lang="zh-CN" altLang="en-US" sz="2800" b="1" dirty="0">
                <a:latin typeface="+mj-ea"/>
                <a:ea typeface="+mj-ea"/>
              </a:rPr>
              <a:t>，传输延迟为</a:t>
            </a:r>
            <a:r>
              <a:rPr lang="en-US" altLang="zh-CN" sz="2800" b="1" dirty="0">
                <a:latin typeface="+mj-ea"/>
                <a:ea typeface="+mj-ea"/>
              </a:rPr>
              <a:t>20ms</a:t>
            </a:r>
            <a:r>
              <a:rPr lang="zh-CN" altLang="en-US" sz="2800" b="1" dirty="0">
                <a:latin typeface="+mj-ea"/>
                <a:ea typeface="+mj-ea"/>
              </a:rPr>
              <a:t>。请问帧的大小在什么范围内，停</a:t>
            </a:r>
            <a:r>
              <a:rPr lang="en-US" altLang="zh-CN" sz="2800" b="1" dirty="0">
                <a:latin typeface="+mj-ea"/>
                <a:ea typeface="+mj-ea"/>
              </a:rPr>
              <a:t>-</a:t>
            </a:r>
            <a:r>
              <a:rPr lang="zh-CN" altLang="en-US" sz="2800" b="1" dirty="0">
                <a:latin typeface="+mj-ea"/>
                <a:ea typeface="+mj-ea"/>
              </a:rPr>
              <a:t>等协议才可以获得至少</a:t>
            </a:r>
            <a:r>
              <a:rPr lang="en-US" altLang="zh-CN" sz="2800" b="1" dirty="0">
                <a:latin typeface="+mj-ea"/>
                <a:ea typeface="+mj-ea"/>
              </a:rPr>
              <a:t>50%</a:t>
            </a:r>
            <a:r>
              <a:rPr lang="zh-CN" altLang="en-US" sz="2800" b="1" dirty="0">
                <a:latin typeface="+mj-ea"/>
                <a:ea typeface="+mj-ea"/>
              </a:rPr>
              <a:t>的效率？</a:t>
            </a:r>
          </a:p>
          <a:p>
            <a:pPr eaLnBrk="1" hangingPunct="1">
              <a:lnSpc>
                <a:spcPct val="80000"/>
              </a:lnSpc>
              <a:defRPr/>
            </a:pPr>
            <a:endParaRPr lang="zh-CN" altLang="en-US" sz="2800" b="1" dirty="0">
              <a:latin typeface="+mj-ea"/>
              <a:ea typeface="+mj-ea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800" b="1" dirty="0">
                <a:latin typeface="+mj-ea"/>
                <a:ea typeface="+mj-ea"/>
              </a:rPr>
              <a:t>当发送帧的时间等于帧的往返时间</a:t>
            </a:r>
            <a:r>
              <a:rPr lang="en-US" altLang="zh-CN" sz="2800" b="1" dirty="0">
                <a:latin typeface="+mj-ea"/>
                <a:ea typeface="+mj-ea"/>
              </a:rPr>
              <a:t>(20ms*2=40ms)</a:t>
            </a:r>
            <a:r>
              <a:rPr lang="zh-CN" altLang="en-US" sz="2800" b="1" dirty="0">
                <a:latin typeface="+mj-ea"/>
                <a:ea typeface="+mj-ea"/>
              </a:rPr>
              <a:t>时，效率为</a:t>
            </a:r>
            <a:r>
              <a:rPr lang="en-US" altLang="zh-CN" sz="2800" b="1" dirty="0">
                <a:latin typeface="+mj-ea"/>
                <a:ea typeface="+mj-ea"/>
              </a:rPr>
              <a:t>50%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+mj-ea"/>
                <a:ea typeface="+mj-ea"/>
              </a:rPr>
              <a:t>   </a:t>
            </a:r>
            <a:r>
              <a:rPr lang="zh-CN" altLang="en-US" sz="2800" b="1" dirty="0">
                <a:latin typeface="+mj-ea"/>
                <a:ea typeface="+mj-ea"/>
              </a:rPr>
              <a:t>信道的位速率为</a:t>
            </a:r>
            <a:r>
              <a:rPr lang="en-US" altLang="zh-CN" sz="2800" b="1" dirty="0">
                <a:latin typeface="+mj-ea"/>
                <a:ea typeface="+mj-ea"/>
              </a:rPr>
              <a:t>4kbps</a:t>
            </a:r>
            <a:r>
              <a:rPr lang="zh-CN" altLang="en-US" sz="2800" b="1" dirty="0">
                <a:latin typeface="+mj-ea"/>
                <a:ea typeface="+mj-ea"/>
              </a:rPr>
              <a:t>时，</a:t>
            </a:r>
            <a:r>
              <a:rPr lang="en-US" altLang="zh-CN" sz="2800" b="1" dirty="0">
                <a:latin typeface="+mj-ea"/>
                <a:ea typeface="+mj-ea"/>
              </a:rPr>
              <a:t>40ms</a:t>
            </a:r>
            <a:r>
              <a:rPr lang="zh-CN" altLang="en-US" sz="2800" b="1" dirty="0">
                <a:latin typeface="+mj-ea"/>
                <a:ea typeface="+mj-ea"/>
              </a:rPr>
              <a:t>发送</a:t>
            </a:r>
            <a:r>
              <a:rPr lang="en-US" altLang="zh-CN" sz="2800" b="1" dirty="0">
                <a:latin typeface="+mj-ea"/>
                <a:ea typeface="+mj-ea"/>
              </a:rPr>
              <a:t>4kbps*40ms=4*1000</a:t>
            </a:r>
            <a:r>
              <a:rPr lang="zh-CN" altLang="en-US" sz="2800" b="1" dirty="0">
                <a:latin typeface="+mj-ea"/>
                <a:ea typeface="+mj-ea"/>
              </a:rPr>
              <a:t>位</a:t>
            </a:r>
            <a:r>
              <a:rPr lang="en-US" altLang="zh-CN" sz="2800" b="1" dirty="0">
                <a:latin typeface="+mj-ea"/>
                <a:ea typeface="+mj-ea"/>
              </a:rPr>
              <a:t>/s*40*0.001s=160</a:t>
            </a:r>
            <a:r>
              <a:rPr lang="zh-CN" altLang="en-US" sz="2800" b="1" dirty="0">
                <a:latin typeface="+mj-ea"/>
                <a:ea typeface="+mj-ea"/>
              </a:rPr>
              <a:t>位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2800" b="1" dirty="0">
                <a:latin typeface="+mj-ea"/>
                <a:ea typeface="+mj-ea"/>
              </a:rPr>
              <a:t>   当一帧大于</a:t>
            </a:r>
            <a:r>
              <a:rPr lang="en-US" altLang="zh-CN" sz="2800" b="1" dirty="0">
                <a:latin typeface="+mj-ea"/>
                <a:ea typeface="+mj-ea"/>
              </a:rPr>
              <a:t>160</a:t>
            </a:r>
            <a:r>
              <a:rPr lang="zh-CN" altLang="en-US" sz="2800" b="1" dirty="0">
                <a:latin typeface="+mj-ea"/>
                <a:ea typeface="+mj-ea"/>
              </a:rPr>
              <a:t>位时，停</a:t>
            </a:r>
            <a:r>
              <a:rPr lang="en-US" altLang="zh-CN" sz="2800" b="1" dirty="0">
                <a:latin typeface="+mj-ea"/>
                <a:ea typeface="+mj-ea"/>
              </a:rPr>
              <a:t>-</a:t>
            </a:r>
            <a:r>
              <a:rPr lang="zh-CN" altLang="en-US" sz="2800" b="1" dirty="0">
                <a:latin typeface="+mj-ea"/>
                <a:ea typeface="+mj-ea"/>
              </a:rPr>
              <a:t>等协议可获得至少</a:t>
            </a:r>
            <a:r>
              <a:rPr lang="en-US" altLang="zh-CN" sz="2800" b="1" dirty="0">
                <a:latin typeface="+mj-ea"/>
                <a:ea typeface="+mj-ea"/>
              </a:rPr>
              <a:t>50%</a:t>
            </a:r>
            <a:r>
              <a:rPr lang="zh-CN" altLang="en-US" sz="2800" b="1" dirty="0">
                <a:latin typeface="+mj-ea"/>
                <a:ea typeface="+mj-ea"/>
              </a:rPr>
              <a:t>的效率</a:t>
            </a:r>
            <a:endParaRPr lang="en-US" altLang="zh-CN" sz="2800" b="1" dirty="0">
              <a:latin typeface="+mj-ea"/>
              <a:ea typeface="+mj-ea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800" b="1" dirty="0">
              <a:latin typeface="+mj-ea"/>
              <a:ea typeface="+mj-ea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2800" b="1" dirty="0">
                <a:latin typeface="+mj-ea"/>
                <a:ea typeface="+mj-ea"/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注：可以认为确认帧非常短，忽略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</a:rPr>
              <a:t>发送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确认帧时间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AB3C959D-D1CB-F132-20F6-A3A66DF2A6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Ch3 </a:t>
            </a:r>
            <a:r>
              <a:rPr lang="zh-CN" altLang="en-US" b="1">
                <a:latin typeface="宋体" panose="02010600030101010101" pitchFamily="2" charset="-122"/>
              </a:rPr>
              <a:t>数据链路层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5FAD4327-CDAA-2FD4-18C9-F43367930B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017713"/>
            <a:ext cx="8415338" cy="45069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44</a:t>
            </a:r>
            <a:r>
              <a:rPr lang="zh-CN" altLang="en-US" sz="1800" b="1" dirty="0">
                <a:latin typeface="宋体" panose="02010600030101010101" pitchFamily="2" charset="-122"/>
              </a:rPr>
              <a:t>．利用地球同步卫星在一个</a:t>
            </a:r>
            <a:r>
              <a:rPr lang="en-US" altLang="zh-CN" sz="1800" b="1" dirty="0">
                <a:latin typeface="宋体" panose="02010600030101010101" pitchFamily="2" charset="-122"/>
              </a:rPr>
              <a:t>1Mbps</a:t>
            </a:r>
            <a:r>
              <a:rPr lang="zh-CN" altLang="en-US" sz="1800" b="1" dirty="0">
                <a:latin typeface="宋体" panose="02010600030101010101" pitchFamily="2" charset="-122"/>
              </a:rPr>
              <a:t>的信道上发送</a:t>
            </a:r>
            <a:r>
              <a:rPr lang="en-US" altLang="zh-CN" sz="1800" b="1" dirty="0">
                <a:latin typeface="宋体" panose="02010600030101010101" pitchFamily="2" charset="-122"/>
              </a:rPr>
              <a:t>1000</a:t>
            </a:r>
            <a:r>
              <a:rPr lang="zh-CN" altLang="en-US" sz="1800" b="1" dirty="0">
                <a:latin typeface="宋体" panose="02010600030101010101" pitchFamily="2" charset="-122"/>
              </a:rPr>
              <a:t>位的帧，该信道与地球之间的传输延迟为</a:t>
            </a:r>
            <a:r>
              <a:rPr lang="en-US" altLang="zh-CN" sz="1800" b="1" dirty="0">
                <a:latin typeface="宋体" panose="02010600030101010101" pitchFamily="2" charset="-122"/>
              </a:rPr>
              <a:t>270ms</a:t>
            </a:r>
            <a:r>
              <a:rPr lang="zh-CN" altLang="en-US" sz="1800" b="1" dirty="0">
                <a:latin typeface="宋体" panose="02010600030101010101" pitchFamily="2" charset="-122"/>
              </a:rPr>
              <a:t>。确认信息总是</a:t>
            </a:r>
            <a:r>
              <a:rPr lang="zh-CN" altLang="en-US" sz="1800" b="1" dirty="0">
                <a:solidFill>
                  <a:schemeClr val="hlink"/>
                </a:solidFill>
                <a:latin typeface="宋体" panose="02010600030101010101" pitchFamily="2" charset="-122"/>
              </a:rPr>
              <a:t>被捎带</a:t>
            </a:r>
            <a:r>
              <a:rPr lang="zh-CN" altLang="en-US" sz="1800" b="1" dirty="0">
                <a:latin typeface="宋体" panose="02010600030101010101" pitchFamily="2" charset="-122"/>
              </a:rPr>
              <a:t>在数据帧中。帧头非常短，序列号使用了</a:t>
            </a:r>
            <a:r>
              <a:rPr lang="en-US" altLang="zh-CN" sz="1800" b="1" dirty="0">
                <a:latin typeface="宋体" panose="02010600030101010101" pitchFamily="2" charset="-122"/>
              </a:rPr>
              <a:t>3</a:t>
            </a:r>
            <a:r>
              <a:rPr lang="zh-CN" altLang="en-US" sz="1800" b="1" dirty="0">
                <a:latin typeface="宋体" panose="02010600030101010101" pitchFamily="2" charset="-122"/>
              </a:rPr>
              <a:t>位。在下面的协议中，可获得的最大信道利用率是多少？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1800" b="1" dirty="0">
                <a:latin typeface="宋体" panose="02010600030101010101" pitchFamily="2" charset="-122"/>
              </a:rPr>
              <a:t>   （</a:t>
            </a:r>
            <a:r>
              <a:rPr lang="en-US" altLang="zh-CN" sz="1800" b="1" dirty="0">
                <a:latin typeface="宋体" panose="02010600030101010101" pitchFamily="2" charset="-122"/>
              </a:rPr>
              <a:t>a</a:t>
            </a:r>
            <a:r>
              <a:rPr lang="zh-CN" altLang="en-US" sz="1800" b="1" dirty="0">
                <a:latin typeface="宋体" panose="02010600030101010101" pitchFamily="2" charset="-122"/>
              </a:rPr>
              <a:t>）停</a:t>
            </a:r>
            <a:r>
              <a:rPr lang="en-US" altLang="zh-CN" sz="1800" b="1" dirty="0">
                <a:latin typeface="宋体" panose="02010600030101010101" pitchFamily="2" charset="-122"/>
              </a:rPr>
              <a:t>-</a:t>
            </a:r>
            <a:r>
              <a:rPr lang="zh-CN" altLang="en-US" sz="1800" b="1" dirty="0">
                <a:latin typeface="宋体" panose="02010600030101010101" pitchFamily="2" charset="-122"/>
              </a:rPr>
              <a:t>等协议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1800" b="1" dirty="0">
                <a:latin typeface="宋体" panose="02010600030101010101" pitchFamily="2" charset="-122"/>
              </a:rPr>
              <a:t>   （</a:t>
            </a:r>
            <a:r>
              <a:rPr lang="en-US" altLang="zh-CN" sz="1800" b="1" dirty="0">
                <a:latin typeface="宋体" panose="02010600030101010101" pitchFamily="2" charset="-122"/>
              </a:rPr>
              <a:t>b</a:t>
            </a:r>
            <a:r>
              <a:rPr lang="zh-CN" altLang="en-US" sz="1800" b="1" dirty="0">
                <a:latin typeface="宋体" panose="02010600030101010101" pitchFamily="2" charset="-122"/>
              </a:rPr>
              <a:t>）协议</a:t>
            </a:r>
            <a:r>
              <a:rPr lang="en-US" altLang="zh-CN" sz="1800" b="1" dirty="0">
                <a:latin typeface="宋体" panose="02010600030101010101" pitchFamily="2" charset="-122"/>
              </a:rPr>
              <a:t>5</a:t>
            </a:r>
            <a:r>
              <a:rPr lang="zh-CN" altLang="en-US" sz="1800" b="1" dirty="0">
                <a:latin typeface="宋体" panose="02010600030101010101" pitchFamily="2" charset="-122"/>
              </a:rPr>
              <a:t>（回退</a:t>
            </a:r>
            <a:r>
              <a:rPr lang="en-US" altLang="zh-CN" sz="1800" b="1" dirty="0">
                <a:latin typeface="宋体" panose="02010600030101010101" pitchFamily="2" charset="-122"/>
              </a:rPr>
              <a:t>N</a:t>
            </a:r>
            <a:r>
              <a:rPr lang="zh-CN" altLang="en-US" sz="1800" b="1" dirty="0">
                <a:latin typeface="宋体" panose="02010600030101010101" pitchFamily="2" charset="-122"/>
              </a:rPr>
              <a:t>协议）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   </a:t>
            </a:r>
            <a:r>
              <a:rPr lang="zh-CN" altLang="en-US" sz="1800" b="1" dirty="0">
                <a:latin typeface="宋体" panose="02010600030101010101" pitchFamily="2" charset="-122"/>
              </a:rPr>
              <a:t>（</a:t>
            </a:r>
            <a:r>
              <a:rPr lang="en-US" altLang="zh-CN" sz="1800" b="1" dirty="0">
                <a:latin typeface="宋体" panose="02010600030101010101" pitchFamily="2" charset="-122"/>
              </a:rPr>
              <a:t>c</a:t>
            </a:r>
            <a:r>
              <a:rPr lang="zh-CN" altLang="en-US" sz="1800" b="1" dirty="0">
                <a:latin typeface="宋体" panose="02010600030101010101" pitchFamily="2" charset="-122"/>
              </a:rPr>
              <a:t>）协议</a:t>
            </a:r>
            <a:r>
              <a:rPr lang="en-US" altLang="zh-CN" sz="1800" b="1" dirty="0">
                <a:latin typeface="宋体" panose="02010600030101010101" pitchFamily="2" charset="-122"/>
              </a:rPr>
              <a:t>6</a:t>
            </a:r>
            <a:r>
              <a:rPr lang="zh-CN" altLang="en-US" sz="1800" b="1" dirty="0">
                <a:latin typeface="宋体" panose="02010600030101010101" pitchFamily="2" charset="-122"/>
              </a:rPr>
              <a:t>（选择重传协议）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1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zh-CN" sz="1800" b="1" dirty="0">
                <a:latin typeface="宋体" panose="02010600030101010101" pitchFamily="2" charset="-122"/>
              </a:rPr>
              <a:t>在一个</a:t>
            </a:r>
            <a:r>
              <a:rPr lang="en-US" altLang="zh-CN" sz="1800" b="1" dirty="0">
                <a:latin typeface="宋体" panose="02010600030101010101" pitchFamily="2" charset="-122"/>
              </a:rPr>
              <a:t>1Mbps</a:t>
            </a:r>
            <a:r>
              <a:rPr lang="zh-CN" altLang="en-US" sz="1800" b="1" dirty="0">
                <a:latin typeface="宋体" panose="02010600030101010101" pitchFamily="2" charset="-122"/>
              </a:rPr>
              <a:t>的信道上发送</a:t>
            </a:r>
            <a:r>
              <a:rPr lang="en-US" altLang="zh-CN" sz="1800" b="1" dirty="0">
                <a:latin typeface="宋体" panose="02010600030101010101" pitchFamily="2" charset="-122"/>
              </a:rPr>
              <a:t>1000</a:t>
            </a:r>
            <a:r>
              <a:rPr lang="zh-CN" altLang="en-US" sz="1800" b="1" dirty="0">
                <a:latin typeface="宋体" panose="02010600030101010101" pitchFamily="2" charset="-122"/>
              </a:rPr>
              <a:t>位的帧的时间为</a:t>
            </a:r>
            <a:r>
              <a:rPr lang="en-US" altLang="zh-CN" sz="1800" b="1" dirty="0">
                <a:latin typeface="宋体" panose="02010600030101010101" pitchFamily="2" charset="-122"/>
              </a:rPr>
              <a:t>1000/10</a:t>
            </a:r>
            <a:r>
              <a:rPr lang="en-US" altLang="zh-CN" sz="1800" b="1" baseline="30000" dirty="0">
                <a:latin typeface="宋体" panose="02010600030101010101" pitchFamily="2" charset="-122"/>
              </a:rPr>
              <a:t>6</a:t>
            </a:r>
            <a:r>
              <a:rPr lang="en-US" altLang="zh-CN" sz="1800" b="1" dirty="0">
                <a:latin typeface="宋体" panose="02010600030101010101" pitchFamily="2" charset="-122"/>
              </a:rPr>
              <a:t>(s)=1ms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    </a:t>
            </a:r>
            <a:r>
              <a:rPr lang="zh-CN" altLang="en-US" sz="1800" b="1" dirty="0">
                <a:latin typeface="宋体" panose="02010600030101010101" pitchFamily="2" charset="-122"/>
              </a:rPr>
              <a:t>当</a:t>
            </a:r>
            <a:r>
              <a:rPr lang="en-US" altLang="zh-CN" sz="1800" b="1" dirty="0">
                <a:latin typeface="宋体" panose="02010600030101010101" pitchFamily="2" charset="-122"/>
              </a:rPr>
              <a:t>t=0</a:t>
            </a:r>
            <a:r>
              <a:rPr lang="zh-CN" altLang="en-US" sz="1800" b="1" dirty="0">
                <a:latin typeface="宋体" panose="02010600030101010101" pitchFamily="2" charset="-122"/>
              </a:rPr>
              <a:t>时，发送方开始发送第一帧，当</a:t>
            </a:r>
            <a:r>
              <a:rPr lang="en-US" altLang="zh-CN" sz="1800" b="1" dirty="0">
                <a:latin typeface="宋体" panose="02010600030101010101" pitchFamily="2" charset="-122"/>
              </a:rPr>
              <a:t>t=1ms</a:t>
            </a:r>
            <a:r>
              <a:rPr lang="zh-CN" altLang="en-US" sz="1800" b="1" dirty="0">
                <a:latin typeface="宋体" panose="02010600030101010101" pitchFamily="2" charset="-122"/>
              </a:rPr>
              <a:t>时，该帧已被完全发送出去了，当</a:t>
            </a:r>
            <a:r>
              <a:rPr lang="en-US" altLang="zh-CN" sz="1800" b="1" dirty="0">
                <a:latin typeface="宋体" panose="02010600030101010101" pitchFamily="2" charset="-122"/>
              </a:rPr>
              <a:t>t=271ms</a:t>
            </a:r>
            <a:r>
              <a:rPr lang="zh-CN" altLang="en-US" sz="1800" b="1" dirty="0">
                <a:latin typeface="宋体" panose="02010600030101010101" pitchFamily="2" charset="-122"/>
              </a:rPr>
              <a:t>时，该帧才完全到达接收方，</a:t>
            </a:r>
            <a:r>
              <a:rPr lang="en-US" altLang="zh-CN" sz="1800" b="1" dirty="0">
                <a:latin typeface="宋体" panose="02010600030101010101" pitchFamily="2" charset="-122"/>
              </a:rPr>
              <a:t>t=272ms</a:t>
            </a:r>
            <a:r>
              <a:rPr lang="zh-CN" altLang="en-US" sz="1800" b="1" dirty="0">
                <a:latin typeface="宋体" panose="02010600030101010101" pitchFamily="2" charset="-122"/>
              </a:rPr>
              <a:t>时，该帧的确认帧已被完全发送出去了，</a:t>
            </a:r>
            <a:r>
              <a:rPr lang="en-US" altLang="zh-CN" sz="1800" b="1" dirty="0">
                <a:latin typeface="宋体" panose="02010600030101010101" pitchFamily="2" charset="-122"/>
              </a:rPr>
              <a:t>t=542ms</a:t>
            </a:r>
            <a:r>
              <a:rPr lang="zh-CN" altLang="en-US" sz="1800" b="1" dirty="0">
                <a:latin typeface="宋体" panose="02010600030101010101" pitchFamily="2" charset="-122"/>
              </a:rPr>
              <a:t>时，该帧的确认帧才回到发送方。这样，一个周期的时间为</a:t>
            </a:r>
            <a:r>
              <a:rPr lang="en-US" altLang="zh-CN" sz="1800" b="1" dirty="0">
                <a:latin typeface="宋体" panose="02010600030101010101" pitchFamily="2" charset="-122"/>
              </a:rPr>
              <a:t>542ms</a:t>
            </a:r>
            <a:r>
              <a:rPr lang="zh-CN" altLang="en-US" sz="1800" b="1" dirty="0">
                <a:latin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1800" b="1" dirty="0">
                <a:latin typeface="宋体" panose="02010600030101010101" pitchFamily="2" charset="-122"/>
              </a:rPr>
              <a:t>    因此，在</a:t>
            </a:r>
            <a:r>
              <a:rPr lang="en-US" altLang="zh-CN" sz="1800" b="1" dirty="0">
                <a:latin typeface="宋体" panose="02010600030101010101" pitchFamily="2" charset="-122"/>
              </a:rPr>
              <a:t>542ms</a:t>
            </a:r>
            <a:r>
              <a:rPr lang="zh-CN" altLang="en-US" sz="1800" b="1" dirty="0">
                <a:latin typeface="宋体" panose="02010600030101010101" pitchFamily="2" charset="-122"/>
              </a:rPr>
              <a:t>内发送</a:t>
            </a:r>
            <a:r>
              <a:rPr lang="en-US" altLang="zh-CN" sz="1800" b="1" dirty="0">
                <a:latin typeface="宋体" panose="02010600030101010101" pitchFamily="2" charset="-122"/>
              </a:rPr>
              <a:t>k</a:t>
            </a:r>
            <a:r>
              <a:rPr lang="zh-CN" altLang="en-US" sz="1800" b="1" dirty="0">
                <a:latin typeface="宋体" panose="02010600030101010101" pitchFamily="2" charset="-122"/>
              </a:rPr>
              <a:t>个帧的信道利用率为</a:t>
            </a:r>
            <a:r>
              <a:rPr lang="en-US" altLang="zh-CN" sz="1800" b="1" dirty="0">
                <a:latin typeface="宋体" panose="02010600030101010101" pitchFamily="2" charset="-122"/>
              </a:rPr>
              <a:t>k</a:t>
            </a:r>
            <a:r>
              <a:rPr lang="zh-CN" altLang="en-US" sz="1800" b="1" dirty="0">
                <a:latin typeface="宋体" panose="02010600030101010101" pitchFamily="2" charset="-122"/>
              </a:rPr>
              <a:t>*</a:t>
            </a:r>
            <a:r>
              <a:rPr lang="en-US" altLang="zh-CN" sz="1800" b="1" dirty="0">
                <a:latin typeface="宋体" panose="02010600030101010101" pitchFamily="2" charset="-122"/>
              </a:rPr>
              <a:t>1ms/542ms=k/542</a:t>
            </a:r>
            <a:r>
              <a:rPr lang="zh-CN" altLang="en-US" sz="1800" b="1" dirty="0">
                <a:latin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1800" b="1" dirty="0">
                <a:latin typeface="宋体" panose="02010600030101010101" pitchFamily="2" charset="-122"/>
              </a:rPr>
              <a:t>    所以，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1800" b="1" dirty="0">
                <a:latin typeface="宋体" panose="02010600030101010101" pitchFamily="2" charset="-122"/>
              </a:rPr>
              <a:t>      （</a:t>
            </a:r>
            <a:r>
              <a:rPr lang="en-US" altLang="zh-CN" sz="1800" b="1" dirty="0">
                <a:latin typeface="宋体" panose="02010600030101010101" pitchFamily="2" charset="-122"/>
              </a:rPr>
              <a:t>a</a:t>
            </a:r>
            <a:r>
              <a:rPr lang="zh-CN" altLang="en-US" sz="1800" b="1" dirty="0">
                <a:latin typeface="宋体" panose="02010600030101010101" pitchFamily="2" charset="-122"/>
              </a:rPr>
              <a:t>）停</a:t>
            </a:r>
            <a:r>
              <a:rPr lang="en-US" altLang="zh-CN" sz="1800" b="1" dirty="0">
                <a:latin typeface="宋体" panose="02010600030101010101" pitchFamily="2" charset="-122"/>
              </a:rPr>
              <a:t>-</a:t>
            </a:r>
            <a:r>
              <a:rPr lang="zh-CN" altLang="en-US" sz="1800" b="1" dirty="0">
                <a:latin typeface="宋体" panose="02010600030101010101" pitchFamily="2" charset="-122"/>
              </a:rPr>
              <a:t>等协议，</a:t>
            </a:r>
            <a:r>
              <a:rPr lang="en-US" altLang="zh-CN" sz="1800" b="1" dirty="0">
                <a:latin typeface="宋体" panose="02010600030101010101" pitchFamily="2" charset="-122"/>
              </a:rPr>
              <a:t>k=1</a:t>
            </a:r>
            <a:r>
              <a:rPr lang="zh-CN" altLang="en-US" sz="1800" b="1" dirty="0">
                <a:latin typeface="宋体" panose="02010600030101010101" pitchFamily="2" charset="-122"/>
              </a:rPr>
              <a:t>，信道利用率</a:t>
            </a:r>
            <a:r>
              <a:rPr lang="en-US" altLang="zh-CN" sz="1800" b="1" dirty="0">
                <a:latin typeface="宋体" panose="02010600030101010101" pitchFamily="2" charset="-122"/>
              </a:rPr>
              <a:t>=1*1/542=0.18%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      </a:t>
            </a:r>
            <a:r>
              <a:rPr lang="zh-CN" altLang="en-US" sz="1800" b="1" dirty="0">
                <a:latin typeface="宋体" panose="02010600030101010101" pitchFamily="2" charset="-122"/>
              </a:rPr>
              <a:t>（</a:t>
            </a:r>
            <a:r>
              <a:rPr lang="en-US" altLang="zh-CN" sz="1800" b="1" dirty="0">
                <a:latin typeface="宋体" panose="02010600030101010101" pitchFamily="2" charset="-122"/>
              </a:rPr>
              <a:t>b</a:t>
            </a:r>
            <a:r>
              <a:rPr lang="zh-CN" altLang="en-US" sz="1800" b="1" dirty="0">
                <a:latin typeface="宋体" panose="02010600030101010101" pitchFamily="2" charset="-122"/>
              </a:rPr>
              <a:t>）协议</a:t>
            </a:r>
            <a:r>
              <a:rPr lang="en-US" altLang="zh-CN" sz="1800" b="1" dirty="0">
                <a:latin typeface="宋体" panose="02010600030101010101" pitchFamily="2" charset="-122"/>
              </a:rPr>
              <a:t>5</a:t>
            </a:r>
            <a:r>
              <a:rPr lang="zh-CN" altLang="en-US" sz="1800" b="1" dirty="0">
                <a:latin typeface="宋体" panose="02010600030101010101" pitchFamily="2" charset="-122"/>
              </a:rPr>
              <a:t>，</a:t>
            </a:r>
            <a:r>
              <a:rPr lang="en-US" altLang="zh-CN" sz="1800" b="1" dirty="0">
                <a:latin typeface="宋体" panose="02010600030101010101" pitchFamily="2" charset="-122"/>
              </a:rPr>
              <a:t>k=8-1=7</a:t>
            </a:r>
            <a:r>
              <a:rPr lang="zh-CN" altLang="en-US" sz="1800" b="1" dirty="0">
                <a:latin typeface="宋体" panose="02010600030101010101" pitchFamily="2" charset="-122"/>
              </a:rPr>
              <a:t>，信道利用率</a:t>
            </a:r>
            <a:r>
              <a:rPr lang="en-US" altLang="zh-CN" sz="1800" b="1" dirty="0">
                <a:latin typeface="宋体" panose="02010600030101010101" pitchFamily="2" charset="-122"/>
              </a:rPr>
              <a:t>=7*1/542=1.29%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      </a:t>
            </a:r>
            <a:r>
              <a:rPr lang="zh-CN" altLang="en-US" sz="1800" b="1" dirty="0">
                <a:latin typeface="宋体" panose="02010600030101010101" pitchFamily="2" charset="-122"/>
              </a:rPr>
              <a:t>（</a:t>
            </a:r>
            <a:r>
              <a:rPr lang="en-US" altLang="zh-CN" sz="1800" b="1" dirty="0">
                <a:latin typeface="宋体" panose="02010600030101010101" pitchFamily="2" charset="-122"/>
              </a:rPr>
              <a:t>c</a:t>
            </a:r>
            <a:r>
              <a:rPr lang="zh-CN" altLang="en-US" sz="1800" b="1" dirty="0">
                <a:latin typeface="宋体" panose="02010600030101010101" pitchFamily="2" charset="-122"/>
              </a:rPr>
              <a:t>）协议</a:t>
            </a:r>
            <a:r>
              <a:rPr lang="en-US" altLang="zh-CN" sz="1800" b="1" dirty="0">
                <a:latin typeface="宋体" panose="02010600030101010101" pitchFamily="2" charset="-122"/>
              </a:rPr>
              <a:t>6</a:t>
            </a:r>
            <a:r>
              <a:rPr lang="zh-CN" altLang="en-US" sz="1800" b="1" dirty="0">
                <a:latin typeface="宋体" panose="02010600030101010101" pitchFamily="2" charset="-122"/>
              </a:rPr>
              <a:t>，</a:t>
            </a:r>
            <a:r>
              <a:rPr lang="en-US" altLang="zh-CN" sz="1800" b="1" dirty="0">
                <a:latin typeface="宋体" panose="02010600030101010101" pitchFamily="2" charset="-122"/>
              </a:rPr>
              <a:t>k=8/2=4</a:t>
            </a:r>
            <a:r>
              <a:rPr lang="zh-CN" altLang="en-US" sz="1800" b="1" dirty="0">
                <a:latin typeface="宋体" panose="02010600030101010101" pitchFamily="2" charset="-122"/>
              </a:rPr>
              <a:t>，信道利用率</a:t>
            </a:r>
            <a:r>
              <a:rPr lang="en-US" altLang="zh-CN" sz="1800" b="1" dirty="0">
                <a:latin typeface="宋体" panose="02010600030101010101" pitchFamily="2" charset="-122"/>
              </a:rPr>
              <a:t>=4*1/542=0.74%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23528625-4F67-7F0A-F072-FAEEB6FD3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Ch3 </a:t>
            </a:r>
            <a:r>
              <a:rPr lang="zh-CN" altLang="en-US" b="1">
                <a:latin typeface="宋体" panose="02010600030101010101" pitchFamily="2" charset="-122"/>
              </a:rPr>
              <a:t>数据链路层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1594450-6348-C1A3-AC50-7E61917F8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4175" y="1989138"/>
            <a:ext cx="8559800" cy="457993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46</a:t>
            </a:r>
            <a:r>
              <a:rPr lang="zh-CN" altLang="en-US" sz="1600" b="1" dirty="0">
                <a:latin typeface="宋体" panose="02010600030101010101" pitchFamily="2" charset="-122"/>
              </a:rPr>
              <a:t>．考虑在一个无错误的</a:t>
            </a:r>
            <a:r>
              <a:rPr lang="en-US" altLang="zh-CN" sz="1600" b="1" dirty="0">
                <a:latin typeface="宋体" panose="02010600030101010101" pitchFamily="2" charset="-122"/>
              </a:rPr>
              <a:t>64kbps</a:t>
            </a:r>
            <a:r>
              <a:rPr lang="zh-CN" altLang="en-US" sz="1600" b="1" dirty="0">
                <a:latin typeface="宋体" panose="02010600030101010101" pitchFamily="2" charset="-122"/>
              </a:rPr>
              <a:t>卫星信道上单向发送</a:t>
            </a:r>
            <a:r>
              <a:rPr lang="en-US" altLang="zh-CN" sz="1600" b="1" dirty="0">
                <a:latin typeface="宋体" panose="02010600030101010101" pitchFamily="2" charset="-122"/>
              </a:rPr>
              <a:t>512</a:t>
            </a:r>
            <a:r>
              <a:rPr lang="zh-CN" altLang="en-US" sz="1600" b="1" dirty="0">
                <a:latin typeface="宋体" panose="02010600030101010101" pitchFamily="2" charset="-122"/>
              </a:rPr>
              <a:t>字节的数据帧，有一些</a:t>
            </a:r>
            <a:r>
              <a:rPr lang="zh-CN" altLang="en-US" sz="1600" b="1" dirty="0">
                <a:solidFill>
                  <a:schemeClr val="hlink"/>
                </a:solidFill>
                <a:latin typeface="宋体" panose="02010600030101010101" pitchFamily="2" charset="-122"/>
              </a:rPr>
              <a:t>非常短的确认</a:t>
            </a:r>
            <a:r>
              <a:rPr lang="zh-CN" altLang="en-US" sz="1600" b="1" dirty="0">
                <a:latin typeface="宋体" panose="02010600030101010101" pitchFamily="2" charset="-122"/>
              </a:rPr>
              <a:t>从另一个方向回来。对于窗口大小为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</a:rPr>
              <a:t>7</a:t>
            </a:r>
            <a:r>
              <a:rPr lang="zh-CN" altLang="en-US" sz="1600" b="1" dirty="0">
                <a:latin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</a:rPr>
              <a:t>15</a:t>
            </a:r>
            <a:r>
              <a:rPr lang="zh-CN" altLang="en-US" sz="1600" b="1" dirty="0">
                <a:latin typeface="宋体" panose="02010600030101010101" pitchFamily="2" charset="-122"/>
              </a:rPr>
              <a:t>和</a:t>
            </a:r>
            <a:r>
              <a:rPr lang="en-US" altLang="zh-CN" sz="1600" b="1" dirty="0">
                <a:latin typeface="宋体" panose="02010600030101010101" pitchFamily="2" charset="-122"/>
              </a:rPr>
              <a:t>127</a:t>
            </a:r>
            <a:r>
              <a:rPr lang="zh-CN" altLang="en-US" sz="1600" b="1" dirty="0">
                <a:latin typeface="宋体" panose="02010600030101010101" pitchFamily="2" charset="-122"/>
              </a:rPr>
              <a:t>的情形，最大的吞吐量分别是多少？从地球到卫星的传输时间为</a:t>
            </a:r>
            <a:r>
              <a:rPr lang="en-US" altLang="zh-CN" sz="1600" b="1" dirty="0">
                <a:latin typeface="宋体" panose="02010600030101010101" pitchFamily="2" charset="-122"/>
              </a:rPr>
              <a:t>270ms</a:t>
            </a:r>
            <a:r>
              <a:rPr lang="zh-CN" altLang="en-US" sz="1600" b="1" dirty="0">
                <a:latin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80000"/>
              </a:lnSpc>
            </a:pPr>
            <a:endParaRPr lang="zh-CN" altLang="en-US" sz="16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当</a:t>
            </a:r>
            <a:r>
              <a:rPr lang="en-US" altLang="zh-CN" sz="1600" b="1" dirty="0">
                <a:latin typeface="宋体" panose="02010600030101010101" pitchFamily="2" charset="-122"/>
              </a:rPr>
              <a:t>t=0</a:t>
            </a:r>
            <a:r>
              <a:rPr lang="zh-CN" altLang="en-US" sz="1600" b="1" dirty="0">
                <a:latin typeface="宋体" panose="02010600030101010101" pitchFamily="2" charset="-122"/>
              </a:rPr>
              <a:t>时发送方开始发送第一帧，则</a:t>
            </a:r>
            <a:r>
              <a:rPr lang="en-US" altLang="zh-CN" sz="1600" b="1" dirty="0">
                <a:latin typeface="宋体" panose="02010600030101010101" pitchFamily="2" charset="-122"/>
              </a:rPr>
              <a:t>t=512*8/64000s=64ms</a:t>
            </a:r>
            <a:r>
              <a:rPr lang="zh-CN" altLang="en-US" sz="1600" b="1" dirty="0">
                <a:latin typeface="宋体" panose="02010600030101010101" pitchFamily="2" charset="-122"/>
              </a:rPr>
              <a:t>时，该帧已经被全部发送出去了，</a:t>
            </a:r>
            <a:r>
              <a:rPr lang="en-US" altLang="zh-CN" sz="1600" b="1" dirty="0">
                <a:latin typeface="宋体" panose="02010600030101010101" pitchFamily="2" charset="-122"/>
              </a:rPr>
              <a:t>t=64+270ms=334ms</a:t>
            </a:r>
            <a:r>
              <a:rPr lang="zh-CN" altLang="en-US" sz="1600" b="1" dirty="0">
                <a:latin typeface="宋体" panose="02010600030101010101" pitchFamily="2" charset="-122"/>
              </a:rPr>
              <a:t>时，该帧才完全到达接收方，同时非常短的</a:t>
            </a:r>
            <a:r>
              <a:rPr lang="en-US" altLang="zh-CN" sz="1600" b="1" dirty="0">
                <a:latin typeface="宋体" panose="02010600030101010101" pitchFamily="2" charset="-122"/>
              </a:rPr>
              <a:t>ACK</a:t>
            </a:r>
            <a:r>
              <a:rPr lang="zh-CN" altLang="en-US" sz="1600" b="1" dirty="0">
                <a:latin typeface="宋体" panose="02010600030101010101" pitchFamily="2" charset="-122"/>
              </a:rPr>
              <a:t>发出去，</a:t>
            </a:r>
            <a:r>
              <a:rPr lang="en-US" altLang="zh-CN" sz="1600" b="1" dirty="0">
                <a:latin typeface="宋体" panose="02010600030101010101" pitchFamily="2" charset="-122"/>
              </a:rPr>
              <a:t>t=334+270ms=604ms</a:t>
            </a:r>
            <a:r>
              <a:rPr lang="zh-CN" altLang="en-US" sz="1600" b="1" dirty="0">
                <a:latin typeface="宋体" panose="02010600030101010101" pitchFamily="2" charset="-122"/>
              </a:rPr>
              <a:t>时，该</a:t>
            </a:r>
            <a:r>
              <a:rPr lang="en-US" altLang="zh-CN" sz="1600" b="1" dirty="0">
                <a:latin typeface="宋体" panose="02010600030101010101" pitchFamily="2" charset="-122"/>
              </a:rPr>
              <a:t>ACK</a:t>
            </a:r>
            <a:r>
              <a:rPr lang="zh-CN" altLang="en-US" sz="1600" b="1" dirty="0">
                <a:latin typeface="宋体" panose="02010600030101010101" pitchFamily="2" charset="-122"/>
              </a:rPr>
              <a:t>才回到发送方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zh-CN" altLang="en-US" sz="16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1600" b="1" dirty="0">
                <a:latin typeface="宋体" panose="02010600030101010101" pitchFamily="2" charset="-122"/>
              </a:rPr>
              <a:t>    当窗口大小为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时，数据率为</a:t>
            </a:r>
            <a:r>
              <a:rPr lang="en-US" altLang="zh-CN" sz="1600" b="1" dirty="0">
                <a:latin typeface="宋体" panose="02010600030101010101" pitchFamily="2" charset="-122"/>
              </a:rPr>
              <a:t>512*8</a:t>
            </a:r>
            <a:r>
              <a:rPr lang="zh-CN" altLang="en-US" sz="1600" b="1" dirty="0">
                <a:latin typeface="宋体" panose="02010600030101010101" pitchFamily="2" charset="-122"/>
              </a:rPr>
              <a:t>位</a:t>
            </a:r>
            <a:r>
              <a:rPr lang="en-US" altLang="zh-CN" sz="1600" b="1" dirty="0">
                <a:latin typeface="宋体" panose="02010600030101010101" pitchFamily="2" charset="-122"/>
              </a:rPr>
              <a:t>/604ms=6.781</a:t>
            </a:r>
            <a:r>
              <a:rPr lang="zh-CN" altLang="en-US" sz="1600" b="1" dirty="0">
                <a:latin typeface="宋体" panose="02010600030101010101" pitchFamily="2" charset="-122"/>
              </a:rPr>
              <a:t>位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en-US" altLang="zh-CN" sz="1600" b="1" dirty="0" err="1">
                <a:latin typeface="宋体" panose="02010600030101010101" pitchFamily="2" charset="-122"/>
              </a:rPr>
              <a:t>ms</a:t>
            </a:r>
            <a:r>
              <a:rPr lang="en-US" altLang="zh-CN" sz="1600" b="1" dirty="0">
                <a:latin typeface="宋体" panose="02010600030101010101" pitchFamily="2" charset="-122"/>
              </a:rPr>
              <a:t>=6781bps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dirty="0">
                <a:latin typeface="宋体" panose="02010600030101010101" pitchFamily="2" charset="-122"/>
              </a:rPr>
              <a:t>    </a:t>
            </a:r>
            <a:r>
              <a:rPr lang="zh-CN" altLang="en-US" sz="1600" b="1" dirty="0">
                <a:latin typeface="宋体" panose="02010600030101010101" pitchFamily="2" charset="-122"/>
              </a:rPr>
              <a:t>当窗口大小为</a:t>
            </a:r>
            <a:r>
              <a:rPr lang="en-US" altLang="zh-CN" sz="1600" b="1" dirty="0">
                <a:latin typeface="宋体" panose="02010600030101010101" pitchFamily="2" charset="-122"/>
              </a:rPr>
              <a:t>7</a:t>
            </a:r>
            <a:r>
              <a:rPr lang="zh-CN" altLang="en-US" sz="1600" b="1" dirty="0">
                <a:latin typeface="宋体" panose="02010600030101010101" pitchFamily="2" charset="-122"/>
              </a:rPr>
              <a:t>时，</a:t>
            </a:r>
            <a:r>
              <a:rPr lang="en-US" altLang="zh-CN" sz="1600" b="1" dirty="0">
                <a:latin typeface="宋体" panose="02010600030101010101" pitchFamily="2" charset="-122"/>
              </a:rPr>
              <a:t>7</a:t>
            </a:r>
            <a:r>
              <a:rPr lang="zh-CN" altLang="en-US" sz="1600" b="1" dirty="0">
                <a:latin typeface="宋体" panose="02010600030101010101" pitchFamily="2" charset="-122"/>
              </a:rPr>
              <a:t>个帧的发送时间为</a:t>
            </a:r>
            <a:r>
              <a:rPr lang="en-US" altLang="zh-CN" sz="1600" b="1" dirty="0">
                <a:latin typeface="宋体" panose="02010600030101010101" pitchFamily="2" charset="-122"/>
              </a:rPr>
              <a:t>64*7ms=448ms</a:t>
            </a:r>
            <a:r>
              <a:rPr lang="zh-CN" altLang="en-US" sz="1600" b="1" dirty="0">
                <a:latin typeface="宋体" panose="02010600030101010101" pitchFamily="2" charset="-122"/>
              </a:rPr>
              <a:t>，发送完这</a:t>
            </a:r>
            <a:r>
              <a:rPr lang="en-US" altLang="zh-CN" sz="1600" b="1" dirty="0">
                <a:latin typeface="宋体" panose="02010600030101010101" pitchFamily="2" charset="-122"/>
              </a:rPr>
              <a:t>7</a:t>
            </a:r>
            <a:r>
              <a:rPr lang="zh-CN" altLang="en-US" sz="1600" b="1" dirty="0">
                <a:latin typeface="宋体" panose="02010600030101010101" pitchFamily="2" charset="-122"/>
              </a:rPr>
              <a:t>个帧后发送方停下来，在</a:t>
            </a:r>
            <a:r>
              <a:rPr lang="en-US" altLang="zh-CN" sz="1600" b="1" dirty="0">
                <a:latin typeface="宋体" panose="02010600030101010101" pitchFamily="2" charset="-122"/>
              </a:rPr>
              <a:t>604ms</a:t>
            </a:r>
            <a:r>
              <a:rPr lang="zh-CN" altLang="en-US" sz="1600" b="1" dirty="0">
                <a:latin typeface="宋体" panose="02010600030101010101" pitchFamily="2" charset="-122"/>
              </a:rPr>
              <a:t>时，第一个</a:t>
            </a:r>
            <a:r>
              <a:rPr lang="en-US" altLang="zh-CN" sz="1600" b="1" dirty="0">
                <a:latin typeface="宋体" panose="02010600030101010101" pitchFamily="2" charset="-122"/>
              </a:rPr>
              <a:t>ACK</a:t>
            </a:r>
            <a:r>
              <a:rPr lang="zh-CN" altLang="en-US" sz="1600" b="1" dirty="0">
                <a:latin typeface="宋体" panose="02010600030101010101" pitchFamily="2" charset="-122"/>
              </a:rPr>
              <a:t>到达，新的周期又开始了。这种情况的数据率为</a:t>
            </a:r>
            <a:r>
              <a:rPr lang="en-US" altLang="zh-CN" sz="1600" b="1" dirty="0">
                <a:latin typeface="宋体" panose="02010600030101010101" pitchFamily="2" charset="-122"/>
              </a:rPr>
              <a:t>512*8*7</a:t>
            </a:r>
            <a:r>
              <a:rPr lang="zh-CN" altLang="en-US" sz="1600" b="1" dirty="0">
                <a:latin typeface="宋体" panose="02010600030101010101" pitchFamily="2" charset="-122"/>
              </a:rPr>
              <a:t>位</a:t>
            </a:r>
            <a:r>
              <a:rPr lang="en-US" altLang="zh-CN" sz="1600" b="1" dirty="0">
                <a:latin typeface="宋体" panose="02010600030101010101" pitchFamily="2" charset="-122"/>
              </a:rPr>
              <a:t>/604ms</a:t>
            </a:r>
            <a:r>
              <a:rPr lang="zh-CN" altLang="en-US" sz="1600" b="1" dirty="0">
                <a:latin typeface="宋体" panose="02010600030101010101" pitchFamily="2" charset="-122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</a:rPr>
              <a:t>=47470bps</a:t>
            </a:r>
            <a:r>
              <a:rPr lang="zh-CN" altLang="en-US" sz="1600" b="1" dirty="0">
                <a:latin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zh-CN" altLang="en-US" sz="16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1600" b="1" dirty="0">
                <a:latin typeface="宋体" panose="02010600030101010101" pitchFamily="2" charset="-122"/>
              </a:rPr>
              <a:t>     直到</a:t>
            </a:r>
            <a:r>
              <a:rPr lang="en-US" altLang="zh-CN" sz="1600" b="1" dirty="0">
                <a:latin typeface="宋体" panose="02010600030101010101" pitchFamily="2" charset="-122"/>
              </a:rPr>
              <a:t>604ms</a:t>
            </a:r>
            <a:r>
              <a:rPr lang="zh-CN" altLang="en-US" sz="1600" b="1" dirty="0">
                <a:latin typeface="宋体" panose="02010600030101010101" pitchFamily="2" charset="-122"/>
              </a:rPr>
              <a:t>时，第一个</a:t>
            </a:r>
            <a:r>
              <a:rPr lang="en-US" altLang="zh-CN" sz="1600" b="1" dirty="0">
                <a:latin typeface="宋体" panose="02010600030101010101" pitchFamily="2" charset="-122"/>
              </a:rPr>
              <a:t>ACK</a:t>
            </a:r>
            <a:r>
              <a:rPr lang="zh-CN" altLang="en-US" sz="1600" b="1" dirty="0">
                <a:latin typeface="宋体" panose="02010600030101010101" pitchFamily="2" charset="-122"/>
              </a:rPr>
              <a:t>返回，如果发送方在这段时间一直有数据帧可发，就可以连续不断地发送数据帧了。也就是，如果窗口大小</a:t>
            </a:r>
            <a:r>
              <a:rPr lang="en-US" altLang="zh-CN" sz="1600" b="1" dirty="0">
                <a:latin typeface="宋体" panose="02010600030101010101" pitchFamily="2" charset="-122"/>
              </a:rPr>
              <a:t>&gt;604ms/64ms=9.44</a:t>
            </a:r>
            <a:r>
              <a:rPr lang="zh-CN" altLang="en-US" sz="1600" b="1" dirty="0">
                <a:latin typeface="宋体" panose="02010600030101010101" pitchFamily="2" charset="-122"/>
              </a:rPr>
              <a:t>，发送方只要有足够的数据，就能以</a:t>
            </a:r>
            <a:r>
              <a:rPr lang="en-US" altLang="zh-CN" sz="1600" b="1" dirty="0">
                <a:latin typeface="宋体" panose="02010600030101010101" pitchFamily="2" charset="-122"/>
              </a:rPr>
              <a:t>64kbps</a:t>
            </a:r>
            <a:r>
              <a:rPr lang="zh-CN" altLang="en-US" sz="1600" b="1" dirty="0">
                <a:latin typeface="宋体" panose="02010600030101010101" pitchFamily="2" charset="-122"/>
              </a:rPr>
              <a:t>速率传输数据帧。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1600" b="1" dirty="0">
                <a:latin typeface="宋体" panose="02010600030101010101" pitchFamily="2" charset="-122"/>
              </a:rPr>
              <a:t>  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1600" b="1" dirty="0">
                <a:latin typeface="宋体" panose="02010600030101010101" pitchFamily="2" charset="-122"/>
              </a:rPr>
              <a:t>     如果窗口大小≥</a:t>
            </a:r>
            <a:r>
              <a:rPr lang="en-US" altLang="zh-CN" sz="1600" b="1" dirty="0">
                <a:latin typeface="宋体" panose="02010600030101010101" pitchFamily="2" charset="-122"/>
              </a:rPr>
              <a:t>10</a:t>
            </a:r>
            <a:r>
              <a:rPr lang="zh-CN" altLang="en-US" sz="1600" b="1" dirty="0">
                <a:latin typeface="宋体" panose="02010600030101010101" pitchFamily="2" charset="-122"/>
              </a:rPr>
              <a:t>，就满足条件了，因此，对于窗口大小≥</a:t>
            </a:r>
            <a:r>
              <a:rPr lang="en-US" altLang="zh-CN" sz="1600" b="1" dirty="0">
                <a:latin typeface="宋体" panose="02010600030101010101" pitchFamily="2" charset="-122"/>
              </a:rPr>
              <a:t>10</a:t>
            </a:r>
            <a:r>
              <a:rPr lang="zh-CN" altLang="en-US" sz="1600" b="1" dirty="0">
                <a:latin typeface="宋体" panose="02010600030101010101" pitchFamily="2" charset="-122"/>
              </a:rPr>
              <a:t>（如</a:t>
            </a:r>
            <a:r>
              <a:rPr lang="en-US" altLang="zh-CN" sz="1600" b="1" dirty="0">
                <a:latin typeface="宋体" panose="02010600030101010101" pitchFamily="2" charset="-122"/>
              </a:rPr>
              <a:t>15</a:t>
            </a:r>
            <a:r>
              <a:rPr lang="zh-CN" altLang="en-US" sz="1600" b="1" dirty="0">
                <a:latin typeface="宋体" panose="02010600030101010101" pitchFamily="2" charset="-122"/>
              </a:rPr>
              <a:t>或</a:t>
            </a:r>
            <a:r>
              <a:rPr lang="en-US" altLang="zh-CN" sz="1600" b="1" dirty="0">
                <a:latin typeface="宋体" panose="02010600030101010101" pitchFamily="2" charset="-122"/>
              </a:rPr>
              <a:t>127</a:t>
            </a:r>
            <a:r>
              <a:rPr lang="zh-CN" altLang="en-US" sz="1600" b="1" dirty="0">
                <a:latin typeface="宋体" panose="02010600030101010101" pitchFamily="2" charset="-122"/>
              </a:rPr>
              <a:t>）的情况，传输速率为</a:t>
            </a:r>
            <a:r>
              <a:rPr lang="en-US" altLang="zh-CN" sz="1600" b="1" dirty="0">
                <a:latin typeface="宋体" panose="02010600030101010101" pitchFamily="2" charset="-122"/>
              </a:rPr>
              <a:t>64kbps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>
            <a:extLst>
              <a:ext uri="{FF2B5EF4-FFF2-40B4-BE49-F238E27FC236}">
                <a16:creationId xmlns:a16="http://schemas.microsoft.com/office/drawing/2014/main" id="{14896EBD-E5E2-BFBC-89B2-E8DE82EBF1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latin typeface="宋体" panose="02010600030101010101" pitchFamily="2" charset="-122"/>
              </a:rPr>
              <a:t>Ch3 </a:t>
            </a:r>
            <a:r>
              <a:rPr lang="zh-CN" altLang="en-US" b="1">
                <a:latin typeface="宋体" panose="02010600030101010101" pitchFamily="2" charset="-122"/>
              </a:rPr>
              <a:t>数据链路层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C1A142-45D8-A388-B6DA-E622E332C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2017713"/>
            <a:ext cx="8486775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US" sz="1800" b="1" dirty="0">
                <a:latin typeface="+mj-ea"/>
                <a:ea typeface="+mj-ea"/>
              </a:rPr>
              <a:t>补充</a:t>
            </a:r>
            <a:r>
              <a:rPr lang="en-US" altLang="zh-CN" sz="1800" b="1" dirty="0">
                <a:latin typeface="+mj-ea"/>
                <a:ea typeface="+mj-ea"/>
              </a:rPr>
              <a:t>1. </a:t>
            </a:r>
            <a:r>
              <a:rPr lang="zh-CN" altLang="en-US" sz="1800" b="1" dirty="0">
                <a:latin typeface="+mj-ea"/>
                <a:ea typeface="+mj-ea"/>
              </a:rPr>
              <a:t>利用地球同步卫星在一个</a:t>
            </a:r>
            <a:r>
              <a:rPr lang="en-US" altLang="zh-CN" sz="1800" b="1" dirty="0">
                <a:latin typeface="+mj-ea"/>
                <a:ea typeface="+mj-ea"/>
              </a:rPr>
              <a:t>1Mbps</a:t>
            </a:r>
            <a:r>
              <a:rPr lang="zh-CN" altLang="en-US" sz="1800" b="1" dirty="0">
                <a:latin typeface="+mj-ea"/>
                <a:ea typeface="+mj-ea"/>
              </a:rPr>
              <a:t>的信道上发送</a:t>
            </a:r>
            <a:r>
              <a:rPr lang="en-US" altLang="zh-CN" sz="1800" b="1" dirty="0">
                <a:latin typeface="+mj-ea"/>
                <a:ea typeface="+mj-ea"/>
              </a:rPr>
              <a:t>1000</a:t>
            </a:r>
            <a:r>
              <a:rPr lang="zh-CN" altLang="en-US" sz="1800" b="1" dirty="0">
                <a:latin typeface="+mj-ea"/>
                <a:ea typeface="+mj-ea"/>
              </a:rPr>
              <a:t>位的帧，该信道与地球之间的传输延迟为</a:t>
            </a:r>
            <a:r>
              <a:rPr lang="en-US" altLang="zh-CN" sz="1800" b="1" dirty="0">
                <a:latin typeface="+mj-ea"/>
                <a:ea typeface="+mj-ea"/>
              </a:rPr>
              <a:t>270ms</a:t>
            </a:r>
            <a:r>
              <a:rPr lang="zh-CN" altLang="en-US" sz="1800" b="1" dirty="0">
                <a:latin typeface="+mj-ea"/>
                <a:ea typeface="+mj-ea"/>
              </a:rPr>
              <a:t>。确认信息总是</a:t>
            </a:r>
            <a:r>
              <a:rPr lang="zh-CN" altLang="en-US" sz="1800" b="1" dirty="0">
                <a:solidFill>
                  <a:schemeClr val="hlink"/>
                </a:solidFill>
                <a:latin typeface="+mj-ea"/>
                <a:ea typeface="+mj-ea"/>
              </a:rPr>
              <a:t>被捎带</a:t>
            </a:r>
            <a:r>
              <a:rPr lang="zh-CN" altLang="en-US" sz="1800" b="1" dirty="0">
                <a:latin typeface="+mj-ea"/>
                <a:ea typeface="+mj-ea"/>
              </a:rPr>
              <a:t>在数据帧中。帧头非常短。在下面的协议中，为获得的最大信道利用率，序列号应使用至少多少位？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1800" b="1" dirty="0">
                <a:latin typeface="宋体" panose="02010600030101010101" pitchFamily="2" charset="-122"/>
              </a:rPr>
              <a:t>   （</a:t>
            </a:r>
            <a:r>
              <a:rPr lang="en-US" altLang="zh-CN" sz="1800" b="1" dirty="0">
                <a:latin typeface="宋体" panose="02010600030101010101" pitchFamily="2" charset="-122"/>
              </a:rPr>
              <a:t>a</a:t>
            </a:r>
            <a:r>
              <a:rPr lang="zh-CN" altLang="en-US" sz="1800" b="1" dirty="0">
                <a:latin typeface="宋体" panose="02010600030101010101" pitchFamily="2" charset="-122"/>
              </a:rPr>
              <a:t>）协议</a:t>
            </a:r>
            <a:r>
              <a:rPr lang="en-US" altLang="zh-CN" sz="1800" b="1" dirty="0">
                <a:latin typeface="宋体" panose="02010600030101010101" pitchFamily="2" charset="-122"/>
              </a:rPr>
              <a:t>5</a:t>
            </a:r>
            <a:r>
              <a:rPr lang="zh-CN" altLang="en-US" sz="1800" b="1" dirty="0">
                <a:latin typeface="宋体" panose="02010600030101010101" pitchFamily="2" charset="-122"/>
              </a:rPr>
              <a:t>（回退</a:t>
            </a:r>
            <a:r>
              <a:rPr lang="en-US" altLang="zh-CN" sz="1800" b="1" dirty="0">
                <a:latin typeface="宋体" panose="02010600030101010101" pitchFamily="2" charset="-122"/>
              </a:rPr>
              <a:t>N</a:t>
            </a:r>
            <a:r>
              <a:rPr lang="zh-CN" altLang="en-US" sz="1800" b="1" dirty="0">
                <a:latin typeface="宋体" panose="02010600030101010101" pitchFamily="2" charset="-122"/>
              </a:rPr>
              <a:t>协议）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b="1" dirty="0">
                <a:latin typeface="宋体" panose="02010600030101010101" pitchFamily="2" charset="-122"/>
              </a:rPr>
              <a:t>   </a:t>
            </a:r>
            <a:r>
              <a:rPr lang="zh-CN" altLang="en-US" sz="1800" b="1" dirty="0">
                <a:latin typeface="宋体" panose="02010600030101010101" pitchFamily="2" charset="-122"/>
              </a:rPr>
              <a:t>（</a:t>
            </a:r>
            <a:r>
              <a:rPr lang="en-US" altLang="zh-CN" sz="1800" b="1" dirty="0">
                <a:latin typeface="宋体" panose="02010600030101010101" pitchFamily="2" charset="-122"/>
              </a:rPr>
              <a:t>b</a:t>
            </a:r>
            <a:r>
              <a:rPr lang="zh-CN" altLang="en-US" sz="1800" b="1" dirty="0">
                <a:latin typeface="宋体" panose="02010600030101010101" pitchFamily="2" charset="-122"/>
              </a:rPr>
              <a:t>）协议</a:t>
            </a:r>
            <a:r>
              <a:rPr lang="en-US" altLang="zh-CN" sz="1800" b="1" dirty="0">
                <a:latin typeface="宋体" panose="02010600030101010101" pitchFamily="2" charset="-122"/>
              </a:rPr>
              <a:t>6</a:t>
            </a:r>
            <a:r>
              <a:rPr lang="zh-CN" altLang="en-US" sz="1800" b="1" dirty="0">
                <a:latin typeface="宋体" panose="02010600030101010101" pitchFamily="2" charset="-122"/>
              </a:rPr>
              <a:t>（选择重传协议）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1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zh-CN" sz="1800" b="1" dirty="0">
                <a:latin typeface="宋体" panose="02010600030101010101" pitchFamily="2" charset="-122"/>
              </a:rPr>
              <a:t>在一个</a:t>
            </a:r>
            <a:r>
              <a:rPr lang="en-US" altLang="zh-CN" sz="1800" b="1" dirty="0">
                <a:latin typeface="宋体" panose="02010600030101010101" pitchFamily="2" charset="-122"/>
              </a:rPr>
              <a:t>1Mbps</a:t>
            </a:r>
            <a:r>
              <a:rPr lang="zh-CN" altLang="en-US" sz="1800" b="1" dirty="0">
                <a:latin typeface="宋体" panose="02010600030101010101" pitchFamily="2" charset="-122"/>
              </a:rPr>
              <a:t>的信道上发送</a:t>
            </a:r>
            <a:r>
              <a:rPr lang="en-US" altLang="zh-CN" sz="1800" b="1" dirty="0">
                <a:latin typeface="宋体" panose="02010600030101010101" pitchFamily="2" charset="-122"/>
              </a:rPr>
              <a:t>1000</a:t>
            </a:r>
            <a:r>
              <a:rPr lang="zh-CN" altLang="en-US" sz="1800" b="1" dirty="0">
                <a:latin typeface="宋体" panose="02010600030101010101" pitchFamily="2" charset="-122"/>
              </a:rPr>
              <a:t>位的帧的时间为</a:t>
            </a:r>
            <a:r>
              <a:rPr lang="en-US" altLang="zh-CN" sz="1800" b="1" dirty="0">
                <a:latin typeface="宋体" panose="02010600030101010101" pitchFamily="2" charset="-122"/>
              </a:rPr>
              <a:t>1000/10</a:t>
            </a:r>
            <a:r>
              <a:rPr lang="en-US" altLang="zh-CN" sz="1800" b="1" baseline="30000" dirty="0">
                <a:latin typeface="宋体" panose="02010600030101010101" pitchFamily="2" charset="-122"/>
              </a:rPr>
              <a:t>6</a:t>
            </a:r>
            <a:r>
              <a:rPr lang="en-US" altLang="zh-CN" sz="1800" b="1" dirty="0">
                <a:latin typeface="宋体" panose="02010600030101010101" pitchFamily="2" charset="-122"/>
              </a:rPr>
              <a:t>(s)=1ms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b="1" dirty="0">
                <a:latin typeface="宋体" panose="02010600030101010101" pitchFamily="2" charset="-122"/>
              </a:rPr>
              <a:t>   </a:t>
            </a:r>
            <a:r>
              <a:rPr lang="zh-CN" altLang="en-US" sz="1800" b="1" dirty="0">
                <a:latin typeface="宋体" panose="02010600030101010101" pitchFamily="2" charset="-122"/>
              </a:rPr>
              <a:t>当</a:t>
            </a:r>
            <a:r>
              <a:rPr lang="en-US" altLang="zh-CN" sz="1800" b="1" dirty="0">
                <a:latin typeface="宋体" panose="02010600030101010101" pitchFamily="2" charset="-122"/>
              </a:rPr>
              <a:t>t=0</a:t>
            </a:r>
            <a:r>
              <a:rPr lang="zh-CN" altLang="en-US" sz="1800" b="1" dirty="0">
                <a:latin typeface="宋体" panose="02010600030101010101" pitchFamily="2" charset="-122"/>
              </a:rPr>
              <a:t>时，发送方开始发送第一帧，当</a:t>
            </a:r>
            <a:r>
              <a:rPr lang="en-US" altLang="zh-CN" sz="1800" b="1" dirty="0">
                <a:latin typeface="宋体" panose="02010600030101010101" pitchFamily="2" charset="-122"/>
              </a:rPr>
              <a:t>t=1ms</a:t>
            </a:r>
            <a:r>
              <a:rPr lang="zh-CN" altLang="en-US" sz="1800" b="1" dirty="0">
                <a:latin typeface="宋体" panose="02010600030101010101" pitchFamily="2" charset="-122"/>
              </a:rPr>
              <a:t>时，该帧已被完全发送出去了，当</a:t>
            </a:r>
            <a:r>
              <a:rPr lang="en-US" altLang="zh-CN" sz="1800" b="1" dirty="0">
                <a:latin typeface="宋体" panose="02010600030101010101" pitchFamily="2" charset="-122"/>
              </a:rPr>
              <a:t>t=271ms</a:t>
            </a:r>
            <a:r>
              <a:rPr lang="zh-CN" altLang="en-US" sz="1800" b="1" dirty="0">
                <a:latin typeface="宋体" panose="02010600030101010101" pitchFamily="2" charset="-122"/>
              </a:rPr>
              <a:t>时，该帧才完全到达接收方，</a:t>
            </a:r>
            <a:r>
              <a:rPr lang="en-US" altLang="zh-CN" sz="1800" b="1" dirty="0">
                <a:latin typeface="宋体" panose="02010600030101010101" pitchFamily="2" charset="-122"/>
              </a:rPr>
              <a:t>t=272ms</a:t>
            </a:r>
            <a:r>
              <a:rPr lang="zh-CN" altLang="en-US" sz="1800" b="1" dirty="0">
                <a:latin typeface="宋体" panose="02010600030101010101" pitchFamily="2" charset="-122"/>
              </a:rPr>
              <a:t>时，该帧的确认帧已被完全发送出去了，</a:t>
            </a:r>
            <a:r>
              <a:rPr lang="en-US" altLang="zh-CN" sz="1800" b="1" dirty="0">
                <a:latin typeface="宋体" panose="02010600030101010101" pitchFamily="2" charset="-122"/>
              </a:rPr>
              <a:t>t=542ms</a:t>
            </a:r>
            <a:r>
              <a:rPr lang="zh-CN" altLang="en-US" sz="1800" b="1" dirty="0">
                <a:latin typeface="宋体" panose="02010600030101010101" pitchFamily="2" charset="-122"/>
              </a:rPr>
              <a:t>时，该帧的确认帧才回到发送方。如果发送方在这段时间一直有数据帧可发，就可以连续不断地发送数据帧了。也就是，如果窗口大小≥</a:t>
            </a:r>
            <a:r>
              <a:rPr lang="en-US" altLang="zh-CN" sz="1800" b="1" dirty="0">
                <a:latin typeface="宋体" panose="02010600030101010101" pitchFamily="2" charset="-122"/>
              </a:rPr>
              <a:t>542ms/1ms=542</a:t>
            </a:r>
            <a:r>
              <a:rPr lang="zh-CN" altLang="en-US" sz="1800" b="1" dirty="0">
                <a:latin typeface="宋体" panose="02010600030101010101" pitchFamily="2" charset="-122"/>
              </a:rPr>
              <a:t>，就能</a:t>
            </a:r>
            <a:r>
              <a:rPr lang="zh-CN" altLang="en-US" sz="1800" b="1" dirty="0">
                <a:latin typeface="+mj-ea"/>
                <a:ea typeface="+mj-ea"/>
              </a:rPr>
              <a:t>获得的最大信道利用率（</a:t>
            </a:r>
            <a:r>
              <a:rPr lang="en-US" altLang="zh-CN" sz="1800" b="1" dirty="0">
                <a:latin typeface="宋体" panose="02010600030101010101" pitchFamily="2" charset="-122"/>
              </a:rPr>
              <a:t>1Mbps</a:t>
            </a:r>
            <a:r>
              <a:rPr lang="zh-CN" altLang="en-US" sz="1800" b="1" dirty="0">
                <a:latin typeface="宋体" panose="02010600030101010101" pitchFamily="2" charset="-122"/>
              </a:rPr>
              <a:t>）。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zh-CN" altLang="en-US" sz="1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1800" b="1" dirty="0">
                <a:latin typeface="宋体" panose="02010600030101010101" pitchFamily="2" charset="-122"/>
              </a:rPr>
              <a:t>   协议</a:t>
            </a:r>
            <a:r>
              <a:rPr lang="en-US" altLang="zh-CN" sz="1800" b="1" dirty="0">
                <a:latin typeface="宋体" panose="02010600030101010101" pitchFamily="2" charset="-122"/>
              </a:rPr>
              <a:t>5</a:t>
            </a:r>
            <a:r>
              <a:rPr lang="zh-CN" altLang="zh-CN" sz="1800" b="1" dirty="0">
                <a:latin typeface="宋体" panose="02010600030101010101" pitchFamily="2" charset="-122"/>
              </a:rPr>
              <a:t>发送</a:t>
            </a:r>
            <a:r>
              <a:rPr lang="en-US" altLang="zh-CN" sz="1800" b="1" dirty="0">
                <a:latin typeface="宋体" panose="02010600030101010101" pitchFamily="2" charset="-122"/>
              </a:rPr>
              <a:t>542</a:t>
            </a:r>
            <a:r>
              <a:rPr lang="zh-CN" altLang="zh-CN" sz="1800" b="1" dirty="0">
                <a:latin typeface="宋体" panose="02010600030101010101" pitchFamily="2" charset="-122"/>
              </a:rPr>
              <a:t>帧</a:t>
            </a:r>
            <a:r>
              <a:rPr lang="zh-CN" altLang="en-US" sz="1800" b="1" dirty="0">
                <a:latin typeface="+mj-ea"/>
                <a:ea typeface="+mj-ea"/>
              </a:rPr>
              <a:t>序列号</a:t>
            </a:r>
            <a:r>
              <a:rPr lang="zh-CN" altLang="zh-CN" sz="1800" b="1" dirty="0">
                <a:latin typeface="宋体" panose="02010600030101010101" pitchFamily="2" charset="-122"/>
              </a:rPr>
              <a:t>至少需要用</a:t>
            </a:r>
            <a:r>
              <a:rPr lang="en-US" altLang="zh-CN" sz="1800" b="1" dirty="0">
                <a:latin typeface="宋体" panose="02010600030101010101" pitchFamily="2" charset="-122"/>
              </a:rPr>
              <a:t>10</a:t>
            </a:r>
            <a:r>
              <a:rPr lang="zh-CN" altLang="zh-CN" sz="1800" b="1" dirty="0">
                <a:latin typeface="宋体" panose="02010600030101010101" pitchFamily="2" charset="-122"/>
              </a:rPr>
              <a:t>位。</a:t>
            </a:r>
            <a:r>
              <a:rPr lang="en-US" altLang="zh-CN" sz="1800" b="1" dirty="0">
                <a:latin typeface="宋体" panose="02010600030101010101" pitchFamily="2" charset="-122"/>
              </a:rPr>
              <a:t>(2</a:t>
            </a:r>
            <a:r>
              <a:rPr lang="en-US" altLang="zh-CN" sz="1800" b="1" baseline="30000" dirty="0">
                <a:latin typeface="宋体" panose="02010600030101010101" pitchFamily="2" charset="-122"/>
              </a:rPr>
              <a:t>10</a:t>
            </a:r>
            <a:r>
              <a:rPr lang="en-US" altLang="zh-CN" sz="1800" b="1" dirty="0">
                <a:latin typeface="宋体" panose="02010600030101010101" pitchFamily="2" charset="-122"/>
              </a:rPr>
              <a:t>-1=1023&gt;542&gt;2</a:t>
            </a:r>
            <a:r>
              <a:rPr lang="en-US" altLang="zh-CN" sz="1800" b="1" baseline="30000" dirty="0">
                <a:latin typeface="宋体" panose="02010600030101010101" pitchFamily="2" charset="-122"/>
              </a:rPr>
              <a:t>9</a:t>
            </a:r>
            <a:r>
              <a:rPr lang="en-US" altLang="zh-CN" sz="1800" b="1" dirty="0">
                <a:latin typeface="宋体" panose="02010600030101010101" pitchFamily="2" charset="-122"/>
              </a:rPr>
              <a:t>-1=511)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1800" b="1" dirty="0">
                <a:latin typeface="宋体" panose="02010600030101010101" pitchFamily="2" charset="-122"/>
              </a:rPr>
              <a:t>   协议</a:t>
            </a:r>
            <a:r>
              <a:rPr lang="en-US" altLang="zh-CN" sz="1800" b="1" dirty="0">
                <a:latin typeface="宋体" panose="02010600030101010101" pitchFamily="2" charset="-122"/>
              </a:rPr>
              <a:t>6</a:t>
            </a:r>
            <a:r>
              <a:rPr lang="zh-CN" altLang="zh-CN" sz="1800" b="1" dirty="0">
                <a:latin typeface="宋体" panose="02010600030101010101" pitchFamily="2" charset="-122"/>
              </a:rPr>
              <a:t>发送</a:t>
            </a:r>
            <a:r>
              <a:rPr lang="en-US" altLang="zh-CN" sz="1800" b="1" dirty="0">
                <a:latin typeface="宋体" panose="02010600030101010101" pitchFamily="2" charset="-122"/>
              </a:rPr>
              <a:t>542</a:t>
            </a:r>
            <a:r>
              <a:rPr lang="zh-CN" altLang="zh-CN" sz="1800" b="1" dirty="0">
                <a:latin typeface="宋体" panose="02010600030101010101" pitchFamily="2" charset="-122"/>
              </a:rPr>
              <a:t>帧</a:t>
            </a:r>
            <a:r>
              <a:rPr lang="zh-CN" altLang="en-US" sz="1800" b="1" dirty="0">
                <a:latin typeface="+mj-ea"/>
                <a:ea typeface="+mj-ea"/>
              </a:rPr>
              <a:t>序列号</a:t>
            </a:r>
            <a:r>
              <a:rPr lang="zh-CN" altLang="zh-CN" sz="1800" b="1" dirty="0">
                <a:latin typeface="宋体" panose="02010600030101010101" pitchFamily="2" charset="-122"/>
              </a:rPr>
              <a:t>至少需要用</a:t>
            </a:r>
            <a:r>
              <a:rPr lang="en-US" altLang="zh-CN" sz="1800" b="1" dirty="0">
                <a:latin typeface="宋体" panose="02010600030101010101" pitchFamily="2" charset="-122"/>
              </a:rPr>
              <a:t>11</a:t>
            </a:r>
            <a:r>
              <a:rPr lang="zh-CN" altLang="zh-CN" sz="1800" b="1" dirty="0">
                <a:latin typeface="宋体" panose="02010600030101010101" pitchFamily="2" charset="-122"/>
              </a:rPr>
              <a:t>位。</a:t>
            </a:r>
            <a:r>
              <a:rPr lang="en-US" altLang="zh-CN" sz="1800" b="1" dirty="0">
                <a:latin typeface="宋体" panose="02010600030101010101" pitchFamily="2" charset="-122"/>
              </a:rPr>
              <a:t>(2</a:t>
            </a:r>
            <a:r>
              <a:rPr lang="en-US" altLang="zh-CN" sz="1800" b="1" baseline="30000" dirty="0">
                <a:latin typeface="宋体" panose="02010600030101010101" pitchFamily="2" charset="-122"/>
              </a:rPr>
              <a:t>11-1</a:t>
            </a:r>
            <a:r>
              <a:rPr lang="en-US" altLang="zh-CN" sz="1800" b="1" dirty="0">
                <a:latin typeface="宋体" panose="02010600030101010101" pitchFamily="2" charset="-122"/>
              </a:rPr>
              <a:t>=1024&gt;542&gt;2</a:t>
            </a:r>
            <a:r>
              <a:rPr lang="en-US" altLang="zh-CN" sz="1800" b="1" baseline="30000" dirty="0">
                <a:latin typeface="宋体" panose="02010600030101010101" pitchFamily="2" charset="-122"/>
              </a:rPr>
              <a:t>10-1</a:t>
            </a:r>
            <a:r>
              <a:rPr lang="en-US" altLang="zh-CN" sz="1800" b="1" dirty="0">
                <a:latin typeface="宋体" panose="02010600030101010101" pitchFamily="2" charset="-122"/>
              </a:rPr>
              <a:t>=512)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577FF56B-D4B1-3615-2878-CA2DFAAE13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Ch3 </a:t>
            </a:r>
            <a:r>
              <a:rPr lang="zh-CN" altLang="en-US" b="1">
                <a:latin typeface="宋体" panose="02010600030101010101" pitchFamily="2" charset="-122"/>
              </a:rPr>
              <a:t>数据链路层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4CE946F1-612D-FFF3-BB8F-A3ECE60AF55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017713"/>
            <a:ext cx="7205662" cy="44354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400" b="1">
                <a:latin typeface="宋体" panose="02010600030101010101" pitchFamily="2" charset="-122"/>
              </a:rPr>
              <a:t>49</a:t>
            </a:r>
            <a:r>
              <a:rPr lang="zh-CN" altLang="en-US" sz="2400" b="1">
                <a:latin typeface="宋体" panose="02010600030101010101" pitchFamily="2" charset="-122"/>
              </a:rPr>
              <a:t>．试问用</a:t>
            </a:r>
            <a:r>
              <a:rPr lang="en-US" altLang="zh-CN" sz="2400" b="1">
                <a:latin typeface="宋体" panose="02010600030101010101" pitchFamily="2" charset="-122"/>
              </a:rPr>
              <a:t>PPP</a:t>
            </a:r>
            <a:r>
              <a:rPr lang="zh-CN" altLang="en-US" sz="2400" b="1">
                <a:latin typeface="宋体" panose="02010600030101010101" pitchFamily="2" charset="-122"/>
              </a:rPr>
              <a:t>来发送</a:t>
            </a:r>
            <a:r>
              <a:rPr lang="en-US" altLang="zh-CN" sz="2400" b="1">
                <a:latin typeface="宋体" panose="02010600030101010101" pitchFamily="2" charset="-122"/>
              </a:rPr>
              <a:t>IP</a:t>
            </a:r>
            <a:r>
              <a:rPr lang="zh-CN" altLang="en-US" sz="2400" b="1">
                <a:latin typeface="宋体" panose="02010600030101010101" pitchFamily="2" charset="-122"/>
              </a:rPr>
              <a:t>分组的最小开销是多少？只计算由于</a:t>
            </a:r>
            <a:r>
              <a:rPr lang="en-US" altLang="zh-CN" sz="2400" b="1">
                <a:latin typeface="宋体" panose="02010600030101010101" pitchFamily="2" charset="-122"/>
              </a:rPr>
              <a:t>PPP</a:t>
            </a:r>
            <a:r>
              <a:rPr lang="zh-CN" altLang="en-US" sz="2400" b="1">
                <a:latin typeface="宋体" panose="02010600030101010101" pitchFamily="2" charset="-122"/>
              </a:rPr>
              <a:t>本身而引入的开销，不计算</a:t>
            </a:r>
            <a:r>
              <a:rPr lang="en-US" altLang="zh-CN" sz="2400" b="1">
                <a:latin typeface="宋体" panose="02010600030101010101" pitchFamily="2" charset="-122"/>
              </a:rPr>
              <a:t>IP</a:t>
            </a:r>
            <a:r>
              <a:rPr lang="zh-CN" altLang="en-US" sz="2400" b="1">
                <a:latin typeface="宋体" panose="02010600030101010101" pitchFamily="2" charset="-122"/>
              </a:rPr>
              <a:t>头部的开销，试问最大开销又是多少？</a:t>
            </a:r>
          </a:p>
          <a:p>
            <a:pPr eaLnBrk="1" hangingPunct="1">
              <a:lnSpc>
                <a:spcPct val="80000"/>
              </a:lnSpc>
            </a:pPr>
            <a:endParaRPr lang="zh-CN" altLang="en-US" sz="24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zh-CN" altLang="en-US" sz="24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zh-CN" altLang="en-US" sz="24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zh-CN" altLang="en-US" sz="24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zh-CN" altLang="en-US" sz="24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zh-CN" altLang="en-US" sz="24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用</a:t>
            </a:r>
            <a:r>
              <a:rPr lang="en-US" altLang="zh-CN" sz="2400" b="1">
                <a:latin typeface="宋体" panose="02010600030101010101" pitchFamily="2" charset="-122"/>
              </a:rPr>
              <a:t>PPP</a:t>
            </a:r>
            <a:r>
              <a:rPr lang="zh-CN" altLang="en-US" sz="2400" b="1">
                <a:latin typeface="宋体" panose="02010600030101010101" pitchFamily="2" charset="-122"/>
              </a:rPr>
              <a:t>来发送</a:t>
            </a:r>
            <a:r>
              <a:rPr lang="en-US" altLang="zh-CN" sz="2400" b="1">
                <a:latin typeface="宋体" panose="02010600030101010101" pitchFamily="2" charset="-122"/>
              </a:rPr>
              <a:t>IP</a:t>
            </a:r>
            <a:r>
              <a:rPr lang="zh-CN" altLang="en-US" sz="2400" b="1">
                <a:latin typeface="宋体" panose="02010600030101010101" pitchFamily="2" charset="-122"/>
              </a:rPr>
              <a:t>分组的最小开销：每帧有</a:t>
            </a:r>
            <a:r>
              <a:rPr lang="en-US" altLang="zh-CN" sz="2400" b="1">
                <a:latin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</a:rPr>
              <a:t>个标志字节，</a:t>
            </a:r>
            <a:r>
              <a:rPr lang="en-US" altLang="zh-CN" sz="2400" b="1">
                <a:latin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</a:rPr>
              <a:t>个协议字节，</a:t>
            </a:r>
            <a:r>
              <a:rPr lang="en-US" altLang="zh-CN" sz="2400" b="1">
                <a:latin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</a:rPr>
              <a:t>个校验字节，共</a:t>
            </a:r>
            <a:r>
              <a:rPr lang="en-US" altLang="zh-CN" sz="2400" b="1">
                <a:latin typeface="宋体" panose="02010600030101010101" pitchFamily="2" charset="-122"/>
              </a:rPr>
              <a:t>5</a:t>
            </a:r>
            <a:r>
              <a:rPr lang="zh-CN" altLang="en-US" sz="2400" b="1">
                <a:latin typeface="宋体" panose="02010600030101010101" pitchFamily="2" charset="-122"/>
              </a:rPr>
              <a:t>个额外字节。</a:t>
            </a:r>
            <a:r>
              <a:rPr lang="en-US" altLang="zh-CN" sz="2400" b="1">
                <a:latin typeface="宋体" panose="02010600030101010101" pitchFamily="2" charset="-122"/>
              </a:rPr>
              <a:t>(</a:t>
            </a:r>
            <a:r>
              <a:rPr lang="zh-CN" altLang="en-US" sz="2400" b="1">
                <a:latin typeface="宋体" panose="02010600030101010101" pitchFamily="2" charset="-122"/>
              </a:rPr>
              <a:t>详见计算机网络第五版</a:t>
            </a:r>
            <a:r>
              <a:rPr lang="en-US" altLang="zh-CN" sz="2400" b="1">
                <a:latin typeface="宋体" panose="02010600030101010101" pitchFamily="2" charset="-122"/>
              </a:rPr>
              <a:t>P.190)</a:t>
            </a:r>
          </a:p>
          <a:p>
            <a:pPr eaLnBrk="1" hangingPunct="1">
              <a:lnSpc>
                <a:spcPct val="80000"/>
              </a:lnSpc>
            </a:pPr>
            <a:endParaRPr lang="en-US" altLang="zh-CN" sz="2400" b="1">
              <a:latin typeface="宋体" panose="02010600030101010101" pitchFamily="2" charset="-122"/>
            </a:endParaRPr>
          </a:p>
        </p:txBody>
      </p:sp>
      <p:graphicFrame>
        <p:nvGraphicFramePr>
          <p:cNvPr id="32771" name="Object 4">
            <a:extLst>
              <a:ext uri="{FF2B5EF4-FFF2-40B4-BE49-F238E27FC236}">
                <a16:creationId xmlns:a16="http://schemas.microsoft.com/office/drawing/2014/main" id="{A1EF6342-DCE8-C5F2-8477-BAF9BF5E95B3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60825338"/>
              </p:ext>
            </p:extLst>
          </p:nvPr>
        </p:nvGraphicFramePr>
        <p:xfrm>
          <a:off x="1043608" y="3356992"/>
          <a:ext cx="65881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3200400" imgH="476250" progId="Paint.Picture">
                  <p:embed/>
                </p:oleObj>
              </mc:Choice>
              <mc:Fallback>
                <p:oleObj name="位图图像" r:id="rId3" imgW="3200400" imgH="47625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3356992"/>
                        <a:ext cx="658812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5" name="Rectangle 5">
            <a:extLst>
              <a:ext uri="{FF2B5EF4-FFF2-40B4-BE49-F238E27FC236}">
                <a16:creationId xmlns:a16="http://schemas.microsoft.com/office/drawing/2014/main" id="{723B2160-37AC-C78C-92D3-4A5932FC4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825" y="4191000"/>
            <a:ext cx="50323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1400" b="1">
                <a:solidFill>
                  <a:schemeClr val="hlink"/>
                </a:solidFill>
                <a:latin typeface="+mn-ea"/>
                <a:ea typeface="+mn-ea"/>
              </a:rPr>
              <a:t>省略</a:t>
            </a:r>
          </a:p>
        </p:txBody>
      </p:sp>
      <p:sp>
        <p:nvSpPr>
          <p:cNvPr id="66566" name="Rectangle 6">
            <a:extLst>
              <a:ext uri="{FF2B5EF4-FFF2-40B4-BE49-F238E27FC236}">
                <a16:creationId xmlns:a16="http://schemas.microsoft.com/office/drawing/2014/main" id="{82CC41AA-4CC3-A747-2367-68027EF7B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400" y="4191000"/>
            <a:ext cx="50323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1400" b="1">
                <a:solidFill>
                  <a:schemeClr val="hlink"/>
                </a:solidFill>
                <a:latin typeface="+mn-ea"/>
                <a:ea typeface="+mn-ea"/>
              </a:rPr>
              <a:t>省略</a:t>
            </a:r>
          </a:p>
        </p:txBody>
      </p:sp>
      <p:sp>
        <p:nvSpPr>
          <p:cNvPr id="32774" name="Rectangle 7">
            <a:extLst>
              <a:ext uri="{FF2B5EF4-FFF2-40B4-BE49-F238E27FC236}">
                <a16:creationId xmlns:a16="http://schemas.microsoft.com/office/drawing/2014/main" id="{5DFD68CB-2665-0AF5-6D6E-DA3CCF0A0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4191000"/>
            <a:ext cx="863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>
                <a:solidFill>
                  <a:schemeClr val="hlink"/>
                </a:solidFill>
                <a:latin typeface="宋体" panose="02010600030101010101" pitchFamily="2" charset="-122"/>
              </a:rPr>
              <a:t>减少到</a:t>
            </a:r>
            <a:r>
              <a:rPr lang="en-US" altLang="zh-CN" sz="1400" b="1">
                <a:solidFill>
                  <a:schemeClr val="hlink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400" b="1">
                <a:solidFill>
                  <a:schemeClr val="hlink"/>
                </a:solidFill>
                <a:latin typeface="宋体" panose="02010600030101010101" pitchFamily="2" charset="-122"/>
              </a:rPr>
              <a:t>个字节</a:t>
            </a:r>
          </a:p>
        </p:txBody>
      </p:sp>
      <p:sp>
        <p:nvSpPr>
          <p:cNvPr id="32775" name="Rectangle 8">
            <a:extLst>
              <a:ext uri="{FF2B5EF4-FFF2-40B4-BE49-F238E27FC236}">
                <a16:creationId xmlns:a16="http://schemas.microsoft.com/office/drawing/2014/main" id="{D2161822-FE8E-6715-AFC2-01BDE86BA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5925" y="4175125"/>
            <a:ext cx="863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>
                <a:solidFill>
                  <a:schemeClr val="hlink"/>
                </a:solidFill>
                <a:latin typeface="宋体" panose="02010600030101010101" pitchFamily="2" charset="-122"/>
              </a:rPr>
              <a:t>减少到</a:t>
            </a:r>
            <a:r>
              <a:rPr lang="en-US" altLang="zh-CN" sz="1400" b="1">
                <a:solidFill>
                  <a:schemeClr val="hlink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1400" b="1">
                <a:solidFill>
                  <a:schemeClr val="hlink"/>
                </a:solidFill>
                <a:latin typeface="宋体" panose="02010600030101010101" pitchFamily="2" charset="-122"/>
              </a:rPr>
              <a:t>个字节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FDC25F3F-4DB1-7C57-19FE-01AF07E7EE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Ch3 </a:t>
            </a:r>
            <a:r>
              <a:rPr lang="zh-CN" altLang="en-US" b="1">
                <a:latin typeface="宋体" panose="02010600030101010101" pitchFamily="2" charset="-122"/>
              </a:rPr>
              <a:t>数据链路层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B0ADF21-FEB6-AFE9-B34A-1916DB8725A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017713"/>
            <a:ext cx="7205662" cy="4435475"/>
          </a:xfrm>
        </p:spPr>
        <p:txBody>
          <a:bodyPr/>
          <a:lstStyle/>
          <a:p>
            <a:pPr eaLnBrk="1" hangingPunct="1"/>
            <a:endParaRPr lang="en-US" altLang="zh-CN" sz="2800" b="1">
              <a:latin typeface="宋体" panose="02010600030101010101" pitchFamily="2" charset="-122"/>
            </a:endParaRPr>
          </a:p>
          <a:p>
            <a:pPr eaLnBrk="1" hangingPunct="1"/>
            <a:endParaRPr lang="en-US" altLang="zh-CN" sz="2800" b="1">
              <a:latin typeface="宋体" panose="02010600030101010101" pitchFamily="2" charset="-122"/>
            </a:endParaRPr>
          </a:p>
          <a:p>
            <a:pPr eaLnBrk="1" hangingPunct="1"/>
            <a:endParaRPr lang="en-US" altLang="zh-CN" sz="2800" b="1">
              <a:latin typeface="宋体" panose="02010600030101010101" pitchFamily="2" charset="-122"/>
            </a:endParaRPr>
          </a:p>
          <a:p>
            <a:pPr eaLnBrk="1" hangingPunct="1"/>
            <a:endParaRPr lang="en-US" altLang="zh-CN" sz="2800" b="1">
              <a:latin typeface="宋体" panose="02010600030101010101" pitchFamily="2" charset="-122"/>
            </a:endParaRPr>
          </a:p>
          <a:p>
            <a:pPr eaLnBrk="1" hangingPunct="1"/>
            <a:endParaRPr lang="en-US" altLang="zh-CN" sz="2800" b="1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2800" b="1">
                <a:latin typeface="宋体" panose="02010600030101010101" pitchFamily="2" charset="-122"/>
              </a:rPr>
              <a:t>最大开销：每帧有</a:t>
            </a:r>
            <a:r>
              <a:rPr lang="en-US" altLang="zh-CN" sz="2800" b="1">
                <a:latin typeface="宋体" panose="02010600030101010101" pitchFamily="2" charset="-122"/>
              </a:rPr>
              <a:t>2</a:t>
            </a:r>
            <a:r>
              <a:rPr lang="zh-CN" altLang="en-US" sz="2800" b="1">
                <a:latin typeface="宋体" panose="02010600030101010101" pitchFamily="2" charset="-122"/>
              </a:rPr>
              <a:t>个标志字节， </a:t>
            </a:r>
            <a:r>
              <a:rPr lang="en-US" altLang="zh-CN" sz="2800" b="1">
                <a:latin typeface="宋体" panose="02010600030101010101" pitchFamily="2" charset="-122"/>
              </a:rPr>
              <a:t>1</a:t>
            </a:r>
            <a:r>
              <a:rPr lang="zh-CN" altLang="en-US" sz="2800" b="1">
                <a:latin typeface="宋体" panose="02010600030101010101" pitchFamily="2" charset="-122"/>
              </a:rPr>
              <a:t>个地址字节， </a:t>
            </a:r>
            <a:r>
              <a:rPr lang="en-US" altLang="zh-CN" sz="2800" b="1">
                <a:latin typeface="宋体" panose="02010600030101010101" pitchFamily="2" charset="-122"/>
              </a:rPr>
              <a:t>1</a:t>
            </a:r>
            <a:r>
              <a:rPr lang="zh-CN" altLang="en-US" sz="2800" b="1">
                <a:latin typeface="宋体" panose="02010600030101010101" pitchFamily="2" charset="-122"/>
              </a:rPr>
              <a:t>个控制字节，</a:t>
            </a:r>
            <a:r>
              <a:rPr lang="en-US" altLang="zh-CN" sz="2800" b="1">
                <a:latin typeface="宋体" panose="02010600030101010101" pitchFamily="2" charset="-122"/>
              </a:rPr>
              <a:t>2</a:t>
            </a:r>
            <a:r>
              <a:rPr lang="zh-CN" altLang="en-US" sz="2800" b="1">
                <a:latin typeface="宋体" panose="02010600030101010101" pitchFamily="2" charset="-122"/>
              </a:rPr>
              <a:t>个协议字节，</a:t>
            </a:r>
            <a:r>
              <a:rPr lang="en-US" altLang="zh-CN" sz="2800" b="1">
                <a:latin typeface="宋体" panose="02010600030101010101" pitchFamily="2" charset="-122"/>
              </a:rPr>
              <a:t>4</a:t>
            </a:r>
            <a:r>
              <a:rPr lang="zh-CN" altLang="en-US" sz="2800" b="1">
                <a:latin typeface="宋体" panose="02010600030101010101" pitchFamily="2" charset="-122"/>
              </a:rPr>
              <a:t>个校验字节，共</a:t>
            </a:r>
            <a:r>
              <a:rPr lang="en-US" altLang="zh-CN" sz="2800" b="1">
                <a:latin typeface="宋体" panose="02010600030101010101" pitchFamily="2" charset="-122"/>
              </a:rPr>
              <a:t>10</a:t>
            </a:r>
            <a:r>
              <a:rPr lang="zh-CN" altLang="en-US" sz="2800" b="1">
                <a:latin typeface="宋体" panose="02010600030101010101" pitchFamily="2" charset="-122"/>
              </a:rPr>
              <a:t>个额外字节。</a:t>
            </a:r>
          </a:p>
        </p:txBody>
      </p:sp>
      <p:graphicFrame>
        <p:nvGraphicFramePr>
          <p:cNvPr id="34819" name="Object 4">
            <a:extLst>
              <a:ext uri="{FF2B5EF4-FFF2-40B4-BE49-F238E27FC236}">
                <a16:creationId xmlns:a16="http://schemas.microsoft.com/office/drawing/2014/main" id="{BFCE364D-1A4E-01A7-0516-6A368A0E087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042988" y="2492375"/>
          <a:ext cx="65881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3200400" imgH="476250" progId="Paint.Picture">
                  <p:embed/>
                </p:oleObj>
              </mc:Choice>
              <mc:Fallback>
                <p:oleObj name="位图图像" r:id="rId3" imgW="3200400" imgH="47625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492375"/>
                        <a:ext cx="658812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Rectangle 10">
            <a:extLst>
              <a:ext uri="{FF2B5EF4-FFF2-40B4-BE49-F238E27FC236}">
                <a16:creationId xmlns:a16="http://schemas.microsoft.com/office/drawing/2014/main" id="{3EF260DA-42E5-EC69-2029-86570D255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3325813"/>
            <a:ext cx="863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>
                <a:solidFill>
                  <a:schemeClr val="hlink"/>
                </a:solidFill>
                <a:latin typeface="宋体" panose="02010600030101010101" pitchFamily="2" charset="-122"/>
              </a:rPr>
              <a:t>增加到</a:t>
            </a:r>
            <a:r>
              <a:rPr lang="en-US" altLang="zh-CN" sz="1400" b="1">
                <a:solidFill>
                  <a:schemeClr val="hlink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1400" b="1">
                <a:solidFill>
                  <a:schemeClr val="hlink"/>
                </a:solidFill>
                <a:latin typeface="宋体" panose="02010600030101010101" pitchFamily="2" charset="-122"/>
              </a:rPr>
              <a:t>个字节</a:t>
            </a:r>
          </a:p>
        </p:txBody>
      </p:sp>
      <p:sp>
        <p:nvSpPr>
          <p:cNvPr id="34821" name="Rectangle 12">
            <a:extLst>
              <a:ext uri="{FF2B5EF4-FFF2-40B4-BE49-F238E27FC236}">
                <a16:creationId xmlns:a16="http://schemas.microsoft.com/office/drawing/2014/main" id="{54024CBD-3082-8C2E-210B-F500EA84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5925" y="3309938"/>
            <a:ext cx="863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>
                <a:solidFill>
                  <a:schemeClr val="hlink"/>
                </a:solidFill>
                <a:latin typeface="宋体" panose="02010600030101010101" pitchFamily="2" charset="-122"/>
              </a:rPr>
              <a:t>增加到</a:t>
            </a:r>
            <a:r>
              <a:rPr lang="en-US" altLang="zh-CN" sz="1400" b="1">
                <a:solidFill>
                  <a:schemeClr val="hlink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1400" b="1">
                <a:solidFill>
                  <a:schemeClr val="hlink"/>
                </a:solidFill>
                <a:latin typeface="宋体" panose="02010600030101010101" pitchFamily="2" charset="-122"/>
              </a:rPr>
              <a:t>个字节</a:t>
            </a:r>
          </a:p>
        </p:txBody>
      </p:sp>
      <p:sp>
        <p:nvSpPr>
          <p:cNvPr id="29711" name="Rectangle 15">
            <a:extLst>
              <a:ext uri="{FF2B5EF4-FFF2-40B4-BE49-F238E27FC236}">
                <a16:creationId xmlns:a16="http://schemas.microsoft.com/office/drawing/2014/main" id="{1C53935B-9205-FE9F-5F1C-7240FA939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284538"/>
            <a:ext cx="50323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1400" b="1">
                <a:solidFill>
                  <a:schemeClr val="hlink"/>
                </a:solidFill>
                <a:latin typeface="+mn-ea"/>
                <a:ea typeface="+mn-ea"/>
              </a:rPr>
              <a:t>保留</a:t>
            </a:r>
          </a:p>
        </p:txBody>
      </p:sp>
      <p:sp>
        <p:nvSpPr>
          <p:cNvPr id="29712" name="Rectangle 16">
            <a:extLst>
              <a:ext uri="{FF2B5EF4-FFF2-40B4-BE49-F238E27FC236}">
                <a16:creationId xmlns:a16="http://schemas.microsoft.com/office/drawing/2014/main" id="{D49B1328-024B-866E-1328-D46212070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3284538"/>
            <a:ext cx="50323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1400" b="1">
                <a:solidFill>
                  <a:schemeClr val="hlink"/>
                </a:solidFill>
                <a:latin typeface="+mn-ea"/>
                <a:ea typeface="+mn-ea"/>
              </a:rPr>
              <a:t>保留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841</TotalTime>
  <Words>1658</Words>
  <Application>Microsoft Office PowerPoint</Application>
  <PresentationFormat>全屏显示(4:3)</PresentationFormat>
  <Paragraphs>115</Paragraphs>
  <Slides>9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宋体</vt:lpstr>
      <vt:lpstr>Arial</vt:lpstr>
      <vt:lpstr>Tahoma</vt:lpstr>
      <vt:lpstr>Wingdings</vt:lpstr>
      <vt:lpstr>Blends</vt:lpstr>
      <vt:lpstr>公式</vt:lpstr>
      <vt:lpstr>位图图像</vt:lpstr>
      <vt:lpstr>Ch3 数据链路层</vt:lpstr>
      <vt:lpstr>Ch3 数据链路层</vt:lpstr>
      <vt:lpstr>Ch3 数据链路层</vt:lpstr>
      <vt:lpstr>Ch3 数据链路层</vt:lpstr>
      <vt:lpstr>Ch3 数据链路层</vt:lpstr>
      <vt:lpstr>Ch3 数据链路层</vt:lpstr>
      <vt:lpstr>Ch3 数据链路层</vt:lpstr>
      <vt:lpstr>Ch3 数据链路层</vt:lpstr>
      <vt:lpstr>Ch3 数据链路层</vt:lpstr>
    </vt:vector>
  </TitlesOfParts>
  <Company>bjut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计算机网络作业答案</dc:title>
  <dc:creator>renxt</dc:creator>
  <cp:lastModifiedBy>LC State</cp:lastModifiedBy>
  <cp:revision>377</cp:revision>
  <dcterms:created xsi:type="dcterms:W3CDTF">2007-03-15T10:32:50Z</dcterms:created>
  <dcterms:modified xsi:type="dcterms:W3CDTF">2026-01-06T09:48:15Z</dcterms:modified>
</cp:coreProperties>
</file>