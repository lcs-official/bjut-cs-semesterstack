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5"/>
  </p:notes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272" autoAdjust="0"/>
    <p:restoredTop sz="96674" autoAdjust="0"/>
  </p:normalViewPr>
  <p:slideViewPr>
    <p:cSldViewPr>
      <p:cViewPr varScale="1">
        <p:scale>
          <a:sx n="106" d="100"/>
          <a:sy n="106" d="100"/>
        </p:scale>
        <p:origin x="55" y="6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0C11DCF-B009-26A8-79F4-93D3F9474D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D11DD60-161F-0C5E-344D-15E3996795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970ADF41-4CC8-D26F-2E47-627DF52B993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F11E60A7-8B7B-9BEF-6CFC-1175F20684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85FEBE7-98AD-31B1-2BA1-9B50B0987E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19DDB2AC-81A2-5946-E3FF-693D9AB42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84547D0-326A-2E47-9494-BB3707F006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28214014-BF85-E2FA-5BB3-F27791235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4C19FB0-F216-D140-9D1E-081C56FE43AF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2BD9A7E-C6A2-C401-9C64-7FDB750D6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BF5D0FE-591D-8084-6A8F-57BEE9D20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Yes. In fact, in Fig. 7-4 we see an example of a duplicate IP address. Remember that an IP address consists of a network number and a host number. If a machine has two Ethernet cards, it can be on two separate networks, and if so, it needs two IP addresses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337102-2AB4-3C1B-96B3-A2EFB78922A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1195924-5E64-1BAB-4191-B439D5E20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051A49D-8F6D-7F17-379F-A6C794DB8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5C211521-09D1-5C6D-B94E-0163EAB65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EAE2E2E8-CB7F-AAFA-EC90-B246CD24BF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AC521CF-3D30-ACC2-5F26-AEC9DE2C2E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43736A-FF0B-13B0-47F9-CF6006894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B3D62648-9C93-CD3B-1797-9323F8EFD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15B60D5-687F-6422-8FB9-3BB0B3D27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FB711BD6-9A3F-1721-231D-9BFFB3D704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C9797EB-15BC-F192-B47C-95EABAAEBA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DB05C7C-8874-F7FC-EEBE-5C488A5BB1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522B193-468E-0A7B-4CE7-FFAF84D1B2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872675D-1FD7-404B-8846-75EB926694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39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C1FEF80-BE3E-E188-0C3F-DE22A79AD9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DD78785-366E-5E5D-7BAA-C1BCCBFAF9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C436D35-F954-1B36-D57A-40E56F618F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DACED-4BF2-0549-87A9-79262DEBF9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693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B8447D1-83E7-7A67-7639-E6E226A1F2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465C92B-B2A2-7CA5-95AA-0719EF64C6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EFA7268-D90F-ED7D-9998-59038EAB5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367FA-9FBC-C841-858C-D0626F54CD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090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969EB65-1EFC-6808-B0EA-48E005676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BCAE9C5-2FB0-9B24-4D21-DB37A05544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9BBD814-101B-4C13-6C56-3F64198843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FC034-D9D3-7E46-96EA-0A8EB152FA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46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741DEF-51E0-CB72-C1EA-DA80D3D56D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95D635F-16B8-9D3E-D14C-E64FF9F1E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81DFD1EA-9577-0E54-0F4B-C94511534C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9B625-9546-2D44-9B16-860C41D683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480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6E3C99F-29B0-4942-FB3F-638538C19D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32AEAED0-FAAF-DCB9-E83D-1276818A70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F3B4675-2B68-2E50-8E19-0D872D81A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5F8AB-DA40-B543-9FA8-D6E2FC24B3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11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A587E95-B4DD-A449-2D72-2F3E6FB199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9B4791B-0BBA-4DAB-6B05-3361C9DABA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8BD1A38-2C4F-F1C0-FF1A-42C1D6EB08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67A8A-EC66-1147-B294-E251F54298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61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99CAAAA-D0B2-77D7-3FE4-9CAFFD7180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3CFE7F8-2B2C-9EE2-1AE9-AA72265981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3AB2FD4-8668-0AB2-D228-1CBD41DA7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BF88B-0F33-884A-A89B-23142234D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13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544354-8159-968E-37BF-A8D35D0CF2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3683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DF5C8D-9D50-DDBC-B0B8-2F982D52FF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3683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F820AF-135E-B90E-59F1-99605D3585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7905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69F90C-ADFC-66BE-D920-3311C585AF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7905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3CDD20-AC59-B614-B227-BC692B541D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7175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FA24FC7-C2A1-6568-90B3-2FF1CEC97E1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6DBE9198-3C29-2B33-CF0D-58F223813C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05092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5D893767-D210-A6C5-BB7F-5DF2D74DE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77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7E5B839-7993-E107-821F-E516A6F3B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8663" y="1406525"/>
            <a:ext cx="8226425" cy="472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6AB812A4-B6B9-3936-3413-2C88C5DBA0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4D99F86C-41BB-7C60-1696-35B87271CB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AC31F030-672F-96AE-DBF0-03E639DAB1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2E9BAC8-0690-D04B-A001-5D8C93791A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C3C63BA-BCB2-2BCB-5E37-7943ABA06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115888"/>
            <a:ext cx="7793037" cy="77311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latin typeface="+mj-ea"/>
              </a:rPr>
              <a:t>Ch7</a:t>
            </a:r>
            <a:endParaRPr lang="zh-CN" altLang="zh-CN" b="1" dirty="0">
              <a:latin typeface="+mj-ea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A7B5B2F-EB2B-C1A5-DBD5-E5023EA0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775" y="1557338"/>
            <a:ext cx="7793038" cy="45751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b="1" dirty="0">
                <a:latin typeface="+mj-ea"/>
                <a:ea typeface="+mj-ea"/>
              </a:rPr>
              <a:t>11. </a:t>
            </a:r>
            <a:r>
              <a:rPr lang="zh-CN" altLang="en-US" sz="2800" b="1" dirty="0">
                <a:latin typeface="+mj-ea"/>
                <a:ea typeface="+mj-ea"/>
              </a:rPr>
              <a:t>试问只有一个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域名的机器可以有多个</a:t>
            </a:r>
            <a:r>
              <a:rPr lang="en-US" altLang="zh-CN" sz="2800" b="1" dirty="0">
                <a:latin typeface="+mj-ea"/>
                <a:ea typeface="+mj-ea"/>
              </a:rPr>
              <a:t>IP</a:t>
            </a:r>
            <a:r>
              <a:rPr lang="zh-CN" altLang="en-US" sz="2800" b="1" dirty="0">
                <a:latin typeface="+mj-ea"/>
                <a:ea typeface="+mj-ea"/>
              </a:rPr>
              <a:t>地址吗？这种情况是如何发生的？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b="1" dirty="0">
                <a:latin typeface="+mj-ea"/>
                <a:ea typeface="+mj-ea"/>
              </a:rPr>
              <a:t>可以。在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服务器中为同一个域名配置多个</a:t>
            </a:r>
            <a:r>
              <a:rPr lang="en-US" altLang="zh-CN" sz="2800" b="1" dirty="0">
                <a:latin typeface="+mj-ea"/>
                <a:ea typeface="+mj-ea"/>
              </a:rPr>
              <a:t>IP</a:t>
            </a:r>
            <a:r>
              <a:rPr lang="zh-CN" altLang="en-US" sz="2800" b="1" dirty="0">
                <a:latin typeface="+mj-ea"/>
                <a:ea typeface="+mj-ea"/>
              </a:rPr>
              <a:t>地址，在响应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查询时，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服务器对每个查询将以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文件中主机记录的</a:t>
            </a:r>
            <a:r>
              <a:rPr lang="en-US" altLang="zh-CN" sz="2800" b="1" dirty="0">
                <a:latin typeface="+mj-ea"/>
                <a:ea typeface="+mj-ea"/>
              </a:rPr>
              <a:t>IP</a:t>
            </a:r>
            <a:r>
              <a:rPr lang="zh-CN" altLang="en-US" sz="2800" b="1" dirty="0">
                <a:latin typeface="+mj-ea"/>
                <a:ea typeface="+mj-ea"/>
              </a:rPr>
              <a:t>地址按顺序返回不同的解析结果，将客户端的访问引导到不同的机器上去，使得不同的客户端访问不同的服务器，从而达到负载均衡的目的。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3D3DA-23AE-DD82-A6BB-F164B8F3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84784"/>
            <a:ext cx="8764463" cy="4725988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补充</a:t>
            </a:r>
            <a:r>
              <a:rPr lang="en-US" altLang="zh-CN" b="1" dirty="0">
                <a:latin typeface="+mj-ea"/>
                <a:ea typeface="+mj-ea"/>
              </a:rPr>
              <a:t>1.</a:t>
            </a:r>
            <a:r>
              <a:rPr lang="zh-CN" altLang="en-US" b="1" dirty="0">
                <a:latin typeface="+mj-ea"/>
                <a:ea typeface="+mj-ea"/>
              </a:rPr>
              <a:t>为什么要使用域名系统</a:t>
            </a:r>
            <a:r>
              <a:rPr kumimoji="1" lang="zh-CN" altLang="en-US" b="1" dirty="0">
                <a:latin typeface="+mj-ea"/>
                <a:ea typeface="+mj-ea"/>
              </a:rPr>
              <a:t>（</a:t>
            </a:r>
            <a:r>
              <a:rPr kumimoji="1" lang="en" altLang="zh-CN" b="1" dirty="0">
                <a:latin typeface="+mj-ea"/>
                <a:ea typeface="+mj-ea"/>
              </a:rPr>
              <a:t>DNS</a:t>
            </a:r>
            <a:r>
              <a:rPr kumimoji="1" lang="zh-CN" altLang="en" b="1" dirty="0">
                <a:latin typeface="+mj-ea"/>
                <a:ea typeface="+mj-ea"/>
              </a:rPr>
              <a:t>）</a:t>
            </a:r>
            <a:r>
              <a:rPr lang="zh-CN" altLang="en-US" b="1" dirty="0">
                <a:latin typeface="+mj-ea"/>
                <a:ea typeface="+mj-ea"/>
              </a:rPr>
              <a:t>？</a:t>
            </a:r>
            <a:endParaRPr lang="en-US" altLang="zh-CN" b="1" dirty="0">
              <a:latin typeface="+mj-ea"/>
              <a:ea typeface="+mj-ea"/>
            </a:endParaRPr>
          </a:p>
          <a:p>
            <a:endParaRPr kumimoji="1" lang="en" altLang="zh-CN" b="1" dirty="0">
              <a:latin typeface="+mj-ea"/>
              <a:ea typeface="+mj-ea"/>
            </a:endParaRPr>
          </a:p>
          <a:p>
            <a:endParaRPr kumimoji="1" lang="en" altLang="zh-CN" b="1" dirty="0">
              <a:latin typeface="+mj-ea"/>
              <a:ea typeface="+mj-ea"/>
            </a:endParaRPr>
          </a:p>
          <a:p>
            <a:endParaRPr kumimoji="1" lang="en" altLang="zh-CN" b="1" dirty="0">
              <a:latin typeface="+mj-ea"/>
              <a:ea typeface="+mj-ea"/>
            </a:endParaRPr>
          </a:p>
          <a:p>
            <a:r>
              <a:rPr kumimoji="1" lang="en" altLang="zh-CN" b="1" dirty="0">
                <a:latin typeface="+mj-ea"/>
                <a:ea typeface="+mj-ea"/>
              </a:rPr>
              <a:t>Internet</a:t>
            </a:r>
            <a:r>
              <a:rPr kumimoji="1" lang="zh-CN" altLang="en-US" b="1" dirty="0">
                <a:latin typeface="+mj-ea"/>
                <a:ea typeface="+mj-ea"/>
              </a:rPr>
              <a:t>使用的</a:t>
            </a:r>
            <a:r>
              <a:rPr kumimoji="1" lang="en" altLang="zh-CN" b="1" dirty="0">
                <a:solidFill>
                  <a:srgbClr val="FF0000"/>
                </a:solidFill>
                <a:latin typeface="+mj-ea"/>
                <a:ea typeface="+mj-ea"/>
              </a:rPr>
              <a:t>IP</a:t>
            </a:r>
            <a:r>
              <a:rPr kumimoji="1"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地址难于记忆</a:t>
            </a:r>
            <a:r>
              <a:rPr kumimoji="1" lang="zh-CN" altLang="en-US" b="1" dirty="0">
                <a:latin typeface="+mj-ea"/>
                <a:ea typeface="+mj-ea"/>
              </a:rPr>
              <a:t>，如</a:t>
            </a:r>
            <a:r>
              <a:rPr kumimoji="1" lang="en-US" altLang="zh-CN" b="1" dirty="0">
                <a:latin typeface="+mj-ea"/>
                <a:ea typeface="+mj-ea"/>
              </a:rPr>
              <a:t>202.112.78.101</a:t>
            </a:r>
            <a:r>
              <a:rPr kumimoji="1" lang="zh-CN" altLang="en-US" b="1" dirty="0">
                <a:latin typeface="+mj-ea"/>
                <a:ea typeface="+mj-ea"/>
              </a:rPr>
              <a:t>难于记忆。</a:t>
            </a:r>
            <a:r>
              <a:rPr kumimoji="1"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域名易于记忆</a:t>
            </a:r>
            <a:r>
              <a:rPr kumimoji="1" lang="zh-CN" altLang="en-US" b="1" dirty="0">
                <a:latin typeface="+mj-ea"/>
                <a:ea typeface="+mj-ea"/>
              </a:rPr>
              <a:t>，如</a:t>
            </a:r>
            <a:r>
              <a:rPr kumimoji="1" lang="en" altLang="zh-CN" b="1" dirty="0" err="1">
                <a:latin typeface="+mj-ea"/>
                <a:ea typeface="+mj-ea"/>
              </a:rPr>
              <a:t>www.bjut.edu.cn</a:t>
            </a:r>
            <a:r>
              <a:rPr kumimoji="1" lang="zh-CN" altLang="en-US" b="1" dirty="0">
                <a:latin typeface="+mj-ea"/>
                <a:ea typeface="+mj-ea"/>
              </a:rPr>
              <a:t>易于记忆。</a:t>
            </a:r>
          </a:p>
          <a:p>
            <a:pPr marL="0" indent="0">
              <a:buNone/>
            </a:pPr>
            <a:r>
              <a:rPr kumimoji="1" lang="zh-CN" altLang="en-US" b="1" dirty="0">
                <a:latin typeface="+mj-ea"/>
                <a:ea typeface="+mj-ea"/>
              </a:rPr>
              <a:t>  </a:t>
            </a:r>
            <a:r>
              <a:rPr kumimoji="1" lang="en" altLang="zh-CN" b="1" dirty="0">
                <a:latin typeface="+mj-ea"/>
                <a:ea typeface="+mj-ea"/>
              </a:rPr>
              <a:t>DNS</a:t>
            </a:r>
            <a:r>
              <a:rPr kumimoji="1" lang="zh-CN" altLang="en-US" b="1" dirty="0">
                <a:latin typeface="+mj-ea"/>
                <a:ea typeface="+mj-ea"/>
              </a:rPr>
              <a:t>可完成</a:t>
            </a:r>
            <a:r>
              <a:rPr kumimoji="1" lang="en" altLang="zh-CN" b="1" dirty="0">
                <a:latin typeface="+mj-ea"/>
                <a:ea typeface="+mj-ea"/>
              </a:rPr>
              <a:t>IP</a:t>
            </a:r>
            <a:r>
              <a:rPr kumimoji="1" lang="zh-CN" altLang="en-US" b="1" dirty="0">
                <a:latin typeface="+mj-ea"/>
                <a:ea typeface="+mj-ea"/>
              </a:rPr>
              <a:t>地址和域名之间相互转换。</a:t>
            </a:r>
          </a:p>
          <a:p>
            <a:endParaRPr kumimoji="1" lang="zh-CN" altLang="en-US" b="1" dirty="0">
              <a:latin typeface="+mj-ea"/>
              <a:ea typeface="+mj-ea"/>
            </a:endParaRPr>
          </a:p>
          <a:p>
            <a:endParaRPr kumimoji="1" lang="zh-CN" altLang="en-US" b="1" dirty="0">
              <a:latin typeface="+mj-ea"/>
              <a:ea typeface="+mj-ea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90AB8EE-A32F-AB1F-2EDB-9F05BF083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93737"/>
          </a:xfrm>
        </p:spPr>
        <p:txBody>
          <a:bodyPr/>
          <a:lstStyle/>
          <a:p>
            <a:pPr algn="ctr" eaLnBrk="1" hangingPunct="1">
              <a:defRPr/>
            </a:pPr>
            <a:r>
              <a:rPr kumimoji="1" lang="en-US" altLang="zh-CN" b="1" dirty="0">
                <a:latin typeface="+mj-ea"/>
              </a:rPr>
              <a:t>Ch7</a:t>
            </a:r>
            <a:endParaRPr kumimoji="1" lang="zh-CN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34473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88EDFEAF-C09D-BDB0-30A4-E7CD901C7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93737"/>
          </a:xfrm>
        </p:spPr>
        <p:txBody>
          <a:bodyPr/>
          <a:lstStyle/>
          <a:p>
            <a:pPr algn="ctr" eaLnBrk="1" hangingPunct="1">
              <a:defRPr/>
            </a:pPr>
            <a:r>
              <a:rPr kumimoji="1" lang="en-US" altLang="zh-CN" b="1" dirty="0">
                <a:latin typeface="+mj-ea"/>
              </a:rPr>
              <a:t>Ch7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70933-0EC0-4BD5-E911-CA0422857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484313"/>
            <a:ext cx="7916862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latin typeface="+mj-ea"/>
                <a:ea typeface="+mj-ea"/>
              </a:rPr>
              <a:t>补充</a:t>
            </a:r>
            <a:r>
              <a:rPr lang="en-US" altLang="zh-CN" sz="2800" b="1" dirty="0">
                <a:latin typeface="+mj-ea"/>
                <a:ea typeface="+mj-ea"/>
              </a:rPr>
              <a:t>2.</a:t>
            </a:r>
            <a:r>
              <a:rPr lang="zh-CN" altLang="en-US" sz="2800" b="1" dirty="0">
                <a:latin typeface="+mj-ea"/>
                <a:ea typeface="+mj-ea"/>
              </a:rPr>
              <a:t> 简述</a:t>
            </a:r>
            <a:r>
              <a:rPr lang="en-US" altLang="zh-CN" sz="2800" b="1" dirty="0">
                <a:latin typeface="+mj-ea"/>
                <a:ea typeface="+mj-ea"/>
              </a:rPr>
              <a:t>DNS</a:t>
            </a:r>
            <a:r>
              <a:rPr lang="zh-CN" altLang="en-US" sz="2800" b="1" dirty="0">
                <a:latin typeface="+mj-ea"/>
                <a:ea typeface="+mj-ea"/>
              </a:rPr>
              <a:t>工作过程。</a:t>
            </a: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当</a:t>
            </a:r>
            <a:r>
              <a:rPr kumimoji="1" lang="en" altLang="zh-CN" sz="2800" b="1" dirty="0">
                <a:latin typeface="+mj-ea"/>
                <a:ea typeface="+mj-ea"/>
              </a:rPr>
              <a:t>DNS</a:t>
            </a:r>
            <a:r>
              <a:rPr kumimoji="1" lang="zh-CN" altLang="en-US" sz="2800" b="1" dirty="0">
                <a:latin typeface="+mj-ea"/>
                <a:ea typeface="+mj-ea"/>
              </a:rPr>
              <a:t>服务器收到一个查询请求时，如果要查询的域名在其自己管辖的范围内，则从数据库中找出域名并返回请求信息；否则根据客户请求报文中确定的查询方式执行下一步动作。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kumimoji="1" lang="zh-CN" altLang="en-US" b="1" dirty="0">
                <a:latin typeface="+mj-ea"/>
                <a:ea typeface="+mj-ea"/>
              </a:rPr>
              <a:t>递归方式：</a:t>
            </a:r>
            <a:r>
              <a:rPr kumimoji="1" lang="en" altLang="zh-CN" b="1" dirty="0">
                <a:latin typeface="+mj-ea"/>
                <a:ea typeface="+mj-ea"/>
              </a:rPr>
              <a:t>DNS</a:t>
            </a:r>
            <a:r>
              <a:rPr kumimoji="1" lang="zh-CN" altLang="en-US" b="1" dirty="0">
                <a:latin typeface="+mj-ea"/>
                <a:ea typeface="+mj-ea"/>
              </a:rPr>
              <a:t>服务器与另一台</a:t>
            </a:r>
            <a:r>
              <a:rPr kumimoji="1" lang="en" altLang="zh-CN" b="1" dirty="0">
                <a:latin typeface="+mj-ea"/>
                <a:ea typeface="+mj-ea"/>
              </a:rPr>
              <a:t>DNS</a:t>
            </a:r>
            <a:r>
              <a:rPr kumimoji="1" lang="zh-CN" altLang="en-US" b="1" dirty="0">
                <a:latin typeface="+mj-ea"/>
                <a:ea typeface="+mj-ea"/>
              </a:rPr>
              <a:t>服务器联系，查看该服务器是否查到此名，如不能，继续递归下去，直至查到或超时。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kumimoji="1" lang="zh-CN" altLang="en-US" b="1" dirty="0">
                <a:latin typeface="+mj-ea"/>
                <a:ea typeface="+mj-ea"/>
              </a:rPr>
              <a:t>迭代方式：在响应报文中通知客户到另一台</a:t>
            </a:r>
            <a:r>
              <a:rPr kumimoji="1" lang="en" altLang="zh-CN" b="1" dirty="0">
                <a:latin typeface="+mj-ea"/>
                <a:ea typeface="+mj-ea"/>
              </a:rPr>
              <a:t>DNS</a:t>
            </a:r>
            <a:r>
              <a:rPr kumimoji="1" lang="zh-CN" altLang="en-US" b="1" dirty="0">
                <a:latin typeface="+mj-ea"/>
                <a:ea typeface="+mj-ea"/>
              </a:rPr>
              <a:t>服务器中查询。</a:t>
            </a:r>
          </a:p>
          <a:p>
            <a:pPr eaLnBrk="1" hangingPunct="1">
              <a:defRPr/>
            </a:pPr>
            <a:endParaRPr kumimoji="1" lang="zh-CN" altLang="en-US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127</TotalTime>
  <Words>320</Words>
  <Application>Microsoft Office PowerPoint</Application>
  <PresentationFormat>全屏显示(4:3)</PresentationFormat>
  <Paragraphs>17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Tahoma</vt:lpstr>
      <vt:lpstr>Wingdings</vt:lpstr>
      <vt:lpstr>Blends</vt:lpstr>
      <vt:lpstr>Ch7</vt:lpstr>
      <vt:lpstr>Ch7</vt:lpstr>
      <vt:lpstr>Ch7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renxt</dc:creator>
  <cp:lastModifiedBy>LC State</cp:lastModifiedBy>
  <cp:revision>42</cp:revision>
  <dcterms:created xsi:type="dcterms:W3CDTF">2013-09-18T14:34:51Z</dcterms:created>
  <dcterms:modified xsi:type="dcterms:W3CDTF">2026-01-07T02:18:46Z</dcterms:modified>
</cp:coreProperties>
</file>