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"/>
  </p:notesMasterIdLst>
  <p:sldIdLst>
    <p:sldId id="258" r:id="rId2"/>
    <p:sldId id="261" r:id="rId3"/>
    <p:sldId id="262" r:id="rId4"/>
    <p:sldId id="259" r:id="rId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277" autoAdjust="0"/>
    <p:restoredTop sz="92999" autoAdjust="0"/>
  </p:normalViewPr>
  <p:slideViewPr>
    <p:cSldViewPr>
      <p:cViewPr varScale="1">
        <p:scale>
          <a:sx n="106" d="100"/>
          <a:sy n="106" d="100"/>
        </p:scale>
        <p:origin x="55" y="6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AA089EA-1BF4-E787-C37B-15C8D7158D7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43D15D7-2C50-BE88-7509-02D25AB78E8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92E88FF-009B-1C18-5424-D8E2E926580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AD98DCE6-04C8-0608-BA69-E48EEE88C64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24C84BF9-506B-3381-C9A3-BAF46AF32EE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C9EEB528-5ADA-B742-848C-4C0959460B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86CDB0E-A6E2-FD44-BE43-CA9B98A4AD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A94E9FBE-B612-977C-E05B-2AC4FC9F0C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B5050B8-6CEF-FD41-A8B0-B8BA8756FA56}" type="slidenum">
              <a:rPr lang="en-US" altLang="zh-CN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31F97404-3075-87E8-ABEF-746C04289D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ADE8B50-9C6C-DC39-6A5C-D39BD0FC0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23-&gt;26-&gt;26</a:t>
            </a:r>
          </a:p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>
            <a:extLst>
              <a:ext uri="{FF2B5EF4-FFF2-40B4-BE49-F238E27FC236}">
                <a16:creationId xmlns:a16="http://schemas.microsoft.com/office/drawing/2014/main" id="{10D39790-6704-9256-4E76-7F18A944B9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4" name="备注占位符 2">
            <a:extLst>
              <a:ext uri="{FF2B5EF4-FFF2-40B4-BE49-F238E27FC236}">
                <a16:creationId xmlns:a16="http://schemas.microsoft.com/office/drawing/2014/main" id="{8DBCADE3-ED57-AFC2-3787-7065C115F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---&gt;30-&gt;32</a:t>
            </a:r>
          </a:p>
          <a:p>
            <a:r>
              <a:rPr kumimoji="1" lang="zh-CN" altLang="en-US" dirty="0">
                <a:latin typeface="Arial" panose="020B0604020202020204" pitchFamily="34" charset="0"/>
              </a:rPr>
              <a:t>分析：</a:t>
            </a:r>
            <a:endParaRPr kumimoji="1" lang="en-US" altLang="zh-CN" dirty="0">
              <a:latin typeface="Arial" panose="020B0604020202020204" pitchFamily="34" charset="0"/>
            </a:endParaRPr>
          </a:p>
          <a:p>
            <a:r>
              <a:rPr kumimoji="1" lang="zh-CN" altLang="en-US" b="1" dirty="0">
                <a:latin typeface="Arial" panose="020B0604020202020204" pitchFamily="34" charset="0"/>
              </a:rPr>
              <a:t>允许发送的字节数</a:t>
            </a:r>
            <a:r>
              <a:rPr kumimoji="1" lang="en-US" altLang="zh-CN" dirty="0">
                <a:latin typeface="Arial" panose="020B0604020202020204" pitchFamily="34" charset="0"/>
              </a:rPr>
              <a:t>=min{</a:t>
            </a:r>
            <a:r>
              <a:rPr kumimoji="1" lang="zh-CN" altLang="en-US" dirty="0">
                <a:latin typeface="Arial" panose="020B0604020202020204" pitchFamily="34" charset="0"/>
              </a:rPr>
              <a:t>拥塞窗口，流量控制窗口</a:t>
            </a:r>
            <a:r>
              <a:rPr kumimoji="1" lang="en-US" altLang="zh-CN" dirty="0">
                <a:latin typeface="Arial" panose="020B0604020202020204" pitchFamily="34" charset="0"/>
              </a:rPr>
              <a:t>}</a:t>
            </a:r>
            <a:r>
              <a:rPr kumimoji="1" lang="zh-CN" altLang="en-US" dirty="0">
                <a:latin typeface="Arial" panose="020B0604020202020204" pitchFamily="34" charset="0"/>
              </a:rPr>
              <a:t>。</a:t>
            </a:r>
            <a:endParaRPr kumimoji="1" lang="en-US" altLang="zh-CN" dirty="0">
              <a:latin typeface="Arial" panose="020B0604020202020204" pitchFamily="34" charset="0"/>
            </a:endParaRPr>
          </a:p>
          <a:p>
            <a:r>
              <a:rPr kumimoji="1" lang="zh-CN" altLang="en-US" b="1" dirty="0">
                <a:latin typeface="Arial" panose="020B0604020202020204" pitchFamily="34" charset="0"/>
              </a:rPr>
              <a:t>拥塞窗口：</a:t>
            </a:r>
            <a:r>
              <a:rPr kumimoji="1" lang="zh-CN" altLang="en-US" dirty="0">
                <a:latin typeface="Arial" panose="020B0604020202020204" pitchFamily="34" charset="0"/>
              </a:rPr>
              <a:t>任何时候发送方可以向网络发送的字节数。</a:t>
            </a:r>
            <a:endParaRPr kumimoji="1" lang="en-US" altLang="zh-CN" dirty="0">
              <a:latin typeface="Arial" panose="020B0604020202020204" pitchFamily="34" charset="0"/>
            </a:endParaRPr>
          </a:p>
          <a:p>
            <a:r>
              <a:rPr kumimoji="1" lang="zh-CN" altLang="en-US" b="1" dirty="0">
                <a:latin typeface="Arial" panose="020B0604020202020204" pitchFamily="34" charset="0"/>
              </a:rPr>
              <a:t>流量控制窗口：</a:t>
            </a:r>
            <a:r>
              <a:rPr kumimoji="1" lang="zh-CN" altLang="en-US" dirty="0">
                <a:latin typeface="Arial" panose="020B0604020202020204" pitchFamily="34" charset="0"/>
              </a:rPr>
              <a:t>指出了接收方可以缓存的字节数，即接收窗口。</a:t>
            </a:r>
          </a:p>
          <a:p>
            <a:endParaRPr kumimoji="1" lang="en-US" altLang="zh-CN" dirty="0">
              <a:latin typeface="Arial" panose="020B0604020202020204" pitchFamily="34" charset="0"/>
            </a:endParaRPr>
          </a:p>
          <a:p>
            <a:r>
              <a:rPr kumimoji="1" lang="zh-CN" altLang="en-US" dirty="0">
                <a:latin typeface="Arial" panose="020B0604020202020204" pitchFamily="34" charset="0"/>
              </a:rPr>
              <a:t>解：第一个是</a:t>
            </a:r>
            <a:r>
              <a:rPr kumimoji="1" lang="en-US" altLang="zh-CN" dirty="0">
                <a:latin typeface="Arial" panose="020B0604020202020204" pitchFamily="34" charset="0"/>
              </a:rPr>
              <a:t>1</a:t>
            </a:r>
            <a:r>
              <a:rPr kumimoji="1" lang="zh-CN" altLang="en-US" dirty="0">
                <a:latin typeface="Arial" panose="020B0604020202020204" pitchFamily="34" charset="0"/>
              </a:rPr>
              <a:t>*</a:t>
            </a:r>
            <a:r>
              <a:rPr kumimoji="1" lang="en-US" altLang="zh-CN" dirty="0">
                <a:latin typeface="Arial" panose="020B0604020202020204" pitchFamily="34" charset="0"/>
              </a:rPr>
              <a:t>2</a:t>
            </a:r>
            <a:r>
              <a:rPr kumimoji="1" lang="en" altLang="zh-CN" dirty="0">
                <a:latin typeface="Arial" panose="020B0604020202020204" pitchFamily="34" charset="0"/>
              </a:rPr>
              <a:t>k</a:t>
            </a:r>
            <a:r>
              <a:rPr kumimoji="1" lang="zh-CN" altLang="en" dirty="0">
                <a:latin typeface="Arial" panose="020B0604020202020204" pitchFamily="34" charset="0"/>
              </a:rPr>
              <a:t>，</a:t>
            </a:r>
            <a:r>
              <a:rPr kumimoji="1" lang="zh-CN" altLang="en-US" dirty="0">
                <a:latin typeface="Arial" panose="020B0604020202020204" pitchFamily="34" charset="0"/>
              </a:rPr>
              <a:t>随后每隔一个</a:t>
            </a:r>
            <a:r>
              <a:rPr kumimoji="1" lang="en-US" altLang="zh-CN" dirty="0">
                <a:latin typeface="Arial" panose="020B0604020202020204" pitchFamily="34" charset="0"/>
              </a:rPr>
              <a:t>10</a:t>
            </a:r>
            <a:r>
              <a:rPr kumimoji="1" lang="en" altLang="zh-CN" dirty="0" err="1">
                <a:latin typeface="Arial" panose="020B0604020202020204" pitchFamily="34" charset="0"/>
              </a:rPr>
              <a:t>ms</a:t>
            </a:r>
            <a:r>
              <a:rPr kumimoji="1" lang="zh-CN" altLang="en-US" dirty="0">
                <a:latin typeface="Arial" panose="020B0604020202020204" pitchFamily="34" charset="0"/>
              </a:rPr>
              <a:t>变成</a:t>
            </a:r>
            <a:r>
              <a:rPr kumimoji="1" lang="en-US" altLang="zh-CN" dirty="0">
                <a:latin typeface="Arial" panose="020B0604020202020204" pitchFamily="34" charset="0"/>
              </a:rPr>
              <a:t>2</a:t>
            </a:r>
            <a:r>
              <a:rPr kumimoji="1" lang="zh-CN" altLang="en-US" dirty="0">
                <a:latin typeface="Arial" panose="020B0604020202020204" pitchFamily="34" charset="0"/>
              </a:rPr>
              <a:t>*</a:t>
            </a:r>
            <a:r>
              <a:rPr kumimoji="1" lang="en-US" altLang="zh-CN" dirty="0">
                <a:latin typeface="Arial" panose="020B0604020202020204" pitchFamily="34" charset="0"/>
              </a:rPr>
              <a:t>2k,4</a:t>
            </a:r>
            <a:r>
              <a:rPr kumimoji="1" lang="zh-CN" altLang="en-US" dirty="0">
                <a:latin typeface="Arial" panose="020B0604020202020204" pitchFamily="34" charset="0"/>
              </a:rPr>
              <a:t>*</a:t>
            </a:r>
            <a:r>
              <a:rPr kumimoji="1" lang="en-US" altLang="zh-CN" dirty="0">
                <a:latin typeface="Arial" panose="020B0604020202020204" pitchFamily="34" charset="0"/>
              </a:rPr>
              <a:t>2k,8</a:t>
            </a:r>
            <a:r>
              <a:rPr kumimoji="1" lang="zh-CN" altLang="en-US" dirty="0">
                <a:latin typeface="Arial" panose="020B0604020202020204" pitchFamily="34" charset="0"/>
              </a:rPr>
              <a:t>*</a:t>
            </a:r>
            <a:r>
              <a:rPr kumimoji="1" lang="en-US" altLang="zh-CN" dirty="0">
                <a:latin typeface="Arial" panose="020B0604020202020204" pitchFamily="34" charset="0"/>
              </a:rPr>
              <a:t>2k, </a:t>
            </a:r>
            <a:r>
              <a:rPr kumimoji="1" lang="zh-CN" altLang="en-US" dirty="0">
                <a:latin typeface="Arial" panose="020B0604020202020204" pitchFamily="34" charset="0"/>
              </a:rPr>
              <a:t>下一个原本应该是</a:t>
            </a:r>
            <a:r>
              <a:rPr kumimoji="1" lang="en-US" altLang="zh-CN" dirty="0">
                <a:latin typeface="Arial" panose="020B0604020202020204" pitchFamily="34" charset="0"/>
              </a:rPr>
              <a:t>16</a:t>
            </a:r>
            <a:r>
              <a:rPr kumimoji="1" lang="zh-CN" altLang="en-US" dirty="0">
                <a:latin typeface="Arial" panose="020B0604020202020204" pitchFamily="34" charset="0"/>
              </a:rPr>
              <a:t>*</a:t>
            </a:r>
            <a:r>
              <a:rPr kumimoji="1" lang="en-US" altLang="zh-CN" dirty="0">
                <a:latin typeface="Arial" panose="020B0604020202020204" pitchFamily="34" charset="0"/>
              </a:rPr>
              <a:t>2k</a:t>
            </a:r>
            <a:r>
              <a:rPr kumimoji="1" lang="en" altLang="zh-CN" dirty="0">
                <a:latin typeface="Arial" panose="020B0604020202020204" pitchFamily="34" charset="0"/>
              </a:rPr>
              <a:t>k</a:t>
            </a:r>
            <a:r>
              <a:rPr kumimoji="1" lang="zh-CN" altLang="en" dirty="0">
                <a:latin typeface="Arial" panose="020B0604020202020204" pitchFamily="34" charset="0"/>
              </a:rPr>
              <a:t>，</a:t>
            </a:r>
            <a:r>
              <a:rPr kumimoji="1" lang="zh-CN" altLang="en-US" dirty="0">
                <a:latin typeface="Arial" panose="020B0604020202020204" pitchFamily="34" charset="0"/>
              </a:rPr>
              <a:t>但因为接收窗口限制是</a:t>
            </a:r>
            <a:r>
              <a:rPr kumimoji="1" lang="en-US" altLang="zh-CN" dirty="0">
                <a:latin typeface="Arial" panose="020B0604020202020204" pitchFamily="34" charset="0"/>
              </a:rPr>
              <a:t>24</a:t>
            </a:r>
            <a:r>
              <a:rPr kumimoji="1" lang="en" altLang="zh-CN" dirty="0">
                <a:latin typeface="Arial" panose="020B0604020202020204" pitchFamily="34" charset="0"/>
              </a:rPr>
              <a:t>k</a:t>
            </a:r>
            <a:r>
              <a:rPr kumimoji="1" lang="zh-CN" altLang="en" dirty="0">
                <a:latin typeface="Arial" panose="020B0604020202020204" pitchFamily="34" charset="0"/>
              </a:rPr>
              <a:t>，</a:t>
            </a:r>
            <a:r>
              <a:rPr kumimoji="1" lang="zh-CN" altLang="en-US" dirty="0">
                <a:latin typeface="Arial" panose="020B0604020202020204" pitchFamily="34" charset="0"/>
              </a:rPr>
              <a:t>所以在</a:t>
            </a:r>
            <a:r>
              <a:rPr kumimoji="1" lang="en-US" altLang="zh-CN" dirty="0">
                <a:latin typeface="Arial" panose="020B0604020202020204" pitchFamily="34" charset="0"/>
              </a:rPr>
              <a:t>40</a:t>
            </a:r>
            <a:r>
              <a:rPr kumimoji="1" lang="en" altLang="zh-CN" dirty="0" err="1">
                <a:latin typeface="Arial" panose="020B0604020202020204" pitchFamily="34" charset="0"/>
              </a:rPr>
              <a:t>ms</a:t>
            </a:r>
            <a:r>
              <a:rPr kumimoji="1" lang="zh-CN" altLang="en-US" dirty="0">
                <a:latin typeface="Arial" panose="020B0604020202020204" pitchFamily="34" charset="0"/>
              </a:rPr>
              <a:t>后将按照</a:t>
            </a:r>
            <a:r>
              <a:rPr kumimoji="1" lang="en" altLang="zh-CN" dirty="0">
                <a:latin typeface="Arial" panose="020B0604020202020204" pitchFamily="34" charset="0"/>
              </a:rPr>
              <a:t>min{24,32}=24KB</a:t>
            </a:r>
            <a:r>
              <a:rPr kumimoji="1" lang="zh-CN" altLang="en-US" dirty="0">
                <a:latin typeface="Arial" panose="020B0604020202020204" pitchFamily="34" charset="0"/>
              </a:rPr>
              <a:t>发送数据。</a:t>
            </a:r>
          </a:p>
        </p:txBody>
      </p:sp>
      <p:sp>
        <p:nvSpPr>
          <p:cNvPr id="18435" name="灯片编号占位符 3">
            <a:extLst>
              <a:ext uri="{FF2B5EF4-FFF2-40B4-BE49-F238E27FC236}">
                <a16:creationId xmlns:a16="http://schemas.microsoft.com/office/drawing/2014/main" id="{D02CDE76-0021-E880-DAD1-6F5AC5544F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9D9C87-97B8-2840-8E5F-A9E52F20DF23}" type="slidenum">
              <a:rPr lang="en-US" altLang="zh-CN" smtClean="0">
                <a:latin typeface="Arial" panose="020B0604020202020204" pitchFamily="34" charset="0"/>
              </a:rPr>
              <a:pPr/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>
            <a:extLst>
              <a:ext uri="{FF2B5EF4-FFF2-40B4-BE49-F238E27FC236}">
                <a16:creationId xmlns:a16="http://schemas.microsoft.com/office/drawing/2014/main" id="{4BA716DF-3586-D6F8-7F71-961426FE9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2" name="备注占位符 2">
            <a:extLst>
              <a:ext uri="{FF2B5EF4-FFF2-40B4-BE49-F238E27FC236}">
                <a16:creationId xmlns:a16="http://schemas.microsoft.com/office/drawing/2014/main" id="{660229A2-0983-6643-C155-6CB7686E57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---&gt;31-&gt;33</a:t>
            </a:r>
          </a:p>
          <a:p>
            <a:endParaRPr kumimoji="1" lang="zh-CN" altLang="en-US">
              <a:latin typeface="Arial" panose="020B0604020202020204" pitchFamily="34" charset="0"/>
            </a:endParaRPr>
          </a:p>
        </p:txBody>
      </p:sp>
      <p:sp>
        <p:nvSpPr>
          <p:cNvPr id="20483" name="灯片编号占位符 3">
            <a:extLst>
              <a:ext uri="{FF2B5EF4-FFF2-40B4-BE49-F238E27FC236}">
                <a16:creationId xmlns:a16="http://schemas.microsoft.com/office/drawing/2014/main" id="{4ED28940-1865-5CC3-E78F-14ECC7136E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DF40E36-227C-4445-830A-24BEDE8F30D1}" type="slidenum">
              <a:rPr lang="en-US" altLang="zh-CN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9997B4EC-BCA2-1AC6-40D5-2B26D77BC4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7E442E6-23CB-244B-AA60-33EDFD0B0F0A}" type="slidenum">
              <a:rPr lang="en-US" altLang="zh-CN" smtClean="0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FB837631-87BF-FCA8-A885-0630A81BD0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3A06E91-88A0-2766-4B70-0A53049FC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25-&gt;28-&gt;</a:t>
            </a:r>
            <a:r>
              <a:rPr lang="zh-CN" altLang="en-US">
                <a:latin typeface="Arial" panose="020B0604020202020204" pitchFamily="34" charset="0"/>
              </a:rPr>
              <a:t>补充</a:t>
            </a:r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E5F3D9-CB0E-FA4C-B7E4-86D873E33A87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A32CB945-1B23-CD05-0E71-6BF2BAE6EC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56D4F559-4BCB-8686-96F4-CB6DB49DC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F36538C4-A5E2-3DE2-E034-386B58F71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8A1C24E1-17AA-5E2E-F7CC-971FBD3EB8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298F4FC-34C6-E6F4-1E79-D2FB7AF11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98B9D01-CEB7-E743-ABC7-CD632D7CC8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11C9BBCB-F14B-B304-3E6D-D82294E7F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C4D3C993-5A33-89A8-41D0-C2F8A2275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7C62E423-AEB4-890F-3232-5D83A547DA3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CCBF19FC-93D1-DE70-D7E2-76CB0A28FF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5971D9E0-DE6C-9F10-EF9E-4980D25DF9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3446E769-9543-C1F6-A3CD-8DADFB817B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F9D9107-2D6C-FB4E-BD2E-2D58C1223C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313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2241E72-0601-32AE-EF1B-AE0EFC88A5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AE8E1F9-97EC-0E37-F16D-A22E60DBA7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2333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3C6BC3E-B0DF-EAB6-625C-266889AA34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9B501A6-CD29-302B-05FA-B20FFC8110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441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0" y="1196975"/>
            <a:ext cx="4022725" cy="49355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30775" y="1196975"/>
            <a:ext cx="4024313" cy="49355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01EE537-5967-B267-5683-821F08CAC4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6924924-3EBE-6C35-CEA4-DA31E212BD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5364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E3BC123-F101-64F7-2DF3-48A8F6764B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9FDFB4A6-D68E-83CF-484D-3394F7F170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4086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229A6C89-C0F8-3278-F5DD-8306A3641A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FE1063C-8002-2356-D524-0DA2E33B6C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1123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6A4D86A3-37F3-7C69-A935-D3AAFB955B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AD2BEB6A-78F4-65A1-B148-5CE4BA584A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9209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CA0A490-BEFD-64CB-6DE5-60C8E66A67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748F6E5-DCD2-FF15-AD25-266E85E0F7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4837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98CAC15-5673-6249-9908-BF34DF5D52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3982418-6B6B-DF08-E06A-2D39AFF78D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317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1A50251-E241-6F41-E8F9-59BD041C95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578CC45-8A5E-3DAE-FF31-764E161DA9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7812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05625" y="214313"/>
            <a:ext cx="2049463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0" y="214313"/>
            <a:ext cx="5997575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99BC644-3CD6-B697-71A5-73F9CAD77A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ED14546-2A45-1F1E-7FC7-DA3500478B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489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2CF0FD-E467-F365-3F78-8F4F05F00E5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3683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CAB4B51-1B3E-8766-0F54-B38376581C2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3683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F845875-E068-CF07-B678-316A6D19C3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79057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218DB78-46B8-E29F-8F06-CF9798D70CD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79057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4DF5F5F-038A-3AD7-BFBF-D216EC7BE0E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71755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70EC74E4-27BA-13BB-34F5-F9132A6CA7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26035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A5291FD6-4531-6E6B-DA47-833E62C1686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05092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9FF06ED3-CB67-0C33-E1C0-DE6BD6D7F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76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846856D5-75A8-62C2-CA93-10FAE0118A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196975"/>
            <a:ext cx="8199438" cy="4935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ACCCF081-20A3-8B95-A7F9-92A64332783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27088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7929E2E3-AF9D-7CB1-B76F-7E4AEBF1B5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11863" y="623728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D3701E07-FC91-D5E5-ACC2-6751298E1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latin typeface="+mj-ea"/>
              </a:rPr>
              <a:t>Ch6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2B3AFDA-9D91-4B34-10A7-B85FA6469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341438"/>
            <a:ext cx="8343900" cy="47910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kumimoji="1" lang="en-US" altLang="zh-CN" sz="2800" b="1" dirty="0">
                <a:latin typeface="+mj-ea"/>
                <a:ea typeface="+mj-ea"/>
              </a:rPr>
              <a:t>26.</a:t>
            </a:r>
            <a:r>
              <a:rPr kumimoji="1" lang="zh-CN" altLang="en-US" sz="2800" b="1" dirty="0">
                <a:latin typeface="+mj-ea"/>
                <a:ea typeface="+mj-ea"/>
              </a:rPr>
              <a:t> 主机</a:t>
            </a:r>
            <a:r>
              <a:rPr kumimoji="1" lang="en-US" altLang="zh-CN" sz="2800" b="1" dirty="0">
                <a:latin typeface="+mj-ea"/>
                <a:ea typeface="+mj-ea"/>
              </a:rPr>
              <a:t>1</a:t>
            </a:r>
            <a:r>
              <a:rPr kumimoji="1" lang="zh-CN" altLang="en-US" sz="2800" b="1" dirty="0">
                <a:latin typeface="+mj-ea"/>
                <a:ea typeface="+mj-ea"/>
              </a:rPr>
              <a:t>上的一个进程已经被分配了端口</a:t>
            </a:r>
            <a:r>
              <a:rPr kumimoji="1" lang="en-US" altLang="zh-CN" sz="2800" b="1" dirty="0">
                <a:latin typeface="+mj-ea"/>
                <a:ea typeface="+mj-ea"/>
              </a:rPr>
              <a:t>p</a:t>
            </a:r>
            <a:r>
              <a:rPr kumimoji="1" lang="zh-CN" altLang="en-US" sz="2800" b="1" dirty="0">
                <a:latin typeface="+mj-ea"/>
                <a:ea typeface="+mj-ea"/>
              </a:rPr>
              <a:t>，主机</a:t>
            </a:r>
            <a:r>
              <a:rPr kumimoji="1" lang="en-US" altLang="zh-CN" sz="2800" b="1" dirty="0">
                <a:latin typeface="+mj-ea"/>
                <a:ea typeface="+mj-ea"/>
              </a:rPr>
              <a:t>2</a:t>
            </a:r>
            <a:r>
              <a:rPr kumimoji="1" lang="zh-CN" altLang="en-US" sz="2800" b="1" dirty="0">
                <a:latin typeface="+mj-ea"/>
                <a:ea typeface="+mj-ea"/>
              </a:rPr>
              <a:t>上的一个进程已经被分配了端口</a:t>
            </a:r>
            <a:r>
              <a:rPr kumimoji="1" lang="en-US" altLang="zh-CN" sz="2800" b="1" dirty="0">
                <a:latin typeface="+mj-ea"/>
                <a:ea typeface="+mj-ea"/>
              </a:rPr>
              <a:t>q</a:t>
            </a:r>
            <a:r>
              <a:rPr kumimoji="1" lang="zh-CN" altLang="en-US" sz="2800" b="1" dirty="0">
                <a:latin typeface="+mj-ea"/>
                <a:ea typeface="+mj-ea"/>
              </a:rPr>
              <a:t>，请问这两个端口之间有可能同时存在两个或多个</a:t>
            </a:r>
            <a:r>
              <a:rPr kumimoji="1" lang="en-US" altLang="zh-CN" sz="2800" b="1" dirty="0">
                <a:latin typeface="+mj-ea"/>
                <a:ea typeface="+mj-ea"/>
              </a:rPr>
              <a:t>TCP</a:t>
            </a:r>
            <a:r>
              <a:rPr kumimoji="1" lang="zh-CN" altLang="en-US" sz="2800" b="1" dirty="0">
                <a:latin typeface="+mj-ea"/>
                <a:ea typeface="+mj-ea"/>
              </a:rPr>
              <a:t>连接吗？为什么有可能？或者为什么不可能？</a:t>
            </a:r>
          </a:p>
          <a:p>
            <a:pPr eaLnBrk="1" hangingPunct="1">
              <a:lnSpc>
                <a:spcPct val="90000"/>
              </a:lnSpc>
              <a:defRPr/>
            </a:pPr>
            <a:endParaRPr kumimoji="1" lang="zh-CN" altLang="en-US" sz="2800" b="1" dirty="0">
              <a:latin typeface="+mj-ea"/>
              <a:ea typeface="+mj-ea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kumimoji="1" lang="zh-CN" altLang="en-US" sz="2800" b="1" dirty="0">
                <a:latin typeface="+mj-ea"/>
                <a:ea typeface="+mj-ea"/>
              </a:rPr>
              <a:t>答：不可能</a:t>
            </a:r>
            <a:endParaRPr kumimoji="1" lang="en-US" altLang="zh-CN" sz="2800" b="1" dirty="0">
              <a:latin typeface="+mj-ea"/>
              <a:ea typeface="+mj-ea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kumimoji="1" lang="en-US" altLang="zh-CN" sz="2800" b="1" dirty="0">
                <a:latin typeface="+mj-ea"/>
                <a:ea typeface="+mj-ea"/>
              </a:rPr>
              <a:t>   </a:t>
            </a:r>
            <a:r>
              <a:rPr kumimoji="1" lang="zh-CN" altLang="en-US" sz="2800" b="1" dirty="0">
                <a:latin typeface="+mj-ea"/>
                <a:ea typeface="+mj-ea"/>
              </a:rPr>
              <a:t>一个</a:t>
            </a:r>
            <a:r>
              <a:rPr kumimoji="1" lang="en-US" altLang="zh-CN" sz="2800" b="1" dirty="0">
                <a:latin typeface="+mj-ea"/>
                <a:ea typeface="+mj-ea"/>
              </a:rPr>
              <a:t>TCP</a:t>
            </a:r>
            <a:r>
              <a:rPr kumimoji="1" lang="zh-CN" altLang="en-US" sz="2800" b="1" dirty="0">
                <a:latin typeface="+mj-ea"/>
                <a:ea typeface="+mj-ea"/>
              </a:rPr>
              <a:t>连接仅由它的套接口确定，一个套接口由源地址、源端口号、目的地址、目的端口号唯一确定。因此，</a:t>
            </a:r>
            <a:r>
              <a:rPr kumimoji="1" lang="en-US" altLang="zh-CN" sz="2800" b="1" dirty="0">
                <a:latin typeface="+mj-ea"/>
                <a:ea typeface="+mj-ea"/>
              </a:rPr>
              <a:t>(1,p)-(2,q)</a:t>
            </a:r>
            <a:r>
              <a:rPr kumimoji="1" lang="zh-CN" altLang="en-US" sz="2800" b="1" dirty="0">
                <a:latin typeface="+mj-ea"/>
                <a:ea typeface="+mj-ea"/>
              </a:rPr>
              <a:t>是这两个端口之间唯一可能的</a:t>
            </a:r>
            <a:r>
              <a:rPr kumimoji="1" lang="en-US" altLang="zh-CN" sz="2800" b="1" dirty="0">
                <a:latin typeface="+mj-ea"/>
                <a:ea typeface="+mj-ea"/>
              </a:rPr>
              <a:t>TCP</a:t>
            </a:r>
            <a:r>
              <a:rPr kumimoji="1" lang="zh-CN" altLang="en-US" sz="2800" b="1" dirty="0">
                <a:latin typeface="+mj-ea"/>
                <a:ea typeface="+mj-ea"/>
              </a:rPr>
              <a:t>连接。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A2128-2235-57D2-CD2F-6462DD78D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50" y="188913"/>
            <a:ext cx="7793038" cy="766762"/>
          </a:xfrm>
        </p:spPr>
        <p:txBody>
          <a:bodyPr/>
          <a:lstStyle/>
          <a:p>
            <a:pPr algn="ctr">
              <a:defRPr/>
            </a:pPr>
            <a:r>
              <a:rPr kumimoji="1" lang="en-US" altLang="zh-CN" b="1" dirty="0">
                <a:latin typeface="+mj-ea"/>
              </a:rPr>
              <a:t>Ch6</a:t>
            </a:r>
            <a:endParaRPr kumimoji="1" lang="zh-CN" altLang="en-US" b="1" dirty="0"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88DB03-7573-330E-25A1-73AD502DB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68413"/>
            <a:ext cx="8656960" cy="4792662"/>
          </a:xfrm>
        </p:spPr>
        <p:txBody>
          <a:bodyPr/>
          <a:lstStyle/>
          <a:p>
            <a:pPr>
              <a:defRPr/>
            </a:pPr>
            <a:r>
              <a:rPr kumimoji="1" lang="en-US" altLang="zh-CN" sz="2800" b="1" dirty="0">
                <a:latin typeface="+mj-ea"/>
                <a:ea typeface="+mj-ea"/>
              </a:rPr>
              <a:t>32. </a:t>
            </a:r>
            <a:r>
              <a:rPr kumimoji="1" lang="zh-CN" altLang="en-US" sz="2800" b="1" dirty="0">
                <a:latin typeface="+mj-ea"/>
                <a:ea typeface="+mj-ea"/>
              </a:rPr>
              <a:t>请考虑在一条往返时间为</a:t>
            </a:r>
            <a:r>
              <a:rPr kumimoji="1" lang="en-US" altLang="zh-CN" sz="2800" b="1" dirty="0">
                <a:latin typeface="+mj-ea"/>
                <a:ea typeface="+mj-ea"/>
              </a:rPr>
              <a:t>10</a:t>
            </a:r>
            <a:r>
              <a:rPr kumimoji="1" lang="zh-CN" altLang="en-US" sz="2800" b="1" dirty="0">
                <a:latin typeface="+mj-ea"/>
                <a:ea typeface="+mj-ea"/>
              </a:rPr>
              <a:t>毫秒的无拥塞线路上使用慢速启动算法的效果。接收窗口为</a:t>
            </a:r>
            <a:r>
              <a:rPr kumimoji="1" lang="en-US" altLang="zh-CN" sz="2800" b="1" dirty="0">
                <a:latin typeface="+mj-ea"/>
                <a:ea typeface="+mj-ea"/>
              </a:rPr>
              <a:t>24</a:t>
            </a:r>
            <a:r>
              <a:rPr kumimoji="1" lang="en" altLang="zh-CN" sz="2800" b="1" dirty="0">
                <a:latin typeface="+mj-ea"/>
                <a:ea typeface="+mj-ea"/>
              </a:rPr>
              <a:t>KB</a:t>
            </a:r>
            <a:r>
              <a:rPr kumimoji="1" lang="zh-CN" altLang="en" sz="2800" b="1" dirty="0">
                <a:latin typeface="+mj-ea"/>
                <a:ea typeface="+mj-ea"/>
              </a:rPr>
              <a:t>，</a:t>
            </a:r>
            <a:r>
              <a:rPr kumimoji="1" lang="zh-CN" altLang="en-US" sz="2800" b="1" dirty="0">
                <a:latin typeface="+mj-ea"/>
                <a:ea typeface="+mj-ea"/>
              </a:rPr>
              <a:t>最大段长为</a:t>
            </a:r>
            <a:r>
              <a:rPr kumimoji="1" lang="en-US" altLang="zh-CN" sz="2800" b="1" dirty="0">
                <a:latin typeface="+mj-ea"/>
                <a:ea typeface="+mj-ea"/>
              </a:rPr>
              <a:t>2</a:t>
            </a:r>
            <a:r>
              <a:rPr kumimoji="1" lang="en" altLang="zh-CN" sz="2800" b="1" dirty="0">
                <a:latin typeface="+mj-ea"/>
                <a:ea typeface="+mj-ea"/>
              </a:rPr>
              <a:t>KB</a:t>
            </a:r>
            <a:r>
              <a:rPr kumimoji="1" lang="zh-CN" altLang="en" sz="2800" b="1" dirty="0">
                <a:latin typeface="+mj-ea"/>
                <a:ea typeface="+mj-ea"/>
              </a:rPr>
              <a:t>。</a:t>
            </a:r>
            <a:r>
              <a:rPr kumimoji="1" lang="zh-CN" altLang="en-US" sz="2800" b="1" dirty="0">
                <a:latin typeface="+mj-ea"/>
                <a:ea typeface="+mj-ea"/>
              </a:rPr>
              <a:t>试问需要多长时间才能让第一个满窗口的数据发送出去？</a:t>
            </a:r>
            <a:endParaRPr kumimoji="1" lang="en-US" altLang="zh-CN" sz="2800" b="1" dirty="0">
              <a:latin typeface="+mj-ea"/>
              <a:ea typeface="+mj-ea"/>
            </a:endParaRPr>
          </a:p>
          <a:p>
            <a:pPr>
              <a:defRPr/>
            </a:pPr>
            <a:endParaRPr kumimoji="1" lang="en-US" altLang="zh-CN" sz="2800" b="1" dirty="0">
              <a:latin typeface="+mj-ea"/>
              <a:ea typeface="+mj-ea"/>
            </a:endParaRPr>
          </a:p>
          <a:p>
            <a:pPr>
              <a:defRPr/>
            </a:pPr>
            <a:r>
              <a:rPr kumimoji="1" lang="zh-CN" altLang="en-US" sz="2800" b="1" dirty="0">
                <a:latin typeface="+mj-ea"/>
                <a:ea typeface="+mj-ea"/>
              </a:rPr>
              <a:t>第一个突发</a:t>
            </a:r>
            <a:r>
              <a:rPr kumimoji="1" lang="en-US" altLang="zh-CN" sz="2800" b="1" dirty="0">
                <a:latin typeface="+mj-ea"/>
                <a:ea typeface="+mj-ea"/>
              </a:rPr>
              <a:t>1</a:t>
            </a:r>
            <a:r>
              <a:rPr kumimoji="1" lang="zh-CN" altLang="en-US" sz="2800" b="1" dirty="0">
                <a:latin typeface="+mj-ea"/>
                <a:ea typeface="+mj-ea"/>
              </a:rPr>
              <a:t>*</a:t>
            </a:r>
            <a:r>
              <a:rPr kumimoji="1" lang="en-US" altLang="zh-CN" sz="2800" b="1" dirty="0">
                <a:latin typeface="+mj-ea"/>
                <a:ea typeface="+mj-ea"/>
              </a:rPr>
              <a:t>2KB=2KB</a:t>
            </a:r>
            <a:r>
              <a:rPr kumimoji="1" lang="zh-CN" altLang="en-US" sz="2800" b="1" dirty="0">
                <a:latin typeface="+mj-ea"/>
                <a:ea typeface="+mj-ea"/>
              </a:rPr>
              <a:t>，</a:t>
            </a:r>
            <a:r>
              <a:rPr kumimoji="1" lang="en-US" altLang="zh-CN" sz="2800" b="1" dirty="0">
                <a:latin typeface="+mj-ea"/>
                <a:ea typeface="+mj-ea"/>
              </a:rPr>
              <a:t>10ms(</a:t>
            </a:r>
            <a:r>
              <a:rPr kumimoji="1" lang="zh-CN" altLang="en-US" sz="2800" b="1" dirty="0">
                <a:latin typeface="+mj-ea"/>
                <a:ea typeface="+mj-ea"/>
              </a:rPr>
              <a:t>即</a:t>
            </a:r>
            <a:r>
              <a:rPr kumimoji="1" lang="en-US" altLang="zh-CN" sz="2800" b="1" dirty="0">
                <a:latin typeface="+mj-ea"/>
                <a:ea typeface="+mj-ea"/>
              </a:rPr>
              <a:t>1</a:t>
            </a:r>
            <a:r>
              <a:rPr kumimoji="1" lang="zh-CN" altLang="en-US" sz="2800" b="1" dirty="0">
                <a:latin typeface="+mj-ea"/>
                <a:ea typeface="+mj-ea"/>
              </a:rPr>
              <a:t>个</a:t>
            </a:r>
            <a:r>
              <a:rPr kumimoji="1" lang="en-US" altLang="zh-CN" sz="2800" b="1" dirty="0">
                <a:latin typeface="+mj-ea"/>
                <a:ea typeface="+mj-ea"/>
              </a:rPr>
              <a:t>RTT)</a:t>
            </a:r>
            <a:r>
              <a:rPr kumimoji="1" lang="zh-CN" altLang="en-US" sz="2800" b="1" dirty="0">
                <a:latin typeface="+mj-ea"/>
                <a:ea typeface="+mj-ea"/>
              </a:rPr>
              <a:t>、</a:t>
            </a:r>
            <a:r>
              <a:rPr kumimoji="1" lang="en-US" altLang="zh-CN" sz="2800" b="1" dirty="0">
                <a:latin typeface="+mj-ea"/>
                <a:ea typeface="+mj-ea"/>
              </a:rPr>
              <a:t>20ms</a:t>
            </a:r>
            <a:r>
              <a:rPr kumimoji="1" lang="zh-CN" altLang="en-US" sz="2800" b="1" dirty="0">
                <a:latin typeface="+mj-ea"/>
                <a:ea typeface="+mj-ea"/>
              </a:rPr>
              <a:t>和</a:t>
            </a:r>
            <a:r>
              <a:rPr kumimoji="1" lang="en-US" altLang="zh-CN" sz="2800" b="1" dirty="0">
                <a:latin typeface="+mj-ea"/>
                <a:ea typeface="+mj-ea"/>
              </a:rPr>
              <a:t>30ms</a:t>
            </a:r>
            <a:r>
              <a:rPr kumimoji="1" lang="zh-CN" altLang="en-US" sz="2800" b="1" dirty="0">
                <a:latin typeface="+mj-ea"/>
                <a:ea typeface="+mj-ea"/>
              </a:rPr>
              <a:t>后分别为</a:t>
            </a:r>
            <a:r>
              <a:rPr kumimoji="1" lang="en-US" altLang="zh-CN" sz="2800" b="1" dirty="0">
                <a:latin typeface="+mj-ea"/>
                <a:ea typeface="+mj-ea"/>
              </a:rPr>
              <a:t>2</a:t>
            </a:r>
            <a:r>
              <a:rPr kumimoji="1" lang="zh-CN" altLang="en-US" sz="2800" b="1" dirty="0">
                <a:latin typeface="+mj-ea"/>
                <a:ea typeface="+mj-ea"/>
              </a:rPr>
              <a:t>*</a:t>
            </a:r>
            <a:r>
              <a:rPr kumimoji="1" lang="en-US" altLang="zh-CN" sz="2800" b="1" dirty="0">
                <a:latin typeface="+mj-ea"/>
                <a:ea typeface="+mj-ea"/>
              </a:rPr>
              <a:t>2KB</a:t>
            </a:r>
            <a:r>
              <a:rPr kumimoji="1" lang="zh-CN" altLang="en-US" sz="2800" b="1" dirty="0">
                <a:latin typeface="+mj-ea"/>
                <a:ea typeface="+mj-ea"/>
              </a:rPr>
              <a:t>、</a:t>
            </a:r>
            <a:r>
              <a:rPr kumimoji="1" lang="en-US" altLang="zh-CN" sz="2800" b="1" dirty="0">
                <a:latin typeface="+mj-ea"/>
                <a:ea typeface="+mj-ea"/>
              </a:rPr>
              <a:t>4</a:t>
            </a:r>
            <a:r>
              <a:rPr kumimoji="1" lang="zh-CN" altLang="en-US" sz="2800" b="1" dirty="0">
                <a:latin typeface="+mj-ea"/>
                <a:ea typeface="+mj-ea"/>
              </a:rPr>
              <a:t>*</a:t>
            </a:r>
            <a:r>
              <a:rPr kumimoji="1" lang="en-US" altLang="zh-CN" sz="2800" b="1" dirty="0">
                <a:latin typeface="+mj-ea"/>
                <a:ea typeface="+mj-ea"/>
              </a:rPr>
              <a:t>2KB</a:t>
            </a:r>
            <a:r>
              <a:rPr kumimoji="1" lang="zh-CN" altLang="en-US" sz="2800" b="1" dirty="0">
                <a:latin typeface="+mj-ea"/>
                <a:ea typeface="+mj-ea"/>
              </a:rPr>
              <a:t>和</a:t>
            </a:r>
            <a:r>
              <a:rPr kumimoji="1" lang="en-US" altLang="zh-CN" sz="2800" b="1" dirty="0">
                <a:latin typeface="+mj-ea"/>
                <a:ea typeface="+mj-ea"/>
              </a:rPr>
              <a:t>8</a:t>
            </a:r>
            <a:r>
              <a:rPr kumimoji="1" lang="zh-CN" altLang="en-US" sz="2800" b="1" dirty="0">
                <a:latin typeface="+mj-ea"/>
                <a:ea typeface="+mj-ea"/>
              </a:rPr>
              <a:t>*</a:t>
            </a:r>
            <a:r>
              <a:rPr kumimoji="1" lang="en-US" altLang="zh-CN" sz="2800" b="1" dirty="0">
                <a:latin typeface="+mj-ea"/>
                <a:ea typeface="+mj-ea"/>
              </a:rPr>
              <a:t>2KB</a:t>
            </a:r>
            <a:r>
              <a:rPr kumimoji="1" lang="zh-CN" altLang="en-US" sz="2800" b="1" dirty="0">
                <a:latin typeface="+mj-ea"/>
                <a:ea typeface="+mj-ea"/>
              </a:rPr>
              <a:t>，</a:t>
            </a:r>
            <a:endParaRPr kumimoji="1" lang="en-US" altLang="zh-CN" sz="2800" b="1" dirty="0">
              <a:latin typeface="+mj-ea"/>
              <a:ea typeface="+mj-ea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kumimoji="1" lang="zh-CN" altLang="en-US" sz="2800" b="1" dirty="0">
                <a:latin typeface="+mj-ea"/>
                <a:ea typeface="+mj-ea"/>
              </a:rPr>
              <a:t>  </a:t>
            </a:r>
            <a:r>
              <a:rPr kumimoji="1" lang="en-US" altLang="zh-CN" sz="2800" b="1" dirty="0">
                <a:latin typeface="+mj-ea"/>
                <a:ea typeface="+mj-ea"/>
              </a:rPr>
              <a:t>40ms</a:t>
            </a:r>
            <a:r>
              <a:rPr kumimoji="1" lang="zh-CN" altLang="en-US" sz="2800" b="1" dirty="0">
                <a:latin typeface="+mj-ea"/>
                <a:ea typeface="+mj-ea"/>
              </a:rPr>
              <a:t>后为</a:t>
            </a:r>
            <a:r>
              <a:rPr kumimoji="1" lang="en-US" altLang="zh-CN" sz="2800" b="1" dirty="0">
                <a:latin typeface="+mj-ea"/>
                <a:ea typeface="+mj-ea"/>
              </a:rPr>
              <a:t>min{16</a:t>
            </a:r>
            <a:r>
              <a:rPr kumimoji="1" lang="zh-CN" altLang="en-US" sz="2800" b="1" dirty="0">
                <a:latin typeface="+mj-ea"/>
                <a:ea typeface="+mj-ea"/>
              </a:rPr>
              <a:t>*</a:t>
            </a:r>
            <a:r>
              <a:rPr kumimoji="1" lang="en-US" altLang="zh-CN" sz="2800" b="1" dirty="0">
                <a:latin typeface="+mj-ea"/>
                <a:ea typeface="+mj-ea"/>
              </a:rPr>
              <a:t>2KB</a:t>
            </a:r>
            <a:r>
              <a:rPr kumimoji="1" lang="zh-CN" altLang="en-US" sz="2800" b="1" dirty="0">
                <a:latin typeface="+mj-ea"/>
                <a:ea typeface="+mj-ea"/>
              </a:rPr>
              <a:t>，</a:t>
            </a:r>
            <a:r>
              <a:rPr kumimoji="1" lang="en-US" altLang="zh-CN" sz="2800" b="1" dirty="0">
                <a:latin typeface="+mj-ea"/>
                <a:ea typeface="+mj-ea"/>
              </a:rPr>
              <a:t>24KB}=24KB</a:t>
            </a:r>
          </a:p>
          <a:p>
            <a:pPr marL="0" indent="0">
              <a:buFont typeface="Wingdings" pitchFamily="2" charset="2"/>
              <a:buNone/>
              <a:defRPr/>
            </a:pPr>
            <a:endParaRPr kumimoji="1" lang="en-US" altLang="zh-CN" sz="2800" b="1" dirty="0">
              <a:latin typeface="+mj-ea"/>
              <a:ea typeface="+mj-ea"/>
            </a:endParaRPr>
          </a:p>
          <a:p>
            <a:pPr marL="0" indent="0">
              <a:buNone/>
              <a:defRPr/>
            </a:pPr>
            <a:r>
              <a:rPr kumimoji="1" lang="zh-CN" altLang="en-US" sz="2800" b="1" dirty="0">
                <a:latin typeface="+mj-ea"/>
                <a:ea typeface="+mj-ea"/>
              </a:rPr>
              <a:t>提示：允许发送的字节数</a:t>
            </a:r>
            <a:r>
              <a:rPr kumimoji="1" lang="en-US" altLang="zh-CN" sz="2800" b="1" dirty="0">
                <a:latin typeface="+mj-ea"/>
                <a:ea typeface="+mj-ea"/>
              </a:rPr>
              <a:t>=min{</a:t>
            </a:r>
            <a:r>
              <a:rPr kumimoji="1" lang="zh-CN" altLang="en-US" sz="2800" b="1" dirty="0">
                <a:latin typeface="+mj-ea"/>
                <a:ea typeface="+mj-ea"/>
              </a:rPr>
              <a:t>拥塞窗口，接收窗口</a:t>
            </a:r>
            <a:r>
              <a:rPr kumimoji="1" lang="en-US" altLang="zh-CN" sz="2800" b="1" dirty="0">
                <a:latin typeface="+mj-ea"/>
                <a:ea typeface="+mj-ea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EDE08-B21A-3D80-30B1-2F911457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kumimoji="1" lang="en-US" altLang="zh-CN" b="1" dirty="0">
                <a:latin typeface="+mj-ea"/>
              </a:rPr>
              <a:t>Ch6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72D7CA-7F05-F83C-E94E-1102E9EB3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412875"/>
            <a:ext cx="8404225" cy="4719638"/>
          </a:xfrm>
        </p:spPr>
        <p:txBody>
          <a:bodyPr/>
          <a:lstStyle/>
          <a:p>
            <a:pPr>
              <a:defRPr/>
            </a:pPr>
            <a:r>
              <a:rPr kumimoji="1" lang="en-US" altLang="zh-CN" sz="2800" b="1" dirty="0">
                <a:latin typeface="+mj-ea"/>
                <a:ea typeface="+mj-ea"/>
              </a:rPr>
              <a:t>33.</a:t>
            </a:r>
            <a:r>
              <a:rPr kumimoji="1" lang="zh-CN" altLang="en-US" sz="2800" b="1" dirty="0">
                <a:latin typeface="+mj-ea"/>
                <a:ea typeface="+mj-ea"/>
              </a:rPr>
              <a:t>假设</a:t>
            </a:r>
            <a:r>
              <a:rPr kumimoji="1" lang="en-US" altLang="zh-CN" sz="2800" b="1" dirty="0">
                <a:latin typeface="+mj-ea"/>
                <a:ea typeface="+mj-ea"/>
              </a:rPr>
              <a:t>TCP</a:t>
            </a:r>
            <a:r>
              <a:rPr kumimoji="1" lang="zh-CN" altLang="en-US" sz="2800" b="1" dirty="0">
                <a:latin typeface="+mj-ea"/>
                <a:ea typeface="+mj-ea"/>
              </a:rPr>
              <a:t>的拥塞窗口被设置为</a:t>
            </a:r>
            <a:r>
              <a:rPr kumimoji="1" lang="en-US" altLang="zh-CN" sz="2800" b="1" dirty="0">
                <a:latin typeface="+mj-ea"/>
                <a:ea typeface="+mj-ea"/>
              </a:rPr>
              <a:t>18KB</a:t>
            </a:r>
            <a:r>
              <a:rPr kumimoji="1" lang="zh-CN" altLang="en-US" sz="2800" b="1" dirty="0">
                <a:latin typeface="+mj-ea"/>
                <a:ea typeface="+mj-ea"/>
              </a:rPr>
              <a:t>，并且发生了超时。如果接下来的</a:t>
            </a:r>
            <a:r>
              <a:rPr kumimoji="1" lang="en-US" altLang="zh-CN" sz="2800" b="1" dirty="0">
                <a:latin typeface="+mj-ea"/>
                <a:ea typeface="+mj-ea"/>
              </a:rPr>
              <a:t>4</a:t>
            </a:r>
            <a:r>
              <a:rPr kumimoji="1" lang="zh-CN" altLang="en-US" sz="2800" b="1" dirty="0">
                <a:latin typeface="+mj-ea"/>
                <a:ea typeface="+mj-ea"/>
              </a:rPr>
              <a:t>次突发传输全部成功，试问拥塞窗口将达到多大？假设最大段长为</a:t>
            </a:r>
            <a:r>
              <a:rPr kumimoji="1" lang="en-US" altLang="zh-CN" sz="2800" b="1" dirty="0">
                <a:latin typeface="+mj-ea"/>
                <a:ea typeface="+mj-ea"/>
              </a:rPr>
              <a:t>1KB</a:t>
            </a:r>
            <a:r>
              <a:rPr kumimoji="1" lang="zh-CN" altLang="en-US" sz="2800" b="1" dirty="0">
                <a:latin typeface="+mj-ea"/>
                <a:ea typeface="+mj-ea"/>
              </a:rPr>
              <a:t>。</a:t>
            </a:r>
            <a:endParaRPr kumimoji="1" lang="en-US" altLang="zh-CN" sz="2800" b="1" dirty="0">
              <a:latin typeface="+mj-ea"/>
              <a:ea typeface="+mj-ea"/>
            </a:endParaRPr>
          </a:p>
          <a:p>
            <a:pPr>
              <a:defRPr/>
            </a:pPr>
            <a:endParaRPr kumimoji="1" lang="en-US" altLang="zh-CN" sz="2800" b="1" dirty="0">
              <a:latin typeface="+mj-ea"/>
              <a:ea typeface="+mj-ea"/>
            </a:endParaRPr>
          </a:p>
          <a:p>
            <a:pPr>
              <a:defRPr/>
            </a:pPr>
            <a:r>
              <a:rPr kumimoji="1" lang="zh-CN" altLang="en-US" sz="2800" b="1" dirty="0">
                <a:latin typeface="+mj-ea"/>
                <a:ea typeface="+mj-ea"/>
              </a:rPr>
              <a:t>由于超时，接下来的第一次突发为</a:t>
            </a:r>
            <a:r>
              <a:rPr kumimoji="1" lang="en-US" altLang="zh-CN" sz="2800" b="1" dirty="0">
                <a:latin typeface="+mj-ea"/>
                <a:ea typeface="+mj-ea"/>
              </a:rPr>
              <a:t>1</a:t>
            </a:r>
            <a:r>
              <a:rPr kumimoji="1" lang="zh-CN" altLang="en-US" sz="2800" b="1" dirty="0">
                <a:latin typeface="+mj-ea"/>
                <a:ea typeface="+mj-ea"/>
              </a:rPr>
              <a:t>*</a:t>
            </a:r>
            <a:r>
              <a:rPr kumimoji="1" lang="en-US" altLang="zh-CN" sz="2800" b="1" dirty="0">
                <a:latin typeface="+mj-ea"/>
                <a:ea typeface="+mj-ea"/>
              </a:rPr>
              <a:t>1KB=1KB</a:t>
            </a:r>
            <a:r>
              <a:rPr kumimoji="1" lang="zh-CN" altLang="en-US" sz="2800" b="1" dirty="0">
                <a:latin typeface="+mj-ea"/>
                <a:ea typeface="+mj-ea"/>
              </a:rPr>
              <a:t>，然后是</a:t>
            </a:r>
            <a:r>
              <a:rPr kumimoji="1" lang="en-US" altLang="zh-CN" sz="2800" b="1" dirty="0">
                <a:latin typeface="+mj-ea"/>
                <a:ea typeface="+mj-ea"/>
              </a:rPr>
              <a:t>2KB</a:t>
            </a:r>
            <a:r>
              <a:rPr kumimoji="1" lang="zh-CN" altLang="en-US" sz="2800" b="1" dirty="0">
                <a:latin typeface="+mj-ea"/>
                <a:ea typeface="+mj-ea"/>
              </a:rPr>
              <a:t>、</a:t>
            </a:r>
            <a:r>
              <a:rPr kumimoji="1" lang="en-US" altLang="zh-CN" sz="2800" b="1" dirty="0">
                <a:latin typeface="+mj-ea"/>
                <a:ea typeface="+mj-ea"/>
              </a:rPr>
              <a:t>4KB</a:t>
            </a:r>
            <a:r>
              <a:rPr kumimoji="1" lang="zh-CN" altLang="en-US" sz="2800" b="1" dirty="0">
                <a:latin typeface="+mj-ea"/>
                <a:ea typeface="+mj-ea"/>
              </a:rPr>
              <a:t>和</a:t>
            </a:r>
            <a:r>
              <a:rPr kumimoji="1" lang="en-US" altLang="zh-CN" sz="2800" b="1" dirty="0">
                <a:latin typeface="+mj-ea"/>
                <a:ea typeface="+mj-ea"/>
              </a:rPr>
              <a:t>8KB</a:t>
            </a:r>
            <a:r>
              <a:rPr kumimoji="1" lang="zh-CN" altLang="en-US" sz="2800" b="1" dirty="0">
                <a:latin typeface="+mj-ea"/>
                <a:ea typeface="+mj-ea"/>
              </a:rPr>
              <a:t>。因此四次后它将是</a:t>
            </a:r>
            <a:r>
              <a:rPr kumimoji="1" lang="en-US" altLang="zh-CN" sz="2800" b="1" dirty="0">
                <a:latin typeface="+mj-ea"/>
                <a:ea typeface="+mj-ea"/>
              </a:rPr>
              <a:t>8</a:t>
            </a:r>
            <a:r>
              <a:rPr kumimoji="1" lang="en" altLang="zh-CN" sz="2800" b="1" dirty="0">
                <a:latin typeface="+mj-ea"/>
                <a:ea typeface="+mj-ea"/>
              </a:rPr>
              <a:t>KB</a:t>
            </a:r>
            <a:r>
              <a:rPr kumimoji="1" lang="en-US" altLang="zh-CN" sz="2800" b="1" dirty="0">
                <a:latin typeface="+mj-ea"/>
                <a:ea typeface="+mj-ea"/>
              </a:rPr>
              <a:t>+1KB=9KB</a:t>
            </a:r>
            <a:r>
              <a:rPr kumimoji="1" lang="zh-CN" altLang="en" sz="2800" b="1" dirty="0">
                <a:latin typeface="+mj-ea"/>
                <a:ea typeface="+mj-ea"/>
              </a:rPr>
              <a:t>。</a:t>
            </a:r>
            <a:endParaRPr kumimoji="1" lang="zh-CN" altLang="en-US" sz="28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CB09424C-27A5-F1DA-1A57-B3095FABA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Ch6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EDDC4CD-F274-D009-E387-44D774E11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sz="2800" b="1" dirty="0">
                <a:latin typeface="+mn-ea"/>
              </a:rPr>
              <a:t>补充</a:t>
            </a:r>
            <a:r>
              <a:rPr kumimoji="1" lang="en-US" altLang="zh-CN" sz="2800" b="1" dirty="0">
                <a:latin typeface="+mn-ea"/>
              </a:rPr>
              <a:t>1.TCP</a:t>
            </a:r>
            <a:r>
              <a:rPr kumimoji="1" lang="zh-CN" altLang="en-US" sz="2800" b="1" dirty="0">
                <a:latin typeface="+mn-ea"/>
              </a:rPr>
              <a:t>数据段的最大净荷是</a:t>
            </a:r>
            <a:r>
              <a:rPr kumimoji="1" lang="en-US" altLang="zh-CN" sz="2800" b="1" dirty="0">
                <a:latin typeface="+mn-ea"/>
              </a:rPr>
              <a:t>65495</a:t>
            </a:r>
            <a:r>
              <a:rPr kumimoji="1" lang="zh-CN" altLang="en-US" sz="2800" b="1" dirty="0">
                <a:latin typeface="+mn-ea"/>
              </a:rPr>
              <a:t>字节。为什么选择了如此奇怪的一个数呢？</a:t>
            </a:r>
          </a:p>
          <a:p>
            <a:pPr eaLnBrk="1" hangingPunct="1">
              <a:defRPr/>
            </a:pPr>
            <a:endParaRPr kumimoji="1" lang="zh-CN" altLang="en-US" sz="2800" b="1" dirty="0">
              <a:latin typeface="+mn-ea"/>
            </a:endParaRPr>
          </a:p>
          <a:p>
            <a:pPr eaLnBrk="1" hangingPunct="1">
              <a:defRPr/>
            </a:pPr>
            <a:r>
              <a:rPr kumimoji="1" lang="zh-CN" altLang="en-US" sz="2800" b="1" dirty="0">
                <a:latin typeface="+mn-ea"/>
              </a:rPr>
              <a:t>答：</a:t>
            </a:r>
            <a:r>
              <a:rPr kumimoji="1" lang="en-US" altLang="zh-CN" sz="2800" b="1" dirty="0">
                <a:latin typeface="+mn-ea"/>
              </a:rPr>
              <a:t>IP</a:t>
            </a:r>
            <a:r>
              <a:rPr kumimoji="1" lang="zh-CN" altLang="en-US" sz="2800" b="1" dirty="0">
                <a:latin typeface="+mn-ea"/>
              </a:rPr>
              <a:t>数据包的最大长度为</a:t>
            </a:r>
            <a:r>
              <a:rPr kumimoji="1" lang="en-US" altLang="zh-CN" sz="2800" b="1" dirty="0">
                <a:latin typeface="+mn-ea"/>
              </a:rPr>
              <a:t>65535</a:t>
            </a:r>
            <a:r>
              <a:rPr kumimoji="1" lang="zh-CN" altLang="en-US" sz="2800" b="1" dirty="0">
                <a:latin typeface="+mn-ea"/>
              </a:rPr>
              <a:t>，而</a:t>
            </a:r>
            <a:r>
              <a:rPr kumimoji="1" lang="en-US" altLang="zh-CN" sz="2800" b="1" dirty="0">
                <a:latin typeface="+mn-ea"/>
              </a:rPr>
              <a:t>IP</a:t>
            </a:r>
            <a:r>
              <a:rPr kumimoji="1" lang="zh-CN" altLang="en-US" sz="2800" b="1" dirty="0">
                <a:latin typeface="+mn-ea"/>
              </a:rPr>
              <a:t>头占</a:t>
            </a:r>
            <a:r>
              <a:rPr kumimoji="1" lang="en-US" altLang="zh-CN" sz="2800" b="1" dirty="0">
                <a:latin typeface="+mn-ea"/>
              </a:rPr>
              <a:t>20</a:t>
            </a:r>
            <a:r>
              <a:rPr kumimoji="1" lang="zh-CN" altLang="en-US" sz="2800" b="1" dirty="0">
                <a:latin typeface="+mn-ea"/>
              </a:rPr>
              <a:t>字节，</a:t>
            </a:r>
            <a:r>
              <a:rPr kumimoji="1" lang="en-US" altLang="zh-CN" sz="2800" b="1" dirty="0">
                <a:latin typeface="+mn-ea"/>
              </a:rPr>
              <a:t>TCP</a:t>
            </a:r>
            <a:r>
              <a:rPr kumimoji="1" lang="zh-CN" altLang="en-US" sz="2800" b="1" dirty="0">
                <a:latin typeface="+mn-ea"/>
              </a:rPr>
              <a:t>头占</a:t>
            </a:r>
            <a:r>
              <a:rPr kumimoji="1" lang="en-US" altLang="zh-CN" sz="2800" b="1" dirty="0">
                <a:latin typeface="+mn-ea"/>
              </a:rPr>
              <a:t>20</a:t>
            </a:r>
            <a:r>
              <a:rPr kumimoji="1" lang="zh-CN" altLang="en-US" sz="2800" b="1" dirty="0">
                <a:latin typeface="+mn-ea"/>
              </a:rPr>
              <a:t>字节，因此，</a:t>
            </a:r>
            <a:r>
              <a:rPr kumimoji="1" lang="en-US" altLang="zh-CN" sz="2800" b="1" dirty="0">
                <a:latin typeface="+mn-ea"/>
              </a:rPr>
              <a:t>TCP</a:t>
            </a:r>
            <a:r>
              <a:rPr kumimoji="1" lang="zh-CN" altLang="en-US" sz="2800" b="1" dirty="0">
                <a:latin typeface="+mn-ea"/>
              </a:rPr>
              <a:t>数据段的最大净荷为</a:t>
            </a:r>
            <a:r>
              <a:rPr kumimoji="1" lang="en-US" altLang="zh-CN" sz="2800" b="1" dirty="0">
                <a:latin typeface="+mn-ea"/>
              </a:rPr>
              <a:t>65535-20-20=65495</a:t>
            </a:r>
            <a:r>
              <a:rPr kumimoji="1" lang="zh-CN" altLang="en-US" sz="2800" b="1" dirty="0">
                <a:latin typeface="+mn-ea"/>
              </a:rPr>
              <a:t>字节。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223</TotalTime>
  <Words>504</Words>
  <Application>Microsoft Office PowerPoint</Application>
  <PresentationFormat>全屏显示(4:3)</PresentationFormat>
  <Paragraphs>34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Tahoma</vt:lpstr>
      <vt:lpstr>Wingdings</vt:lpstr>
      <vt:lpstr>Blends</vt:lpstr>
      <vt:lpstr>Ch6</vt:lpstr>
      <vt:lpstr>Ch6</vt:lpstr>
      <vt:lpstr>Ch6</vt:lpstr>
      <vt:lpstr>Ch6</vt:lpstr>
    </vt:vector>
  </TitlesOfParts>
  <Company>bjut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renxt</dc:creator>
  <cp:lastModifiedBy>LC State</cp:lastModifiedBy>
  <cp:revision>118</cp:revision>
  <dcterms:created xsi:type="dcterms:W3CDTF">2007-04-25T15:28:32Z</dcterms:created>
  <dcterms:modified xsi:type="dcterms:W3CDTF">2026-01-07T02:14:16Z</dcterms:modified>
</cp:coreProperties>
</file>