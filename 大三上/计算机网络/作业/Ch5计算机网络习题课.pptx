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27"/>
  </p:notesMasterIdLst>
  <p:handoutMasterIdLst>
    <p:handoutMasterId r:id="rId28"/>
  </p:handoutMasterIdLst>
  <p:sldIdLst>
    <p:sldId id="275" r:id="rId2"/>
    <p:sldId id="288" r:id="rId3"/>
    <p:sldId id="305" r:id="rId4"/>
    <p:sldId id="306" r:id="rId5"/>
    <p:sldId id="289" r:id="rId6"/>
    <p:sldId id="304" r:id="rId7"/>
    <p:sldId id="310" r:id="rId8"/>
    <p:sldId id="312" r:id="rId9"/>
    <p:sldId id="313" r:id="rId10"/>
    <p:sldId id="311" r:id="rId11"/>
    <p:sldId id="273" r:id="rId12"/>
    <p:sldId id="291" r:id="rId13"/>
    <p:sldId id="299" r:id="rId14"/>
    <p:sldId id="292" r:id="rId15"/>
    <p:sldId id="294" r:id="rId16"/>
    <p:sldId id="296" r:id="rId17"/>
    <p:sldId id="298" r:id="rId18"/>
    <p:sldId id="307" r:id="rId19"/>
    <p:sldId id="290" r:id="rId20"/>
    <p:sldId id="314" r:id="rId21"/>
    <p:sldId id="286" r:id="rId22"/>
    <p:sldId id="301" r:id="rId23"/>
    <p:sldId id="283" r:id="rId24"/>
    <p:sldId id="284" r:id="rId25"/>
    <p:sldId id="285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387" autoAdjust="0"/>
    <p:restoredTop sz="96849" autoAdjust="0"/>
  </p:normalViewPr>
  <p:slideViewPr>
    <p:cSldViewPr>
      <p:cViewPr varScale="1">
        <p:scale>
          <a:sx n="106" d="100"/>
          <a:sy n="106" d="100"/>
        </p:scale>
        <p:origin x="55" y="6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039565AB-59D3-C6C3-BA46-818ECD1B6D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F2B029D9-70DF-F019-F944-43244F34D9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850F0352-DBB9-867A-57A8-4AE3E7C6E71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43BC8EA3-A508-C534-5942-1FD20FD0E50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4A787E8-F625-514E-8E29-E4CEC04C4D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BC54DA7-2536-C4E0-8A38-93C75FD1B8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97EC03E-B85A-2FD8-46B8-56323E229AE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BAF6488F-ABF8-1697-6200-CE2F762B495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90586A45-7355-4590-C1E5-2D1BD41253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BEDC4C9D-4707-4E8B-756A-1B5D384EB42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3B952B14-EFFD-18F0-E2EF-0AA369182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897BDF9-3EE0-8945-9308-ABA15CAA06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C7CD6BAA-3E72-AADD-564B-DEA9F47F8B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9738008-29D2-0943-8A3C-33F6A432847F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E075A7FA-5C99-E924-444D-AA1AA53173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A9113E7-9793-9C32-EF53-6512BBC3D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9</a:t>
            </a:r>
            <a:r>
              <a:rPr kumimoji="0" lang="en-US" altLang="zh-CN"/>
              <a:t>-&gt;6-&gt;7</a:t>
            </a:r>
          </a:p>
          <a:p>
            <a:pPr eaLnBrk="1" hangingPunct="1"/>
            <a:endParaRPr kumimoji="0" lang="en-US" altLang="zh-CN"/>
          </a:p>
          <a:p>
            <a:pPr eaLnBrk="1" hangingPunct="1"/>
            <a:r>
              <a:rPr kumimoji="0" lang="zh-CN" altLang="en-US"/>
              <a:t>注：题中“从</a:t>
            </a:r>
            <a:r>
              <a:rPr kumimoji="0" lang="en-US" altLang="zh-CN"/>
              <a:t>C</a:t>
            </a:r>
            <a:r>
              <a:rPr kumimoji="0" lang="zh-CN" altLang="en-US"/>
              <a:t>到</a:t>
            </a:r>
            <a:r>
              <a:rPr kumimoji="0" lang="en-US" altLang="zh-CN"/>
              <a:t>B</a:t>
            </a:r>
            <a:r>
              <a:rPr kumimoji="0" lang="zh-CN" altLang="en-US"/>
              <a:t>，</a:t>
            </a:r>
            <a:r>
              <a:rPr kumimoji="0" lang="en-US" altLang="zh-CN"/>
              <a:t>D</a:t>
            </a:r>
            <a:r>
              <a:rPr kumimoji="0" lang="zh-CN" altLang="en-US"/>
              <a:t>和</a:t>
            </a:r>
            <a:r>
              <a:rPr kumimoji="0" lang="en-US" altLang="zh-CN"/>
              <a:t>E</a:t>
            </a:r>
            <a:r>
              <a:rPr kumimoji="0" lang="zh-CN" altLang="en-US"/>
              <a:t>的链路成本分别为</a:t>
            </a:r>
            <a:r>
              <a:rPr kumimoji="0" lang="en-US" altLang="zh-CN"/>
              <a:t>6</a:t>
            </a:r>
            <a:r>
              <a:rPr kumimoji="0" lang="zh-CN" altLang="en-US"/>
              <a:t>、</a:t>
            </a:r>
            <a:r>
              <a:rPr kumimoji="0" lang="en-US" altLang="zh-CN"/>
              <a:t>3</a:t>
            </a:r>
            <a:r>
              <a:rPr kumimoji="0" lang="zh-CN" altLang="en-US"/>
              <a:t>和</a:t>
            </a:r>
            <a:r>
              <a:rPr kumimoji="0" lang="en-US" altLang="zh-CN"/>
              <a:t>5</a:t>
            </a:r>
            <a:r>
              <a:rPr kumimoji="0" lang="zh-CN" altLang="en-US"/>
              <a:t>”，而</a:t>
            </a:r>
            <a:r>
              <a:rPr lang="zh-CN" altLang="en-US">
                <a:latin typeface="宋体" panose="02010600030101010101" pitchFamily="2" charset="-122"/>
              </a:rPr>
              <a:t>图</a:t>
            </a:r>
            <a:r>
              <a:rPr lang="en-US" altLang="zh-CN">
                <a:latin typeface="宋体" panose="02010600030101010101" pitchFamily="2" charset="-122"/>
              </a:rPr>
              <a:t>5.12(a)</a:t>
            </a:r>
            <a:r>
              <a:rPr lang="zh-CN" altLang="en-US">
                <a:latin typeface="宋体" panose="02010600030101010101" pitchFamily="2" charset="-122"/>
              </a:rPr>
              <a:t>中“从</a:t>
            </a:r>
            <a:r>
              <a:rPr lang="zh-CN" altLang="zh-CN">
                <a:latin typeface="宋体" panose="02010600030101010101" pitchFamily="2" charset="-122"/>
              </a:rPr>
              <a:t>C</a:t>
            </a:r>
            <a:r>
              <a:rPr lang="zh-CN" altLang="en-US">
                <a:latin typeface="宋体" panose="02010600030101010101" pitchFamily="2" charset="-122"/>
              </a:rPr>
              <a:t>到</a:t>
            </a:r>
            <a:r>
              <a:rPr lang="zh-CN" altLang="zh-CN">
                <a:latin typeface="宋体" panose="02010600030101010101" pitchFamily="2" charset="-122"/>
              </a:rPr>
              <a:t>B，D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zh-CN" altLang="zh-CN">
                <a:latin typeface="宋体" panose="02010600030101010101" pitchFamily="2" charset="-122"/>
              </a:rPr>
              <a:t>E</a:t>
            </a:r>
            <a:r>
              <a:rPr lang="zh-CN" altLang="en-US">
                <a:latin typeface="宋体" panose="02010600030101010101" pitchFamily="2" charset="-122"/>
              </a:rPr>
              <a:t>的链路成本分别为</a:t>
            </a:r>
            <a:r>
              <a:rPr lang="en-US" altLang="zh-CN">
                <a:latin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</a:rPr>
              <a:t>”</a:t>
            </a:r>
            <a:endParaRPr kumimoji="0"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FD59AFA5-9BCA-9FF8-091B-99E58ABFD0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CA62BF-FD4C-0D43-99AB-B3D14D09C292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FD673CB-735A-2F93-EE7C-8C0FEA8CAF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290A275-E840-E11F-69A8-DAE5DB03C2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9</a:t>
            </a:r>
            <a:r>
              <a:rPr kumimoji="0" lang="en-US" altLang="zh-CN"/>
              <a:t>-&gt;6-&gt;7</a:t>
            </a:r>
          </a:p>
          <a:p>
            <a:pPr eaLnBrk="1" hangingPunct="1"/>
            <a:endParaRPr kumimoji="0" lang="en-US" altLang="zh-CN"/>
          </a:p>
          <a:p>
            <a:pPr eaLnBrk="1" hangingPunct="1"/>
            <a:r>
              <a:rPr kumimoji="0" lang="zh-CN" altLang="en-US"/>
              <a:t>注：题中“从</a:t>
            </a:r>
            <a:r>
              <a:rPr kumimoji="0" lang="en-US" altLang="zh-CN"/>
              <a:t>C</a:t>
            </a:r>
            <a:r>
              <a:rPr kumimoji="0" lang="zh-CN" altLang="en-US"/>
              <a:t>到</a:t>
            </a:r>
            <a:r>
              <a:rPr kumimoji="0" lang="en-US" altLang="zh-CN"/>
              <a:t>B</a:t>
            </a:r>
            <a:r>
              <a:rPr kumimoji="0" lang="zh-CN" altLang="en-US"/>
              <a:t>，</a:t>
            </a:r>
            <a:r>
              <a:rPr kumimoji="0" lang="en-US" altLang="zh-CN"/>
              <a:t>D</a:t>
            </a:r>
            <a:r>
              <a:rPr kumimoji="0" lang="zh-CN" altLang="en-US"/>
              <a:t>和</a:t>
            </a:r>
            <a:r>
              <a:rPr kumimoji="0" lang="en-US" altLang="zh-CN"/>
              <a:t>E</a:t>
            </a:r>
            <a:r>
              <a:rPr kumimoji="0" lang="zh-CN" altLang="en-US"/>
              <a:t>的链路成本分别为</a:t>
            </a:r>
            <a:r>
              <a:rPr kumimoji="0" lang="en-US" altLang="zh-CN"/>
              <a:t>6</a:t>
            </a:r>
            <a:r>
              <a:rPr kumimoji="0" lang="zh-CN" altLang="en-US"/>
              <a:t>、</a:t>
            </a:r>
            <a:r>
              <a:rPr kumimoji="0" lang="en-US" altLang="zh-CN"/>
              <a:t>3</a:t>
            </a:r>
            <a:r>
              <a:rPr kumimoji="0" lang="zh-CN" altLang="en-US"/>
              <a:t>和</a:t>
            </a:r>
            <a:r>
              <a:rPr kumimoji="0" lang="en-US" altLang="zh-CN"/>
              <a:t>5</a:t>
            </a:r>
            <a:r>
              <a:rPr kumimoji="0" lang="zh-CN" altLang="en-US"/>
              <a:t>”，而</a:t>
            </a:r>
            <a:r>
              <a:rPr lang="zh-CN" altLang="en-US">
                <a:latin typeface="宋体" panose="02010600030101010101" pitchFamily="2" charset="-122"/>
              </a:rPr>
              <a:t>图</a:t>
            </a:r>
            <a:r>
              <a:rPr lang="en-US" altLang="zh-CN">
                <a:latin typeface="宋体" panose="02010600030101010101" pitchFamily="2" charset="-122"/>
              </a:rPr>
              <a:t>5.12(a)</a:t>
            </a:r>
            <a:r>
              <a:rPr lang="zh-CN" altLang="en-US">
                <a:latin typeface="宋体" panose="02010600030101010101" pitchFamily="2" charset="-122"/>
              </a:rPr>
              <a:t>中“从</a:t>
            </a:r>
            <a:r>
              <a:rPr lang="zh-CN" altLang="zh-CN">
                <a:latin typeface="宋体" panose="02010600030101010101" pitchFamily="2" charset="-122"/>
              </a:rPr>
              <a:t>C</a:t>
            </a:r>
            <a:r>
              <a:rPr lang="zh-CN" altLang="en-US">
                <a:latin typeface="宋体" panose="02010600030101010101" pitchFamily="2" charset="-122"/>
              </a:rPr>
              <a:t>到</a:t>
            </a:r>
            <a:r>
              <a:rPr lang="zh-CN" altLang="zh-CN">
                <a:latin typeface="宋体" panose="02010600030101010101" pitchFamily="2" charset="-122"/>
              </a:rPr>
              <a:t>B，D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zh-CN" altLang="zh-CN">
                <a:latin typeface="宋体" panose="02010600030101010101" pitchFamily="2" charset="-122"/>
              </a:rPr>
              <a:t>E</a:t>
            </a:r>
            <a:r>
              <a:rPr lang="zh-CN" altLang="en-US">
                <a:latin typeface="宋体" panose="02010600030101010101" pitchFamily="2" charset="-122"/>
              </a:rPr>
              <a:t>的链路成本分别为</a:t>
            </a:r>
            <a:r>
              <a:rPr lang="en-US" altLang="zh-CN">
                <a:latin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</a:rPr>
              <a:t>”</a:t>
            </a:r>
            <a:endParaRPr kumimoji="0"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1657D3F0-B679-F3E2-D2EE-414BFF917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6D8601-ECCB-A34B-80A0-6C16CE6189D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9D0A0401-82CE-FD48-9E56-54A92777D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DBC7F38-6FAF-B713-65ED-33F4B776A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21</a:t>
            </a:r>
            <a:r>
              <a:rPr kumimoji="0" lang="en-US" altLang="zh-CN"/>
              <a:t>-&gt;15-&gt;15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4928D022-5ACF-6693-0B04-652930C5AD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138100-1E74-D44D-A4A0-AB1CAE9AF374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1992B810-4849-0C30-DFB7-B948BA6363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5A66A54-26F0-28CF-457C-7E4AFDAD5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28</a:t>
            </a:r>
            <a:r>
              <a:rPr kumimoji="0" lang="en-US" altLang="zh-CN"/>
              <a:t>-&gt;x-&gt;23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CCF6C4BD-4B49-553A-7B67-1ACF6A7664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FFAB16-AE83-B348-9709-89F2FD8C095E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052D0126-271E-981E-B4C8-84F3E3D628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A5D44DD-9B2B-9C48-D466-85E7317F2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28</a:t>
            </a:r>
            <a:r>
              <a:rPr kumimoji="0" lang="en-US" altLang="zh-CN" dirty="0"/>
              <a:t>-&gt;x-&gt;23</a:t>
            </a:r>
          </a:p>
          <a:p>
            <a:pPr eaLnBrk="1" hangingPunct="1"/>
            <a:endParaRPr kumimoji="0" lang="en-US" altLang="zh-CN" dirty="0"/>
          </a:p>
          <a:p>
            <a:pPr eaLnBrk="1" hangingPunct="1"/>
            <a:r>
              <a:rPr kumimoji="0" lang="zh-CN" altLang="en-US" b="1" dirty="0"/>
              <a:t>总长度</a:t>
            </a:r>
            <a:r>
              <a:rPr kumimoji="0" lang="en-US" altLang="zh-CN" dirty="0"/>
              <a:t>(Total length)</a:t>
            </a:r>
            <a:r>
              <a:rPr kumimoji="0" lang="zh-CN" altLang="en-US" dirty="0"/>
              <a:t>：单位字节，描述</a:t>
            </a:r>
            <a:r>
              <a:rPr kumimoji="0" lang="en-US" altLang="zh-CN" dirty="0"/>
              <a:t>IP</a:t>
            </a:r>
            <a:r>
              <a:rPr kumimoji="0" lang="zh-CN" altLang="en-US" dirty="0"/>
              <a:t>包的总长</a:t>
            </a:r>
            <a:r>
              <a:rPr kumimoji="0" lang="en-US" altLang="zh-CN" dirty="0"/>
              <a:t>(</a:t>
            </a:r>
            <a:r>
              <a:rPr kumimoji="0" lang="zh-CN" altLang="en-US" dirty="0"/>
              <a:t>包括头和数据</a:t>
            </a:r>
            <a:r>
              <a:rPr kumimoji="0" lang="en-US" altLang="zh-CN" dirty="0"/>
              <a:t>)</a:t>
            </a:r>
            <a:r>
              <a:rPr kumimoji="0" lang="zh-CN" altLang="en-US" dirty="0"/>
              <a:t>，最大包长度为</a:t>
            </a:r>
            <a:r>
              <a:rPr kumimoji="0" lang="en-US" altLang="zh-CN" dirty="0"/>
              <a:t>65535</a:t>
            </a:r>
            <a:r>
              <a:rPr kumimoji="0" lang="zh-CN" altLang="en-US" dirty="0"/>
              <a:t>字节</a:t>
            </a:r>
          </a:p>
          <a:p>
            <a:pPr eaLnBrk="1" hangingPunct="1"/>
            <a:r>
              <a:rPr kumimoji="0" lang="zh-CN" altLang="en-US" b="1" dirty="0"/>
              <a:t>标识符</a:t>
            </a:r>
            <a:r>
              <a:rPr kumimoji="0" lang="en-US" altLang="zh-CN" dirty="0"/>
              <a:t>(Identification)</a:t>
            </a:r>
            <a:r>
              <a:rPr kumimoji="0" lang="zh-CN" altLang="en-US" dirty="0"/>
              <a:t>：用于唯一标识该包。 </a:t>
            </a:r>
            <a:r>
              <a:rPr lang="zh-CN" altLang="en-US" dirty="0">
                <a:solidFill>
                  <a:srgbClr val="000000"/>
                </a:solidFill>
                <a:latin typeface="STSongti-SC-Regular" panose="02010600040101010101" pitchFamily="2" charset="-122"/>
                <a:ea typeface="STSongti-SC-Regular" panose="02010600040101010101" pitchFamily="2" charset="-122"/>
              </a:rPr>
              <a:t>题中没给标识符是多少，就</a:t>
            </a:r>
            <a:r>
              <a:rPr lang="zh-CN" altLang="en-US" b="1" dirty="0">
                <a:solidFill>
                  <a:srgbClr val="000000"/>
                </a:solidFill>
                <a:latin typeface="STSongti-SC-Regular" panose="02010600040101010101" pitchFamily="2" charset="-122"/>
                <a:ea typeface="STSongti-SC-Regular" panose="02010600040101010101" pitchFamily="2" charset="-122"/>
              </a:rPr>
              <a:t>用</a:t>
            </a:r>
            <a:r>
              <a:rPr lang="zh-CN" altLang="zh-CN" b="1" dirty="0">
                <a:solidFill>
                  <a:srgbClr val="000000"/>
                </a:solidFill>
                <a:latin typeface="STSongti-SC-Regular" panose="02010600040101010101" pitchFamily="2" charset="-122"/>
                <a:ea typeface="STSongti-SC-Regular" panose="02010600040101010101" pitchFamily="2" charset="-122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STSongti-SC-Regular" panose="02010600040101010101" pitchFamily="2" charset="-122"/>
                <a:ea typeface="STSongti-SC-Regular" panose="02010600040101010101" pitchFamily="2" charset="-122"/>
              </a:rPr>
              <a:t>代替</a:t>
            </a:r>
            <a:r>
              <a:rPr lang="zh-CN" altLang="en-US" dirty="0">
                <a:solidFill>
                  <a:srgbClr val="000000"/>
                </a:solidFill>
                <a:latin typeface="STSongti-SC-Regular" panose="02010600040101010101" pitchFamily="2" charset="-122"/>
                <a:ea typeface="STSongti-SC-Regular" panose="02010600040101010101" pitchFamily="2" charset="-122"/>
              </a:rPr>
              <a:t>，只要所有分段的标识符一样就成（即都是</a:t>
            </a:r>
            <a:r>
              <a:rPr lang="zh-CN" altLang="zh-CN" dirty="0">
                <a:solidFill>
                  <a:srgbClr val="000000"/>
                </a:solidFill>
                <a:latin typeface="STSongti-SC-Regular" panose="02010600040101010101" pitchFamily="2" charset="-122"/>
                <a:ea typeface="STSongti-SC-Regular" panose="02010600040101010101" pitchFamily="2" charset="-122"/>
              </a:rPr>
              <a:t>x）</a:t>
            </a:r>
            <a:r>
              <a:rPr lang="zh-CN" altLang="en-US" dirty="0">
                <a:solidFill>
                  <a:srgbClr val="000000"/>
                </a:solidFill>
                <a:latin typeface="STSongti-SC-Regular" panose="02010600040101010101" pitchFamily="2" charset="-122"/>
                <a:ea typeface="STSongti-SC-Regular" panose="02010600040101010101" pitchFamily="2" charset="-122"/>
              </a:rPr>
              <a:t>。</a:t>
            </a:r>
            <a:endParaRPr kumimoji="0" lang="zh-CN" altLang="en-US" dirty="0"/>
          </a:p>
          <a:p>
            <a:pPr eaLnBrk="1" hangingPunct="1"/>
            <a:r>
              <a:rPr kumimoji="0" lang="en-US" altLang="zh-CN" b="1" dirty="0"/>
              <a:t>DF</a:t>
            </a:r>
            <a:r>
              <a:rPr kumimoji="0" lang="zh-CN" altLang="en-US" dirty="0"/>
              <a:t>：不分段，</a:t>
            </a:r>
            <a:r>
              <a:rPr kumimoji="0" lang="en-US" altLang="zh-CN" dirty="0"/>
              <a:t>DF</a:t>
            </a:r>
            <a:r>
              <a:rPr kumimoji="0" lang="zh-CN" altLang="en-US" dirty="0"/>
              <a:t>为</a:t>
            </a:r>
            <a:r>
              <a:rPr kumimoji="0" lang="en-US" altLang="zh-CN" dirty="0"/>
              <a:t>0</a:t>
            </a:r>
            <a:r>
              <a:rPr kumimoji="0" lang="zh-CN" altLang="en-US" dirty="0"/>
              <a:t>表示可分段，否则不可分段</a:t>
            </a:r>
          </a:p>
          <a:p>
            <a:pPr eaLnBrk="1" hangingPunct="1"/>
            <a:r>
              <a:rPr kumimoji="0" lang="en-US" altLang="zh-CN" b="1" dirty="0"/>
              <a:t>MF</a:t>
            </a:r>
            <a:r>
              <a:rPr kumimoji="0" lang="zh-CN" altLang="en-US" dirty="0"/>
              <a:t>：更多的分段，</a:t>
            </a:r>
            <a:r>
              <a:rPr kumimoji="0" lang="en-US" altLang="zh-CN" dirty="0"/>
              <a:t>MF</a:t>
            </a:r>
            <a:r>
              <a:rPr kumimoji="0" lang="zh-CN" altLang="en-US" dirty="0"/>
              <a:t>为</a:t>
            </a:r>
            <a:r>
              <a:rPr kumimoji="0" lang="en-US" altLang="zh-CN" dirty="0"/>
              <a:t>0</a:t>
            </a:r>
            <a:r>
              <a:rPr kumimoji="0" lang="zh-CN" altLang="en-US" dirty="0"/>
              <a:t>表示这是最后分段，否则还有后续分段</a:t>
            </a:r>
          </a:p>
          <a:p>
            <a:pPr eaLnBrk="1" hangingPunct="1"/>
            <a:r>
              <a:rPr kumimoji="0" lang="zh-CN" altLang="en-US" b="1" dirty="0"/>
              <a:t>段偏移</a:t>
            </a:r>
            <a:r>
              <a:rPr kumimoji="0" lang="zh-CN" altLang="en-US" dirty="0"/>
              <a:t>：单位</a:t>
            </a:r>
            <a:r>
              <a:rPr kumimoji="0" lang="en-US" altLang="zh-CN" dirty="0"/>
              <a:t>8</a:t>
            </a:r>
            <a:r>
              <a:rPr kumimoji="0" lang="zh-CN" altLang="en-US" dirty="0"/>
              <a:t>字节，标明当前报片在原包中的位置。除包中最后一个段外，其他分段必须是</a:t>
            </a:r>
            <a:r>
              <a:rPr kumimoji="0" lang="en-US" altLang="zh-CN" dirty="0"/>
              <a:t>8</a:t>
            </a:r>
            <a:r>
              <a:rPr kumimoji="0" lang="zh-CN" altLang="en-US" dirty="0"/>
              <a:t>字节的整数倍</a:t>
            </a:r>
            <a:r>
              <a:rPr kumimoji="0" lang="en-US" altLang="zh-CN" dirty="0"/>
              <a:t>(8</a:t>
            </a:r>
            <a:r>
              <a:rPr kumimoji="0" lang="zh-CN" altLang="en-US" dirty="0"/>
              <a:t>字节是基本的段单元</a:t>
            </a:r>
            <a:r>
              <a:rPr kumimoji="0" lang="en-US" altLang="zh-CN" dirty="0"/>
              <a:t>)</a:t>
            </a:r>
          </a:p>
          <a:p>
            <a:pPr eaLnBrk="1" hangingPunct="1"/>
            <a:endParaRPr kumimoji="0" lang="en-US" altLang="zh-CN" dirty="0"/>
          </a:p>
          <a:p>
            <a:pPr eaLnBrk="1" hangingPunct="1"/>
            <a:r>
              <a:rPr kumimoji="0" lang="zh-CN" altLang="en-US" dirty="0"/>
              <a:t>如果“帧头</a:t>
            </a:r>
            <a:r>
              <a:rPr kumimoji="0" lang="en-US" altLang="zh-CN" dirty="0"/>
              <a:t>+IP</a:t>
            </a:r>
            <a:r>
              <a:rPr kumimoji="0" lang="zh-CN" altLang="en-US" dirty="0"/>
              <a:t>头</a:t>
            </a:r>
            <a:r>
              <a:rPr kumimoji="0" lang="en-US" altLang="zh-CN" dirty="0"/>
              <a:t>+TCP</a:t>
            </a:r>
            <a:r>
              <a:rPr kumimoji="0" lang="zh-CN" altLang="en-US" dirty="0"/>
              <a:t>头</a:t>
            </a:r>
            <a:r>
              <a:rPr kumimoji="0" lang="en-US" altLang="zh-CN" dirty="0"/>
              <a:t>+</a:t>
            </a:r>
            <a:r>
              <a:rPr kumimoji="0" lang="zh-CN" altLang="en-US" dirty="0"/>
              <a:t>数据</a:t>
            </a:r>
            <a:r>
              <a:rPr kumimoji="0" lang="en-US" altLang="zh-CN" dirty="0"/>
              <a:t>&gt;</a:t>
            </a:r>
            <a:r>
              <a:rPr kumimoji="0" lang="zh-CN" altLang="en-US" dirty="0"/>
              <a:t>最大帧长”，就需要将“</a:t>
            </a:r>
            <a:r>
              <a:rPr kumimoji="0" lang="en-US" altLang="zh-CN" dirty="0"/>
              <a:t>TCP</a:t>
            </a:r>
            <a:r>
              <a:rPr kumimoji="0" lang="zh-CN" altLang="en-US" dirty="0"/>
              <a:t>头</a:t>
            </a:r>
            <a:r>
              <a:rPr kumimoji="0" lang="en-US" altLang="zh-CN" dirty="0"/>
              <a:t>+</a:t>
            </a:r>
            <a:r>
              <a:rPr kumimoji="0" lang="zh-CN" altLang="en-US" dirty="0"/>
              <a:t>数据”分段。</a:t>
            </a:r>
            <a:endParaRPr kumimoji="0" lang="en-US" altLang="zh-CN" dirty="0"/>
          </a:p>
          <a:p>
            <a:pPr eaLnBrk="1" hangingPunct="1"/>
            <a:r>
              <a:rPr kumimoji="0" lang="zh-CN" altLang="en-US" dirty="0"/>
              <a:t>分段的要求：</a:t>
            </a:r>
            <a:endParaRPr kumimoji="0" lang="en-US" altLang="zh-CN" dirty="0"/>
          </a:p>
          <a:p>
            <a:pPr eaLnBrk="1" hangingPunct="1"/>
            <a:r>
              <a:rPr kumimoji="0" lang="en-US" altLang="zh-CN" dirty="0"/>
              <a:t>1)</a:t>
            </a:r>
            <a:r>
              <a:rPr kumimoji="0" lang="zh-CN" altLang="en-US" dirty="0"/>
              <a:t>第</a:t>
            </a:r>
            <a:r>
              <a:rPr kumimoji="0" lang="en-US" altLang="zh-CN" dirty="0"/>
              <a:t>1</a:t>
            </a:r>
            <a:r>
              <a:rPr kumimoji="0" lang="zh-CN" altLang="en-US" dirty="0"/>
              <a:t>个分段：“帧头</a:t>
            </a:r>
            <a:r>
              <a:rPr kumimoji="0" lang="en-US" altLang="zh-CN" dirty="0"/>
              <a:t>+IP</a:t>
            </a:r>
            <a:r>
              <a:rPr kumimoji="0" lang="zh-CN" altLang="en-US" dirty="0"/>
              <a:t>头</a:t>
            </a:r>
            <a:r>
              <a:rPr kumimoji="0" lang="en-US" altLang="zh-CN" dirty="0"/>
              <a:t>+TCP</a:t>
            </a:r>
            <a:r>
              <a:rPr kumimoji="0" lang="zh-CN" altLang="en-US" dirty="0"/>
              <a:t>头</a:t>
            </a:r>
            <a:r>
              <a:rPr kumimoji="0" lang="en-US" altLang="zh-CN" dirty="0"/>
              <a:t>+</a:t>
            </a:r>
            <a:r>
              <a:rPr kumimoji="0" lang="zh-CN" altLang="en-US" dirty="0"/>
              <a:t>数据</a:t>
            </a:r>
            <a:r>
              <a:rPr kumimoji="0" lang="en-US" altLang="zh-CN" dirty="0"/>
              <a:t>1&lt;=</a:t>
            </a:r>
            <a:r>
              <a:rPr kumimoji="0" lang="zh-CN" altLang="en-US" dirty="0"/>
              <a:t>最大帧长”；</a:t>
            </a:r>
          </a:p>
          <a:p>
            <a:pPr eaLnBrk="1" hangingPunct="1"/>
            <a:r>
              <a:rPr kumimoji="0" lang="en-US" altLang="zh-CN" dirty="0"/>
              <a:t>2</a:t>
            </a:r>
            <a:r>
              <a:rPr kumimoji="0" lang="zh-CN" altLang="en-US" dirty="0"/>
              <a:t>）以后的分段：“帧头</a:t>
            </a:r>
            <a:r>
              <a:rPr kumimoji="0" lang="en-US" altLang="zh-CN" dirty="0"/>
              <a:t>+IP</a:t>
            </a:r>
            <a:r>
              <a:rPr kumimoji="0" lang="zh-CN" altLang="en-US" dirty="0"/>
              <a:t>头</a:t>
            </a:r>
            <a:r>
              <a:rPr kumimoji="0" lang="en-US" altLang="zh-CN" dirty="0"/>
              <a:t>+</a:t>
            </a:r>
            <a:r>
              <a:rPr kumimoji="0" lang="zh-CN" altLang="en-US" dirty="0"/>
              <a:t>数据</a:t>
            </a:r>
            <a:r>
              <a:rPr kumimoji="0" lang="en-US" altLang="zh-CN" dirty="0"/>
              <a:t>2&lt;=</a:t>
            </a:r>
            <a:r>
              <a:rPr kumimoji="0" lang="zh-CN" altLang="en-US" dirty="0"/>
              <a:t>最大帧长”；</a:t>
            </a:r>
          </a:p>
          <a:p>
            <a:pPr eaLnBrk="1" hangingPunct="1"/>
            <a:r>
              <a:rPr kumimoji="0" lang="en-US" altLang="zh-CN" dirty="0"/>
              <a:t>3</a:t>
            </a:r>
            <a:r>
              <a:rPr kumimoji="0" lang="zh-CN" altLang="en-US" dirty="0"/>
              <a:t>）除最后一个分段外，其他分段的</a:t>
            </a:r>
            <a:r>
              <a:rPr kumimoji="0" lang="en-US" altLang="zh-CN" dirty="0"/>
              <a:t>TCP</a:t>
            </a:r>
            <a:r>
              <a:rPr kumimoji="0" lang="zh-CN" altLang="en-US" dirty="0"/>
              <a:t>头和数据的长度必须是</a:t>
            </a:r>
            <a:r>
              <a:rPr kumimoji="0" lang="en-US" altLang="zh-CN" dirty="0"/>
              <a:t>8</a:t>
            </a:r>
            <a:r>
              <a:rPr kumimoji="0" lang="zh-CN" altLang="en-US" dirty="0"/>
              <a:t>字节的整数倍。</a:t>
            </a:r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r>
              <a:rPr kumimoji="0" lang="en-US" altLang="zh-CN" dirty="0"/>
              <a:t>https://</a:t>
            </a:r>
            <a:r>
              <a:rPr kumimoji="0" lang="en-US" altLang="zh-CN" dirty="0" err="1"/>
              <a:t>blog.csdn.net</a:t>
            </a:r>
            <a:r>
              <a:rPr kumimoji="0" lang="en-US" altLang="zh-CN" dirty="0"/>
              <a:t>/qq_41477674/article/details/103402624</a:t>
            </a:r>
          </a:p>
          <a:p>
            <a:pPr eaLnBrk="1" hangingPunct="1"/>
            <a:endParaRPr kumimoji="0"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1D7F5D98-6287-E081-73F6-E91588CDD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855C57-B9AD-4849-9D33-FDE483C75A4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6988B565-8994-F718-DCFE-2C37B3E274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4BF34FF-5EC3-D8ED-A466-8157F0B8C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0" lang="en-US" altLang="zh-CN"/>
          </a:p>
          <a:p>
            <a:pPr eaLnBrk="1" hangingPunct="1"/>
            <a:endParaRPr kumimoji="0" lang="en-US" altLang="zh-CN"/>
          </a:p>
          <a:p>
            <a:pPr eaLnBrk="1" hangingPunct="1"/>
            <a:endParaRPr kumimoji="0" lang="en-US" altLang="zh-CN"/>
          </a:p>
          <a:p>
            <a:pPr eaLnBrk="1" hangingPunct="1"/>
            <a:endParaRPr kumimoji="0"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712AE2EB-4D37-78CE-3D82-862C3B98F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61A530B-5095-4345-8323-6D783AFE53E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9EC874C0-10FB-339A-585A-BD5F925088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490887A-BA66-E907-6699-8284083FC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28</a:t>
            </a:r>
            <a:r>
              <a:rPr kumimoji="0" lang="en-US" altLang="zh-CN"/>
              <a:t>-&gt;x-&gt;23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0AECAAA3-2C0E-879B-3EE9-3DF3F47990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24554AE-3EB5-B847-BEEC-A7B86D09B5D1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DC998DAD-9B7A-18C7-7F31-F1B5C3A31F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246AB1B-FC35-8E31-31D1-44766EB28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38</a:t>
            </a:r>
            <a:r>
              <a:rPr kumimoji="0" lang="en-US" altLang="zh-CN"/>
              <a:t>-&gt;27-&gt;31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282FE41F-D613-3D96-9CD4-A435B88D47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8090A3-D8F8-AE4B-BF2D-3224987B50F2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E49D36E-F279-C07E-11B9-F07545DE65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C7CA2E2-3096-D3CF-247B-27901FF36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39</a:t>
            </a:r>
            <a:r>
              <a:rPr kumimoji="0" lang="en-US" altLang="zh-CN"/>
              <a:t>-&gt;28-&gt;33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79FF65CB-D8C7-F21F-98A8-F3EC0A5FC8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27D021-D3B6-C647-B043-E4F3C4A7D155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D7137D69-009C-3314-316D-FF80ACFC47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40D3FF9-DBF8-95AD-99F6-48A935772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40-&gt;30-&gt;35</a:t>
            </a: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>
                <a:latin typeface="宋体" panose="02010600030101010101" pitchFamily="2" charset="-122"/>
              </a:rPr>
              <a:t>依次申请</a:t>
            </a:r>
            <a:r>
              <a:rPr lang="en-US" altLang="zh-CN">
                <a:latin typeface="宋体" panose="02010600030101010101" pitchFamily="2" charset="-122"/>
              </a:rPr>
              <a:t>4000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</a:rPr>
              <a:t>2000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</a:rPr>
              <a:t>4000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</a:rPr>
              <a:t>8000</a:t>
            </a:r>
            <a:r>
              <a:rPr lang="zh-CN" altLang="en-US">
                <a:latin typeface="宋体" panose="02010600030101010101" pitchFamily="2" charset="-122"/>
              </a:rPr>
              <a:t>地址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>
                <a:latin typeface="宋体" panose="02010600030101010101" pitchFamily="2" charset="-122"/>
              </a:rPr>
              <a:t>（书上）</a:t>
            </a:r>
          </a:p>
          <a:p>
            <a:pPr eaLnBrk="1" hangingPunct="1"/>
            <a:endParaRPr kumimoji="0"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>
            <a:extLst>
              <a:ext uri="{FF2B5EF4-FFF2-40B4-BE49-F238E27FC236}">
                <a16:creationId xmlns:a16="http://schemas.microsoft.com/office/drawing/2014/main" id="{6716CA37-F494-BDEF-D839-A545D714A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备注占位符 2">
            <a:extLst>
              <a:ext uri="{FF2B5EF4-FFF2-40B4-BE49-F238E27FC236}">
                <a16:creationId xmlns:a16="http://schemas.microsoft.com/office/drawing/2014/main" id="{7D50E033-9C5E-A6A3-3104-45CDFED1F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第一个地址</a:t>
            </a:r>
            <a:r>
              <a:rPr lang="en-US" altLang="zh-CN">
                <a:latin typeface="宋体" panose="02010600030101010101" pitchFamily="2" charset="-122"/>
              </a:rPr>
              <a:t>198.16.0.0</a:t>
            </a:r>
            <a:r>
              <a:rPr lang="zh-CN" altLang="en-US">
                <a:latin typeface="宋体" panose="02010600030101010101" pitchFamily="2" charset="-122"/>
              </a:rPr>
              <a:t>，最后一个地址</a:t>
            </a:r>
            <a:r>
              <a:rPr lang="en-US" altLang="zh-CN">
                <a:latin typeface="宋体" panose="02010600030101010101" pitchFamily="2" charset="-122"/>
              </a:rPr>
              <a:t>198.16.15.255</a:t>
            </a:r>
            <a:r>
              <a:rPr lang="zh-CN" altLang="en-US">
                <a:latin typeface="宋体" panose="02010600030101010101" pitchFamily="2" charset="-122"/>
              </a:rPr>
              <a:t>，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记作</a:t>
            </a:r>
            <a:r>
              <a:rPr lang="en-US" altLang="zh-CN">
                <a:latin typeface="宋体" panose="02010600030101010101" pitchFamily="2" charset="-122"/>
              </a:rPr>
              <a:t>198.16.0.0/20</a:t>
            </a: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第一个地址</a:t>
            </a:r>
            <a:r>
              <a:rPr lang="en-US" altLang="zh-CN">
                <a:latin typeface="宋体" panose="02010600030101010101" pitchFamily="2" charset="-122"/>
              </a:rPr>
              <a:t>198.16.16.0</a:t>
            </a:r>
            <a:r>
              <a:rPr lang="zh-CN" altLang="en-US">
                <a:latin typeface="宋体" panose="02010600030101010101" pitchFamily="2" charset="-122"/>
              </a:rPr>
              <a:t>，最后一个地址</a:t>
            </a:r>
            <a:r>
              <a:rPr lang="en-US" altLang="zh-CN">
                <a:latin typeface="宋体" panose="02010600030101010101" pitchFamily="2" charset="-122"/>
              </a:rPr>
              <a:t>198.16.23.255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记作</a:t>
            </a:r>
            <a:r>
              <a:rPr lang="en-US" altLang="zh-CN">
                <a:latin typeface="宋体" panose="02010600030101010101" pitchFamily="2" charset="-122"/>
              </a:rPr>
              <a:t>198.16.16.0/21</a:t>
            </a: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C</a:t>
            </a:r>
            <a:r>
              <a:rPr lang="zh-CN" altLang="en-US">
                <a:latin typeface="宋体" panose="02010600030101010101" pitchFamily="2" charset="-122"/>
              </a:rPr>
              <a:t>第一个地址</a:t>
            </a:r>
            <a:r>
              <a:rPr lang="en-US" altLang="zh-CN">
                <a:latin typeface="宋体" panose="02010600030101010101" pitchFamily="2" charset="-122"/>
              </a:rPr>
              <a:t>198.16.32.0</a:t>
            </a:r>
            <a:r>
              <a:rPr lang="zh-CN" altLang="en-US">
                <a:latin typeface="宋体" panose="02010600030101010101" pitchFamily="2" charset="-122"/>
              </a:rPr>
              <a:t>，最后一个地址</a:t>
            </a:r>
            <a:r>
              <a:rPr lang="en-US" altLang="zh-CN">
                <a:latin typeface="宋体" panose="02010600030101010101" pitchFamily="2" charset="-122"/>
              </a:rPr>
              <a:t>198.16.47.255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记作</a:t>
            </a:r>
            <a:r>
              <a:rPr lang="en-US" altLang="zh-CN">
                <a:latin typeface="宋体" panose="02010600030101010101" pitchFamily="2" charset="-122"/>
              </a:rPr>
              <a:t>198.16.32.0/20 </a:t>
            </a: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D</a:t>
            </a:r>
            <a:r>
              <a:rPr lang="zh-CN" altLang="en-US">
                <a:latin typeface="宋体" panose="02010600030101010101" pitchFamily="2" charset="-122"/>
              </a:rPr>
              <a:t>第一个地址</a:t>
            </a:r>
            <a:r>
              <a:rPr lang="en-US" altLang="zh-CN">
                <a:latin typeface="宋体" panose="02010600030101010101" pitchFamily="2" charset="-122"/>
              </a:rPr>
              <a:t>198.16.64.0</a:t>
            </a:r>
            <a:r>
              <a:rPr lang="zh-CN" altLang="en-US">
                <a:latin typeface="宋体" panose="02010600030101010101" pitchFamily="2" charset="-122"/>
              </a:rPr>
              <a:t>，最后一个地址</a:t>
            </a:r>
            <a:r>
              <a:rPr lang="en-US" altLang="zh-CN">
                <a:latin typeface="宋体" panose="02010600030101010101" pitchFamily="2" charset="-122"/>
              </a:rPr>
              <a:t>198.16.95.255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记作</a:t>
            </a:r>
            <a:r>
              <a:rPr lang="en-US" altLang="zh-CN">
                <a:latin typeface="宋体" panose="02010600030101010101" pitchFamily="2" charset="-122"/>
              </a:rPr>
              <a:t>198.16.64.0/19</a:t>
            </a:r>
          </a:p>
          <a:p>
            <a:endParaRPr lang="zh-CN" altLang="en-US"/>
          </a:p>
        </p:txBody>
      </p:sp>
      <p:sp>
        <p:nvSpPr>
          <p:cNvPr id="45059" name="灯片编号占位符 3">
            <a:extLst>
              <a:ext uri="{FF2B5EF4-FFF2-40B4-BE49-F238E27FC236}">
                <a16:creationId xmlns:a16="http://schemas.microsoft.com/office/drawing/2014/main" id="{A86AAFFD-9426-74BC-D106-4C65B2C95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30BF53-D1C2-C840-9E06-C326A4BD343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D6E5E3CB-E082-2B8D-4E9F-A6FA01DE1F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D624578-788B-D14A-8DCE-4C4D429C39A7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01BE37D-1073-2F68-B402-497C77C954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273B7A3-815D-7CE8-B80B-30C0D4ABC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41</a:t>
            </a:r>
            <a:r>
              <a:rPr kumimoji="0" lang="en-US" altLang="zh-CN"/>
              <a:t>-&gt;31-&gt;36</a:t>
            </a:r>
          </a:p>
          <a:p>
            <a:pPr eaLnBrk="1" hangingPunct="1"/>
            <a:r>
              <a:rPr kumimoji="0" lang="zh-CN" altLang="en-US"/>
              <a:t>第一条虚线左边的都相同，第二条虚线右边的都是</a:t>
            </a:r>
            <a:r>
              <a:rPr kumimoji="0" lang="en-US" altLang="zh-CN"/>
              <a:t>x</a:t>
            </a:r>
            <a:r>
              <a:rPr kumimoji="0" lang="zh-CN" altLang="en-US"/>
              <a:t>，两条虚线中间的从</a:t>
            </a:r>
            <a:r>
              <a:rPr kumimoji="0" lang="en-US" altLang="zh-CN"/>
              <a:t>00-11</a:t>
            </a:r>
            <a:r>
              <a:rPr kumimoji="0" lang="zh-CN" altLang="en-US"/>
              <a:t>，就可以聚集。</a:t>
            </a:r>
            <a:endParaRPr kumimoji="0"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>
            <a:extLst>
              <a:ext uri="{FF2B5EF4-FFF2-40B4-BE49-F238E27FC236}">
                <a16:creationId xmlns:a16="http://schemas.microsoft.com/office/drawing/2014/main" id="{A7CEFF4D-E9B1-E2DC-0250-5E23AA320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9C2633-8A0F-67BA-C780-ED1ECCD4A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" altLang="zh-CN" sz="1800" dirty="0">
                <a:latin typeface="Times" pitchFamily="2" charset="0"/>
              </a:rPr>
              <a:t>(CN6E_CN)37</a:t>
            </a:r>
            <a:r>
              <a:rPr lang="en-US" altLang="zh-CN" sz="1800" dirty="0">
                <a:latin typeface="Times" pitchFamily="2" charset="0"/>
              </a:rPr>
              <a:t>.</a:t>
            </a:r>
            <a:r>
              <a:rPr lang="zh-CN" altLang="en" sz="1800" dirty="0">
                <a:latin typeface="Times" pitchFamily="2" charset="0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</a:rPr>
              <a:t> 29.18.0.0～29.18.</a:t>
            </a:r>
            <a:r>
              <a:rPr lang="zh-CN" altLang="en-US" sz="1800" strike="sngStrike" dirty="0">
                <a:latin typeface="宋体" panose="02010600030101010101" pitchFamily="2" charset="-122"/>
              </a:rPr>
              <a:t>128</a:t>
            </a:r>
            <a:r>
              <a:rPr lang="zh-CN" altLang="en-US" sz="1800" dirty="0">
                <a:latin typeface="宋体" panose="02010600030101010101" pitchFamily="2" charset="-122"/>
              </a:rPr>
              <a:t>.255的一组IP地址已经被聚合到29.18.0.0/17。然而，这里有一个空闲地址块，即29.18.60.0～29.18.63.255的1024个地址还没有被分配。现在这个空闲地址块要被分配给一台使用不同输出线路的主机。请问是否有必要先把聚合地址分割成几块，然后把新的地址块加人路由表中，再来看是否可以重新聚合？如果没有必要这样做,那该怎么办呢？</a:t>
            </a:r>
            <a:endParaRPr lang="en-US" altLang="zh-CN" sz="1800" dirty="0">
              <a:latin typeface="宋体" panose="02010600030101010101" pitchFamily="2" charset="-122"/>
            </a:endParaRPr>
          </a:p>
          <a:p>
            <a:pPr>
              <a:defRPr/>
            </a:pPr>
            <a:endParaRPr lang="en" altLang="zh-CN" sz="1800" dirty="0">
              <a:latin typeface="Times" pitchFamily="2" charset="0"/>
            </a:endParaRPr>
          </a:p>
          <a:p>
            <a:pPr>
              <a:defRPr/>
            </a:pPr>
            <a:r>
              <a:rPr lang="en" altLang="zh-CN" sz="1800" b="1" dirty="0">
                <a:latin typeface="Times" pitchFamily="2" charset="0"/>
              </a:rPr>
              <a:t>(CN5E_EN) 32. It is sufficient to add one new table entry: 29.18.0.0/22 for the new block. If an incoming packet matches both 29.18.0.0/17 and 29.18.0.0./22, the longest one wins. This rule makes it possible to assign a large block to one outgoing line but make an exception for one or more small blocks within its range.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49155" name="灯片编号占位符 3">
            <a:extLst>
              <a:ext uri="{FF2B5EF4-FFF2-40B4-BE49-F238E27FC236}">
                <a16:creationId xmlns:a16="http://schemas.microsoft.com/office/drawing/2014/main" id="{E5D5F237-BCA4-FCA4-3C96-09397DF92A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D5DFDD6-81EF-8846-B403-F414346ED01E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52DF8BB8-16A3-1A27-10FD-8FBB7E9B5F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8F70422-393F-BA4D-9641-AB9086C4413E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65116C82-A911-6C1B-CA80-D7D163DC57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B93564D-F873-96BA-4E81-B1D61CC39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27</a:t>
            </a:r>
            <a:r>
              <a:rPr kumimoji="0" lang="en-US" altLang="zh-CN"/>
              <a:t>-&gt;19-&gt;</a:t>
            </a:r>
            <a:r>
              <a:rPr kumimoji="0" lang="zh-CN" altLang="en-US"/>
              <a:t>补充</a:t>
            </a:r>
            <a:r>
              <a:rPr kumimoji="0" lang="en-US" altLang="zh-CN"/>
              <a:t>1</a:t>
            </a:r>
          </a:p>
          <a:p>
            <a:pPr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19. 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A computer on a 6-Mbps network is regulated by a token bucket. The token bucket is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filled at a rate of 1 Mbps. It is initially filled to capacity with 8 megabits. How long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can the computer transmit at the full 6 Mbps?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kumimoji="0"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406B-FAF5-AAD8-7D85-B0328E5A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626D0880-7FB1-EE83-330D-6B9172191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8F70422-393F-BA4D-9641-AB9086C4413E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5EA953FF-F30C-C54E-BC01-AA07CE94C3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543267C-E60D-64AE-288F-7F9F39C28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27</a:t>
            </a:r>
            <a:r>
              <a:rPr kumimoji="0" lang="en-US" altLang="zh-CN"/>
              <a:t>-&gt;19-&gt;</a:t>
            </a:r>
            <a:r>
              <a:rPr kumimoji="0" lang="zh-CN" altLang="en-US"/>
              <a:t>补充</a:t>
            </a:r>
            <a:r>
              <a:rPr kumimoji="0" lang="en-US" altLang="zh-CN"/>
              <a:t>1</a:t>
            </a:r>
          </a:p>
          <a:p>
            <a:pPr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19. 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A computer on a 6-Mbps network is regulated by a token bucket. The token bucket is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filled at a rate of 1 Mbps. It is initially filled to capacity with 8 megabits. How long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can the computer transmit at the full 6 Mbps?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kumimoji="0" lang="en-US" altLang="zh-CN"/>
          </a:p>
        </p:txBody>
      </p:sp>
    </p:spTree>
    <p:extLst>
      <p:ext uri="{BB962C8B-B14F-4D97-AF65-F5344CB8AC3E}">
        <p14:creationId xmlns:p14="http://schemas.microsoft.com/office/powerpoint/2010/main" val="8259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B489DA87-D8FC-66DD-1CE2-52F9412CFC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45A7F4-C43C-9F4B-A013-86F9FF321AF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35DD226-D5B3-F650-0882-2E8CE206E4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CE341BE-5691-BF76-DFCA-3BFFB4011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43</a:t>
            </a:r>
            <a:r>
              <a:rPr kumimoji="0" lang="en-US" altLang="zh-CN"/>
              <a:t>-&gt;33-&gt;</a:t>
            </a:r>
            <a:r>
              <a:rPr kumimoji="0" lang="zh-CN" altLang="en-US"/>
              <a:t>补充</a:t>
            </a:r>
            <a:endParaRPr kumimoji="0"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5875AB-37E6-4572-19CE-07E7FF09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7FCD0-BB94-D3AF-E944-009182A1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D5329-B26F-4552-F50A-4C5DFDE1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C0ECD-192A-DF4D-9DC0-183A627F9A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978059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9AE28-49B1-4364-153A-73E263CCE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10B7A6-F5E9-3DD1-E1AF-D49926D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F50B6-F413-90D9-EE5F-71DAD7E1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2DE2D-7A5D-3147-B452-AF0DE9D2A7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979478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F59EEC-DE00-563F-68CB-30E00CFE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38812-2086-2CA7-32FE-02D24ADB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B78E5C-B07E-4EB4-A3F3-D4B715A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0D076-57A7-194F-9804-2AD5D4752C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57064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1D5D4EE-E1C7-0537-3096-E540112F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7F4AB01-F0D8-3252-96C0-AD98C035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43B2A6A-6A3C-50B1-F77D-0DD9B302F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2AA50-DC18-954B-A30A-8C85C69E76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4006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D419E4E-9B2F-624D-F662-24D0471D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4F50875-2C33-0D11-6D57-1C32C48D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56737E1F-DF51-CAE8-96A7-F46D1E16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3724FD-4790-CC4A-BF58-F04F1E08B3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905826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E4CBB40F-2B31-7683-C65C-C77BE3EE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C30FED5-0190-4404-35EA-5A6BCF667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2CCBB0F-C50A-4276-48BF-12E8A034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CD889-566D-D647-BF4C-61CCAD63B2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609350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64C9B5D-6EBD-591F-F1AC-88BE5324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1B6D91E-340D-DBC9-878E-D8440AAD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DE51E9F-0FE6-C434-E83F-A1336599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E1FA0-173E-1C43-A1BC-A0234C873D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8986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6C10E28-0596-8374-5BF5-77335AF6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E38D540-AFC5-D0A3-409D-18A9DB16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FEFE7CC-2CD4-B8CC-1C6A-90393EDA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D90EA-D4AA-764C-BB3F-13C71843DD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22575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A1385F9-AF96-7A6E-924D-94155400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34033C1-B6B5-CDC9-D3F9-E90F601F5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6909FF7-A835-D180-74D3-AC8078B7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F003E-FBE2-6C40-8A24-78D9B7D4E3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504357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D435F9-2096-131A-114D-C3EEE19F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B46FE0-1D43-069C-BE9E-08DD392D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96CC39-3171-A2CD-AB03-20306D81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77A93-B917-5F45-BA65-80B5BE0E25A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38991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E14E0-4249-FA70-1A28-A3DC1455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FE55D6-A3BE-12F7-68A6-22B79331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5A60D-9396-2596-D9A7-B1E426D4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05FE5-5A81-1C4E-B4F1-66F7C9F0CB7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063401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DD3ED91D-917E-84BA-ABE6-2092C6726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C225AED3-0662-3D46-38C2-F01EA6253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DAD3A7-501D-2BAC-B9AE-01973AAE8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B8F39E-FF99-4192-5C24-CB3D3B190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4B3F4-A28C-6FD1-3202-9F27B3A5A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CBCF2EF-F4A5-B549-BE07-A4C60C2B30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3">
            <a:extLst>
              <a:ext uri="{FF2B5EF4-FFF2-40B4-BE49-F238E27FC236}">
                <a16:creationId xmlns:a16="http://schemas.microsoft.com/office/drawing/2014/main" id="{EF41B99E-8CBE-14BE-031E-83D22B65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6FD674D-66C8-BF4A-BAB0-140BD7262426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Text Box 472">
            <a:extLst>
              <a:ext uri="{FF2B5EF4-FFF2-40B4-BE49-F238E27FC236}">
                <a16:creationId xmlns:a16="http://schemas.microsoft.com/office/drawing/2014/main" id="{89EBF8F3-3BCC-C704-7BC4-D9F5762E6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68413"/>
            <a:ext cx="78486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考虑图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5.12(a)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中的网络。使用距离矢量路由算法，路由器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刚收到下列矢量：来自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的矢量为（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）；来自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的矢量为（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）；来自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的矢量为（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）。从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的链路成本分别为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。请问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的新路由表将会怎么样？请给出将使用的输出线路以及成本。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1" name="Text Box 613">
            <a:extLst>
              <a:ext uri="{FF2B5EF4-FFF2-40B4-BE49-F238E27FC236}">
                <a16:creationId xmlns:a16="http://schemas.microsoft.com/office/drawing/2014/main" id="{055F824F-7A53-EA99-8A57-EA61DE242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grpSp>
        <p:nvGrpSpPr>
          <p:cNvPr id="17412" name="Group 614">
            <a:extLst>
              <a:ext uri="{FF2B5EF4-FFF2-40B4-BE49-F238E27FC236}">
                <a16:creationId xmlns:a16="http://schemas.microsoft.com/office/drawing/2014/main" id="{891F5252-F28A-FA12-C9B2-F0F30DE18D5D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4149725"/>
            <a:ext cx="4859338" cy="2339975"/>
            <a:chOff x="1066" y="11"/>
            <a:chExt cx="3252" cy="1764"/>
          </a:xfrm>
        </p:grpSpPr>
        <p:sp>
          <p:nvSpPr>
            <p:cNvPr id="17413" name="Line 615">
              <a:extLst>
                <a:ext uri="{FF2B5EF4-FFF2-40B4-BE49-F238E27FC236}">
                  <a16:creationId xmlns:a16="http://schemas.microsoft.com/office/drawing/2014/main" id="{5A51D903-50DE-071C-C397-0178F2D4FB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98" y="930"/>
              <a:ext cx="43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4" name="Text Box 616">
              <a:extLst>
                <a:ext uri="{FF2B5EF4-FFF2-40B4-BE49-F238E27FC236}">
                  <a16:creationId xmlns:a16="http://schemas.microsoft.com/office/drawing/2014/main" id="{0CA306E8-4A62-8BB4-B41F-E025166C5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1617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415" name="Line 617">
              <a:extLst>
                <a:ext uri="{FF2B5EF4-FFF2-40B4-BE49-F238E27FC236}">
                  <a16:creationId xmlns:a16="http://schemas.microsoft.com/office/drawing/2014/main" id="{73FB0338-5882-F9B0-FFC1-754F03D994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8" y="306"/>
              <a:ext cx="791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Line 618">
              <a:extLst>
                <a:ext uri="{FF2B5EF4-FFF2-40B4-BE49-F238E27FC236}">
                  <a16:creationId xmlns:a16="http://schemas.microsoft.com/office/drawing/2014/main" id="{DF57EA53-58C0-F706-B98E-B327067A4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06"/>
              <a:ext cx="1296" cy="1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7" name="Line 619">
              <a:extLst>
                <a:ext uri="{FF2B5EF4-FFF2-40B4-BE49-F238E27FC236}">
                  <a16:creationId xmlns:a16="http://schemas.microsoft.com/office/drawing/2014/main" id="{EBD07814-E616-7E0F-462C-7B326BC2A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5" y="806"/>
              <a:ext cx="864" cy="8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Line 620">
              <a:extLst>
                <a:ext uri="{FF2B5EF4-FFF2-40B4-BE49-F238E27FC236}">
                  <a16:creationId xmlns:a16="http://schemas.microsoft.com/office/drawing/2014/main" id="{5E770749-E529-1837-59E3-644B927565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3" y="244"/>
              <a:ext cx="936" cy="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Line 621">
              <a:extLst>
                <a:ext uri="{FF2B5EF4-FFF2-40B4-BE49-F238E27FC236}">
                  <a16:creationId xmlns:a16="http://schemas.microsoft.com/office/drawing/2014/main" id="{1F6EC17B-2042-AF2A-F39E-45B2E3908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2" y="244"/>
              <a:ext cx="1583" cy="1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Line 622">
              <a:extLst>
                <a:ext uri="{FF2B5EF4-FFF2-40B4-BE49-F238E27FC236}">
                  <a16:creationId xmlns:a16="http://schemas.microsoft.com/office/drawing/2014/main" id="{A647BD1E-93E3-9B23-9675-C25FF7E84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9" y="244"/>
              <a:ext cx="122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Line 623">
              <a:extLst>
                <a:ext uri="{FF2B5EF4-FFF2-40B4-BE49-F238E27FC236}">
                  <a16:creationId xmlns:a16="http://schemas.microsoft.com/office/drawing/2014/main" id="{935CF2FC-0C68-51E2-3B87-2B55828DB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2" y="1555"/>
              <a:ext cx="1655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Text Box 624">
              <a:extLst>
                <a:ext uri="{FF2B5EF4-FFF2-40B4-BE49-F238E27FC236}">
                  <a16:creationId xmlns:a16="http://schemas.microsoft.com/office/drawing/2014/main" id="{66BCAA7B-23CC-E2EF-FC90-3BB94E7B1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806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423" name="Text Box 625">
              <a:extLst>
                <a:ext uri="{FF2B5EF4-FFF2-40B4-BE49-F238E27FC236}">
                  <a16:creationId xmlns:a16="http://schemas.microsoft.com/office/drawing/2014/main" id="{05E753BA-5C27-DC4A-487A-369245C84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119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424" name="Text Box 626">
              <a:extLst>
                <a:ext uri="{FF2B5EF4-FFF2-40B4-BE49-F238E27FC236}">
                  <a16:creationId xmlns:a16="http://schemas.microsoft.com/office/drawing/2014/main" id="{DF38427D-334F-281F-832F-94764E3B1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1"/>
              <a:ext cx="298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0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7425" name="Text Box 627">
              <a:extLst>
                <a:ext uri="{FF2B5EF4-FFF2-40B4-BE49-F238E27FC236}">
                  <a16:creationId xmlns:a16="http://schemas.microsoft.com/office/drawing/2014/main" id="{B2F142C7-EEF5-C5FE-50EA-63E2F0CA7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617"/>
              <a:ext cx="216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F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426" name="Text Box 628">
              <a:extLst>
                <a:ext uri="{FF2B5EF4-FFF2-40B4-BE49-F238E27FC236}">
                  <a16:creationId xmlns:a16="http://schemas.microsoft.com/office/drawing/2014/main" id="{E5BB87EA-92A8-7311-79B3-CF1B158C1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743"/>
              <a:ext cx="216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3">
            <a:extLst>
              <a:ext uri="{FF2B5EF4-FFF2-40B4-BE49-F238E27FC236}">
                <a16:creationId xmlns:a16="http://schemas.microsoft.com/office/drawing/2014/main" id="{551F51C9-8548-76DB-84C5-B6D5C41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319378-2027-B443-8704-E3BDC038A0C9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4741" name="Group 133">
            <a:extLst>
              <a:ext uri="{FF2B5EF4-FFF2-40B4-BE49-F238E27FC236}">
                <a16:creationId xmlns:a16="http://schemas.microsoft.com/office/drawing/2014/main" id="{058EB82C-003F-9EBB-ECC7-0A0EBEBD5020}"/>
              </a:ext>
            </a:extLst>
          </p:cNvPr>
          <p:cNvGraphicFramePr>
            <a:graphicFrameLocks noGrp="1"/>
          </p:cNvGraphicFramePr>
          <p:nvPr/>
        </p:nvGraphicFramePr>
        <p:xfrm>
          <a:off x="1476375" y="3408363"/>
          <a:ext cx="6624638" cy="2613024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92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to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的延时分别是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5,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则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CB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CD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CE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到达每一目的的最小值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输出的路线</a:t>
                      </a: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48" name="AutoShape 128">
            <a:extLst>
              <a:ext uri="{FF2B5EF4-FFF2-40B4-BE49-F238E27FC236}">
                <a16:creationId xmlns:a16="http://schemas.microsoft.com/office/drawing/2014/main" id="{9E57E48C-11FF-9E99-8567-17D3F65F1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819400"/>
            <a:ext cx="1800225" cy="365125"/>
          </a:xfrm>
          <a:prstGeom prst="wedgeRoundRectCallout">
            <a:avLst>
              <a:gd name="adj1" fmla="val 65236"/>
              <a:gd name="adj2" fmla="val 17954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CB:</a:t>
            </a:r>
            <a:r>
              <a:rPr kumimoji="1"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经</a:t>
            </a:r>
            <a:r>
              <a: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（到）</a:t>
            </a:r>
          </a:p>
        </p:txBody>
      </p:sp>
      <p:grpSp>
        <p:nvGrpSpPr>
          <p:cNvPr id="19549" name="Group 614">
            <a:extLst>
              <a:ext uri="{FF2B5EF4-FFF2-40B4-BE49-F238E27FC236}">
                <a16:creationId xmlns:a16="http://schemas.microsoft.com/office/drawing/2014/main" id="{DE4966CE-833F-DFCC-756C-4F020B6C5319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549275"/>
            <a:ext cx="4391025" cy="2144713"/>
            <a:chOff x="1066" y="11"/>
            <a:chExt cx="3252" cy="1764"/>
          </a:xfrm>
        </p:grpSpPr>
        <p:sp>
          <p:nvSpPr>
            <p:cNvPr id="19552" name="Line 615">
              <a:extLst>
                <a:ext uri="{FF2B5EF4-FFF2-40B4-BE49-F238E27FC236}">
                  <a16:creationId xmlns:a16="http://schemas.microsoft.com/office/drawing/2014/main" id="{8E13ADFD-C6D3-E58C-8247-980C196FD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98" y="930"/>
              <a:ext cx="43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3" name="Text Box 616">
              <a:extLst>
                <a:ext uri="{FF2B5EF4-FFF2-40B4-BE49-F238E27FC236}">
                  <a16:creationId xmlns:a16="http://schemas.microsoft.com/office/drawing/2014/main" id="{07A9B83F-14D3-767E-492E-E4C09D2AF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1617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554" name="Line 617">
              <a:extLst>
                <a:ext uri="{FF2B5EF4-FFF2-40B4-BE49-F238E27FC236}">
                  <a16:creationId xmlns:a16="http://schemas.microsoft.com/office/drawing/2014/main" id="{0666134A-9F99-78B9-06C6-805B1A07CE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8" y="306"/>
              <a:ext cx="791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5" name="Line 618">
              <a:extLst>
                <a:ext uri="{FF2B5EF4-FFF2-40B4-BE49-F238E27FC236}">
                  <a16:creationId xmlns:a16="http://schemas.microsoft.com/office/drawing/2014/main" id="{95EE4BE1-C1F3-8CF4-ACC5-F84FE725E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06"/>
              <a:ext cx="1296" cy="1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6" name="Line 619">
              <a:extLst>
                <a:ext uri="{FF2B5EF4-FFF2-40B4-BE49-F238E27FC236}">
                  <a16:creationId xmlns:a16="http://schemas.microsoft.com/office/drawing/2014/main" id="{E8FCF61C-51CA-7A11-726F-6739B1CE7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5" y="806"/>
              <a:ext cx="864" cy="8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7" name="Line 620">
              <a:extLst>
                <a:ext uri="{FF2B5EF4-FFF2-40B4-BE49-F238E27FC236}">
                  <a16:creationId xmlns:a16="http://schemas.microsoft.com/office/drawing/2014/main" id="{99DE96E0-BE62-B457-5D06-501B0D27C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3" y="244"/>
              <a:ext cx="936" cy="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8" name="Line 621">
              <a:extLst>
                <a:ext uri="{FF2B5EF4-FFF2-40B4-BE49-F238E27FC236}">
                  <a16:creationId xmlns:a16="http://schemas.microsoft.com/office/drawing/2014/main" id="{94986CBA-5879-8DC8-E7D8-D2041FAD1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2" y="244"/>
              <a:ext cx="1583" cy="1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9" name="Line 622">
              <a:extLst>
                <a:ext uri="{FF2B5EF4-FFF2-40B4-BE49-F238E27FC236}">
                  <a16:creationId xmlns:a16="http://schemas.microsoft.com/office/drawing/2014/main" id="{9706A891-34FB-5C56-EB9A-DCD3B2995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9" y="244"/>
              <a:ext cx="122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0" name="Line 623">
              <a:extLst>
                <a:ext uri="{FF2B5EF4-FFF2-40B4-BE49-F238E27FC236}">
                  <a16:creationId xmlns:a16="http://schemas.microsoft.com/office/drawing/2014/main" id="{968BE282-D025-798B-C1C6-BFC9E3A5A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2" y="1555"/>
              <a:ext cx="1655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1" name="Text Box 624">
              <a:extLst>
                <a:ext uri="{FF2B5EF4-FFF2-40B4-BE49-F238E27FC236}">
                  <a16:creationId xmlns:a16="http://schemas.microsoft.com/office/drawing/2014/main" id="{52E61F5F-CE6D-82B9-2BB9-7BF3FDB6A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806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562" name="Text Box 625">
              <a:extLst>
                <a:ext uri="{FF2B5EF4-FFF2-40B4-BE49-F238E27FC236}">
                  <a16:creationId xmlns:a16="http://schemas.microsoft.com/office/drawing/2014/main" id="{F299522B-F9E0-C427-8604-4F70581FE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119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563" name="Text Box 626">
              <a:extLst>
                <a:ext uri="{FF2B5EF4-FFF2-40B4-BE49-F238E27FC236}">
                  <a16:creationId xmlns:a16="http://schemas.microsoft.com/office/drawing/2014/main" id="{B5856C66-3A81-0E50-3CF8-97E91236B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1"/>
              <a:ext cx="298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0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9564" name="Text Box 627">
              <a:extLst>
                <a:ext uri="{FF2B5EF4-FFF2-40B4-BE49-F238E27FC236}">
                  <a16:creationId xmlns:a16="http://schemas.microsoft.com/office/drawing/2014/main" id="{63B069E8-EE26-5E77-774B-58B1C5181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617"/>
              <a:ext cx="216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F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565" name="Text Box 628">
              <a:extLst>
                <a:ext uri="{FF2B5EF4-FFF2-40B4-BE49-F238E27FC236}">
                  <a16:creationId xmlns:a16="http://schemas.microsoft.com/office/drawing/2014/main" id="{1F6445E3-A729-9A99-818D-D4166AFCB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743"/>
              <a:ext cx="216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" name="左大括号 1">
            <a:extLst>
              <a:ext uri="{FF2B5EF4-FFF2-40B4-BE49-F238E27FC236}">
                <a16:creationId xmlns:a16="http://schemas.microsoft.com/office/drawing/2014/main" id="{D7EFCFB6-DE3E-E2E0-2367-49F5643BC03D}"/>
              </a:ext>
            </a:extLst>
          </p:cNvPr>
          <p:cNvSpPr/>
          <p:nvPr/>
        </p:nvSpPr>
        <p:spPr>
          <a:xfrm rot="5400000">
            <a:off x="6565106" y="1796257"/>
            <a:ext cx="309563" cy="2711450"/>
          </a:xfrm>
          <a:prstGeom prst="lef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b="1"/>
          </a:p>
        </p:txBody>
      </p:sp>
      <p:sp>
        <p:nvSpPr>
          <p:cNvPr id="19551" name="文本框 3">
            <a:extLst>
              <a:ext uri="{FF2B5EF4-FFF2-40B4-BE49-F238E27FC236}">
                <a16:creationId xmlns:a16="http://schemas.microsoft.com/office/drawing/2014/main" id="{F9B0AF05-6487-3F84-F38A-733DD4CB4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850" y="2728913"/>
            <a:ext cx="18002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的新路由表</a:t>
            </a:r>
            <a:endParaRPr lang="zh-CN" altLang="en-US" sz="1600" b="1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3">
            <a:extLst>
              <a:ext uri="{FF2B5EF4-FFF2-40B4-BE49-F238E27FC236}">
                <a16:creationId xmlns:a16="http://schemas.microsoft.com/office/drawing/2014/main" id="{6F394591-F6D8-9CDB-E6B0-D92DA025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922970C-5CD3-EA4A-A9D3-F8C5512892EF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482" name="Text Box 472">
            <a:extLst>
              <a:ext uri="{FF2B5EF4-FFF2-40B4-BE49-F238E27FC236}">
                <a16:creationId xmlns:a16="http://schemas.microsoft.com/office/drawing/2014/main" id="{9A1DB0C0-C69D-149A-C2DF-3E6A1972B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33488"/>
            <a:ext cx="8424863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补充：使用距离矢量路由算法，路由器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刚收到矢量如下图所示。从路由器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到路由器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的链路成本分别为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kumimoji="1"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路由表更新后</a:t>
            </a:r>
            <a:r>
              <a:rPr kumimoji="1"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到达目的网络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N1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N6</a:t>
            </a:r>
            <a:r>
              <a:rPr kumimoji="1"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链路成本</a:t>
            </a:r>
            <a:r>
              <a:rPr kumimoji="1"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分别是多少？输出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线路</a:t>
            </a:r>
            <a:r>
              <a:rPr kumimoji="1"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分别是哪个路由器？</a:t>
            </a:r>
          </a:p>
          <a:p>
            <a:pPr eaLnBrk="1" hangingPunct="1">
              <a:spcBef>
                <a:spcPct val="50000"/>
              </a:spcBef>
            </a:pP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483" name="Text Box 613">
            <a:extLst>
              <a:ext uri="{FF2B5EF4-FFF2-40B4-BE49-F238E27FC236}">
                <a16:creationId xmlns:a16="http://schemas.microsoft.com/office/drawing/2014/main" id="{4834D44E-2CF0-2018-88D7-1D5BB7A1A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39AD87C-F77D-67CC-7B68-31320CFC2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1785"/>
              </p:ext>
            </p:extLst>
          </p:nvPr>
        </p:nvGraphicFramePr>
        <p:xfrm>
          <a:off x="832737" y="3484858"/>
          <a:ext cx="2376489" cy="2613024"/>
        </p:xfrm>
        <a:graphic>
          <a:graphicData uri="http://schemas.openxmlformats.org/drawingml/2006/table">
            <a:tbl>
              <a:tblPr/>
              <a:tblGrid>
                <a:gridCol w="100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2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目的网络</a:t>
                      </a:r>
                    </a:p>
                  </a:txBody>
                  <a:tcPr marL="91449" marR="91449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91449" marR="91449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91449" marR="91449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91449" marR="91449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N1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N2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N3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N4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N5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N6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49" marR="91449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roup 614">
            <a:extLst>
              <a:ext uri="{FF2B5EF4-FFF2-40B4-BE49-F238E27FC236}">
                <a16:creationId xmlns:a16="http://schemas.microsoft.com/office/drawing/2014/main" id="{5FD8C2E0-450E-2ED5-ABA2-9187C4985030}"/>
              </a:ext>
            </a:extLst>
          </p:cNvPr>
          <p:cNvGrpSpPr>
            <a:grpSpLocks/>
          </p:cNvGrpSpPr>
          <p:nvPr/>
        </p:nvGrpSpPr>
        <p:grpSpPr bwMode="auto">
          <a:xfrm>
            <a:off x="3851919" y="3273959"/>
            <a:ext cx="4459343" cy="2531305"/>
            <a:chOff x="1066" y="11"/>
            <a:chExt cx="3252" cy="1764"/>
          </a:xfrm>
        </p:grpSpPr>
        <p:sp>
          <p:nvSpPr>
            <p:cNvPr id="4" name="Line 615">
              <a:extLst>
                <a:ext uri="{FF2B5EF4-FFF2-40B4-BE49-F238E27FC236}">
                  <a16:creationId xmlns:a16="http://schemas.microsoft.com/office/drawing/2014/main" id="{9D2BB0FF-45A9-19E9-7F5A-EEA0951EAB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98" y="930"/>
              <a:ext cx="43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Box 616">
              <a:extLst>
                <a:ext uri="{FF2B5EF4-FFF2-40B4-BE49-F238E27FC236}">
                  <a16:creationId xmlns:a16="http://schemas.microsoft.com/office/drawing/2014/main" id="{39E3454F-F604-4BD0-C0F3-F03B0F4D9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1617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Line 617">
              <a:extLst>
                <a:ext uri="{FF2B5EF4-FFF2-40B4-BE49-F238E27FC236}">
                  <a16:creationId xmlns:a16="http://schemas.microsoft.com/office/drawing/2014/main" id="{3F10DB26-56A3-D08D-7232-8A0767D84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8" y="306"/>
              <a:ext cx="791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618">
              <a:extLst>
                <a:ext uri="{FF2B5EF4-FFF2-40B4-BE49-F238E27FC236}">
                  <a16:creationId xmlns:a16="http://schemas.microsoft.com/office/drawing/2014/main" id="{F1406E7A-5F23-B8AF-D954-239B0BEBD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06"/>
              <a:ext cx="1296" cy="1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19">
              <a:extLst>
                <a:ext uri="{FF2B5EF4-FFF2-40B4-BE49-F238E27FC236}">
                  <a16:creationId xmlns:a16="http://schemas.microsoft.com/office/drawing/2014/main" id="{FB2FDA86-D2EB-0884-E03C-E6D870C0A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5" y="806"/>
              <a:ext cx="864" cy="8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20">
              <a:extLst>
                <a:ext uri="{FF2B5EF4-FFF2-40B4-BE49-F238E27FC236}">
                  <a16:creationId xmlns:a16="http://schemas.microsoft.com/office/drawing/2014/main" id="{2D37A5DF-5EDD-CD87-94AD-F1E7636A39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3" y="244"/>
              <a:ext cx="936" cy="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21">
              <a:extLst>
                <a:ext uri="{FF2B5EF4-FFF2-40B4-BE49-F238E27FC236}">
                  <a16:creationId xmlns:a16="http://schemas.microsoft.com/office/drawing/2014/main" id="{8D7EFC26-E01F-FAEC-C014-19C7875AB9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2" y="244"/>
              <a:ext cx="1583" cy="13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622">
              <a:extLst>
                <a:ext uri="{FF2B5EF4-FFF2-40B4-BE49-F238E27FC236}">
                  <a16:creationId xmlns:a16="http://schemas.microsoft.com/office/drawing/2014/main" id="{F82E809E-3BF4-02E1-DC2E-F7AB66034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9" y="244"/>
              <a:ext cx="122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623">
              <a:extLst>
                <a:ext uri="{FF2B5EF4-FFF2-40B4-BE49-F238E27FC236}">
                  <a16:creationId xmlns:a16="http://schemas.microsoft.com/office/drawing/2014/main" id="{AD506E56-3187-81C1-BFF4-2F319A93B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2" y="1555"/>
              <a:ext cx="1655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624">
              <a:extLst>
                <a:ext uri="{FF2B5EF4-FFF2-40B4-BE49-F238E27FC236}">
                  <a16:creationId xmlns:a16="http://schemas.microsoft.com/office/drawing/2014/main" id="{8F04A94E-7E12-9268-E947-950B01BFF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806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Text Box 625">
              <a:extLst>
                <a:ext uri="{FF2B5EF4-FFF2-40B4-BE49-F238E27FC236}">
                  <a16:creationId xmlns:a16="http://schemas.microsoft.com/office/drawing/2014/main" id="{59D0E70C-BD0B-929E-3333-96480DACB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119"/>
              <a:ext cx="215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Text Box 626">
              <a:extLst>
                <a:ext uri="{FF2B5EF4-FFF2-40B4-BE49-F238E27FC236}">
                  <a16:creationId xmlns:a16="http://schemas.microsoft.com/office/drawing/2014/main" id="{2F696F1F-637E-1EE0-5126-B33927DC3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1"/>
              <a:ext cx="298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0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6" name="Text Box 627">
              <a:extLst>
                <a:ext uri="{FF2B5EF4-FFF2-40B4-BE49-F238E27FC236}">
                  <a16:creationId xmlns:a16="http://schemas.microsoft.com/office/drawing/2014/main" id="{B4609120-28A0-2A22-8BFA-A203C69B7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1617"/>
              <a:ext cx="216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F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Text Box 628">
              <a:extLst>
                <a:ext uri="{FF2B5EF4-FFF2-40B4-BE49-F238E27FC236}">
                  <a16:creationId xmlns:a16="http://schemas.microsoft.com/office/drawing/2014/main" id="{A2A77060-FA82-9A70-B549-514715C08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743"/>
              <a:ext cx="216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200" b="1"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E826D9-D74C-B4A3-A1B7-606D906F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48D14F-21DA-3149-B4D0-AF2E31ED9A0F}" type="slidenum">
              <a:rPr lang="zh-CN" altLang="en-US" b="1" smtClean="0"/>
              <a:pPr>
                <a:defRPr/>
              </a:pPr>
              <a:t>4</a:t>
            </a:fld>
            <a:endParaRPr lang="en-US" altLang="zh-CN" b="1"/>
          </a:p>
        </p:txBody>
      </p:sp>
      <p:graphicFrame>
        <p:nvGraphicFramePr>
          <p:cNvPr id="3" name="Group 133">
            <a:extLst>
              <a:ext uri="{FF2B5EF4-FFF2-40B4-BE49-F238E27FC236}">
                <a16:creationId xmlns:a16="http://schemas.microsoft.com/office/drawing/2014/main" id="{277774E5-0795-D23E-6E1B-05D91472BEAB}"/>
              </a:ext>
            </a:extLst>
          </p:cNvPr>
          <p:cNvGraphicFramePr>
            <a:graphicFrameLocks noGrp="1"/>
          </p:cNvGraphicFramePr>
          <p:nvPr/>
        </p:nvGraphicFramePr>
        <p:xfrm>
          <a:off x="827088" y="2852738"/>
          <a:ext cx="7561261" cy="2613024"/>
        </p:xfrm>
        <a:graphic>
          <a:graphicData uri="http://schemas.openxmlformats.org/drawingml/2006/table">
            <a:tbl>
              <a:tblPr/>
              <a:tblGrid>
                <a:gridCol w="100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681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959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92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目的网络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的延时分别是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5,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则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CB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CD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CE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到达每一目的网络的最小值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输出的路线</a:t>
                      </a:r>
                    </a:p>
                  </a:txBody>
                  <a:tcPr marL="91442" marR="91442"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N1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N2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N3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14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9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N4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N5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N6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91442" marR="91442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20" name="Text Box 613">
            <a:extLst>
              <a:ext uri="{FF2B5EF4-FFF2-40B4-BE49-F238E27FC236}">
                <a16:creationId xmlns:a16="http://schemas.microsoft.com/office/drawing/2014/main" id="{E2B289C2-87B6-1220-BB41-75EB0FAC6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3">
            <a:extLst>
              <a:ext uri="{FF2B5EF4-FFF2-40B4-BE49-F238E27FC236}">
                <a16:creationId xmlns:a16="http://schemas.microsoft.com/office/drawing/2014/main" id="{958E972B-A36A-7AD0-CC79-F41E4D93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444208" y="6558757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397D43-40F1-DD43-ACE7-C80716244BF9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kumimoji="1" lang="en-US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554" name="Text Box 3">
            <a:extLst>
              <a:ext uri="{FF2B5EF4-FFF2-40B4-BE49-F238E27FC236}">
                <a16:creationId xmlns:a16="http://schemas.microsoft.com/office/drawing/2014/main" id="{CD1AA7BC-C215-16CF-5B85-7937D95EA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052513"/>
            <a:ext cx="767397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*15.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在内部采用虚电路的子网中，可能采用这样一种拥塞控制机制：路由器直到“（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）知道沿着虚电路的最后一次传输已经成功地到达了，并且（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）它有一个空闲缓冲区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的时候，才对一个接收到的分组进行确认。为了简便起见，假设路由器使用了停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等协议，并且每条虚电路的每个方向都有一个专用的缓冲区。如果传输一个分组（数据或确认）需要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秒，在路径上有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台路由器，那么分组被递交给目标主机的速率是多少？假设几乎没有传输错误，并且从主机到路由器之间连接的速度为无限快。</a:t>
            </a:r>
          </a:p>
        </p:txBody>
      </p:sp>
      <p:sp>
        <p:nvSpPr>
          <p:cNvPr id="23555" name="Text Box 4">
            <a:extLst>
              <a:ext uri="{FF2B5EF4-FFF2-40B4-BE49-F238E27FC236}">
                <a16:creationId xmlns:a16="http://schemas.microsoft.com/office/drawing/2014/main" id="{79555F80-C91E-437D-B8F2-DDB26CBF2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23556" name="Line 5">
            <a:extLst>
              <a:ext uri="{FF2B5EF4-FFF2-40B4-BE49-F238E27FC236}">
                <a16:creationId xmlns:a16="http://schemas.microsoft.com/office/drawing/2014/main" id="{2CF14778-6E14-F785-9590-9C86D784B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076700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57" name="Line 6">
            <a:extLst>
              <a:ext uri="{FF2B5EF4-FFF2-40B4-BE49-F238E27FC236}">
                <a16:creationId xmlns:a16="http://schemas.microsoft.com/office/drawing/2014/main" id="{3C44EE4C-4A85-F9F9-CA50-C6E7DC442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4076700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58" name="Line 7">
            <a:extLst>
              <a:ext uri="{FF2B5EF4-FFF2-40B4-BE49-F238E27FC236}">
                <a16:creationId xmlns:a16="http://schemas.microsoft.com/office/drawing/2014/main" id="{41CC2833-EC5A-E4CF-7383-5DFE24269A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076700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59" name="Line 8">
            <a:extLst>
              <a:ext uri="{FF2B5EF4-FFF2-40B4-BE49-F238E27FC236}">
                <a16:creationId xmlns:a16="http://schemas.microsoft.com/office/drawing/2014/main" id="{152B6B44-8589-5068-EDA4-5F8919968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4076700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0" name="Line 9">
            <a:extLst>
              <a:ext uri="{FF2B5EF4-FFF2-40B4-BE49-F238E27FC236}">
                <a16:creationId xmlns:a16="http://schemas.microsoft.com/office/drawing/2014/main" id="{85DFA5FB-EAC8-CA9F-A7C5-9642452BD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292600"/>
            <a:ext cx="1223962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1" name="Line 10">
            <a:extLst>
              <a:ext uri="{FF2B5EF4-FFF2-40B4-BE49-F238E27FC236}">
                <a16:creationId xmlns:a16="http://schemas.microsoft.com/office/drawing/2014/main" id="{FA219987-844B-9CAA-071C-BA972E8D2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510088"/>
            <a:ext cx="1223963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2" name="Line 11">
            <a:extLst>
              <a:ext uri="{FF2B5EF4-FFF2-40B4-BE49-F238E27FC236}">
                <a16:creationId xmlns:a16="http://schemas.microsoft.com/office/drawing/2014/main" id="{5706141B-FA98-7186-FB85-A6F9E86CC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4725988"/>
            <a:ext cx="1223962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3" name="Line 12">
            <a:extLst>
              <a:ext uri="{FF2B5EF4-FFF2-40B4-BE49-F238E27FC236}">
                <a16:creationId xmlns:a16="http://schemas.microsoft.com/office/drawing/2014/main" id="{08DCC33D-5447-1B0B-0856-452B5CA418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0063" y="4941888"/>
            <a:ext cx="12239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4" name="Line 13">
            <a:extLst>
              <a:ext uri="{FF2B5EF4-FFF2-40B4-BE49-F238E27FC236}">
                <a16:creationId xmlns:a16="http://schemas.microsoft.com/office/drawing/2014/main" id="{756A8093-5792-99DE-F95F-65FCD7AB55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6100" y="5157788"/>
            <a:ext cx="12239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5" name="Line 14">
            <a:extLst>
              <a:ext uri="{FF2B5EF4-FFF2-40B4-BE49-F238E27FC236}">
                <a16:creationId xmlns:a16="http://schemas.microsoft.com/office/drawing/2014/main" id="{A37EC230-E2F6-D89C-16C9-F9837839EC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2138" y="5373688"/>
            <a:ext cx="12239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6" name="Text Box 15">
            <a:extLst>
              <a:ext uri="{FF2B5EF4-FFF2-40B4-BE49-F238E27FC236}">
                <a16:creationId xmlns:a16="http://schemas.microsoft.com/office/drawing/2014/main" id="{959B652B-7F59-D356-3591-8EDE3A26B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0052" y="3741942"/>
            <a:ext cx="576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R1</a:t>
            </a:r>
          </a:p>
        </p:txBody>
      </p:sp>
      <p:sp>
        <p:nvSpPr>
          <p:cNvPr id="23567" name="Text Box 16">
            <a:extLst>
              <a:ext uri="{FF2B5EF4-FFF2-40B4-BE49-F238E27FC236}">
                <a16:creationId xmlns:a16="http://schemas.microsoft.com/office/drawing/2014/main" id="{68166CD0-8665-AADD-B410-7C99CA1D6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809" y="3716346"/>
            <a:ext cx="576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R2</a:t>
            </a:r>
          </a:p>
        </p:txBody>
      </p:sp>
      <p:sp>
        <p:nvSpPr>
          <p:cNvPr id="23568" name="Text Box 17">
            <a:extLst>
              <a:ext uri="{FF2B5EF4-FFF2-40B4-BE49-F238E27FC236}">
                <a16:creationId xmlns:a16="http://schemas.microsoft.com/office/drawing/2014/main" id="{2A75A9EC-B633-6897-CACD-E19AEC6B8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638" y="3741943"/>
            <a:ext cx="576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R3</a:t>
            </a:r>
          </a:p>
        </p:txBody>
      </p:sp>
      <p:sp>
        <p:nvSpPr>
          <p:cNvPr id="23569" name="Text Box 18">
            <a:extLst>
              <a:ext uri="{FF2B5EF4-FFF2-40B4-BE49-F238E27FC236}">
                <a16:creationId xmlns:a16="http://schemas.microsoft.com/office/drawing/2014/main" id="{1437C2F5-FA23-E51A-D581-56238832A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709987"/>
            <a:ext cx="576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R4</a:t>
            </a:r>
          </a:p>
        </p:txBody>
      </p:sp>
      <p:sp>
        <p:nvSpPr>
          <p:cNvPr id="23570" name="Line 19">
            <a:extLst>
              <a:ext uri="{FF2B5EF4-FFF2-40B4-BE49-F238E27FC236}">
                <a16:creationId xmlns:a16="http://schemas.microsoft.com/office/drawing/2014/main" id="{312D3EC1-49FE-55B2-DB5F-82BBFD482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4076700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71" name="Line 20">
            <a:extLst>
              <a:ext uri="{FF2B5EF4-FFF2-40B4-BE49-F238E27FC236}">
                <a16:creationId xmlns:a16="http://schemas.microsoft.com/office/drawing/2014/main" id="{EB894270-F793-DCAC-7765-768FAF281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988" y="4005263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72" name="Line 21">
            <a:extLst>
              <a:ext uri="{FF2B5EF4-FFF2-40B4-BE49-F238E27FC236}">
                <a16:creationId xmlns:a16="http://schemas.microsoft.com/office/drawing/2014/main" id="{1996828C-9D4E-F5CF-26EE-71D34813FC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8175" y="42926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73" name="Line 22">
            <a:extLst>
              <a:ext uri="{FF2B5EF4-FFF2-40B4-BE49-F238E27FC236}">
                <a16:creationId xmlns:a16="http://schemas.microsoft.com/office/drawing/2014/main" id="{649D8593-CAF6-9346-45E5-EBC32249FB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8175" y="5589588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74" name="Line 23">
            <a:extLst>
              <a:ext uri="{FF2B5EF4-FFF2-40B4-BE49-F238E27FC236}">
                <a16:creationId xmlns:a16="http://schemas.microsoft.com/office/drawing/2014/main" id="{E00551AD-9208-0AB6-E249-6F119725AF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941888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75" name="Text Box 24">
            <a:extLst>
              <a:ext uri="{FF2B5EF4-FFF2-40B4-BE49-F238E27FC236}">
                <a16:creationId xmlns:a16="http://schemas.microsoft.com/office/drawing/2014/main" id="{6FDF2A71-0613-2139-9FD1-086061120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789363"/>
            <a:ext cx="576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H1</a:t>
            </a:r>
          </a:p>
        </p:txBody>
      </p:sp>
      <p:sp>
        <p:nvSpPr>
          <p:cNvPr id="23576" name="Text Box 25">
            <a:extLst>
              <a:ext uri="{FF2B5EF4-FFF2-40B4-BE49-F238E27FC236}">
                <a16:creationId xmlns:a16="http://schemas.microsoft.com/office/drawing/2014/main" id="{323EB3B1-262A-7573-F3D7-4D503C214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1" y="3677443"/>
            <a:ext cx="576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H2</a:t>
            </a:r>
          </a:p>
        </p:txBody>
      </p:sp>
      <p:sp>
        <p:nvSpPr>
          <p:cNvPr id="325658" name="Rectangle 26">
            <a:extLst>
              <a:ext uri="{FF2B5EF4-FFF2-40B4-BE49-F238E27FC236}">
                <a16:creationId xmlns:a16="http://schemas.microsoft.com/office/drawing/2014/main" id="{619B7393-536D-4126-1757-7F63AB0A8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6086475"/>
            <a:ext cx="47910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解：传输速率是每</a:t>
            </a:r>
            <a:r>
              <a:rPr kumimoji="1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n-1</a:t>
            </a: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kumimoji="1"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秒传输一个分组</a:t>
            </a:r>
            <a:endParaRPr kumimoji="1"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5659" name="Line 27">
            <a:extLst>
              <a:ext uri="{FF2B5EF4-FFF2-40B4-BE49-F238E27FC236}">
                <a16:creationId xmlns:a16="http://schemas.microsoft.com/office/drawing/2014/main" id="{14D417C9-20C9-BAF5-E378-185D027BB1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6588" y="4508500"/>
            <a:ext cx="24495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25660" name="Rectangle 28">
            <a:extLst>
              <a:ext uri="{FF2B5EF4-FFF2-40B4-BE49-F238E27FC236}">
                <a16:creationId xmlns:a16="http://schemas.microsoft.com/office/drawing/2014/main" id="{E9A1A81E-6FC9-9235-FE87-A84D306D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4268788"/>
            <a:ext cx="292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5661" name="Line 29">
            <a:extLst>
              <a:ext uri="{FF2B5EF4-FFF2-40B4-BE49-F238E27FC236}">
                <a16:creationId xmlns:a16="http://schemas.microsoft.com/office/drawing/2014/main" id="{61C8B79B-929E-4719-AE13-F0477996F5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6588" y="4724400"/>
            <a:ext cx="36734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25662" name="Line 30">
            <a:extLst>
              <a:ext uri="{FF2B5EF4-FFF2-40B4-BE49-F238E27FC236}">
                <a16:creationId xmlns:a16="http://schemas.microsoft.com/office/drawing/2014/main" id="{49E05E88-2D3E-69D8-9F0E-51FDEA3CAD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6588" y="4941888"/>
            <a:ext cx="4826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25663" name="AutoShape 31">
            <a:extLst>
              <a:ext uri="{FF2B5EF4-FFF2-40B4-BE49-F238E27FC236}">
                <a16:creationId xmlns:a16="http://schemas.microsoft.com/office/drawing/2014/main" id="{95EF66DF-42D6-DDB7-EDF9-5616A56B64E7}"/>
              </a:ext>
            </a:extLst>
          </p:cNvPr>
          <p:cNvSpPr>
            <a:spLocks/>
          </p:cNvSpPr>
          <p:nvPr/>
        </p:nvSpPr>
        <p:spPr bwMode="auto">
          <a:xfrm>
            <a:off x="1763713" y="4292600"/>
            <a:ext cx="144462" cy="215900"/>
          </a:xfrm>
          <a:prstGeom prst="leftBrace">
            <a:avLst>
              <a:gd name="adj1" fmla="val 1245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583" name="Line 32">
            <a:extLst>
              <a:ext uri="{FF2B5EF4-FFF2-40B4-BE49-F238E27FC236}">
                <a16:creationId xmlns:a16="http://schemas.microsoft.com/office/drawing/2014/main" id="{9E2F89B4-0B8E-C703-B258-647C3CE31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0688" y="508476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84" name="Rectangle 33">
            <a:extLst>
              <a:ext uri="{FF2B5EF4-FFF2-40B4-BE49-F238E27FC236}">
                <a16:creationId xmlns:a16="http://schemas.microsoft.com/office/drawing/2014/main" id="{2279E611-8E39-68EE-9F14-40197FE1B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75" y="5219700"/>
            <a:ext cx="55086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</a:p>
        </p:txBody>
      </p:sp>
      <p:sp>
        <p:nvSpPr>
          <p:cNvPr id="325666" name="AutoShape 34">
            <a:extLst>
              <a:ext uri="{FF2B5EF4-FFF2-40B4-BE49-F238E27FC236}">
                <a16:creationId xmlns:a16="http://schemas.microsoft.com/office/drawing/2014/main" id="{28D3339E-E8BC-D829-6130-E6B15644546F}"/>
              </a:ext>
            </a:extLst>
          </p:cNvPr>
          <p:cNvSpPr>
            <a:spLocks/>
          </p:cNvSpPr>
          <p:nvPr/>
        </p:nvSpPr>
        <p:spPr bwMode="auto">
          <a:xfrm>
            <a:off x="1763713" y="4508500"/>
            <a:ext cx="144462" cy="215900"/>
          </a:xfrm>
          <a:prstGeom prst="leftBrace">
            <a:avLst>
              <a:gd name="adj1" fmla="val 1245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5667" name="AutoShape 35">
            <a:extLst>
              <a:ext uri="{FF2B5EF4-FFF2-40B4-BE49-F238E27FC236}">
                <a16:creationId xmlns:a16="http://schemas.microsoft.com/office/drawing/2014/main" id="{6B5FCE3B-77FA-3208-4664-8FE30CF22245}"/>
              </a:ext>
            </a:extLst>
          </p:cNvPr>
          <p:cNvSpPr>
            <a:spLocks/>
          </p:cNvSpPr>
          <p:nvPr/>
        </p:nvSpPr>
        <p:spPr bwMode="auto">
          <a:xfrm>
            <a:off x="1763713" y="4725988"/>
            <a:ext cx="144462" cy="215900"/>
          </a:xfrm>
          <a:prstGeom prst="leftBrace">
            <a:avLst>
              <a:gd name="adj1" fmla="val 1245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5669" name="Rectangle 37">
            <a:extLst>
              <a:ext uri="{FF2B5EF4-FFF2-40B4-BE49-F238E27FC236}">
                <a16:creationId xmlns:a16="http://schemas.microsoft.com/office/drawing/2014/main" id="{385E542E-241B-B299-B5E7-881823221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4484688"/>
            <a:ext cx="292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5670" name="Rectangle 38">
            <a:extLst>
              <a:ext uri="{FF2B5EF4-FFF2-40B4-BE49-F238E27FC236}">
                <a16:creationId xmlns:a16="http://schemas.microsoft.com/office/drawing/2014/main" id="{F178C9AE-7A03-0D91-6635-555A4AE18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708525"/>
            <a:ext cx="292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5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5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5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5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5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5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5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5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5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5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5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5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5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5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5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5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5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5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5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5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58" grpId="0"/>
      <p:bldP spid="325660" grpId="0"/>
      <p:bldP spid="325663" grpId="0" animBg="1"/>
      <p:bldP spid="325666" grpId="0" animBg="1"/>
      <p:bldP spid="325667" grpId="0" animBg="1"/>
      <p:bldP spid="325669" grpId="0"/>
      <p:bldP spid="3256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3">
            <a:extLst>
              <a:ext uri="{FF2B5EF4-FFF2-40B4-BE49-F238E27FC236}">
                <a16:creationId xmlns:a16="http://schemas.microsoft.com/office/drawing/2014/main" id="{03953CA5-3672-B5B2-05BD-5A98CEC5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6CB78A4-FD9B-D04D-AA51-8768CA8E6A29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5330" name="Text Box 2">
            <a:extLst>
              <a:ext uri="{FF2B5EF4-FFF2-40B4-BE49-F238E27FC236}">
                <a16:creationId xmlns:a16="http://schemas.microsoft.com/office/drawing/2014/main" id="{4CA32F80-5A2A-3CAD-2D90-39E2139C4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052513"/>
            <a:ext cx="8106667" cy="470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23.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想象这样一个流规范：最大分组长度为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1000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字节，令牌桶速率为每秒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10MB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，令牌桶的大小为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1MB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，最大传输速率为每秒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50MB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。请问以最大速率传输的突发数据会持续多长时间？</a:t>
            </a:r>
          </a:p>
          <a:p>
            <a:pPr eaLnBrk="1" hangingPunct="1">
              <a:spcBef>
                <a:spcPct val="50000"/>
              </a:spcBef>
            </a:pPr>
            <a:endParaRPr kumimoji="1"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解：设令牌桶的容量（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MB)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，令牌的到达速率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(MB/s)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ρ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，当有突发通信量到来时的突发时间长度（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）为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，最大的输出速率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(MB/s)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kumimoji="1"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C+ρS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=MS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S=C/(M-</a:t>
            </a:r>
            <a:r>
              <a:rPr lang="el-GR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)=1/(50-10) =0.025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=25ms</a:t>
            </a:r>
            <a:endParaRPr kumimoji="1"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7E26C8A7-FB7C-8FC9-0118-10BE5DA44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5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5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2">
            <a:extLst>
              <a:ext uri="{FF2B5EF4-FFF2-40B4-BE49-F238E27FC236}">
                <a16:creationId xmlns:a16="http://schemas.microsoft.com/office/drawing/2014/main" id="{54F2BBAC-629A-EEDC-AFA2-4656A42A1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84963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27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．假设主机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与路由器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R1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连接，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R1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又与另一台路由器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R2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连接，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R2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与主机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连接。假设一个要发给主机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TCP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消息被传递给主机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上的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代码，该消息包含了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900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字节的数据和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字节的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TCP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头。请写出在这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条链路上传输的每个数据包中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头的总长度、标识符、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DF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MF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和段偏移字段值。假定链路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A-R1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可以支持的最大帧长为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1024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字节，其中包括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字节的帧头；链路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R1-R2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可以支持的最大帧长为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512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字节，其中包括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字节的帧头；链路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R2-B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可以支持的最大帧长为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512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宇节，其中包括</a:t>
            </a:r>
            <a:r>
              <a:rPr kumimoji="1"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字节的帧头。</a:t>
            </a:r>
          </a:p>
        </p:txBody>
      </p:sp>
      <p:sp>
        <p:nvSpPr>
          <p:cNvPr id="27650" name="Text Box 3">
            <a:extLst>
              <a:ext uri="{FF2B5EF4-FFF2-40B4-BE49-F238E27FC236}">
                <a16:creationId xmlns:a16="http://schemas.microsoft.com/office/drawing/2014/main" id="{957C5260-9606-4DC3-A714-CF22354BA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27651" name="Rectangle 122">
            <a:extLst>
              <a:ext uri="{FF2B5EF4-FFF2-40B4-BE49-F238E27FC236}">
                <a16:creationId xmlns:a16="http://schemas.microsoft.com/office/drawing/2014/main" id="{C4E353D9-DAA8-C4AC-6CDD-AF4258F6F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867150"/>
            <a:ext cx="1516062" cy="33972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</a:p>
        </p:txBody>
      </p:sp>
      <p:sp>
        <p:nvSpPr>
          <p:cNvPr id="7" name="Rectangle 125">
            <a:extLst>
              <a:ext uri="{FF2B5EF4-FFF2-40B4-BE49-F238E27FC236}">
                <a16:creationId xmlns:a16="http://schemas.microsoft.com/office/drawing/2014/main" id="{14C96E93-FA84-B93B-FF7A-85494F83B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3867150"/>
            <a:ext cx="700088" cy="339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TCP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</a:p>
        </p:txBody>
      </p:sp>
      <p:sp>
        <p:nvSpPr>
          <p:cNvPr id="10" name="Rectangle 128">
            <a:extLst>
              <a:ext uri="{FF2B5EF4-FFF2-40B4-BE49-F238E27FC236}">
                <a16:creationId xmlns:a16="http://schemas.microsoft.com/office/drawing/2014/main" id="{4B754445-B27C-E5ED-3AA8-376C840E9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3867150"/>
            <a:ext cx="765175" cy="339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IP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7654" name="Rectangle 129">
            <a:extLst>
              <a:ext uri="{FF2B5EF4-FFF2-40B4-BE49-F238E27FC236}">
                <a16:creationId xmlns:a16="http://schemas.microsoft.com/office/drawing/2014/main" id="{0A0EE8EE-60C7-5F8A-36C2-6C65C058E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500438"/>
            <a:ext cx="423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13" name="Rectangle 128">
            <a:extLst>
              <a:ext uri="{FF2B5EF4-FFF2-40B4-BE49-F238E27FC236}">
                <a16:creationId xmlns:a16="http://schemas.microsoft.com/office/drawing/2014/main" id="{1EF3CFAC-072D-7804-2D2F-1F51F84BF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867150"/>
            <a:ext cx="765175" cy="33972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帧头</a:t>
            </a:r>
          </a:p>
        </p:txBody>
      </p:sp>
      <p:sp>
        <p:nvSpPr>
          <p:cNvPr id="27656" name="Rectangle 129">
            <a:extLst>
              <a:ext uri="{FF2B5EF4-FFF2-40B4-BE49-F238E27FC236}">
                <a16:creationId xmlns:a16="http://schemas.microsoft.com/office/drawing/2014/main" id="{EE9AB51C-A2AA-CDEF-7544-E4E9C2124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3508375"/>
            <a:ext cx="422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7657" name="Rectangle 129">
            <a:extLst>
              <a:ext uri="{FF2B5EF4-FFF2-40B4-BE49-F238E27FC236}">
                <a16:creationId xmlns:a16="http://schemas.microsoft.com/office/drawing/2014/main" id="{31C19FE0-3E2F-DAC9-545C-85AC3DE8F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8" y="3508375"/>
            <a:ext cx="422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7658" name="Rectangle 129">
            <a:extLst>
              <a:ext uri="{FF2B5EF4-FFF2-40B4-BE49-F238E27FC236}">
                <a16:creationId xmlns:a16="http://schemas.microsoft.com/office/drawing/2014/main" id="{00016F18-93BF-FEA5-E7F1-AA881DBCD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525" y="3508375"/>
            <a:ext cx="5445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900</a:t>
            </a:r>
          </a:p>
        </p:txBody>
      </p:sp>
      <p:sp>
        <p:nvSpPr>
          <p:cNvPr id="27659" name="Rectangle 129">
            <a:extLst>
              <a:ext uri="{FF2B5EF4-FFF2-40B4-BE49-F238E27FC236}">
                <a16:creationId xmlns:a16="http://schemas.microsoft.com/office/drawing/2014/main" id="{163E61F8-469D-D0CC-1229-AD0893D38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608388"/>
            <a:ext cx="166687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链路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A-R1</a:t>
            </a:r>
          </a:p>
          <a:p>
            <a:pPr algn="ctr"/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最大帧长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1024B</a:t>
            </a:r>
          </a:p>
          <a:p>
            <a:pPr algn="ctr"/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帧头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14B)</a:t>
            </a:r>
          </a:p>
        </p:txBody>
      </p:sp>
      <p:sp>
        <p:nvSpPr>
          <p:cNvPr id="27660" name="Rectangle 129">
            <a:extLst>
              <a:ext uri="{FF2B5EF4-FFF2-40B4-BE49-F238E27FC236}">
                <a16:creationId xmlns:a16="http://schemas.microsoft.com/office/drawing/2014/main" id="{0EF748C7-596A-71DC-5230-2C8FE4E88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381375"/>
            <a:ext cx="3059112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14+20+20+900&lt;1024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∴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不分段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61" name="Rectangle 122">
            <a:extLst>
              <a:ext uri="{FF2B5EF4-FFF2-40B4-BE49-F238E27FC236}">
                <a16:creationId xmlns:a16="http://schemas.microsoft.com/office/drawing/2014/main" id="{22D7BCD5-242F-8FD6-16F9-5CD8702EF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327650"/>
            <a:ext cx="796925" cy="33972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Rectangle 125">
            <a:extLst>
              <a:ext uri="{FF2B5EF4-FFF2-40B4-BE49-F238E27FC236}">
                <a16:creationId xmlns:a16="http://schemas.microsoft.com/office/drawing/2014/main" id="{4A0A53EA-15EA-AFC9-B9ED-031BF6F9D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5327650"/>
            <a:ext cx="700087" cy="339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TCP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</a:p>
        </p:txBody>
      </p:sp>
      <p:sp>
        <p:nvSpPr>
          <p:cNvPr id="22" name="Rectangle 128">
            <a:extLst>
              <a:ext uri="{FF2B5EF4-FFF2-40B4-BE49-F238E27FC236}">
                <a16:creationId xmlns:a16="http://schemas.microsoft.com/office/drawing/2014/main" id="{3E08EAC9-C5FA-E4DB-F218-07A28ADD0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5327650"/>
            <a:ext cx="765175" cy="339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IP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7664" name="Rectangle 129">
            <a:extLst>
              <a:ext uri="{FF2B5EF4-FFF2-40B4-BE49-F238E27FC236}">
                <a16:creationId xmlns:a16="http://schemas.microsoft.com/office/drawing/2014/main" id="{87DE7AFA-8FE0-40A8-7FD1-BA0D170CC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663" y="4962525"/>
            <a:ext cx="3032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4" name="Rectangle 128">
            <a:extLst>
              <a:ext uri="{FF2B5EF4-FFF2-40B4-BE49-F238E27FC236}">
                <a16:creationId xmlns:a16="http://schemas.microsoft.com/office/drawing/2014/main" id="{3C676BF2-2B1F-BD2F-4404-6A7231373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5327650"/>
            <a:ext cx="646113" cy="33972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帧头</a:t>
            </a:r>
          </a:p>
        </p:txBody>
      </p:sp>
      <p:sp>
        <p:nvSpPr>
          <p:cNvPr id="27666" name="Rectangle 129">
            <a:extLst>
              <a:ext uri="{FF2B5EF4-FFF2-40B4-BE49-F238E27FC236}">
                <a16:creationId xmlns:a16="http://schemas.microsoft.com/office/drawing/2014/main" id="{0EF9DB54-7908-7CCC-8308-CF8699793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4968875"/>
            <a:ext cx="4238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7667" name="Rectangle 129">
            <a:extLst>
              <a:ext uri="{FF2B5EF4-FFF2-40B4-BE49-F238E27FC236}">
                <a16:creationId xmlns:a16="http://schemas.microsoft.com/office/drawing/2014/main" id="{284FE7C2-6EE2-1914-3644-3FAD334C4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4263" y="4968875"/>
            <a:ext cx="423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7668" name="Rectangle 129">
            <a:extLst>
              <a:ext uri="{FF2B5EF4-FFF2-40B4-BE49-F238E27FC236}">
                <a16:creationId xmlns:a16="http://schemas.microsoft.com/office/drawing/2014/main" id="{BAE33EE3-6E79-AF73-937C-0A5A60138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463" y="4968875"/>
            <a:ext cx="5445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460</a:t>
            </a:r>
          </a:p>
        </p:txBody>
      </p:sp>
      <p:sp>
        <p:nvSpPr>
          <p:cNvPr id="27669" name="Rectangle 129">
            <a:extLst>
              <a:ext uri="{FF2B5EF4-FFF2-40B4-BE49-F238E27FC236}">
                <a16:creationId xmlns:a16="http://schemas.microsoft.com/office/drawing/2014/main" id="{C841E9BE-7AB7-3897-5F9E-2EC1CDCD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5121275"/>
            <a:ext cx="1560512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链路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R1-R2</a:t>
            </a:r>
          </a:p>
          <a:p>
            <a:pPr algn="ctr"/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最大帧长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512B</a:t>
            </a:r>
          </a:p>
          <a:p>
            <a:pPr algn="ctr"/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帧头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8B)</a:t>
            </a:r>
          </a:p>
        </p:txBody>
      </p:sp>
      <p:sp>
        <p:nvSpPr>
          <p:cNvPr id="27670" name="Rectangle 129">
            <a:extLst>
              <a:ext uri="{FF2B5EF4-FFF2-40B4-BE49-F238E27FC236}">
                <a16:creationId xmlns:a16="http://schemas.microsoft.com/office/drawing/2014/main" id="{4733238C-1D41-A230-A702-E954C9298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4797152"/>
            <a:ext cx="28432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8+20+20+900&gt;512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∴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需分段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71" name="Rectangle 122">
            <a:extLst>
              <a:ext uri="{FF2B5EF4-FFF2-40B4-BE49-F238E27FC236}">
                <a16:creationId xmlns:a16="http://schemas.microsoft.com/office/drawing/2014/main" id="{2B2DE6AB-9C93-C104-981D-83006C887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6113463"/>
            <a:ext cx="765175" cy="33972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Rectangle 128">
            <a:extLst>
              <a:ext uri="{FF2B5EF4-FFF2-40B4-BE49-F238E27FC236}">
                <a16:creationId xmlns:a16="http://schemas.microsoft.com/office/drawing/2014/main" id="{C9954B7B-A1F2-2335-CDA9-7D44F7244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6113463"/>
            <a:ext cx="765175" cy="339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IP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7673" name="Rectangle 129">
            <a:extLst>
              <a:ext uri="{FF2B5EF4-FFF2-40B4-BE49-F238E27FC236}">
                <a16:creationId xmlns:a16="http://schemas.microsoft.com/office/drawing/2014/main" id="{37FC2D48-1DE3-E830-D4DE-1A9F2640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5748338"/>
            <a:ext cx="3032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34" name="Rectangle 128">
            <a:extLst>
              <a:ext uri="{FF2B5EF4-FFF2-40B4-BE49-F238E27FC236}">
                <a16:creationId xmlns:a16="http://schemas.microsoft.com/office/drawing/2014/main" id="{27F48CB9-19B3-8889-8D3A-36F9FB52E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6113463"/>
            <a:ext cx="704850" cy="33972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帧头</a:t>
            </a:r>
          </a:p>
        </p:txBody>
      </p:sp>
      <p:sp>
        <p:nvSpPr>
          <p:cNvPr id="27675" name="Rectangle 129">
            <a:extLst>
              <a:ext uri="{FF2B5EF4-FFF2-40B4-BE49-F238E27FC236}">
                <a16:creationId xmlns:a16="http://schemas.microsoft.com/office/drawing/2014/main" id="{94A912CF-A762-4547-CC6A-07881F2D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5754688"/>
            <a:ext cx="4238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7676" name="Rectangle 129">
            <a:extLst>
              <a:ext uri="{FF2B5EF4-FFF2-40B4-BE49-F238E27FC236}">
                <a16:creationId xmlns:a16="http://schemas.microsoft.com/office/drawing/2014/main" id="{DB3FE091-E340-4400-B125-7292A5808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5754688"/>
            <a:ext cx="542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440</a:t>
            </a:r>
          </a:p>
        </p:txBody>
      </p:sp>
      <p:sp>
        <p:nvSpPr>
          <p:cNvPr id="27677" name="文本框 38">
            <a:extLst>
              <a:ext uri="{FF2B5EF4-FFF2-40B4-BE49-F238E27FC236}">
                <a16:creationId xmlns:a16="http://schemas.microsoft.com/office/drawing/2014/main" id="{96D369F6-8C86-88B3-2DFC-6EA4BE25F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5221014"/>
            <a:ext cx="3233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分段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=500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MF=1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27678" name="文本框 39">
            <a:extLst>
              <a:ext uri="{FF2B5EF4-FFF2-40B4-BE49-F238E27FC236}">
                <a16:creationId xmlns:a16="http://schemas.microsoft.com/office/drawing/2014/main" id="{E4191D86-B888-23EC-696B-AB9EF49AD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5999163"/>
            <a:ext cx="3233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分段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=460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MF=0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=480/8=60</a:t>
            </a:r>
          </a:p>
        </p:txBody>
      </p:sp>
      <p:sp>
        <p:nvSpPr>
          <p:cNvPr id="27679" name="Rectangle 129">
            <a:extLst>
              <a:ext uri="{FF2B5EF4-FFF2-40B4-BE49-F238E27FC236}">
                <a16:creationId xmlns:a16="http://schemas.microsoft.com/office/drawing/2014/main" id="{8E41AAC7-C524-09A3-E462-787117180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3717032"/>
            <a:ext cx="3254097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头的总长度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=940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MF=0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27680" name="Line 6">
            <a:extLst>
              <a:ext uri="{FF2B5EF4-FFF2-40B4-BE49-F238E27FC236}">
                <a16:creationId xmlns:a16="http://schemas.microsoft.com/office/drawing/2014/main" id="{5FE3E653-4838-02D2-552F-B9539F3049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3613" y="4213225"/>
            <a:ext cx="0" cy="11144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7681" name="Line 6">
            <a:extLst>
              <a:ext uri="{FF2B5EF4-FFF2-40B4-BE49-F238E27FC236}">
                <a16:creationId xmlns:a16="http://schemas.microsoft.com/office/drawing/2014/main" id="{02B08A78-B856-E98E-057D-BACA613EA0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1575" y="4221163"/>
            <a:ext cx="0" cy="19145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7682" name="Line 6">
            <a:extLst>
              <a:ext uri="{FF2B5EF4-FFF2-40B4-BE49-F238E27FC236}">
                <a16:creationId xmlns:a16="http://schemas.microsoft.com/office/drawing/2014/main" id="{06746590-0FBB-A774-3484-545508FF24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7700" y="4198938"/>
            <a:ext cx="0" cy="19145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3">
            <a:extLst>
              <a:ext uri="{FF2B5EF4-FFF2-40B4-BE49-F238E27FC236}">
                <a16:creationId xmlns:a16="http://schemas.microsoft.com/office/drawing/2014/main" id="{AC0758BC-6F53-987B-D58B-7662B29A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29698" name="Rectangle 122">
            <a:extLst>
              <a:ext uri="{FF2B5EF4-FFF2-40B4-BE49-F238E27FC236}">
                <a16:creationId xmlns:a16="http://schemas.microsoft.com/office/drawing/2014/main" id="{34717D40-3818-9414-2AD3-FFF76318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570163"/>
            <a:ext cx="812800" cy="33972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Rectangle 125">
            <a:extLst>
              <a:ext uri="{FF2B5EF4-FFF2-40B4-BE49-F238E27FC236}">
                <a16:creationId xmlns:a16="http://schemas.microsoft.com/office/drawing/2014/main" id="{A9801179-D1D0-991F-D278-F0BB4CF7D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2570163"/>
            <a:ext cx="700087" cy="339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TCP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</a:p>
        </p:txBody>
      </p:sp>
      <p:sp>
        <p:nvSpPr>
          <p:cNvPr id="22" name="Rectangle 128">
            <a:extLst>
              <a:ext uri="{FF2B5EF4-FFF2-40B4-BE49-F238E27FC236}">
                <a16:creationId xmlns:a16="http://schemas.microsoft.com/office/drawing/2014/main" id="{BDA10450-C728-9DD8-2D9C-A8D2275E0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2570163"/>
            <a:ext cx="765175" cy="339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IP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9701" name="Rectangle 129">
            <a:extLst>
              <a:ext uri="{FF2B5EF4-FFF2-40B4-BE49-F238E27FC236}">
                <a16:creationId xmlns:a16="http://schemas.microsoft.com/office/drawing/2014/main" id="{90B52950-4EA3-A3E5-CC3D-DECFBE07F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05038"/>
            <a:ext cx="4238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24" name="Rectangle 128">
            <a:extLst>
              <a:ext uri="{FF2B5EF4-FFF2-40B4-BE49-F238E27FC236}">
                <a16:creationId xmlns:a16="http://schemas.microsoft.com/office/drawing/2014/main" id="{A1934040-CCD4-26A6-78D8-93BAF1096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2570163"/>
            <a:ext cx="766763" cy="3397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帧头</a:t>
            </a:r>
          </a:p>
        </p:txBody>
      </p:sp>
      <p:sp>
        <p:nvSpPr>
          <p:cNvPr id="29703" name="Rectangle 129">
            <a:extLst>
              <a:ext uri="{FF2B5EF4-FFF2-40B4-BE49-F238E27FC236}">
                <a16:creationId xmlns:a16="http://schemas.microsoft.com/office/drawing/2014/main" id="{B5C818BD-B3DE-C79B-D1ED-52CAB8A89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0" y="2211388"/>
            <a:ext cx="423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9704" name="Rectangle 129">
            <a:extLst>
              <a:ext uri="{FF2B5EF4-FFF2-40B4-BE49-F238E27FC236}">
                <a16:creationId xmlns:a16="http://schemas.microsoft.com/office/drawing/2014/main" id="{DFA8D7EE-4B64-9391-1E1D-2A6C98F57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463" y="2211388"/>
            <a:ext cx="4238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9705" name="Rectangle 129">
            <a:extLst>
              <a:ext uri="{FF2B5EF4-FFF2-40B4-BE49-F238E27FC236}">
                <a16:creationId xmlns:a16="http://schemas.microsoft.com/office/drawing/2014/main" id="{B1626627-BCD5-930E-5121-7A0FEF6B1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211388"/>
            <a:ext cx="544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460</a:t>
            </a:r>
          </a:p>
        </p:txBody>
      </p:sp>
      <p:sp>
        <p:nvSpPr>
          <p:cNvPr id="29706" name="Rectangle 129">
            <a:extLst>
              <a:ext uri="{FF2B5EF4-FFF2-40B4-BE49-F238E27FC236}">
                <a16:creationId xmlns:a16="http://schemas.microsoft.com/office/drawing/2014/main" id="{B93675CD-5281-6075-E13E-278A28ECA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2312988"/>
            <a:ext cx="1560512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链路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R2-B</a:t>
            </a:r>
          </a:p>
          <a:p>
            <a:pPr algn="ctr"/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最大帧长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512B</a:t>
            </a:r>
          </a:p>
          <a:p>
            <a:pPr algn="ctr"/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帧头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12B)</a:t>
            </a:r>
          </a:p>
        </p:txBody>
      </p:sp>
      <p:sp>
        <p:nvSpPr>
          <p:cNvPr id="29707" name="Rectangle 129">
            <a:extLst>
              <a:ext uri="{FF2B5EF4-FFF2-40B4-BE49-F238E27FC236}">
                <a16:creationId xmlns:a16="http://schemas.microsoft.com/office/drawing/2014/main" id="{010995A1-4122-BE00-B103-B240D21FA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1412875"/>
            <a:ext cx="31210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12+20+20+460=512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12+20+440&lt;512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∴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两个分片都不再分片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708" name="Rectangle 122">
            <a:extLst>
              <a:ext uri="{FF2B5EF4-FFF2-40B4-BE49-F238E27FC236}">
                <a16:creationId xmlns:a16="http://schemas.microsoft.com/office/drawing/2014/main" id="{3AC4843F-7C15-4EF9-D5CE-9032B4A73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3355975"/>
            <a:ext cx="765175" cy="33972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Rectangle 128">
            <a:extLst>
              <a:ext uri="{FF2B5EF4-FFF2-40B4-BE49-F238E27FC236}">
                <a16:creationId xmlns:a16="http://schemas.microsoft.com/office/drawing/2014/main" id="{60B7FE34-B84B-992D-A968-55EC5E1BD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3355975"/>
            <a:ext cx="765175" cy="339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IP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头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9710" name="Rectangle 129">
            <a:extLst>
              <a:ext uri="{FF2B5EF4-FFF2-40B4-BE49-F238E27FC236}">
                <a16:creationId xmlns:a16="http://schemas.microsoft.com/office/drawing/2014/main" id="{CE4E6864-9CCD-54D6-7AB8-0E61C87B8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2990850"/>
            <a:ext cx="4238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34" name="Rectangle 128">
            <a:extLst>
              <a:ext uri="{FF2B5EF4-FFF2-40B4-BE49-F238E27FC236}">
                <a16:creationId xmlns:a16="http://schemas.microsoft.com/office/drawing/2014/main" id="{6760C68F-EEC8-D046-0E02-9F2318537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38" y="3355975"/>
            <a:ext cx="766762" cy="3397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帧头</a:t>
            </a:r>
          </a:p>
        </p:txBody>
      </p:sp>
      <p:sp>
        <p:nvSpPr>
          <p:cNvPr id="29712" name="Rectangle 129">
            <a:extLst>
              <a:ext uri="{FF2B5EF4-FFF2-40B4-BE49-F238E27FC236}">
                <a16:creationId xmlns:a16="http://schemas.microsoft.com/office/drawing/2014/main" id="{A60EF224-0621-3299-85ED-39B5A4B0F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2997200"/>
            <a:ext cx="423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29713" name="Rectangle 129">
            <a:extLst>
              <a:ext uri="{FF2B5EF4-FFF2-40B4-BE49-F238E27FC236}">
                <a16:creationId xmlns:a16="http://schemas.microsoft.com/office/drawing/2014/main" id="{CDBF144E-DE11-FF95-966C-34F85B3B7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2997200"/>
            <a:ext cx="542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440</a:t>
            </a:r>
          </a:p>
        </p:txBody>
      </p:sp>
      <p:sp>
        <p:nvSpPr>
          <p:cNvPr id="29714" name="文本框 38">
            <a:extLst>
              <a:ext uri="{FF2B5EF4-FFF2-40B4-BE49-F238E27FC236}">
                <a16:creationId xmlns:a16="http://schemas.microsoft.com/office/drawing/2014/main" id="{BA5556FB-D795-1A61-4949-46490BCDB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2371725"/>
            <a:ext cx="3233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分片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=500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MF=1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29715" name="文本框 39">
            <a:extLst>
              <a:ext uri="{FF2B5EF4-FFF2-40B4-BE49-F238E27FC236}">
                <a16:creationId xmlns:a16="http://schemas.microsoft.com/office/drawing/2014/main" id="{110DD314-4590-3176-97C3-916D4BC8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3203575"/>
            <a:ext cx="3233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分片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=460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MF=0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=480/8=60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911042-0BD2-9039-9224-D778AB9F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1E1A07-3886-4F47-99A6-197C7742FA32}" type="slidenum">
              <a:rPr lang="zh-CN" altLang="en-US" b="1" smtClean="0"/>
              <a:pPr>
                <a:defRPr/>
              </a:pPr>
              <a:t>9</a:t>
            </a:fld>
            <a:endParaRPr lang="en-US" altLang="zh-CN" b="1"/>
          </a:p>
        </p:txBody>
      </p:sp>
      <p:sp>
        <p:nvSpPr>
          <p:cNvPr id="31746" name="文本框 3">
            <a:extLst>
              <a:ext uri="{FF2B5EF4-FFF2-40B4-BE49-F238E27FC236}">
                <a16:creationId xmlns:a16="http://schemas.microsoft.com/office/drawing/2014/main" id="{B40187C2-C2C9-8D69-B8B7-A9E8570FB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628775"/>
            <a:ext cx="72739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链路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A-R1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总长度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=940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MF=0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链路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R1-R2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分片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=500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MF=1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分片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=460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MF=0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=480/8=60</a:t>
            </a: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链路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R2-B</a:t>
            </a: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分片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=500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MF=1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分片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：总长度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=460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，标识符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MF=0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，段偏移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=480/8=60</a:t>
            </a: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3C7B46F6-36A6-A30E-8945-A90D19934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3">
            <a:extLst>
              <a:ext uri="{FF2B5EF4-FFF2-40B4-BE49-F238E27FC236}">
                <a16:creationId xmlns:a16="http://schemas.microsoft.com/office/drawing/2014/main" id="{7F6DFC7D-BED1-F8EA-B3FC-FC159B3A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7BC2F4B-C662-9741-A2F6-7856D5125F5E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70" name="Text Box 2">
            <a:extLst>
              <a:ext uri="{FF2B5EF4-FFF2-40B4-BE49-F238E27FC236}">
                <a16:creationId xmlns:a16="http://schemas.microsoft.com/office/drawing/2014/main" id="{554F6411-58E7-38CB-1123-5772A7E49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052513"/>
            <a:ext cx="803433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30. 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假定最初的时候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类地址的网络部分不是使用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位，而是使用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那么将有多少个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类网络？</a:t>
            </a:r>
            <a:endParaRPr kumimoji="1"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使用了两位前缀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(10)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，还有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位网络部分，</a:t>
            </a:r>
            <a:endParaRPr kumimoji="1"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因此有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2^18=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262144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类网络</a:t>
            </a:r>
            <a:endParaRPr kumimoji="1"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51AA6836-2E5F-BE45-AFDD-E8D886E9A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3">
            <a:extLst>
              <a:ext uri="{FF2B5EF4-FFF2-40B4-BE49-F238E27FC236}">
                <a16:creationId xmlns:a16="http://schemas.microsoft.com/office/drawing/2014/main" id="{7B0C9CE2-AE8F-F2E5-D93E-BEB6FE03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62080A7-F6D1-5047-B87E-3D73781855C6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818" name="Text Box 2">
            <a:extLst>
              <a:ext uri="{FF2B5EF4-FFF2-40B4-BE49-F238E27FC236}">
                <a16:creationId xmlns:a16="http://schemas.microsoft.com/office/drawing/2014/main" id="{51D6D95F-8A50-9CA8-235B-608EC4BDB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301059" name="Text Box 3">
            <a:extLst>
              <a:ext uri="{FF2B5EF4-FFF2-40B4-BE49-F238E27FC236}">
                <a16:creationId xmlns:a16="http://schemas.microsoft.com/office/drawing/2014/main" id="{B83534F2-E26D-5652-4B6C-69C2D4C30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7993062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31.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如果一个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地址的十六进制表示为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C2.2F.15.82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，请将它转换成点分十进制标记。</a:t>
            </a:r>
          </a:p>
          <a:p>
            <a:pPr eaLnBrk="1" hangingPunct="1">
              <a:spcBef>
                <a:spcPct val="50000"/>
              </a:spcBef>
            </a:pPr>
            <a:endParaRPr kumimoji="1"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解：十进制：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194.47.21.130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1019447B-0635-5D03-A2D0-BD297A12A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36538"/>
            <a:ext cx="7772400" cy="981075"/>
          </a:xfrm>
        </p:spPr>
        <p:txBody>
          <a:bodyPr/>
          <a:lstStyle/>
          <a:p>
            <a:pPr algn="ctr" eaLnBrk="1" hangingPunct="1"/>
            <a:r>
              <a:rPr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4D8C893D-872B-5BB4-A014-9DED91A437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41438"/>
            <a:ext cx="8278813" cy="47545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33.Internet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上一个网络的子网掩码为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255.255.240.0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。请问它最多能够处理多少台主机？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defRPr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255.255.240.0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对应的二进制数为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11111111  11111111  11110000 00000000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共有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位是主机号，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2^12=4096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由于全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不能使用，所以有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4096-2=4094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台主机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CA2EBF9F-5CE8-7305-D011-5E765D5E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91A1C1D-43C5-CF45-8BB8-C0B669400EB9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DC138187-90A0-8F89-DD60-49B7D57B0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6798855B-6D30-E02A-5227-1563C0242B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825625"/>
            <a:ext cx="7886700" cy="43513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补充：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198.16.16.0/21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表示地址的网络部分占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主机部分占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网络部分              主机部分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11000110  00010000  00010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11000110  00010000  00010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00000000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首地址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~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11000110  00010000  00010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11111111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末地址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这段地址中首地址为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198.16.16.0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，末地址为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198.16.23.255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DC3A12F1-58FA-7A3E-8206-08300AF6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1814E6-2EEA-D849-9F72-6258A7F04C23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BEE9E167-89F3-D88D-2B2E-55E3A1F3B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863600"/>
          </a:xfrm>
        </p:spPr>
        <p:txBody>
          <a:bodyPr/>
          <a:lstStyle/>
          <a:p>
            <a:pPr algn="ctr" eaLnBrk="1" hangingPunct="1"/>
            <a:r>
              <a:rPr lang="en-US" altLang="zh-CN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2B113225-077A-33C4-E117-C8F66A6183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68413"/>
            <a:ext cx="7772400" cy="49688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35.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假定从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198.16.0.0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开始有大量连续的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地址可以使用。现在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个组织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按照顺序依次申请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8000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地址。对于每一个申请，请写出所分配的第一个地址、最后一个地址，以及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w.x.y.z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/s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形式的掩码。</a:t>
            </a:r>
          </a:p>
          <a:p>
            <a:pPr eaLnBrk="1" hangingPunct="1"/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939" name="Slide Number Placeholder 5">
            <a:extLst>
              <a:ext uri="{FF2B5EF4-FFF2-40B4-BE49-F238E27FC236}">
                <a16:creationId xmlns:a16="http://schemas.microsoft.com/office/drawing/2014/main" id="{50709DB6-D4C3-3E47-E810-2E6076B1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28CC0E-CBC7-284C-BB63-7DA8D651882D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70046686-E796-C20C-5C47-3CBC6D9F5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7772400" cy="720725"/>
          </a:xfrm>
        </p:spPr>
        <p:txBody>
          <a:bodyPr/>
          <a:lstStyle/>
          <a:p>
            <a:pPr algn="ctr" eaLnBrk="1" hangingPunct="1"/>
            <a:r>
              <a:rPr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43010" name="Rectangle 4">
            <a:extLst>
              <a:ext uri="{FF2B5EF4-FFF2-40B4-BE49-F238E27FC236}">
                <a16:creationId xmlns:a16="http://schemas.microsoft.com/office/drawing/2014/main" id="{B772C266-F2AD-1DB1-BDED-399042D998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836613"/>
            <a:ext cx="7848600" cy="5688012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11000110 00010000 0000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11000110 00010000 0000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11000110 00010000 00010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11000110 00010000 00011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11000110 00010000 00100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11000110 00010000 00101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11000110 00010000 00110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11000110 00010000 00111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11000110 00010000 01000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11000110 00010000 01001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11000110 00010000 01010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11000110 00010000 01011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5302655F-B2D1-1D83-7825-014E6A8F21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17BE74-9B8E-3E4F-AA89-636954C10A7B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2" name="AutoShape 9">
            <a:extLst>
              <a:ext uri="{FF2B5EF4-FFF2-40B4-BE49-F238E27FC236}">
                <a16:creationId xmlns:a16="http://schemas.microsoft.com/office/drawing/2014/main" id="{89812670-050B-72FF-D289-C7699166F88C}"/>
              </a:ext>
            </a:extLst>
          </p:cNvPr>
          <p:cNvSpPr>
            <a:spLocks/>
          </p:cNvSpPr>
          <p:nvPr/>
        </p:nvSpPr>
        <p:spPr bwMode="auto">
          <a:xfrm>
            <a:off x="6723063" y="1052513"/>
            <a:ext cx="152400" cy="503237"/>
          </a:xfrm>
          <a:prstGeom prst="rightBrace">
            <a:avLst>
              <a:gd name="adj1" fmla="val 275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3" name="Text Box 10">
            <a:extLst>
              <a:ext uri="{FF2B5EF4-FFF2-40B4-BE49-F238E27FC236}">
                <a16:creationId xmlns:a16="http://schemas.microsoft.com/office/drawing/2014/main" id="{4CE03A31-E277-BF70-1375-361847139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1117600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3014" name="AutoShape 11">
            <a:extLst>
              <a:ext uri="{FF2B5EF4-FFF2-40B4-BE49-F238E27FC236}">
                <a16:creationId xmlns:a16="http://schemas.microsoft.com/office/drawing/2014/main" id="{614AD606-C914-11D6-9B8D-FA0556FAA836}"/>
              </a:ext>
            </a:extLst>
          </p:cNvPr>
          <p:cNvSpPr>
            <a:spLocks/>
          </p:cNvSpPr>
          <p:nvPr/>
        </p:nvSpPr>
        <p:spPr bwMode="auto">
          <a:xfrm>
            <a:off x="6696075" y="1792288"/>
            <a:ext cx="152400" cy="287337"/>
          </a:xfrm>
          <a:prstGeom prst="rightBrace">
            <a:avLst>
              <a:gd name="adj1" fmla="val 157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5" name="Text Box 12">
            <a:extLst>
              <a:ext uri="{FF2B5EF4-FFF2-40B4-BE49-F238E27FC236}">
                <a16:creationId xmlns:a16="http://schemas.microsoft.com/office/drawing/2014/main" id="{6F399FBB-8E6F-AF6E-9653-7B9DF25B5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1765300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3016" name="AutoShape 13">
            <a:extLst>
              <a:ext uri="{FF2B5EF4-FFF2-40B4-BE49-F238E27FC236}">
                <a16:creationId xmlns:a16="http://schemas.microsoft.com/office/drawing/2014/main" id="{64773E44-E133-D0FB-11AE-5BE90760D22E}"/>
              </a:ext>
            </a:extLst>
          </p:cNvPr>
          <p:cNvSpPr>
            <a:spLocks/>
          </p:cNvSpPr>
          <p:nvPr/>
        </p:nvSpPr>
        <p:spPr bwMode="auto">
          <a:xfrm>
            <a:off x="6723063" y="2781300"/>
            <a:ext cx="152400" cy="503238"/>
          </a:xfrm>
          <a:prstGeom prst="rightBrace">
            <a:avLst>
              <a:gd name="adj1" fmla="val 275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7" name="Text Box 14">
            <a:extLst>
              <a:ext uri="{FF2B5EF4-FFF2-40B4-BE49-F238E27FC236}">
                <a16:creationId xmlns:a16="http://schemas.microsoft.com/office/drawing/2014/main" id="{BEE78EDC-DA3C-69A4-1839-18531087A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2917825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3018" name="AutoShape 15">
            <a:extLst>
              <a:ext uri="{FF2B5EF4-FFF2-40B4-BE49-F238E27FC236}">
                <a16:creationId xmlns:a16="http://schemas.microsoft.com/office/drawing/2014/main" id="{06A47AEE-960D-82B9-92AC-211D071B2F96}"/>
              </a:ext>
            </a:extLst>
          </p:cNvPr>
          <p:cNvSpPr>
            <a:spLocks/>
          </p:cNvSpPr>
          <p:nvPr/>
        </p:nvSpPr>
        <p:spPr bwMode="auto">
          <a:xfrm>
            <a:off x="6735763" y="2255838"/>
            <a:ext cx="152400" cy="287337"/>
          </a:xfrm>
          <a:prstGeom prst="rightBrace">
            <a:avLst>
              <a:gd name="adj1" fmla="val 157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9" name="Text Box 16">
            <a:extLst>
              <a:ext uri="{FF2B5EF4-FFF2-40B4-BE49-F238E27FC236}">
                <a16:creationId xmlns:a16="http://schemas.microsoft.com/office/drawing/2014/main" id="{30F4306D-F453-61C0-F48F-F096A27A3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197100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未分配</a:t>
            </a:r>
          </a:p>
        </p:txBody>
      </p:sp>
      <p:sp>
        <p:nvSpPr>
          <p:cNvPr id="43020" name="AutoShape 17">
            <a:extLst>
              <a:ext uri="{FF2B5EF4-FFF2-40B4-BE49-F238E27FC236}">
                <a16:creationId xmlns:a16="http://schemas.microsoft.com/office/drawing/2014/main" id="{08F6CE41-8A73-D213-5797-15B132A6336C}"/>
              </a:ext>
            </a:extLst>
          </p:cNvPr>
          <p:cNvSpPr>
            <a:spLocks/>
          </p:cNvSpPr>
          <p:nvPr/>
        </p:nvSpPr>
        <p:spPr bwMode="auto">
          <a:xfrm>
            <a:off x="6723063" y="3644900"/>
            <a:ext cx="152400" cy="503238"/>
          </a:xfrm>
          <a:prstGeom prst="rightBrace">
            <a:avLst>
              <a:gd name="adj1" fmla="val 275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21" name="Text Box 18">
            <a:extLst>
              <a:ext uri="{FF2B5EF4-FFF2-40B4-BE49-F238E27FC236}">
                <a16:creationId xmlns:a16="http://schemas.microsoft.com/office/drawing/2014/main" id="{BC5A8611-1A9F-BEF1-9304-82B942449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781425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未分配</a:t>
            </a:r>
          </a:p>
        </p:txBody>
      </p:sp>
      <p:sp>
        <p:nvSpPr>
          <p:cNvPr id="43022" name="AutoShape 19">
            <a:extLst>
              <a:ext uri="{FF2B5EF4-FFF2-40B4-BE49-F238E27FC236}">
                <a16:creationId xmlns:a16="http://schemas.microsoft.com/office/drawing/2014/main" id="{31DB6822-8834-B8DE-897F-58CB307C10BA}"/>
              </a:ext>
            </a:extLst>
          </p:cNvPr>
          <p:cNvSpPr>
            <a:spLocks/>
          </p:cNvSpPr>
          <p:nvPr/>
        </p:nvSpPr>
        <p:spPr bwMode="auto">
          <a:xfrm>
            <a:off x="6724650" y="4508500"/>
            <a:ext cx="223838" cy="1296988"/>
          </a:xfrm>
          <a:prstGeom prst="rightBrace">
            <a:avLst>
              <a:gd name="adj1" fmla="val 4828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23" name="Text Box 20">
            <a:extLst>
              <a:ext uri="{FF2B5EF4-FFF2-40B4-BE49-F238E27FC236}">
                <a16:creationId xmlns:a16="http://schemas.microsoft.com/office/drawing/2014/main" id="{19CEB0B3-36FB-1152-A608-96ECD36D5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5006975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43024" name="Text Box 26">
            <a:extLst>
              <a:ext uri="{FF2B5EF4-FFF2-40B4-BE49-F238E27FC236}">
                <a16:creationId xmlns:a16="http://schemas.microsoft.com/office/drawing/2014/main" id="{E2467969-26D7-0CDF-C836-B796130ED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6092825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2k</a:t>
            </a:r>
          </a:p>
        </p:txBody>
      </p:sp>
      <p:sp>
        <p:nvSpPr>
          <p:cNvPr id="43025" name="Text Box 27">
            <a:extLst>
              <a:ext uri="{FF2B5EF4-FFF2-40B4-BE49-F238E27FC236}">
                <a16:creationId xmlns:a16="http://schemas.microsoft.com/office/drawing/2014/main" id="{E3C6FE5E-56B6-93FE-3D26-2275B89A9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6375400"/>
            <a:ext cx="3024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注：其中的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3026" name="AutoShape 19">
            <a:extLst>
              <a:ext uri="{FF2B5EF4-FFF2-40B4-BE49-F238E27FC236}">
                <a16:creationId xmlns:a16="http://schemas.microsoft.com/office/drawing/2014/main" id="{D93ACE5D-40B4-AAEA-9713-03711FD2F680}"/>
              </a:ext>
            </a:extLst>
          </p:cNvPr>
          <p:cNvSpPr>
            <a:spLocks/>
          </p:cNvSpPr>
          <p:nvPr/>
        </p:nvSpPr>
        <p:spPr bwMode="auto">
          <a:xfrm rot="5400000">
            <a:off x="5761038" y="5121275"/>
            <a:ext cx="71437" cy="1871663"/>
          </a:xfrm>
          <a:prstGeom prst="rightBrace">
            <a:avLst>
              <a:gd name="adj1" fmla="val 4864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EA8C1268-7684-6E2E-0FEE-C769B54D8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5175"/>
          </a:xfrm>
        </p:spPr>
        <p:txBody>
          <a:bodyPr/>
          <a:lstStyle/>
          <a:p>
            <a:pPr algn="ctr" eaLnBrk="1" hangingPunct="1"/>
            <a:r>
              <a:rPr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790E7E4D-7AE6-BC28-3795-9294E1E5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08AE73-16AA-FD40-8648-231EF2FE0CB1}" type="slidenum">
              <a:rPr kumimoji="1" lang="zh-CN" altLang="en-US" sz="14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kumimoji="1" lang="en-US" altLang="zh-CN" sz="140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405745-6677-2E50-AB57-0ECC3DDF6208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4687888"/>
          <a:ext cx="8713788" cy="1981200"/>
        </p:xfrm>
        <a:graphic>
          <a:graphicData uri="http://schemas.openxmlformats.org/drawingml/2006/table">
            <a:tbl>
              <a:tblPr/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0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第一个地址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最后一个地址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记作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198.16.0.0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198.16.15.255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4096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198.16.0.0/20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198.16.16.0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198.16.23.255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2048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198.16.16.0/21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198.16.32.0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198.16.47.255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4096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198.16.32.0/20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198.16.64.0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198.16.95.255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8192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198.16.64.0/19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4073" name="图片 7">
            <a:extLst>
              <a:ext uri="{FF2B5EF4-FFF2-40B4-BE49-F238E27FC236}">
                <a16:creationId xmlns:a16="http://schemas.microsoft.com/office/drawing/2014/main" id="{A38FDC24-C945-E551-FA6A-C74007CB0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620713"/>
            <a:ext cx="4729163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F4DCEA44-7A40-2015-C720-ADAFA3112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5175"/>
          </a:xfrm>
        </p:spPr>
        <p:txBody>
          <a:bodyPr/>
          <a:lstStyle/>
          <a:p>
            <a:pPr algn="ctr" eaLnBrk="1" hangingPunct="1"/>
            <a:r>
              <a:rPr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64F0FA4A-8FB9-169A-2615-7AEF7EC90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81075"/>
            <a:ext cx="7772400" cy="504348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36.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一台路由器刚刚接收到以下新的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地址：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57.6.96.0/21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57.6.104.0/21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57.6.112.0/21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57.6.120.0/21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。如果所有这些地址都使用同一条输出线路，那么，它们可以被聚集起来吗？如果可以的话，他们被聚集到那个地址上？如果不可以的话，请问为什么？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  57.6.96.0/21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表示为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00111001  00000110  011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xxx </a:t>
            </a:r>
            <a:r>
              <a:rPr lang="en-US" altLang="zh-CN" sz="1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  57.6.104.0/21 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表示为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111001  00000110  011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xxx </a:t>
            </a:r>
            <a:r>
              <a:rPr lang="en-US" altLang="zh-CN" sz="1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  57.6.112.0/21 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表示为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111001  00000110  011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xxx </a:t>
            </a:r>
            <a:r>
              <a:rPr lang="en-US" altLang="zh-CN" sz="1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  57.6.120.0/21 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表示为 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111001  00000110  011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xxx </a:t>
            </a:r>
            <a:r>
              <a:rPr lang="en-US" altLang="zh-CN" sz="1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聚集到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111001  00000110  011xxxxx </a:t>
            </a:r>
            <a:r>
              <a:rPr lang="en-US" altLang="zh-CN" sz="1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xxxxxxxx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因此，可以聚集起来。聚集到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57.6.96.0/19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（其中的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7EF75914-FC4E-BE16-EA86-C72DD575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09BDEE8-EA57-0546-923B-5D34B913566C}" type="slidenum">
              <a:rPr kumimoji="1" lang="zh-CN" altLang="en-US" sz="1400" b="1" smtClean="0">
                <a:latin typeface="Times New Roman" panose="02020603050405020304" pitchFamily="18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kumimoji="1"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4" name="Line 6">
            <a:extLst>
              <a:ext uri="{FF2B5EF4-FFF2-40B4-BE49-F238E27FC236}">
                <a16:creationId xmlns:a16="http://schemas.microsoft.com/office/drawing/2014/main" id="{A297E5F1-FBD2-E298-EC8F-1B27B613C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4149725"/>
            <a:ext cx="7272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AE4CC8-1858-8E3D-ADDF-A79B3BA6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35181-4D86-5B47-B8A9-AE35BB3A9D8E}" type="slidenum">
              <a:rPr lang="zh-CN" altLang="en-US" b="1" smtClean="0"/>
              <a:pPr>
                <a:defRPr/>
              </a:pPr>
              <a:t>18</a:t>
            </a:fld>
            <a:endParaRPr lang="en-US" altLang="zh-CN" b="1" dirty="0"/>
          </a:p>
        </p:txBody>
      </p:sp>
      <p:sp>
        <p:nvSpPr>
          <p:cNvPr id="48130" name="文本框 5">
            <a:extLst>
              <a:ext uri="{FF2B5EF4-FFF2-40B4-BE49-F238E27FC236}">
                <a16:creationId xmlns:a16="http://schemas.microsoft.com/office/drawing/2014/main" id="{B9DDE0FF-935F-9A9B-A037-B460FCC0F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093788"/>
            <a:ext cx="84074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37. 29.18.0.0～29.18.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255的一组IP地址已经被聚合到29.18.0.0/17。然而，这里有一个空闲地址块，即29.18.60.0～29.18.63.255的1024个地址还没有被分配。现在这个空闲地址块要被分配给一台使用不同输出线路的主机。请问是否有必要先把聚合地址分割成几块，然后把新的地址块加入路由表中，再来看是否可以重新聚合？如果没有必要这样做,那该怎么办呢？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没有必要这样做。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29.18.60.0～29.18.63.255的一组IP地址可被聚合到29.18.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0.0/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，在路由表中新添加一个表项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29.18.60.0/22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就可以了。如果进来的数据包同时匹配表项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29.18.0.0/17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29.18.60.0./22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，则选取前缀长度最长的。最长匹配规则允许将一个大块地址分配给一条输出线路，但对其范围内的一个或多个小块地址进行例外处理。 </a:t>
            </a:r>
          </a:p>
        </p:txBody>
      </p:sp>
      <p:sp>
        <p:nvSpPr>
          <p:cNvPr id="48131" name="Text Box 4">
            <a:extLst>
              <a:ext uri="{FF2B5EF4-FFF2-40B4-BE49-F238E27FC236}">
                <a16:creationId xmlns:a16="http://schemas.microsoft.com/office/drawing/2014/main" id="{97AD4030-70C4-DF9B-2FCD-7CBA5EE16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3">
            <a:extLst>
              <a:ext uri="{FF2B5EF4-FFF2-40B4-BE49-F238E27FC236}">
                <a16:creationId xmlns:a16="http://schemas.microsoft.com/office/drawing/2014/main" id="{205F79F4-AC5B-A5B4-7385-35C323BF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E05005-F660-D844-B69C-500C6B6E7CDA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6659" name="Text Box 3">
            <a:extLst>
              <a:ext uri="{FF2B5EF4-FFF2-40B4-BE49-F238E27FC236}">
                <a16:creationId xmlns:a16="http://schemas.microsoft.com/office/drawing/2014/main" id="{E1203975-54DB-DAFC-C292-18472DD25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49313"/>
            <a:ext cx="8424862" cy="3563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补充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在一个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6Mbps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网络上有一台主机，其流量通过一个令牌桶进行整型。令牌桶的填充速率为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1Mbps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。初始时令牌桶被填满到容量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8Mb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。试问该计算机能以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6Mbps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的全速率可以传输多长时间？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解：设令牌桶的容量（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Mb)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，令牌的到达速率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(Mb/s)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400" b="1" dirty="0" err="1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ρ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当有突发通信量到来时的突发时间长度（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，最大的输出速率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(Mb/s)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eaLnBrk="1" fontAlgn="auto" hangingPunct="1">
              <a:spcAft>
                <a:spcPts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2400" b="1" dirty="0" err="1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C+ρS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=MS</a:t>
            </a:r>
          </a:p>
          <a:p>
            <a:pPr eaLnBrk="1" fontAlgn="auto" hangingPunct="1">
              <a:spcAft>
                <a:spcPts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 =C/(M-</a:t>
            </a:r>
            <a:r>
              <a:rPr kumimoji="0" lang="el-GR" altLang="zh-CN" sz="2400" b="1" dirty="0">
                <a:solidFill>
                  <a:schemeClr val="tx1"/>
                </a:solidFill>
                <a:latin typeface="+mn-ea"/>
                <a:ea typeface="SimSun" panose="02010600030101010101" pitchFamily="2" charset="-122"/>
              </a:rPr>
              <a:t>ρ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 =8/(6-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Tahoma" panose="020B0604030504040204" pitchFamily="34" charset="0"/>
              </a:rPr>
              <a:t>1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 =1.6</a:t>
            </a:r>
            <a:r>
              <a:rPr kumimoji="0"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kumimoji="0"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C5D3499F-8EEB-D531-D322-4C4132804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350B-E742-E525-1D4E-2639A2BA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3">
            <a:extLst>
              <a:ext uri="{FF2B5EF4-FFF2-40B4-BE49-F238E27FC236}">
                <a16:creationId xmlns:a16="http://schemas.microsoft.com/office/drawing/2014/main" id="{BE48A578-DAD9-DBCD-6ED8-48C5B792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444208" y="6525218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E05005-F660-D844-B69C-500C6B6E7CDA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kumimoji="1" lang="en-US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6659" name="Text Box 3">
            <a:extLst>
              <a:ext uri="{FF2B5EF4-FFF2-40B4-BE49-F238E27FC236}">
                <a16:creationId xmlns:a16="http://schemas.microsoft.com/office/drawing/2014/main" id="{0C2F2C66-9AFE-0BD8-3191-C9FC5B846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49313"/>
            <a:ext cx="8424862" cy="55584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补充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在一个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6Mbps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网络上有一台主机，其流量通过一个令牌桶进行整型。令牌桶的填充速率为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1Mbps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。初始时令牌桶被填满到容量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8Mb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当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10Mb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突发数据到达时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，该计算机能以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6Mbps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的全速率可以传输多长时间？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之后还需要多长的时间传输完？</a:t>
            </a:r>
            <a:endParaRPr lang="en-US" altLang="zh-CN" sz="24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解：设令牌桶的容量（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Mb)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，令牌的到达速率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(Mb/s)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400" b="1" dirty="0" err="1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ρ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当有突发通信量到来时的突发时间长度（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，最大的输出速率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(Mb/s)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eaLnBrk="1" fontAlgn="auto" hangingPunct="1">
              <a:spcAft>
                <a:spcPts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全速率传输时间为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S=C/(M-</a:t>
            </a:r>
            <a:r>
              <a:rPr kumimoji="0" lang="el-GR" altLang="zh-CN" sz="2400" b="1" dirty="0">
                <a:solidFill>
                  <a:schemeClr val="tx1"/>
                </a:solidFill>
                <a:latin typeface="+mn-ea"/>
                <a:ea typeface="SimSun" panose="02010600030101010101" pitchFamily="2" charset="-122"/>
              </a:rPr>
              <a:t>ρ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)=8/(6-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Tahoma" panose="020B0604030504040204" pitchFamily="34" charset="0"/>
              </a:rPr>
              <a:t>1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)=1.6</a:t>
            </a:r>
            <a:r>
              <a:rPr kumimoji="0"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kumimoji="0"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kumimoji="0"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kumimoji="0"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之后还需要传输时间为</a:t>
            </a:r>
            <a:endParaRPr lang="en-US" altLang="zh-CN" sz="24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(10-M*S)/</a:t>
            </a:r>
            <a:r>
              <a:rPr lang="en-US" altLang="zh-CN" sz="2400" b="1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ρ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=(10-6*1.6)/1=0.4(s)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4D479532-43F6-F5B5-AD3A-85BBC2A53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45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</p:spTree>
    <p:extLst>
      <p:ext uri="{BB962C8B-B14F-4D97-AF65-F5344CB8AC3E}">
        <p14:creationId xmlns:p14="http://schemas.microsoft.com/office/powerpoint/2010/main" val="37724993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6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3">
            <a:extLst>
              <a:ext uri="{FF2B5EF4-FFF2-40B4-BE49-F238E27FC236}">
                <a16:creationId xmlns:a16="http://schemas.microsoft.com/office/drawing/2014/main" id="{6044C7F1-0E5F-AED2-A927-3AEBACE0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95CDD2-2128-2045-9DC4-C2EDA28BE25F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9D4965B-1F09-03AC-5028-00B5DC91B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38200"/>
            <a:ext cx="7632700" cy="563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FF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补充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一台路由器的路由表中有以下的表项</a:t>
            </a:r>
            <a:endParaRPr kumimoji="1"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对于下面的每一个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地址，请问，如果一个到达分组的目的地址为该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地址，那么路由器该怎么办？</a:t>
            </a:r>
          </a:p>
          <a:p>
            <a:pPr algn="just" eaLnBrk="1" hangingPunct="1"/>
            <a:endParaRPr kumimoji="1"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a）  135.46.63.10</a:t>
            </a:r>
            <a:endParaRPr kumimoji="1"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b）  135.46.57.14</a:t>
            </a:r>
          </a:p>
          <a:p>
            <a:pPr algn="just" eaLnBrk="1" hangingPunct="1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c）  135.46.52.2</a:t>
            </a:r>
          </a:p>
          <a:p>
            <a:pPr algn="just" eaLnBrk="1" hangingPunct="1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d）  192.53.40.7</a:t>
            </a:r>
          </a:p>
          <a:p>
            <a:pPr algn="just" eaLnBrk="1" hangingPunct="1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e）  192.53.56.7</a:t>
            </a: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FFA490DF-D761-D480-03FC-A3CF851CE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5888"/>
            <a:ext cx="8569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latin typeface="宋体" panose="02010600030101010101" pitchFamily="2" charset="-122"/>
                <a:ea typeface="宋体" panose="02010600030101010101" pitchFamily="2" charset="-122"/>
              </a:rPr>
              <a:t>Ch5</a:t>
            </a:r>
          </a:p>
        </p:txBody>
      </p:sp>
      <p:graphicFrame>
        <p:nvGraphicFramePr>
          <p:cNvPr id="322588" name="Group 28">
            <a:extLst>
              <a:ext uri="{FF2B5EF4-FFF2-40B4-BE49-F238E27FC236}">
                <a16:creationId xmlns:a16="http://schemas.microsoft.com/office/drawing/2014/main" id="{D0792BF1-2F7D-A2D9-39B9-DD355FD39782}"/>
              </a:ext>
            </a:extLst>
          </p:cNvPr>
          <p:cNvGraphicFramePr>
            <a:graphicFrameLocks noGrp="1"/>
          </p:cNvGraphicFramePr>
          <p:nvPr/>
        </p:nvGraphicFramePr>
        <p:xfrm>
          <a:off x="1763713" y="1268413"/>
          <a:ext cx="4559300" cy="2089151"/>
        </p:xfrm>
        <a:graphic>
          <a:graphicData uri="http://schemas.openxmlformats.org/drawingml/2006/table">
            <a:tbl>
              <a:tblPr/>
              <a:tblGrid>
                <a:gridCol w="227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地址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掩码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下一跳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135.46.56.0/22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接口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135.46.60.0/22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接口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192.53.40.0/23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路由器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默认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路由器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248" name="Text Box 26">
            <a:extLst>
              <a:ext uri="{FF2B5EF4-FFF2-40B4-BE49-F238E27FC236}">
                <a16:creationId xmlns:a16="http://schemas.microsoft.com/office/drawing/2014/main" id="{021CF994-6BB9-9A5B-6582-C429FDBB3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196975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1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832CB44B-65EC-41FF-D452-D1A4B14CB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115888"/>
            <a:ext cx="8154987" cy="4760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FF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（推荐）：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135.46.56.0/22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首地址： 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00101110  001110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末地址： 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00101110  001110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kumimoji="1"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11111111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135.46.56.0/22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135.46.56.0~135.46.59.255</a:t>
            </a:r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135.46.60.0/22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首地址： 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00101110  001111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00000000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末地址： 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00101110  001111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11111111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135.46.60.0/22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135.46.60.0~135.46.63.255</a:t>
            </a:r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192.53.40.0/23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首地址： 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000000  00110101  0010100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00000000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末地址： 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000000  00110101  0010100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11111111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192.53.40.0/22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192.53.40.0~192.53.41.255</a:t>
            </a:r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</p:txBody>
      </p:sp>
      <p:sp>
        <p:nvSpPr>
          <p:cNvPr id="54274" name="Rectangle 4">
            <a:extLst>
              <a:ext uri="{FF2B5EF4-FFF2-40B4-BE49-F238E27FC236}">
                <a16:creationId xmlns:a16="http://schemas.microsoft.com/office/drawing/2014/main" id="{9B264939-781A-DB26-F502-100F1EE30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4797425"/>
            <a:ext cx="45720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答: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a）  135.46.63.10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接口1</a:t>
            </a:r>
          </a:p>
          <a:p>
            <a:pPr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   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b）  135.46.57.14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接口0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c）  135.46.52.2 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路由器2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d）  192.53.40.7 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路由器1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   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e）  192.53.56.7 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路由器2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</p:txBody>
      </p:sp>
      <p:graphicFrame>
        <p:nvGraphicFramePr>
          <p:cNvPr id="3" name="Group 28">
            <a:extLst>
              <a:ext uri="{FF2B5EF4-FFF2-40B4-BE49-F238E27FC236}">
                <a16:creationId xmlns:a16="http://schemas.microsoft.com/office/drawing/2014/main" id="{1EB381A8-A9A3-0CD9-A5AA-A83E28AA8A29}"/>
              </a:ext>
            </a:extLst>
          </p:cNvPr>
          <p:cNvGraphicFramePr>
            <a:graphicFrameLocks noGrp="1"/>
          </p:cNvGraphicFramePr>
          <p:nvPr/>
        </p:nvGraphicFramePr>
        <p:xfrm>
          <a:off x="5000625" y="4724400"/>
          <a:ext cx="3335338" cy="1800225"/>
        </p:xfrm>
        <a:graphic>
          <a:graphicData uri="http://schemas.openxmlformats.org/drawingml/2006/table">
            <a:tbl>
              <a:tblPr/>
              <a:tblGrid>
                <a:gridCol w="1667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7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7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地址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/</a:t>
                      </a: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掩码</a:t>
                      </a:r>
                      <a:endParaRPr kumimoji="1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下一跳</a:t>
                      </a:r>
                      <a:endParaRPr kumimoji="1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3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135.46.56.0/22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接口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135.46.60.0/22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接口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3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192.53.40.0/23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路由器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7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默认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路由器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3">
            <a:extLst>
              <a:ext uri="{FF2B5EF4-FFF2-40B4-BE49-F238E27FC236}">
                <a16:creationId xmlns:a16="http://schemas.microsoft.com/office/drawing/2014/main" id="{7E853493-BF02-E075-ECDC-50EACAD4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FCA0F55-3BED-7346-AD23-C986F4BC65A4}" type="slidenum">
              <a:rPr kumimoji="1" lang="zh-CN" altLang="en-US" sz="1400" b="1" smtClean="0">
                <a:latin typeface="Times New Roman" panose="02020603050405020304" pitchFamily="18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kumimoji="1"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0ABD2715-0468-7B17-7454-1950C1791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0350"/>
            <a:ext cx="8642350" cy="618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FF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135.46.56.0/22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   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00101110  00111000 00000000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11111111  11111111  11111100 00000000</a:t>
            </a:r>
          </a:p>
          <a:p>
            <a:pPr algn="just"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135.46.60.0/22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   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00101110  00111100 00000000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11111111  11111111  11111100 00000000</a:t>
            </a:r>
          </a:p>
          <a:p>
            <a:pPr algn="just" eaLnBrk="1" hangingPunct="1"/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192.53.40.0/23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    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000000  00110101  00101000 00000000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掩码：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11111111  11111111  11111110 00000000</a:t>
            </a:r>
          </a:p>
          <a:p>
            <a:pPr algn="just" eaLnBrk="1" hangingPunct="1"/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a）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135.46.63.10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与路由表第一项的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掩码相与，得 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00101110  00111111 00001010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11111111  11111111  11111100 00000000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10000111 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00101110  00111100 00000000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135.46.60.0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不等于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135.46.56.0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，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135.46.63.10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与路由表第一项不匹配；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135.46.63.10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与路由表第二项的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掩码相与得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135.46.60.0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，与</a:t>
            </a:r>
            <a:r>
              <a:rPr kumimoji="1" lang="zh-CN" altLang="en-US" b="1">
                <a:latin typeface="Arial" panose="020B0604020202020204" pitchFamily="34" charset="0"/>
                <a:ea typeface="宋体" panose="02010600030101010101" pitchFamily="2" charset="-122"/>
                <a:sym typeface="Wingdings" pitchFamily="2" charset="2"/>
              </a:rPr>
              <a:t>路由表第二项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匹配；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135.46.63.10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与路由表第三项不匹配。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因此，目的地址是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135.46.63.10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的分组从路由器的接口1发送出去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</p:txBody>
      </p:sp>
      <p:sp>
        <p:nvSpPr>
          <p:cNvPr id="55299" name="Line 4">
            <a:extLst>
              <a:ext uri="{FF2B5EF4-FFF2-40B4-BE49-F238E27FC236}">
                <a16:creationId xmlns:a16="http://schemas.microsoft.com/office/drawing/2014/main" id="{56FF778D-DF13-1F1D-2EE3-DBB085172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5013325"/>
            <a:ext cx="44656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5" name="Group 28">
            <a:extLst>
              <a:ext uri="{FF2B5EF4-FFF2-40B4-BE49-F238E27FC236}">
                <a16:creationId xmlns:a16="http://schemas.microsoft.com/office/drawing/2014/main" id="{E7EF3196-6743-DF73-7FBE-60A29A49E170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836613"/>
          <a:ext cx="3335338" cy="1800225"/>
        </p:xfrm>
        <a:graphic>
          <a:graphicData uri="http://schemas.openxmlformats.org/drawingml/2006/table">
            <a:tbl>
              <a:tblPr/>
              <a:tblGrid>
                <a:gridCol w="1667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7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7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地址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/</a:t>
                      </a: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掩码</a:t>
                      </a:r>
                      <a:endParaRPr kumimoji="1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下一跳</a:t>
                      </a:r>
                      <a:endParaRPr kumimoji="1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3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135.46.56.0/22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接口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0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135.46.60.0/22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接口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3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192.53.40.0/23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路由器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7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默认</a:t>
                      </a:r>
                    </a:p>
                  </a:txBody>
                  <a:tcPr marL="91466" marR="91466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路由器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91466" marR="91466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3">
            <a:extLst>
              <a:ext uri="{FF2B5EF4-FFF2-40B4-BE49-F238E27FC236}">
                <a16:creationId xmlns:a16="http://schemas.microsoft.com/office/drawing/2014/main" id="{A94239EF-9254-E676-320C-BA2730F6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603DBA-D537-6C42-8A8A-B90D821361C5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C14DD7C1-F51D-99BC-F211-7CF16C72C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838200"/>
            <a:ext cx="7772400" cy="258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FF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b）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135.46.57.14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与路由表第一项的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掩码与得： 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00101110  00111001 00001010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11111111  11111111  11111100 00000000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10000111 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00101110  00111000 00000000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135.46.56.0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，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135.46.57.14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与路由表第一项匹配；</a:t>
            </a:r>
            <a:endParaRPr kumimoji="1"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135.46.57.14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与路由表第二项不匹配；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135.46.57.14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与路由表第三项不匹配。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因此目的地址是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135.46.57.14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的分组从路由器的接口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发送出去</a:t>
            </a:r>
          </a:p>
        </p:txBody>
      </p:sp>
      <p:sp>
        <p:nvSpPr>
          <p:cNvPr id="56323" name="Line 4">
            <a:extLst>
              <a:ext uri="{FF2B5EF4-FFF2-40B4-BE49-F238E27FC236}">
                <a16:creationId xmlns:a16="http://schemas.microsoft.com/office/drawing/2014/main" id="{4BDA1F59-ADBD-181C-C503-37463F85BC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1989138"/>
            <a:ext cx="448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6324" name="Rectangle 5">
            <a:extLst>
              <a:ext uri="{FF2B5EF4-FFF2-40B4-BE49-F238E27FC236}">
                <a16:creationId xmlns:a16="http://schemas.microsoft.com/office/drawing/2014/main" id="{13CDCBB3-7F18-193C-A694-734EE6355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0"/>
            <a:ext cx="85344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FF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c）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135.46.52.2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与接口0的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掩码与得： 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10000111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00101110  00101101 00000010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11111111  11111111  11111100 00000000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10000111 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00101110  00101100 00000000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135.46.44.0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，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135.46.52.2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与路由表第一项不匹配；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135.46.52.2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与路由表第二项、第三项都不匹配。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因此，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135.46.52.2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转到默认路由器2</a:t>
            </a:r>
          </a:p>
        </p:txBody>
      </p:sp>
      <p:sp>
        <p:nvSpPr>
          <p:cNvPr id="56325" name="Line 6">
            <a:extLst>
              <a:ext uri="{FF2B5EF4-FFF2-40B4-BE49-F238E27FC236}">
                <a16:creationId xmlns:a16="http://schemas.microsoft.com/office/drawing/2014/main" id="{DB242AAE-0DDF-2AB7-FA1F-E957B5EFD0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4941888"/>
            <a:ext cx="433070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3">
            <a:extLst>
              <a:ext uri="{FF2B5EF4-FFF2-40B4-BE49-F238E27FC236}">
                <a16:creationId xmlns:a16="http://schemas.microsoft.com/office/drawing/2014/main" id="{CB2593E2-234A-9EE9-08F1-78F38D87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C63D1FB-7B16-D74B-8119-CD0C7DC74540}" type="slidenum">
              <a:rPr kumimoji="1" lang="zh-CN" altLang="en-US" sz="1400" b="1" smtClean="0">
                <a:latin typeface="宋体" panose="02010600030101010101" pitchFamily="2" charset="-122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kumimoji="1"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346" name="Rectangle 3074">
            <a:extLst>
              <a:ext uri="{FF2B5EF4-FFF2-40B4-BE49-F238E27FC236}">
                <a16:creationId xmlns:a16="http://schemas.microsoft.com/office/drawing/2014/main" id="{3A2C1A8E-22B2-147C-A7AB-247A66B14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838200"/>
            <a:ext cx="8012113" cy="258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FF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d）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192.53.40.7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与路由器1的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掩码相与，得 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11000000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00110101  00101000 00000111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11111111  11111111  11111110 00000000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11000000 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00110101 00101000 00000000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192.53.40.0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，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192.53.40.7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与路由表第一项不匹配；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同样，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192.53.40.7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与路由表第二项也不匹配；</a:t>
            </a:r>
            <a:r>
              <a:rPr kumimoji="1" lang="en-US" altLang="zh-CN" sz="1600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192.53.40.7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与路由表第三项的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掩码与得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192.53.40.0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，与路由第三项匹配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因此，目的地址为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192.53.40.7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的分组通过路由器1转发出去。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</p:txBody>
      </p:sp>
      <p:sp>
        <p:nvSpPr>
          <p:cNvPr id="57347" name="Line 3076">
            <a:extLst>
              <a:ext uri="{FF2B5EF4-FFF2-40B4-BE49-F238E27FC236}">
                <a16:creationId xmlns:a16="http://schemas.microsoft.com/office/drawing/2014/main" id="{3AD5C935-2B1B-CB16-8341-8D70592CE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1989138"/>
            <a:ext cx="469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7348" name="Rectangle 3077">
            <a:extLst>
              <a:ext uri="{FF2B5EF4-FFF2-40B4-BE49-F238E27FC236}">
                <a16:creationId xmlns:a16="http://schemas.microsoft.com/office/drawing/2014/main" id="{D7FFEB13-B729-AACA-56CD-98F3A49D0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0"/>
            <a:ext cx="77724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FF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（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e）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192.53.56.7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与路由器1的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掩码相与，得 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11000000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00110101  00111000 00000111</a:t>
            </a: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11111111  11111111  11111110 00000000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11000000  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00110101 00111000 00000000   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192.53.56.0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，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  <a:p>
            <a:pPr algn="just" eaLnBrk="1" hangingPunct="1"/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192.53.56.7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与路由表第一项不匹配；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</a:t>
            </a: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同样，与路由表第二项、第三项都不匹配；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 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因此，目的地址为</a:t>
            </a:r>
            <a:r>
              <a:rPr kumimoji="1" lang="en-US" altLang="zh-CN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192.53.56.7</a:t>
            </a:r>
            <a:r>
              <a:rPr kumimoji="1" lang="zh-CN" altLang="en-US" b="1">
                <a:latin typeface="宋体" panose="02010600030101010101" pitchFamily="2" charset="-122"/>
                <a:ea typeface="宋体" panose="02010600030101010101" pitchFamily="2" charset="-122"/>
                <a:sym typeface="Wingdings" pitchFamily="2" charset="2"/>
              </a:rPr>
              <a:t>的分组通过默认路由器2转发出去</a:t>
            </a:r>
            <a:endParaRPr kumimoji="1" lang="en-US" altLang="zh-CN" b="1">
              <a:latin typeface="宋体" panose="02010600030101010101" pitchFamily="2" charset="-122"/>
              <a:ea typeface="宋体" panose="02010600030101010101" pitchFamily="2" charset="-122"/>
              <a:sym typeface="Wingdings" pitchFamily="2" charset="2"/>
            </a:endParaRPr>
          </a:p>
        </p:txBody>
      </p:sp>
      <p:sp>
        <p:nvSpPr>
          <p:cNvPr id="57349" name="Line 3078">
            <a:extLst>
              <a:ext uri="{FF2B5EF4-FFF2-40B4-BE49-F238E27FC236}">
                <a16:creationId xmlns:a16="http://schemas.microsoft.com/office/drawing/2014/main" id="{A2FE36F2-D4D9-E2AE-2FDB-42F0CDD255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941888"/>
            <a:ext cx="454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3283</TotalTime>
  <Words>3789</Words>
  <Application>Microsoft Office PowerPoint</Application>
  <PresentationFormat>全屏显示(4:3)</PresentationFormat>
  <Paragraphs>588</Paragraphs>
  <Slides>25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STSongti-SC-Regular</vt:lpstr>
      <vt:lpstr>宋体</vt:lpstr>
      <vt:lpstr>宋体</vt:lpstr>
      <vt:lpstr>楷体_GB2312</vt:lpstr>
      <vt:lpstr>等线</vt:lpstr>
      <vt:lpstr>等线 Light</vt:lpstr>
      <vt:lpstr>Arial</vt:lpstr>
      <vt:lpstr>Times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Ch5</vt:lpstr>
      <vt:lpstr>Ch5</vt:lpstr>
      <vt:lpstr>Ch5</vt:lpstr>
      <vt:lpstr>Ch5</vt:lpstr>
      <vt:lpstr>Ch5</vt:lpstr>
      <vt:lpstr>Ch5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杨建红</dc:creator>
  <cp:lastModifiedBy>LC State</cp:lastModifiedBy>
  <cp:revision>755</cp:revision>
  <cp:lastPrinted>1601-01-01T00:00:00Z</cp:lastPrinted>
  <dcterms:created xsi:type="dcterms:W3CDTF">2003-05-27T06:14:28Z</dcterms:created>
  <dcterms:modified xsi:type="dcterms:W3CDTF">2026-01-07T01:06:48Z</dcterms:modified>
</cp:coreProperties>
</file>