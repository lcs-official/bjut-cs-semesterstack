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3"/>
  </p:notesMasterIdLst>
  <p:sldIdLst>
    <p:sldId id="256" r:id="rId2"/>
    <p:sldId id="259" r:id="rId3"/>
    <p:sldId id="356" r:id="rId4"/>
    <p:sldId id="355" r:id="rId5"/>
    <p:sldId id="266" r:id="rId6"/>
    <p:sldId id="358" r:id="rId7"/>
    <p:sldId id="357" r:id="rId8"/>
    <p:sldId id="262" r:id="rId9"/>
    <p:sldId id="264" r:id="rId10"/>
    <p:sldId id="257" r:id="rId11"/>
    <p:sldId id="263" r:id="rId1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7641" autoAdjust="0"/>
    <p:restoredTop sz="95220" autoAdjust="0"/>
  </p:normalViewPr>
  <p:slideViewPr>
    <p:cSldViewPr>
      <p:cViewPr varScale="1">
        <p:scale>
          <a:sx n="88" d="100"/>
          <a:sy n="88" d="100"/>
        </p:scale>
        <p:origin x="1623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B6A2111-2FE2-51E2-986E-B1B1FA46F2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D3031F0D-299A-1A2C-E290-08E60597088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8DEF6A57-491F-820B-52FE-064DA1F3844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CCC0ECA5-DF46-A1FD-5952-E3FF197985C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C8A6E893-10CA-70A2-2D1C-D57610D1327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4050418F-72FC-3FC5-A66F-B64725E215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C8A0322-6C28-7A44-AF7D-5D205F317B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>
            <a:extLst>
              <a:ext uri="{FF2B5EF4-FFF2-40B4-BE49-F238E27FC236}">
                <a16:creationId xmlns:a16="http://schemas.microsoft.com/office/drawing/2014/main" id="{8412E71D-3F83-6119-8873-AA665F196F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2" name="备注占位符 2">
            <a:extLst>
              <a:ext uri="{FF2B5EF4-FFF2-40B4-BE49-F238E27FC236}">
                <a16:creationId xmlns:a16="http://schemas.microsoft.com/office/drawing/2014/main" id="{4ADEDD4D-44E5-9032-2DC1-644F43B855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zh-CN" altLang="en-US" dirty="0">
                <a:latin typeface="Arial" panose="020B0604020202020204" pitchFamily="34" charset="0"/>
              </a:rPr>
              <a:t>增加</a:t>
            </a:r>
            <a:r>
              <a:rPr kumimoji="1" lang="en-US" altLang="zh-CN" dirty="0">
                <a:latin typeface="Arial" panose="020B0604020202020204" pitchFamily="34" charset="0"/>
              </a:rPr>
              <a:t>1</a:t>
            </a:r>
            <a:r>
              <a:rPr kumimoji="1" lang="zh-CN" altLang="en-US" dirty="0">
                <a:latin typeface="Arial" panose="020B0604020202020204" pitchFamily="34" charset="0"/>
              </a:rPr>
              <a:t>个习题</a:t>
            </a:r>
          </a:p>
          <a:p>
            <a:r>
              <a:rPr kumimoji="1" lang="en-US" altLang="zh-CN" dirty="0">
                <a:latin typeface="Arial" panose="020B0604020202020204" pitchFamily="34" charset="0"/>
              </a:rPr>
              <a:t>15. </a:t>
            </a:r>
            <a:r>
              <a:rPr kumimoji="1" lang="zh-CN" altLang="en-US" dirty="0">
                <a:latin typeface="Arial" panose="020B0604020202020204" pitchFamily="34" charset="0"/>
              </a:rPr>
              <a:t>在有些网络中，数据链路层处理传输错误的做法是，请求重传被损坏的帧。如果一帧被损坏的概率为</a:t>
            </a:r>
            <a:r>
              <a:rPr kumimoji="1" lang="en-US" altLang="zh-CN" dirty="0">
                <a:latin typeface="Arial" panose="020B0604020202020204" pitchFamily="34" charset="0"/>
              </a:rPr>
              <a:t>p</a:t>
            </a:r>
            <a:r>
              <a:rPr kumimoji="1" lang="zh-CN" altLang="en-US" dirty="0">
                <a:latin typeface="Arial" panose="020B0604020202020204" pitchFamily="34" charset="0"/>
              </a:rPr>
              <a:t>，那么发送一帧所需要的平均传输次数是多少</a:t>
            </a:r>
            <a:r>
              <a:rPr kumimoji="1" lang="en-US" altLang="zh-CN" dirty="0">
                <a:latin typeface="Arial" panose="020B0604020202020204" pitchFamily="34" charset="0"/>
              </a:rPr>
              <a:t>? </a:t>
            </a:r>
            <a:r>
              <a:rPr kumimoji="1" lang="zh-CN" altLang="en-US" dirty="0">
                <a:latin typeface="Arial" panose="020B0604020202020204" pitchFamily="34" charset="0"/>
              </a:rPr>
              <a:t>假设在确认帧永远不会被丢失。</a:t>
            </a:r>
            <a:endParaRPr kumimoji="1" lang="en-US" altLang="zh-CN" dirty="0">
              <a:latin typeface="Arial" panose="020B0604020202020204" pitchFamily="34" charset="0"/>
            </a:endParaRPr>
          </a:p>
          <a:p>
            <a:endParaRPr kumimoji="1" lang="en-US" altLang="zh-CN" dirty="0">
              <a:latin typeface="Arial" panose="020B0604020202020204" pitchFamily="34" charset="0"/>
            </a:endParaRPr>
          </a:p>
        </p:txBody>
      </p:sp>
      <p:sp>
        <p:nvSpPr>
          <p:cNvPr id="15363" name="灯片编号占位符 3">
            <a:extLst>
              <a:ext uri="{FF2B5EF4-FFF2-40B4-BE49-F238E27FC236}">
                <a16:creationId xmlns:a16="http://schemas.microsoft.com/office/drawing/2014/main" id="{56E892AD-64FC-1A5A-0119-41691E5FF6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F5A056F-5705-384F-A5A8-178897CE3CD2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CA2B1EBF-AF59-F571-C1D4-B18C332E19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C7BFFF9-221C-AA4F-B7C5-47435EB08364}" type="slidenum">
              <a:rPr lang="en-US" altLang="zh-CN" smtClean="0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CF766207-2D0E-4A15-DAB1-9CB3957082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648DDAC-E90D-6FEE-4BFC-CD613ABB57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14-&gt;12-&gt;21</a:t>
            </a:r>
          </a:p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>
            <a:extLst>
              <a:ext uri="{FF2B5EF4-FFF2-40B4-BE49-F238E27FC236}">
                <a16:creationId xmlns:a16="http://schemas.microsoft.com/office/drawing/2014/main" id="{517D4F09-B647-2164-EC59-1FF5323C66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备注占位符 2">
            <a:extLst>
              <a:ext uri="{FF2B5EF4-FFF2-40B4-BE49-F238E27FC236}">
                <a16:creationId xmlns:a16="http://schemas.microsoft.com/office/drawing/2014/main" id="{090E6721-367E-DB10-59DD-87FE8D7389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zh-CN">
                <a:latin typeface="Arial" panose="020B0604020202020204" pitchFamily="34" charset="0"/>
              </a:rPr>
              <a:t>17-&gt;15-&gt;24</a:t>
            </a:r>
            <a:endParaRPr kumimoji="1" lang="zh-CN" altLang="en-US">
              <a:latin typeface="Arial" panose="020B0604020202020204" pitchFamily="34" charset="0"/>
            </a:endParaRPr>
          </a:p>
        </p:txBody>
      </p:sp>
      <p:sp>
        <p:nvSpPr>
          <p:cNvPr id="19459" name="灯片编号占位符 3">
            <a:extLst>
              <a:ext uri="{FF2B5EF4-FFF2-40B4-BE49-F238E27FC236}">
                <a16:creationId xmlns:a16="http://schemas.microsoft.com/office/drawing/2014/main" id="{0D9EFCA7-17FE-8746-5F80-844E84710E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201AE57-0350-354A-A61B-46B5143A599D}" type="slidenum">
              <a:rPr lang="en-US" altLang="zh-CN" smtClean="0">
                <a:latin typeface="Arial" panose="020B0604020202020204" pitchFamily="34" charset="0"/>
              </a:rPr>
              <a:pPr/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>
            <a:extLst>
              <a:ext uri="{FF2B5EF4-FFF2-40B4-BE49-F238E27FC236}">
                <a16:creationId xmlns:a16="http://schemas.microsoft.com/office/drawing/2014/main" id="{2E34F701-E704-4188-90F7-4A04D6F95E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0" name="备注占位符 2">
            <a:extLst>
              <a:ext uri="{FF2B5EF4-FFF2-40B4-BE49-F238E27FC236}">
                <a16:creationId xmlns:a16="http://schemas.microsoft.com/office/drawing/2014/main" id="{2A468755-F074-1B3E-0EF6-8B4047DACE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kumimoji="1" lang="zh-CN" altLang="en-US">
              <a:latin typeface="Arial" panose="020B0604020202020204" pitchFamily="34" charset="0"/>
            </a:endParaRPr>
          </a:p>
        </p:txBody>
      </p:sp>
      <p:sp>
        <p:nvSpPr>
          <p:cNvPr id="22531" name="灯片编号占位符 3">
            <a:extLst>
              <a:ext uri="{FF2B5EF4-FFF2-40B4-BE49-F238E27FC236}">
                <a16:creationId xmlns:a16="http://schemas.microsoft.com/office/drawing/2014/main" id="{5A0BCF09-E757-DB9D-0580-5C989AFC5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B765259-F3D8-E34E-A80F-1F07F4553C90}" type="slidenum">
              <a:rPr lang="en-US" altLang="zh-CN" smtClean="0">
                <a:latin typeface="Arial" panose="020B0604020202020204" pitchFamily="34" charset="0"/>
              </a:rPr>
              <a:pPr/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幻灯片图像占位符 1">
            <a:extLst>
              <a:ext uri="{FF2B5EF4-FFF2-40B4-BE49-F238E27FC236}">
                <a16:creationId xmlns:a16="http://schemas.microsoft.com/office/drawing/2014/main" id="{8E357B60-E573-2E02-1E19-615FDA1DDE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2" name="备注占位符 2">
            <a:extLst>
              <a:ext uri="{FF2B5EF4-FFF2-40B4-BE49-F238E27FC236}">
                <a16:creationId xmlns:a16="http://schemas.microsoft.com/office/drawing/2014/main" id="{94350C1F-67FA-4429-7834-923AB4203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zh-CN">
                <a:latin typeface="Arial" panose="020B0604020202020204" pitchFamily="34" charset="0"/>
              </a:rPr>
              <a:t>19-&gt;-&gt;26</a:t>
            </a:r>
            <a:endParaRPr kumimoji="1" lang="zh-CN" altLang="en-US">
              <a:latin typeface="Arial" panose="020B0604020202020204" pitchFamily="34" charset="0"/>
            </a:endParaRPr>
          </a:p>
        </p:txBody>
      </p:sp>
      <p:sp>
        <p:nvSpPr>
          <p:cNvPr id="25603" name="灯片编号占位符 3">
            <a:extLst>
              <a:ext uri="{FF2B5EF4-FFF2-40B4-BE49-F238E27FC236}">
                <a16:creationId xmlns:a16="http://schemas.microsoft.com/office/drawing/2014/main" id="{D3F76CC2-2DF3-7468-F843-9E05139FD0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5511D08-401D-4C47-9C2A-1FD9CF9265B4}" type="slidenum">
              <a:rPr lang="en-US" altLang="zh-CN" smtClean="0">
                <a:latin typeface="Arial" panose="020B0604020202020204" pitchFamily="34" charset="0"/>
              </a:rPr>
              <a:pPr/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47B42C90-225F-5A26-A521-8318811A12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8AEBCD5-8427-694A-B67A-62025ACDF7DA}" type="slidenum">
              <a:rPr lang="en-US" altLang="zh-CN" smtClean="0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8DF3640A-FB41-0C06-50C8-F2841D6638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BCE85A3-AB77-1D73-BD12-07A8EDE33C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20-&gt;16-&gt;28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7CF4D68B-D489-C470-DD12-525A3D248E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EFA15FC-0A72-3842-B97B-DABD62070678}" type="slidenum">
              <a:rPr lang="en-US" altLang="zh-CN" smtClean="0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E3AC4515-1D79-2D95-BB72-63E904F156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D8E665BB-FEDC-7EAE-65C0-B6E888DE1E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25-&gt;20-&gt;32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472DF1E8-8913-FE80-6C94-49498CEA87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29DD172-5178-4142-9E96-458D563D2106}" type="slidenum">
              <a:rPr lang="en-US" altLang="zh-CN" smtClean="0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4BA9A27D-8790-4F59-73CF-07D9B4FCFB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80AC501-9C77-826B-F091-4880633680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11-&gt;10-&gt;</a:t>
            </a:r>
            <a:r>
              <a:rPr lang="zh-CN" altLang="en-US">
                <a:latin typeface="Arial" panose="020B0604020202020204" pitchFamily="34" charset="0"/>
              </a:rPr>
              <a:t>补</a:t>
            </a:r>
            <a:r>
              <a:rPr lang="en-US" altLang="zh-CN">
                <a:latin typeface="Arial" panose="020B0604020202020204" pitchFamily="34" charset="0"/>
              </a:rPr>
              <a:t>1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11.</a:t>
            </a:r>
            <a:r>
              <a:rPr lang="zh-CN" altLang="en-US">
                <a:latin typeface="Arial" panose="020B0604020202020204" pitchFamily="34" charset="0"/>
              </a:rPr>
              <a:t> </a:t>
            </a:r>
            <a:r>
              <a:rPr lang="zh-CN" altLang="zh-CN" sz="1800">
                <a:latin typeface="Times" pitchFamily="2" charset="0"/>
              </a:rPr>
              <a:t>What are two reasons for using layered protocols? What is one possible disadvantage of using layered protocols? </a:t>
            </a:r>
            <a:r>
              <a:rPr lang="zh-CN" altLang="en-US" sz="1800">
                <a:latin typeface="Times" pitchFamily="2" charset="0"/>
              </a:rPr>
              <a:t>（</a:t>
            </a:r>
            <a:r>
              <a:rPr lang="en-US" altLang="zh-CN" sz="1800">
                <a:latin typeface="Arial" panose="020B0604020202020204" pitchFamily="34" charset="0"/>
              </a:rPr>
              <a:t>CN6E-EN</a:t>
            </a:r>
            <a:r>
              <a:rPr lang="zh-CN" altLang="en-US" sz="1800">
                <a:latin typeface="Times" pitchFamily="2" charset="0"/>
              </a:rPr>
              <a:t>）</a:t>
            </a:r>
            <a:endParaRPr lang="zh-CN" altLang="zh-CN">
              <a:latin typeface="Arial" panose="020B0604020202020204" pitchFamily="34" charset="0"/>
            </a:endParaRPr>
          </a:p>
          <a:p>
            <a:pPr eaLnBrk="1" hangingPunct="1"/>
            <a:endParaRPr lang="en-US" altLang="zh-CN">
              <a:latin typeface="Arial" panose="020B0604020202020204" pitchFamily="34" charset="0"/>
            </a:endParaRPr>
          </a:p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5EE63D76-D05C-4D46-66CF-ED752C41CC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0BD111A-4D9F-9146-8576-C7372A7900F3}" type="slidenum">
              <a:rPr lang="en-US" altLang="zh-CN" smtClean="0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B00A74B9-49F6-0559-159A-F9AF67432A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9CBDB0A-AEE0-46B2-7570-D20E012D32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22-&gt;17-</a:t>
            </a:r>
            <a:r>
              <a:rPr lang="zh-CN" altLang="en-US">
                <a:latin typeface="Arial" panose="020B0604020202020204" pitchFamily="34" charset="0"/>
              </a:rPr>
              <a:t>补</a:t>
            </a:r>
            <a:r>
              <a:rPr lang="en-US" altLang="zh-CN">
                <a:latin typeface="Arial" panose="020B0604020202020204" pitchFamily="34" charset="0"/>
              </a:rPr>
              <a:t>2</a:t>
            </a:r>
          </a:p>
          <a:p>
            <a:pPr eaLnBrk="1" hangingPunct="1"/>
            <a:endParaRPr lang="en-US" altLang="zh-CN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>
                <a:latin typeface="Times" pitchFamily="2" charset="0"/>
              </a:rPr>
              <a:t>24.</a:t>
            </a:r>
            <a:r>
              <a:rPr lang="zh-CN" altLang="en-US" sz="1800">
                <a:latin typeface="Times" pitchFamily="2" charset="0"/>
              </a:rPr>
              <a:t> </a:t>
            </a:r>
            <a:r>
              <a:rPr lang="zh-CN" altLang="zh-CN" sz="1800">
                <a:latin typeface="Times" pitchFamily="2" charset="0"/>
              </a:rPr>
              <a:t>What is the main difference between TCP and UDP? </a:t>
            </a:r>
            <a:r>
              <a:rPr lang="zh-CN" altLang="en-US" sz="1800">
                <a:latin typeface="Times" pitchFamily="2" charset="0"/>
              </a:rPr>
              <a:t>（</a:t>
            </a:r>
            <a:r>
              <a:rPr lang="en-US" altLang="zh-CN" sz="1800">
                <a:latin typeface="Times" pitchFamily="2" charset="0"/>
              </a:rPr>
              <a:t>CN6E-EN</a:t>
            </a:r>
            <a:r>
              <a:rPr lang="zh-CN" altLang="en-US" sz="1800">
                <a:latin typeface="Times" pitchFamily="2" charset="0"/>
              </a:rPr>
              <a:t>）</a:t>
            </a:r>
            <a:endParaRPr lang="zh-CN" altLang="zh-CN" sz="1800">
              <a:latin typeface="Times" pitchFamily="2" charset="0"/>
            </a:endParaRPr>
          </a:p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A8E8FB7-370F-4803-67AA-7F000703D537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6C2B6156-1E44-F2DF-FA0B-7CAAA0F329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FD033218-01F7-9D26-2E61-2D34ED855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C098A746-563B-7690-56F1-F2775AD3AD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4B28439B-5FA7-FC89-6F1E-858679CF63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7D69BAB-7623-21DD-749A-F6C3177C7B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7C29409-16C3-0074-2972-A10C05DEB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045DB1CE-9AC1-32A5-B869-7FC1E6E81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3B2765AD-205E-8F75-5A9A-D7D8DE9D4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888A73D5-FA00-1F22-CA08-E00983F8F3D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998C67D9-187D-B832-F71B-63B4C2D4F2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9E824C21-860B-33C2-C865-5A84542B31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81EC43AE-7714-7ED7-209C-43A43DC43B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AE78B36-4D4C-8647-9AD8-BDFD04CB3C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9319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0C5D9E0-A67E-D009-AE21-9A5265AD1A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0B18F6E-0537-2E11-6FAB-68BDF0B07A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8A29180-EEA4-2F13-47BC-0C871EE984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368926-C2A3-D043-BFEB-BB039FBE32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6110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594C90E-F356-54F8-E81E-040C0E4DF4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FF517BD-FC31-BE59-9167-0CACCE8583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060C378-19B4-0004-C6E2-957EDAA8CF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D74AF3-EFDD-0F43-8D8B-59554C7127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50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0" y="1125538"/>
            <a:ext cx="4022725" cy="5006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30775" y="1125538"/>
            <a:ext cx="4024313" cy="5006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6AD5163-0267-D427-9970-9C74DD1F16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E98486C-1AE4-C130-9208-B7A25F0B15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1487412-A069-325A-E411-207299E01B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077707-084E-6546-9075-697D49174A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3736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346EBF43-57CE-5E99-2A83-24BFAA8F8B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F143060-16CB-9564-F60B-9F0374C2DF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7F4E1D8D-5473-C3D2-3973-F165824583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C10CBE-744D-474A-A347-BA10A0156F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9169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B4392CF9-A7AC-FD29-7D7C-3E30B8DC70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1C8AB2AB-0A93-CB45-C532-8AF6AF149F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DFB8C5E-BA37-AB30-1E4F-26FFDDD946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259AD-9BE9-9845-8725-225F66F9FC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1794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E2B92626-3779-26F0-955A-02AF647C48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80611092-FCE9-989D-0FE5-CFEFF20055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CEDE8D5B-6111-6CA0-C8BB-70FEB71A12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4A5A01-5909-B242-907E-71D0ADF991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11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18F278A-BC25-2191-1A84-92DC891704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04A746E-F0E7-B4E6-F33D-41F2E34897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5D887DB-BF68-6EDA-673B-DFE33F120B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2AAA3E-88D5-4745-954F-8C809DFCDE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634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62588C2-0BB3-A45A-56B5-921DEECC83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467832A-0601-3F7A-9D87-E6A3FF8A9A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EBBE01A-1175-6F51-775B-9F8803C5DC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4FD9F-88DB-B343-B24D-4F57D0AEA2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413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9E063F3-266A-F1EF-9C85-AF3ACA6C73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35349BA-01BD-5E28-BB63-82BA8A1A0B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AF98781-319C-2660-3C19-54641FA00D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7EAA36-F527-5C43-9173-9BD84F5DA4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7694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05625" y="214313"/>
            <a:ext cx="2049463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0" y="214313"/>
            <a:ext cx="5997575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090DEF5-5E96-ADB0-2369-0D70995CAB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306441C-A5FA-22CA-A47A-7342D65217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109ACE4-C081-4519-80F0-F1E57E63F2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52093-7B57-3540-9777-97BE87639F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425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9E71D7A-330D-1E2E-22CA-7FA466CF24E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29686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03F26DC-47C3-2BF6-5CDF-BF3457002BB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29686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2E8FEE7-F287-0EEE-3D90-8FC4A940FBF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71913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1F357D0-647E-5044-A362-C078DB4D468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71913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28DD8C5-5048-DB2C-66C4-7D5FCFF83CD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64611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BD33F62-F4F5-2774-5CB8-33A391B5C7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18891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BC6429BD-CEE8-071C-99C0-E7D8846BAA6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97948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EAEBB669-7751-F1BC-30AA-69FDCC00C8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EF02A2C8-2730-8523-5D5F-3B7663E352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125538"/>
            <a:ext cx="8199438" cy="500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6166E735-576B-3B11-1B10-FD21310858D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95338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AF81C0AB-3B1B-B03A-578C-9BB5CBB7D66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05188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456BABB3-58ED-FAC7-EEF8-0E7191C08FE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C9753A7-90AF-4C4C-BBA8-7FBB5D086F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628A2A95-D2F7-8A0C-665A-C83E4F1FF01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700213"/>
            <a:ext cx="7215187" cy="1462087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5400" b="1">
                <a:latin typeface="+mj-ea"/>
              </a:rPr>
              <a:t>《</a:t>
            </a:r>
            <a:r>
              <a:rPr lang="zh-CN" altLang="en-US" sz="5400" b="1">
                <a:latin typeface="+mj-ea"/>
              </a:rPr>
              <a:t>计算机网络</a:t>
            </a:r>
            <a:r>
              <a:rPr lang="en-US" altLang="zh-CN" sz="5400" b="1">
                <a:latin typeface="+mj-ea"/>
              </a:rPr>
              <a:t>》</a:t>
            </a:r>
            <a:r>
              <a:rPr lang="zh-CN" altLang="en-US" sz="5400" b="1">
                <a:latin typeface="+mj-ea"/>
              </a:rPr>
              <a:t>习题课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31BA352E-57C4-2F2C-CC9E-598BF1D3FB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Ch1 </a:t>
            </a:r>
            <a:r>
              <a:rPr lang="zh-CN" altLang="en-US" b="1">
                <a:latin typeface="宋体" panose="02010600030101010101" pitchFamily="2" charset="-122"/>
              </a:rPr>
              <a:t>概述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61AE2DD-A0B0-AADE-1493-65FD1679DE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268413"/>
            <a:ext cx="8404225" cy="48355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latin typeface="宋体" panose="02010600030101010101" pitchFamily="2" charset="-122"/>
              </a:rPr>
              <a:t>21</a:t>
            </a:r>
            <a:r>
              <a:rPr lang="zh-CN" altLang="en-US" sz="2800" b="1" dirty="0">
                <a:latin typeface="宋体" panose="02010600030101010101" pitchFamily="2" charset="-122"/>
              </a:rPr>
              <a:t>．两个网络都可以提供可靠的、面向连接的服务。其中一个提供可靠的字节流，另一个提供可靠的报文流。这两者是否相同？如果你认为相同的话，为什么要有这样的区别？如果不同，请给出一个例子说明它们如何不同。</a:t>
            </a:r>
          </a:p>
          <a:p>
            <a:pPr eaLnBrk="1" hangingPunct="1">
              <a:lnSpc>
                <a:spcPct val="90000"/>
              </a:lnSpc>
            </a:pP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不同。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在报文流中网络要保持报文的边界，而字节流不保持。例如：发送方发送两个</a:t>
            </a:r>
            <a:r>
              <a:rPr lang="en-US" altLang="zh-CN" sz="2800" b="1" dirty="0">
                <a:latin typeface="宋体" panose="02010600030101010101" pitchFamily="2" charset="-122"/>
              </a:rPr>
              <a:t>1024</a:t>
            </a:r>
            <a:r>
              <a:rPr lang="zh-CN" altLang="en-US" sz="2800" b="1" dirty="0">
                <a:latin typeface="宋体" panose="02010600030101010101" pitchFamily="2" charset="-122"/>
              </a:rPr>
              <a:t>字节的报文，当</a:t>
            </a:r>
            <a:r>
              <a:rPr lang="en-US" altLang="zh-CN" sz="2800" b="1" dirty="0">
                <a:latin typeface="宋体" panose="02010600030101010101" pitchFamily="2" charset="-122"/>
              </a:rPr>
              <a:t>2048</a:t>
            </a:r>
            <a:r>
              <a:rPr lang="zh-CN" altLang="en-US" sz="2800" b="1" dirty="0">
                <a:latin typeface="宋体" panose="02010600030101010101" pitchFamily="2" charset="-122"/>
              </a:rPr>
              <a:t>字节到达接收方时候；对于报文流，收到的是两个独立的报文，每个报文大小是</a:t>
            </a:r>
            <a:r>
              <a:rPr lang="en-US" altLang="zh-CN" sz="2800" b="1" dirty="0">
                <a:latin typeface="宋体" panose="02010600030101010101" pitchFamily="2" charset="-122"/>
              </a:rPr>
              <a:t>1024</a:t>
            </a:r>
            <a:r>
              <a:rPr lang="zh-CN" altLang="en-US" sz="2800" b="1" dirty="0">
                <a:latin typeface="宋体" panose="02010600030101010101" pitchFamily="2" charset="-122"/>
              </a:rPr>
              <a:t>字节，而对于字节流，没有报文的边界，接收到的是一个</a:t>
            </a:r>
            <a:r>
              <a:rPr lang="en-US" altLang="zh-CN" sz="2800" b="1" dirty="0">
                <a:latin typeface="宋体" panose="02010600030101010101" pitchFamily="2" charset="-122"/>
              </a:rPr>
              <a:t>2048</a:t>
            </a:r>
            <a:r>
              <a:rPr lang="zh-CN" altLang="en-US" sz="2800" b="1" dirty="0">
                <a:latin typeface="宋体" panose="02010600030101010101" pitchFamily="2" charset="-122"/>
              </a:rPr>
              <a:t>字节的数据单元。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>
            <a:extLst>
              <a:ext uri="{FF2B5EF4-FFF2-40B4-BE49-F238E27FC236}">
                <a16:creationId xmlns:a16="http://schemas.microsoft.com/office/drawing/2014/main" id="{55750B0D-FCB2-07B8-DF06-70D4E988E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latin typeface="宋体" panose="02010600030101010101" pitchFamily="2" charset="-122"/>
              </a:rPr>
              <a:t>Ch1 </a:t>
            </a:r>
            <a:r>
              <a:rPr lang="zh-CN" altLang="en-US" b="1">
                <a:latin typeface="宋体" panose="02010600030101010101" pitchFamily="2" charset="-122"/>
              </a:rPr>
              <a:t>概述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0FA483-7AEB-2189-0898-2CC8700EC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125538"/>
            <a:ext cx="8404225" cy="5006975"/>
          </a:xfrm>
        </p:spPr>
        <p:txBody>
          <a:bodyPr/>
          <a:lstStyle/>
          <a:p>
            <a:pPr>
              <a:defRPr/>
            </a:pPr>
            <a:r>
              <a:rPr lang="en-US" altLang="zh-CN" sz="2400" b="1" dirty="0">
                <a:latin typeface="+mj-ea"/>
                <a:ea typeface="+mj-ea"/>
              </a:rPr>
              <a:t>24.</a:t>
            </a:r>
            <a:r>
              <a:rPr lang="zh-CN" altLang="en-US" sz="2400" b="1" dirty="0">
                <a:latin typeface="+mj-ea"/>
                <a:ea typeface="+mj-ea"/>
              </a:rPr>
              <a:t>在有些网络中，数据链路层处理传输错误的做法是，请求重传被损坏的帧。如果一帧被损坏的概率为</a:t>
            </a:r>
            <a:r>
              <a:rPr lang="en-US" altLang="zh-CN" sz="2400" b="1" dirty="0">
                <a:latin typeface="+mj-ea"/>
                <a:ea typeface="+mj-ea"/>
              </a:rPr>
              <a:t>p</a:t>
            </a:r>
            <a:r>
              <a:rPr lang="zh-CN" altLang="en-US" sz="2400" b="1" dirty="0">
                <a:latin typeface="+mj-ea"/>
                <a:ea typeface="+mj-ea"/>
              </a:rPr>
              <a:t>，那么发送一帧所需要的平均传输次数是多少</a:t>
            </a:r>
            <a:r>
              <a:rPr lang="en-US" altLang="zh-CN" sz="2400" b="1" dirty="0">
                <a:latin typeface="+mj-ea"/>
                <a:ea typeface="+mj-ea"/>
              </a:rPr>
              <a:t>? </a:t>
            </a:r>
            <a:r>
              <a:rPr lang="zh-CN" altLang="en-US" sz="2400" b="1" dirty="0">
                <a:latin typeface="+mj-ea"/>
                <a:ea typeface="+mj-ea"/>
              </a:rPr>
              <a:t>假设在确认帧永远不会被丢失。</a:t>
            </a:r>
            <a:endParaRPr lang="en-US" altLang="zh-CN" sz="2400" b="1" dirty="0">
              <a:latin typeface="+mj-ea"/>
              <a:ea typeface="+mj-ea"/>
            </a:endParaRPr>
          </a:p>
          <a:p>
            <a:pPr>
              <a:defRPr/>
            </a:pPr>
            <a:endParaRPr lang="en-US" altLang="zh-CN" sz="2400" b="1" dirty="0">
              <a:latin typeface="+mj-ea"/>
              <a:ea typeface="+mj-ea"/>
            </a:endParaRPr>
          </a:p>
          <a:p>
            <a:pPr>
              <a:defRPr/>
            </a:pPr>
            <a:r>
              <a:rPr lang="zh-CN" altLang="en-US" sz="2400" b="1" dirty="0">
                <a:latin typeface="+mj-ea"/>
                <a:ea typeface="+mj-ea"/>
              </a:rPr>
              <a:t>由于一帧被损坏的概率为</a:t>
            </a:r>
            <a:r>
              <a:rPr lang="en-US" altLang="zh-CN" sz="2400" b="1" dirty="0">
                <a:latin typeface="+mj-ea"/>
                <a:ea typeface="+mj-ea"/>
              </a:rPr>
              <a:t>p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+mj-ea"/>
                <a:ea typeface="+mj-ea"/>
              </a:rPr>
              <a:t>  </a:t>
            </a:r>
            <a:r>
              <a:rPr lang="zh-CN" altLang="en-US" sz="2400" b="1" dirty="0">
                <a:latin typeface="+mj-ea"/>
                <a:ea typeface="+mj-ea"/>
              </a:rPr>
              <a:t>因此一帧无损坏到达接收方的概率为</a:t>
            </a:r>
            <a:r>
              <a:rPr lang="en-US" altLang="zh-CN" sz="2400" b="1" dirty="0">
                <a:latin typeface="+mj-ea"/>
                <a:ea typeface="+mj-ea"/>
              </a:rPr>
              <a:t>1-p</a:t>
            </a:r>
            <a:endParaRPr lang="zh-CN" altLang="en-US" sz="2400" b="1" dirty="0">
              <a:latin typeface="+mj-ea"/>
              <a:ea typeface="+mj-ea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宋体" pitchFamily="2" charset="-122"/>
              </a:rPr>
              <a:t>  </a:t>
            </a:r>
            <a:r>
              <a:rPr lang="zh-CN" altLang="en-US" sz="2400" b="1" dirty="0">
                <a:latin typeface="宋体" pitchFamily="2" charset="-122"/>
              </a:rPr>
              <a:t>一帧前</a:t>
            </a:r>
            <a:r>
              <a:rPr lang="en-US" altLang="zh-CN" sz="2400" b="1" dirty="0">
                <a:latin typeface="宋体" pitchFamily="2" charset="-122"/>
              </a:rPr>
              <a:t>i-1</a:t>
            </a:r>
            <a:r>
              <a:rPr lang="zh-CN" altLang="en-US" sz="2400" b="1" dirty="0">
                <a:latin typeface="宋体" pitchFamily="2" charset="-122"/>
              </a:rPr>
              <a:t>次都被损坏，而第</a:t>
            </a:r>
            <a:r>
              <a:rPr lang="en-US" altLang="zh-CN" sz="2400" b="1" dirty="0" err="1">
                <a:latin typeface="宋体" pitchFamily="2" charset="-122"/>
              </a:rPr>
              <a:t>i</a:t>
            </a:r>
            <a:r>
              <a:rPr lang="zh-CN" altLang="en-US" sz="2400" b="1" dirty="0">
                <a:latin typeface="宋体" pitchFamily="2" charset="-122"/>
              </a:rPr>
              <a:t>次无损坏到达接收方</a:t>
            </a:r>
            <a:r>
              <a:rPr lang="zh-CN" altLang="en-US" sz="2400" b="1" dirty="0">
                <a:latin typeface="+mj-ea"/>
                <a:ea typeface="+mj-ea"/>
              </a:rPr>
              <a:t>的概率</a:t>
            </a:r>
            <a:endParaRPr lang="en-US" altLang="zh-CN" sz="2400" b="1" dirty="0">
              <a:latin typeface="+mj-ea"/>
              <a:ea typeface="+mj-ea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zh-CN" altLang="en-US" sz="2400" b="1" dirty="0">
                <a:latin typeface="+mj-ea"/>
                <a:ea typeface="+mj-ea"/>
              </a:rPr>
              <a:t>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+mj-ea"/>
                <a:ea typeface="+mj-ea"/>
              </a:rPr>
              <a:t>  </a:t>
            </a:r>
            <a:r>
              <a:rPr lang="zh-CN" altLang="en-US" sz="2400" b="1" dirty="0">
                <a:latin typeface="+mj-ea"/>
                <a:ea typeface="+mj-ea"/>
              </a:rPr>
              <a:t>所以一帧无损坏地到达接收方需要的平均发送次数</a:t>
            </a:r>
            <a:endParaRPr lang="en-US" altLang="zh-CN" sz="2400" b="1" dirty="0">
              <a:latin typeface="+mj-ea"/>
              <a:ea typeface="+mj-ea"/>
            </a:endParaRPr>
          </a:p>
          <a:p>
            <a:pPr>
              <a:defRPr/>
            </a:pPr>
            <a:endParaRPr lang="zh-CN" altLang="en-US" sz="2400" b="1" dirty="0">
              <a:latin typeface="宋体" panose="02010600030101010101" pitchFamily="2" charset="-122"/>
            </a:endParaRPr>
          </a:p>
          <a:p>
            <a:pPr>
              <a:defRPr/>
            </a:pPr>
            <a:endParaRPr kumimoji="1" lang="zh-CN" altLang="en-US" sz="2400" dirty="0"/>
          </a:p>
        </p:txBody>
      </p:sp>
      <p:graphicFrame>
        <p:nvGraphicFramePr>
          <p:cNvPr id="18435" name="Object 6">
            <a:extLst>
              <a:ext uri="{FF2B5EF4-FFF2-40B4-BE49-F238E27FC236}">
                <a16:creationId xmlns:a16="http://schemas.microsoft.com/office/drawing/2014/main" id="{956C2E6B-4FD3-790A-C2E5-28FD686F98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437063"/>
          <a:ext cx="1439863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2237700" imgH="5562600" progId="Equation.3">
                  <p:embed/>
                </p:oleObj>
              </mc:Choice>
              <mc:Fallback>
                <p:oleObj name="公式" r:id="rId3" imgW="22237700" imgH="556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437063"/>
                        <a:ext cx="1439863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8">
            <a:extLst>
              <a:ext uri="{FF2B5EF4-FFF2-40B4-BE49-F238E27FC236}">
                <a16:creationId xmlns:a16="http://schemas.microsoft.com/office/drawing/2014/main" id="{69AB3BBB-B998-D053-395B-6D63E0A36A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477192"/>
              </p:ext>
            </p:extLst>
          </p:nvPr>
        </p:nvGraphicFramePr>
        <p:xfrm>
          <a:off x="977309" y="5334457"/>
          <a:ext cx="7345362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96837500" imgH="10236200" progId="Equation.3">
                  <p:embed/>
                </p:oleObj>
              </mc:Choice>
              <mc:Fallback>
                <p:oleObj name="公式" r:id="rId5" imgW="96837500" imgH="10236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309" y="5334457"/>
                        <a:ext cx="7345362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5">
            <a:extLst>
              <a:ext uri="{FF2B5EF4-FFF2-40B4-BE49-F238E27FC236}">
                <a16:creationId xmlns:a16="http://schemas.microsoft.com/office/drawing/2014/main" id="{4FEE6F7B-622B-C26E-8C18-A7966641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6185EB-C4AD-8342-8407-C8CB42FC2FB2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CN" sz="1400" dirty="0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659DE081-D88E-3364-977A-376F99D40A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latin typeface="宋体" panose="02010600030101010101" pitchFamily="2" charset="-122"/>
              </a:rPr>
              <a:t>Ch1 </a:t>
            </a:r>
            <a:r>
              <a:rPr lang="zh-CN" altLang="en-US" b="1">
                <a:latin typeface="宋体" panose="02010600030101010101" pitchFamily="2" charset="-122"/>
              </a:rPr>
              <a:t>概述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1772A25-9A13-0405-8452-87F0C0DCE8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341438"/>
            <a:ext cx="8199438" cy="511189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分析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一帧第</a:t>
            </a:r>
            <a:r>
              <a:rPr lang="en-US" altLang="zh-CN" b="1" dirty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次无损坏到达接收方</a:t>
            </a:r>
            <a:r>
              <a:rPr lang="en-US" altLang="zh-CN" b="1" dirty="0">
                <a:latin typeface="宋体" panose="02010600030101010101" pitchFamily="2" charset="-122"/>
              </a:rPr>
              <a:t>,</a:t>
            </a:r>
            <a:r>
              <a:rPr lang="zh-CN" altLang="en-US" b="1" dirty="0">
                <a:latin typeface="宋体" panose="02010600030101010101" pitchFamily="2" charset="-122"/>
              </a:rPr>
              <a:t>这种情况的概率</a:t>
            </a:r>
            <a:r>
              <a:rPr lang="en-US" altLang="zh-CN" b="1" dirty="0">
                <a:latin typeface="宋体" panose="02010600030101010101" pitchFamily="2" charset="-122"/>
              </a:rPr>
              <a:t>P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=1-p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一帧第</a:t>
            </a:r>
            <a:r>
              <a:rPr lang="en-US" altLang="zh-CN" b="1" dirty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次被损坏，第</a:t>
            </a:r>
            <a:r>
              <a:rPr lang="en-US" altLang="zh-CN" b="1" dirty="0"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</a:rPr>
              <a:t>次无损坏到达接收方，这种情况的概率</a:t>
            </a:r>
            <a:r>
              <a:rPr lang="en-US" altLang="zh-CN" b="1" dirty="0">
                <a:latin typeface="宋体" panose="02010600030101010101" pitchFamily="2" charset="-122"/>
              </a:rPr>
              <a:t>P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=p(1-p)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一帧第</a:t>
            </a:r>
            <a:r>
              <a:rPr lang="en-US" altLang="zh-CN" b="1" dirty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</a:rPr>
              <a:t>次都被损坏，第</a:t>
            </a:r>
            <a:r>
              <a:rPr lang="en-US" altLang="zh-CN" b="1" dirty="0">
                <a:latin typeface="宋体" panose="02010600030101010101" pitchFamily="2" charset="-122"/>
              </a:rPr>
              <a:t>3</a:t>
            </a:r>
            <a:r>
              <a:rPr lang="zh-CN" altLang="en-US" b="1" dirty="0">
                <a:latin typeface="宋体" panose="02010600030101010101" pitchFamily="2" charset="-122"/>
              </a:rPr>
              <a:t>次无损坏到达接收方，这种情况的概率</a:t>
            </a:r>
            <a:r>
              <a:rPr lang="en-US" altLang="zh-CN" b="1" dirty="0">
                <a:latin typeface="宋体" panose="02010600030101010101" pitchFamily="2" charset="-122"/>
              </a:rPr>
              <a:t>P</a:t>
            </a:r>
            <a:r>
              <a:rPr lang="en-US" altLang="zh-CN" b="1" baseline="-25000" dirty="0">
                <a:latin typeface="宋体" panose="02010600030101010101" pitchFamily="2" charset="-122"/>
              </a:rPr>
              <a:t>3</a:t>
            </a:r>
            <a:r>
              <a:rPr lang="en-US" altLang="zh-CN" b="1" dirty="0">
                <a:latin typeface="宋体" panose="02010600030101010101" pitchFamily="2" charset="-122"/>
              </a:rPr>
              <a:t>=p</a:t>
            </a:r>
            <a:r>
              <a:rPr lang="en-US" altLang="zh-CN" b="1" baseline="30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(1-p)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… 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一帧前</a:t>
            </a:r>
            <a:r>
              <a:rPr lang="en-US" altLang="zh-CN" b="1" dirty="0">
                <a:latin typeface="宋体" panose="02010600030101010101" pitchFamily="2" charset="-122"/>
              </a:rPr>
              <a:t>i-1</a:t>
            </a:r>
            <a:r>
              <a:rPr lang="zh-CN" altLang="en-US" b="1" dirty="0">
                <a:latin typeface="宋体" panose="02010600030101010101" pitchFamily="2" charset="-122"/>
              </a:rPr>
              <a:t>次都被损坏，第</a:t>
            </a:r>
            <a:r>
              <a:rPr lang="en-US" altLang="zh-CN" b="1" dirty="0" err="1">
                <a:latin typeface="宋体" panose="02010600030101010101" pitchFamily="2" charset="-122"/>
              </a:rPr>
              <a:t>i</a:t>
            </a:r>
            <a:r>
              <a:rPr lang="zh-CN" altLang="en-US" b="1" dirty="0">
                <a:latin typeface="宋体" panose="02010600030101010101" pitchFamily="2" charset="-122"/>
              </a:rPr>
              <a:t>次无损坏到达接收方，这种情况的概率</a:t>
            </a:r>
            <a:r>
              <a:rPr lang="en-US" altLang="zh-CN" b="1" dirty="0">
                <a:latin typeface="宋体" panose="02010600030101010101" pitchFamily="2" charset="-122"/>
              </a:rPr>
              <a:t>P</a:t>
            </a:r>
            <a:r>
              <a:rPr lang="en-US" altLang="zh-CN" b="1" baseline="-25000" dirty="0">
                <a:latin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</a:rPr>
              <a:t>=p</a:t>
            </a:r>
            <a:r>
              <a:rPr lang="en-US" altLang="zh-CN" b="1" baseline="30000" dirty="0">
                <a:latin typeface="宋体" panose="02010600030101010101" pitchFamily="2" charset="-122"/>
              </a:rPr>
              <a:t>i-1</a:t>
            </a:r>
            <a:r>
              <a:rPr lang="en-US" altLang="zh-CN" b="1" dirty="0">
                <a:latin typeface="宋体" panose="02010600030101010101" pitchFamily="2" charset="-122"/>
              </a:rPr>
              <a:t>(1-p)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80000"/>
              </a:lnSpc>
              <a:buNone/>
            </a:pPr>
            <a:endParaRPr lang="en-US" altLang="zh-CN" dirty="0">
              <a:latin typeface="宋体" panose="02010600030101010101" pitchFamily="2" charset="-122"/>
            </a:endParaRP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0350A908-DE0B-D378-8551-479B77CA4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981075"/>
            <a:ext cx="33115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假设一帧被损坏的概率为</a:t>
            </a:r>
            <a:r>
              <a:rPr lang="en-US" altLang="zh-CN" sz="2000" b="1" dirty="0">
                <a:latin typeface="宋体" panose="02010600030101010101" pitchFamily="2" charset="-122"/>
              </a:rPr>
              <a:t>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870A864F-1FCA-F756-C687-AF5DBE9A7D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Ch1 </a:t>
            </a:r>
            <a:r>
              <a:rPr lang="zh-CN" altLang="en-US" b="1">
                <a:latin typeface="宋体" panose="02010600030101010101" pitchFamily="2" charset="-122"/>
              </a:rPr>
              <a:t>概述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E781B1D-3F2E-8423-4629-C2CAD916C1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7772400" cy="4978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latin typeface="+mn-ea"/>
              </a:rPr>
              <a:t>补充</a:t>
            </a:r>
            <a:endParaRPr lang="en-US" altLang="zh-CN" b="1" dirty="0">
              <a:latin typeface="+mn-ea"/>
            </a:endParaRPr>
          </a:p>
          <a:p>
            <a:pPr eaLnBrk="1" hangingPunct="1">
              <a:defRPr/>
            </a:pPr>
            <a:endParaRPr lang="en-US" altLang="zh-CN" sz="2400" b="1" dirty="0">
              <a:latin typeface="宋体" panose="02010600030101010101" pitchFamily="2" charset="-122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zh-CN" altLang="en-US" sz="2400" b="1" dirty="0">
                <a:latin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宋体" panose="02010600030101010101" pitchFamily="2" charset="-122"/>
              </a:rPr>
              <a:t>由于                  （高数中的常用公式）</a:t>
            </a:r>
          </a:p>
          <a:p>
            <a:pPr eaLnBrk="1" hangingPunct="1">
              <a:defRPr/>
            </a:pP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800" b="1" dirty="0">
                <a:latin typeface="宋体" panose="02010600030101010101" pitchFamily="2" charset="-122"/>
              </a:rPr>
              <a:t>  两边对  求导，得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21507" name="Rectangle 4">
            <a:extLst>
              <a:ext uri="{FF2B5EF4-FFF2-40B4-BE49-F238E27FC236}">
                <a16:creationId xmlns:a16="http://schemas.microsoft.com/office/drawing/2014/main" id="{64B38709-89E9-D7A0-8F29-593F0CF7A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21508" name="Object 5">
            <a:extLst>
              <a:ext uri="{FF2B5EF4-FFF2-40B4-BE49-F238E27FC236}">
                <a16:creationId xmlns:a16="http://schemas.microsoft.com/office/drawing/2014/main" id="{E461D450-C323-D1C4-3BA8-924E2F3B1C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2060575"/>
          <a:ext cx="237648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6035000" imgH="9944100" progId="Equation.3">
                  <p:embed/>
                </p:oleObj>
              </mc:Choice>
              <mc:Fallback>
                <p:oleObj name="公式" r:id="rId3" imgW="26035000" imgH="9944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060575"/>
                        <a:ext cx="2376488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Rectangle 6">
            <a:extLst>
              <a:ext uri="{FF2B5EF4-FFF2-40B4-BE49-F238E27FC236}">
                <a16:creationId xmlns:a16="http://schemas.microsoft.com/office/drawing/2014/main" id="{F0D20652-AA46-111D-D4EB-6B4EC916B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21510" name="Object 7">
            <a:extLst>
              <a:ext uri="{FF2B5EF4-FFF2-40B4-BE49-F238E27FC236}">
                <a16:creationId xmlns:a16="http://schemas.microsoft.com/office/drawing/2014/main" id="{29E57BB5-0559-58F2-1647-AB7840BEB3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3463" y="3357563"/>
          <a:ext cx="3968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505200" imgH="3213100" progId="Equation.3">
                  <p:embed/>
                </p:oleObj>
              </mc:Choice>
              <mc:Fallback>
                <p:oleObj name="公式" r:id="rId5" imgW="3505200" imgH="3213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3357563"/>
                        <a:ext cx="3968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Rectangle 8">
            <a:extLst>
              <a:ext uri="{FF2B5EF4-FFF2-40B4-BE49-F238E27FC236}">
                <a16:creationId xmlns:a16="http://schemas.microsoft.com/office/drawing/2014/main" id="{ABF2A202-3E3E-0DFB-9443-EB5F08673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21512" name="Object 9">
            <a:extLst>
              <a:ext uri="{FF2B5EF4-FFF2-40B4-BE49-F238E27FC236}">
                <a16:creationId xmlns:a16="http://schemas.microsoft.com/office/drawing/2014/main" id="{B05781DF-88F8-F3AD-44B7-D6DC269872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3800475"/>
          <a:ext cx="3313113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4226500" imgH="10236200" progId="Equation.3">
                  <p:embed/>
                </p:oleObj>
              </mc:Choice>
              <mc:Fallback>
                <p:oleObj name="公式" r:id="rId7" imgW="34226500" imgH="10236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800475"/>
                        <a:ext cx="3313113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1B799565-3302-DDBA-EAE3-C37C5D0BFF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latin typeface="宋体" panose="02010600030101010101" pitchFamily="2" charset="-122"/>
              </a:rPr>
              <a:t>Ch1 </a:t>
            </a:r>
            <a:r>
              <a:rPr lang="zh-CN" altLang="en-US" b="1">
                <a:latin typeface="宋体" panose="02010600030101010101" pitchFamily="2" charset="-122"/>
              </a:rPr>
              <a:t>概述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E1CF1E-215A-ED1A-AB7F-D4C86945E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kumimoji="1" lang="en" altLang="zh-CN" sz="2800" b="1" dirty="0">
                <a:latin typeface="+mj-ea"/>
                <a:ea typeface="+mj-ea"/>
              </a:rPr>
              <a:t>25. OSI</a:t>
            </a:r>
            <a:r>
              <a:rPr kumimoji="1" lang="zh-CN" altLang="en-US" sz="2800" b="1" dirty="0">
                <a:latin typeface="+mj-ea"/>
                <a:ea typeface="+mj-ea"/>
              </a:rPr>
              <a:t>模型和</a:t>
            </a:r>
            <a:r>
              <a:rPr kumimoji="1" lang="en" altLang="zh-CN" sz="2800" b="1" dirty="0">
                <a:latin typeface="+mj-ea"/>
                <a:ea typeface="+mj-ea"/>
              </a:rPr>
              <a:t>TCP/IP</a:t>
            </a:r>
            <a:r>
              <a:rPr kumimoji="1" lang="zh-CN" altLang="en-US" sz="2800" b="1" dirty="0">
                <a:latin typeface="+mj-ea"/>
                <a:ea typeface="+mj-ea"/>
              </a:rPr>
              <a:t>模型中哪些层负责处理下面的事项</a:t>
            </a:r>
            <a:r>
              <a:rPr kumimoji="1" lang="en-US" altLang="zh-CN" sz="2800" b="1" dirty="0">
                <a:latin typeface="+mj-ea"/>
                <a:ea typeface="+mj-ea"/>
              </a:rPr>
              <a:t>?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kumimoji="1" lang="en-US" altLang="zh-CN" sz="2800" b="1" dirty="0">
                <a:latin typeface="+mj-ea"/>
                <a:ea typeface="+mj-ea"/>
              </a:rPr>
              <a:t> </a:t>
            </a:r>
            <a:r>
              <a:rPr kumimoji="1" lang="zh-CN" altLang="en-US" sz="2800" b="1" dirty="0">
                <a:latin typeface="+mj-ea"/>
                <a:ea typeface="+mj-ea"/>
              </a:rPr>
              <a:t>（</a:t>
            </a:r>
            <a:r>
              <a:rPr kumimoji="1" lang="en" altLang="zh-CN" sz="2800" b="1" dirty="0">
                <a:latin typeface="+mj-ea"/>
                <a:ea typeface="+mj-ea"/>
              </a:rPr>
              <a:t>a</a:t>
            </a:r>
            <a:r>
              <a:rPr kumimoji="1" lang="zh-CN" altLang="en" sz="2800" b="1" dirty="0">
                <a:latin typeface="+mj-ea"/>
                <a:ea typeface="+mj-ea"/>
              </a:rPr>
              <a:t>）</a:t>
            </a:r>
            <a:r>
              <a:rPr kumimoji="1" lang="zh-CN" altLang="en-US" sz="2800" b="1" dirty="0">
                <a:latin typeface="+mj-ea"/>
                <a:ea typeface="+mj-ea"/>
              </a:rPr>
              <a:t>将要传输的比特流分割成帧。（</a:t>
            </a:r>
            <a:r>
              <a:rPr kumimoji="1"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成帧</a:t>
            </a:r>
            <a:r>
              <a:rPr kumimoji="1" lang="zh-CN" altLang="en-US" sz="2800" b="1" dirty="0">
                <a:latin typeface="+mj-ea"/>
                <a:ea typeface="+mj-ea"/>
              </a:rPr>
              <a:t>）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kumimoji="1" lang="zh-CN" altLang="en-US" sz="2800" b="1" dirty="0">
                <a:latin typeface="+mj-ea"/>
                <a:ea typeface="+mj-ea"/>
              </a:rPr>
              <a:t> （</a:t>
            </a:r>
            <a:r>
              <a:rPr kumimoji="1" lang="en" altLang="zh-CN" sz="2800" b="1" dirty="0">
                <a:latin typeface="+mj-ea"/>
                <a:ea typeface="+mj-ea"/>
              </a:rPr>
              <a:t>b</a:t>
            </a:r>
            <a:r>
              <a:rPr kumimoji="1" lang="zh-CN" altLang="en" sz="2800" b="1" dirty="0">
                <a:latin typeface="+mj-ea"/>
                <a:ea typeface="+mj-ea"/>
              </a:rPr>
              <a:t>）</a:t>
            </a:r>
            <a:r>
              <a:rPr kumimoji="1" lang="zh-CN" altLang="en-US" sz="2800" b="1" dirty="0">
                <a:latin typeface="+mj-ea"/>
                <a:ea typeface="+mj-ea"/>
              </a:rPr>
              <a:t>确定子网使用哪一条路径。</a:t>
            </a:r>
            <a:endParaRPr kumimoji="1" lang="en-US" altLang="zh-CN" sz="2800" b="1" dirty="0">
              <a:latin typeface="+mj-ea"/>
              <a:ea typeface="+mj-ea"/>
            </a:endParaRPr>
          </a:p>
          <a:p>
            <a:pPr marL="0" indent="0">
              <a:buFont typeface="Wingdings" pitchFamily="2" charset="2"/>
              <a:buNone/>
              <a:defRPr/>
            </a:pPr>
            <a:endParaRPr kumimoji="1" lang="en-US" altLang="zh-CN" sz="2800" b="1" dirty="0">
              <a:latin typeface="+mj-ea"/>
              <a:ea typeface="+mj-ea"/>
            </a:endParaRPr>
          </a:p>
          <a:p>
            <a:pPr>
              <a:defRPr/>
            </a:pPr>
            <a:r>
              <a:rPr lang="zh-CN" altLang="en-US" sz="2800" b="1" dirty="0">
                <a:latin typeface="+mj-ea"/>
                <a:ea typeface="+mj-ea"/>
              </a:rPr>
              <a:t>（</a:t>
            </a:r>
            <a:r>
              <a:rPr lang="en-US" altLang="zh-CN" sz="2800" b="1" dirty="0">
                <a:latin typeface="+mj-ea"/>
                <a:ea typeface="+mj-ea"/>
              </a:rPr>
              <a:t>a</a:t>
            </a:r>
            <a:r>
              <a:rPr lang="zh-CN" altLang="en-US" sz="2800" b="1" dirty="0">
                <a:latin typeface="+mj-ea"/>
                <a:ea typeface="+mj-ea"/>
              </a:rPr>
              <a:t>）</a:t>
            </a:r>
            <a:r>
              <a:rPr kumimoji="1" lang="zh-CN" altLang="en-US" sz="2800" b="1" dirty="0">
                <a:latin typeface="+mj-ea"/>
                <a:ea typeface="+mj-ea"/>
              </a:rPr>
              <a:t>分别是</a:t>
            </a:r>
            <a:r>
              <a:rPr lang="zh-CN" altLang="en-US" sz="2800" b="1" dirty="0">
                <a:latin typeface="+mj-ea"/>
                <a:ea typeface="+mj-ea"/>
              </a:rPr>
              <a:t>数据链路层和主机</a:t>
            </a:r>
            <a:r>
              <a:rPr lang="en-US" altLang="zh-CN" sz="2800" b="1" dirty="0">
                <a:latin typeface="+mj-ea"/>
                <a:ea typeface="+mj-ea"/>
              </a:rPr>
              <a:t>-</a:t>
            </a:r>
            <a:r>
              <a:rPr lang="zh-CN" altLang="en-US" sz="2800" b="1" dirty="0">
                <a:latin typeface="+mj-ea"/>
                <a:ea typeface="+mj-ea"/>
              </a:rPr>
              <a:t>网络层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sz="2800" b="1" dirty="0">
                <a:latin typeface="+mj-ea"/>
                <a:ea typeface="+mj-ea"/>
              </a:rPr>
              <a:t>  （</a:t>
            </a:r>
            <a:r>
              <a:rPr lang="en-US" altLang="zh-CN" sz="2800" b="1" dirty="0">
                <a:latin typeface="+mj-ea"/>
                <a:ea typeface="+mj-ea"/>
              </a:rPr>
              <a:t>b</a:t>
            </a:r>
            <a:r>
              <a:rPr lang="zh-CN" altLang="en-US" sz="2800" b="1" dirty="0">
                <a:latin typeface="+mj-ea"/>
                <a:ea typeface="+mj-ea"/>
              </a:rPr>
              <a:t>）</a:t>
            </a:r>
            <a:r>
              <a:rPr kumimoji="1" lang="zh-CN" altLang="en-US" sz="2800" b="1" dirty="0">
                <a:latin typeface="+mj-ea"/>
                <a:ea typeface="+mj-ea"/>
              </a:rPr>
              <a:t>分别是</a:t>
            </a:r>
            <a:r>
              <a:rPr lang="zh-CN" altLang="en-US" sz="2800" b="1" dirty="0">
                <a:latin typeface="+mj-ea"/>
                <a:ea typeface="+mj-ea"/>
              </a:rPr>
              <a:t>网络层和</a:t>
            </a:r>
            <a:r>
              <a:rPr lang="en-US" altLang="zh-CN" sz="2800" b="1" dirty="0">
                <a:latin typeface="+mj-ea"/>
                <a:ea typeface="+mj-ea"/>
              </a:rPr>
              <a:t>IP</a:t>
            </a:r>
            <a:r>
              <a:rPr lang="zh-CN" altLang="en-US" sz="2800" b="1">
                <a:latin typeface="+mj-ea"/>
                <a:ea typeface="+mj-ea"/>
              </a:rPr>
              <a:t>层（互联网层）</a:t>
            </a:r>
            <a:endParaRPr lang="zh-CN" altLang="en-US" sz="2800" b="1" dirty="0">
              <a:latin typeface="+mj-ea"/>
              <a:ea typeface="+mj-ea"/>
            </a:endParaRPr>
          </a:p>
          <a:p>
            <a:pPr marL="0" indent="0">
              <a:buFont typeface="Wingdings" pitchFamily="2" charset="2"/>
              <a:buNone/>
              <a:defRPr/>
            </a:pPr>
            <a:endParaRPr kumimoji="1" lang="zh-CN" altLang="en-US" sz="2800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CE6479-DF6B-4F10-DED3-85A637D6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latin typeface="宋体" panose="02010600030101010101" pitchFamily="2" charset="-122"/>
              </a:rPr>
              <a:t>Ch1 </a:t>
            </a:r>
            <a:r>
              <a:rPr lang="zh-CN" altLang="en-US" b="1" dirty="0">
                <a:latin typeface="宋体" panose="02010600030101010101" pitchFamily="2" charset="-122"/>
              </a:rPr>
              <a:t>概述</a:t>
            </a:r>
            <a:endParaRPr kumimoji="1" lang="zh-CN" altLang="en-US" b="1" dirty="0">
              <a:latin typeface="+mj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FAC691-5D5B-B341-A80F-2E3DB37F3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125538"/>
            <a:ext cx="7993063" cy="5006975"/>
          </a:xfrm>
        </p:spPr>
        <p:txBody>
          <a:bodyPr/>
          <a:lstStyle/>
          <a:p>
            <a:pPr>
              <a:defRPr/>
            </a:pPr>
            <a:r>
              <a:rPr kumimoji="1" lang="en-US" altLang="zh-CN" sz="2800" b="1" dirty="0">
                <a:latin typeface="+mj-ea"/>
                <a:ea typeface="+mj-ea"/>
              </a:rPr>
              <a:t>26.</a:t>
            </a:r>
            <a:r>
              <a:rPr kumimoji="1" lang="zh-CN" altLang="en-US" sz="2800" b="1" dirty="0">
                <a:latin typeface="+mj-ea"/>
                <a:ea typeface="+mj-ea"/>
              </a:rPr>
              <a:t>如果数据链路层上交换的数据单元称为帧，网络层上交换的数据单元称为数据包，那么，是帧封装了数据包，还是数器包封装了帧？请解释你的答案。</a:t>
            </a:r>
            <a:endParaRPr kumimoji="1" lang="en-US" altLang="zh-CN" sz="2800" b="1" dirty="0">
              <a:latin typeface="+mj-ea"/>
              <a:ea typeface="+mj-ea"/>
            </a:endParaRPr>
          </a:p>
          <a:p>
            <a:pPr>
              <a:defRPr/>
            </a:pPr>
            <a:endParaRPr kumimoji="1" lang="en-US" altLang="zh-CN" sz="2800" b="1" dirty="0">
              <a:latin typeface="+mj-ea"/>
              <a:ea typeface="+mj-ea"/>
            </a:endParaRPr>
          </a:p>
          <a:p>
            <a:pPr>
              <a:defRPr/>
            </a:pPr>
            <a:r>
              <a:rPr kumimoji="1" lang="zh-CN" altLang="en-US" sz="2800" b="1" dirty="0">
                <a:latin typeface="+mj-ea"/>
                <a:ea typeface="+mj-ea"/>
              </a:rPr>
              <a:t>帧封装数据包</a:t>
            </a:r>
            <a:endParaRPr kumimoji="1" lang="en-US" altLang="zh-CN" sz="2800" b="1" dirty="0">
              <a:latin typeface="+mj-ea"/>
              <a:ea typeface="+mj-ea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kumimoji="1" lang="zh-CN" altLang="en-US" sz="2800" b="1" dirty="0">
                <a:latin typeface="+mj-ea"/>
                <a:ea typeface="+mj-ea"/>
              </a:rPr>
              <a:t>  当数据包到达数据链路层时，把数据包作为帧</a:t>
            </a:r>
            <a:r>
              <a:rPr kumimoji="1" lang="en-US" altLang="zh-CN" sz="2800" b="1" dirty="0">
                <a:latin typeface="+mj-ea"/>
                <a:ea typeface="+mj-ea"/>
              </a:rPr>
              <a:t>     </a:t>
            </a:r>
            <a:r>
              <a:rPr kumimoji="1" lang="zh-CN" altLang="en-US" sz="2800" b="1" dirty="0">
                <a:latin typeface="+mj-ea"/>
                <a:ea typeface="+mj-ea"/>
              </a:rPr>
              <a:t>的数据域封装到帧中</a:t>
            </a:r>
            <a:endParaRPr kumimoji="1" lang="en-US" altLang="zh-CN" sz="2800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430F7A80-16C6-8D2F-06EC-98782D9C13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Ch1 </a:t>
            </a:r>
            <a:r>
              <a:rPr lang="zh-CN" altLang="en-US" b="1">
                <a:latin typeface="宋体" panose="02010600030101010101" pitchFamily="2" charset="-122"/>
              </a:rPr>
              <a:t>概述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9874E66-5EA6-2C7B-5B96-529B3FA2F0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341438"/>
            <a:ext cx="7772400" cy="47609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>
                <a:latin typeface="宋体" panose="02010600030101010101" pitchFamily="2" charset="-122"/>
              </a:rPr>
              <a:t>28</a:t>
            </a:r>
            <a:r>
              <a:rPr lang="zh-CN" altLang="en-US" sz="2800" b="1">
                <a:latin typeface="宋体" panose="02010600030101010101" pitchFamily="2" charset="-122"/>
              </a:rPr>
              <a:t>．一个系统有</a:t>
            </a:r>
            <a:r>
              <a:rPr lang="en-US" altLang="zh-CN" sz="2800" b="1">
                <a:latin typeface="宋体" panose="02010600030101010101" pitchFamily="2" charset="-122"/>
              </a:rPr>
              <a:t>n</a:t>
            </a:r>
            <a:r>
              <a:rPr lang="zh-CN" altLang="en-US" sz="2800" b="1">
                <a:latin typeface="宋体" panose="02010600030101010101" pitchFamily="2" charset="-122"/>
              </a:rPr>
              <a:t>层协议的层次结构。应用程序产生的消息的长度为</a:t>
            </a:r>
            <a:r>
              <a:rPr lang="en-US" altLang="zh-CN" sz="2800" b="1">
                <a:latin typeface="宋体" panose="02010600030101010101" pitchFamily="2" charset="-122"/>
              </a:rPr>
              <a:t>M</a:t>
            </a:r>
            <a:r>
              <a:rPr lang="zh-CN" altLang="en-US" sz="2800" b="1">
                <a:latin typeface="宋体" panose="02010600030101010101" pitchFamily="2" charset="-122"/>
              </a:rPr>
              <a:t>字节。在每一层上需要加一个</a:t>
            </a:r>
            <a:r>
              <a:rPr lang="en-US" altLang="zh-CN" sz="2800" b="1">
                <a:latin typeface="宋体" panose="02010600030101010101" pitchFamily="2" charset="-122"/>
              </a:rPr>
              <a:t>h</a:t>
            </a:r>
            <a:r>
              <a:rPr lang="zh-CN" altLang="en-US" sz="2800" b="1">
                <a:latin typeface="宋体" panose="02010600030101010101" pitchFamily="2" charset="-122"/>
              </a:rPr>
              <a:t>字节的头。试问报头所占网络带宽的比例是多少？</a:t>
            </a:r>
          </a:p>
          <a:p>
            <a:pPr eaLnBrk="1" hangingPunct="1">
              <a:lnSpc>
                <a:spcPct val="90000"/>
              </a:lnSpc>
            </a:pPr>
            <a:endParaRPr lang="zh-CN" altLang="en-US" sz="28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latin typeface="宋体" panose="02010600030101010101" pitchFamily="2" charset="-122"/>
              </a:rPr>
              <a:t>当有</a:t>
            </a:r>
            <a:r>
              <a:rPr lang="en-US" altLang="zh-CN" sz="2800" b="1">
                <a:latin typeface="宋体" panose="02010600030101010101" pitchFamily="2" charset="-122"/>
              </a:rPr>
              <a:t>n</a:t>
            </a:r>
            <a:r>
              <a:rPr lang="zh-CN" altLang="en-US" sz="2800" b="1">
                <a:latin typeface="宋体" panose="02010600030101010101" pitchFamily="2" charset="-122"/>
              </a:rPr>
              <a:t>层，每层增加一个</a:t>
            </a:r>
            <a:r>
              <a:rPr lang="en-US" altLang="zh-CN" sz="2800" b="1">
                <a:latin typeface="宋体" panose="02010600030101010101" pitchFamily="2" charset="-122"/>
              </a:rPr>
              <a:t>h</a:t>
            </a:r>
            <a:r>
              <a:rPr lang="zh-CN" altLang="en-US" sz="2800" b="1">
                <a:latin typeface="宋体" panose="02010600030101010101" pitchFamily="2" charset="-122"/>
              </a:rPr>
              <a:t>字节的头时，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  封装</a:t>
            </a:r>
            <a:r>
              <a:rPr lang="en-US" altLang="zh-CN" sz="2800" b="1">
                <a:latin typeface="宋体" panose="02010600030101010101" pitchFamily="2" charset="-122"/>
              </a:rPr>
              <a:t>n</a:t>
            </a:r>
            <a:r>
              <a:rPr lang="zh-CN" altLang="en-US" sz="2800" b="1">
                <a:latin typeface="宋体" panose="02010600030101010101" pitchFamily="2" charset="-122"/>
              </a:rPr>
              <a:t>层后的这些头部共占</a:t>
            </a:r>
            <a:r>
              <a:rPr lang="en-US" altLang="zh-CN" sz="2800" b="1">
                <a:latin typeface="宋体" panose="02010600030101010101" pitchFamily="2" charset="-122"/>
              </a:rPr>
              <a:t>hn</a:t>
            </a:r>
            <a:r>
              <a:rPr lang="zh-CN" altLang="en-US" sz="2800" b="1">
                <a:latin typeface="宋体" panose="02010600030101010101" pitchFamily="2" charset="-122"/>
              </a:rPr>
              <a:t>个字节，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  封装</a:t>
            </a:r>
            <a:r>
              <a:rPr lang="en-US" altLang="zh-CN" sz="2800" b="1">
                <a:latin typeface="宋体" panose="02010600030101010101" pitchFamily="2" charset="-122"/>
              </a:rPr>
              <a:t>n</a:t>
            </a:r>
            <a:r>
              <a:rPr lang="zh-CN" altLang="en-US" sz="2800" b="1">
                <a:latin typeface="宋体" panose="02010600030101010101" pitchFamily="2" charset="-122"/>
              </a:rPr>
              <a:t>层后整个消息共占</a:t>
            </a:r>
            <a:r>
              <a:rPr lang="en-US" altLang="zh-CN" sz="2800" b="1">
                <a:latin typeface="宋体" panose="02010600030101010101" pitchFamily="2" charset="-122"/>
              </a:rPr>
              <a:t>M+hn</a:t>
            </a:r>
            <a:r>
              <a:rPr lang="zh-CN" altLang="en-US" sz="2800" b="1">
                <a:latin typeface="宋体" panose="02010600030101010101" pitchFamily="2" charset="-122"/>
              </a:rPr>
              <a:t>个字节，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  所以，这些头需要占用网络带宽的比例为</a:t>
            </a:r>
            <a:r>
              <a:rPr lang="en-US" altLang="zh-CN" sz="2800" b="1">
                <a:latin typeface="宋体" panose="02010600030101010101" pitchFamily="2" charset="-122"/>
              </a:rPr>
              <a:t>hn/(M+hn)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82187056-D5F7-8173-BCF7-A8B7B65047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Ch1 </a:t>
            </a:r>
            <a:r>
              <a:rPr lang="zh-CN" altLang="en-US" b="1">
                <a:latin typeface="宋体" panose="02010600030101010101" pitchFamily="2" charset="-122"/>
              </a:rPr>
              <a:t>概述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EFB86B31-04A1-E5B7-C43C-CFE0E00668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12875"/>
            <a:ext cx="7772400" cy="46910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宋体" panose="02010600030101010101" pitchFamily="2" charset="-122"/>
              </a:rPr>
              <a:t>32</a:t>
            </a:r>
            <a:r>
              <a:rPr lang="zh-CN" altLang="en-US" sz="2400" b="1" dirty="0">
                <a:latin typeface="宋体" panose="02010600030101010101" pitchFamily="2" charset="-122"/>
              </a:rPr>
              <a:t>．当在两台计算机之间传输一个文件时，可能会有两种不同的确认策略。在第一种策略中，该文件被分解成许多个分组，接收方会独立地确认每一个分组，但是文件传输过程作为整体并没有被确认。在第二种策略中，这些分组并没有被单独地确认，但是当整个文件达到的时候，他会被确认。请讨论这两种方案。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如果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网络丢包率高</a:t>
            </a:r>
            <a:r>
              <a:rPr lang="zh-CN" altLang="en-US" sz="2400" b="1" dirty="0">
                <a:latin typeface="宋体" panose="02010600030101010101" pitchFamily="2" charset="-122"/>
              </a:rPr>
              <a:t>时，接收方独立地确认每一个分组方案更好。由于只有丢失的包需要重传。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如果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网络很可靠</a:t>
            </a:r>
            <a:r>
              <a:rPr lang="zh-CN" altLang="en-US" sz="2400" b="1" dirty="0">
                <a:latin typeface="宋体" panose="02010600030101010101" pitchFamily="2" charset="-122"/>
              </a:rPr>
              <a:t>时，整个文件到达时被确认，从而减少了确认次数，节省带宽，这种方案更好，不过，即使一个分组丢失，也需要重传整个文件。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D7196C19-F837-0F64-79DA-47C52A716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Ch1 </a:t>
            </a:r>
            <a:r>
              <a:rPr lang="zh-CN" altLang="en-US" b="1">
                <a:latin typeface="宋体" panose="02010600030101010101" pitchFamily="2" charset="-122"/>
              </a:rPr>
              <a:t>概述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D7E97A4-B5F6-D500-6C2E-8770A705E4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268413"/>
            <a:ext cx="8135937" cy="4906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补充</a:t>
            </a:r>
            <a:r>
              <a:rPr lang="en-US" altLang="zh-CN" sz="2800" b="1" dirty="0"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</a:rPr>
              <a:t>．试问使用分层协议的两个理由是什么？使用分层协议的一个可能缺点是什么？</a:t>
            </a:r>
          </a:p>
          <a:p>
            <a:pPr eaLnBrk="1" hangingPunct="1">
              <a:lnSpc>
                <a:spcPct val="90000"/>
              </a:lnSpc>
            </a:pP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使用分层协议的理由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</a:t>
            </a:r>
            <a:r>
              <a:rPr lang="en-US" altLang="zh-CN" sz="2800" b="1" dirty="0"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</a:rPr>
              <a:t>）降低网路设计的复杂性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</a:t>
            </a:r>
            <a:r>
              <a:rPr lang="en-US" altLang="zh-CN" sz="2800" b="1" dirty="0">
                <a:latin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</a:rPr>
              <a:t>）当某一层协议发生改变后不影响上下层协议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使用分层协议的</a:t>
            </a:r>
            <a:r>
              <a:rPr lang="zh-CN" altLang="en-US" sz="2800" b="1" dirty="0"/>
              <a:t>一个可能</a:t>
            </a:r>
            <a:r>
              <a:rPr lang="zh-CN" altLang="en-US" sz="2800" b="1" dirty="0">
                <a:latin typeface="宋体" panose="02010600030101010101" pitchFamily="2" charset="-122"/>
              </a:rPr>
              <a:t>缺点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/>
              <a:t>   使用分层协议的性能可能比使用单层协议的</a:t>
            </a:r>
            <a:r>
              <a:rPr lang="zh-CN" altLang="en-US" sz="2800" b="1" dirty="0">
                <a:solidFill>
                  <a:srgbClr val="FF0000"/>
                </a:solidFill>
              </a:rPr>
              <a:t>性能</a:t>
            </a:r>
            <a:r>
              <a:rPr lang="zh-CN" altLang="en-US" sz="2800" b="1" dirty="0"/>
              <a:t>差一些，但</a:t>
            </a:r>
            <a:r>
              <a:rPr lang="zh-CN" altLang="en-US" sz="2800" b="1" dirty="0">
                <a:latin typeface="宋体" panose="02010600030101010101" pitchFamily="2" charset="-122"/>
              </a:rPr>
              <a:t>实现和管理单层协议系统非常困难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5EB9D5E2-4FDD-F604-56BB-B2FE47FEAE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Ch1 </a:t>
            </a:r>
            <a:r>
              <a:rPr lang="zh-CN" altLang="en-US" b="1">
                <a:latin typeface="宋体" panose="02010600030101010101" pitchFamily="2" charset="-122"/>
              </a:rPr>
              <a:t>概述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0D8E93A-9957-3074-5607-313F325044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268413"/>
            <a:ext cx="7772400" cy="4835525"/>
          </a:xfrm>
        </p:spPr>
        <p:txBody>
          <a:bodyPr/>
          <a:lstStyle/>
          <a:p>
            <a:pPr eaLnBrk="1" hangingPunct="1"/>
            <a:r>
              <a:rPr lang="zh-CN" altLang="en-US" sz="2800" b="1">
                <a:latin typeface="宋体" panose="02010600030101010101" pitchFamily="2" charset="-122"/>
              </a:rPr>
              <a:t>补充</a:t>
            </a:r>
            <a:r>
              <a:rPr lang="en-US" altLang="zh-CN" sz="2800" b="1">
                <a:latin typeface="宋体" panose="02010600030101010101" pitchFamily="2" charset="-122"/>
              </a:rPr>
              <a:t>2</a:t>
            </a:r>
            <a:r>
              <a:rPr lang="zh-CN" altLang="en-US" sz="2800" b="1">
                <a:latin typeface="宋体" panose="02010600030101010101" pitchFamily="2" charset="-122"/>
              </a:rPr>
              <a:t>．试问</a:t>
            </a:r>
            <a:r>
              <a:rPr lang="en-US" altLang="zh-CN" sz="2800" b="1">
                <a:latin typeface="宋体" panose="02010600030101010101" pitchFamily="2" charset="-122"/>
              </a:rPr>
              <a:t>TCP</a:t>
            </a:r>
            <a:r>
              <a:rPr lang="zh-CN" altLang="en-US" sz="2800" b="1">
                <a:latin typeface="宋体" panose="02010600030101010101" pitchFamily="2" charset="-122"/>
              </a:rPr>
              <a:t>和</a:t>
            </a:r>
            <a:r>
              <a:rPr lang="en-US" altLang="zh-CN" sz="2800" b="1">
                <a:latin typeface="宋体" panose="02010600030101010101" pitchFamily="2" charset="-122"/>
              </a:rPr>
              <a:t>UDP</a:t>
            </a:r>
            <a:r>
              <a:rPr lang="zh-CN" altLang="en-US" sz="2800" b="1">
                <a:latin typeface="宋体" panose="02010600030101010101" pitchFamily="2" charset="-122"/>
              </a:rPr>
              <a:t>的主要区别是什么？</a:t>
            </a:r>
          </a:p>
          <a:p>
            <a:pPr eaLnBrk="1" hangingPunct="1"/>
            <a:endParaRPr lang="zh-CN" altLang="en-US" sz="2800" b="1">
              <a:latin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latin typeface="宋体" panose="02010600030101010101" pitchFamily="2" charset="-122"/>
              </a:rPr>
              <a:t>TCP</a:t>
            </a:r>
            <a:r>
              <a:rPr lang="zh-CN" altLang="en-US" sz="2800" b="1">
                <a:latin typeface="宋体" panose="02010600030101010101" pitchFamily="2" charset="-122"/>
              </a:rPr>
              <a:t>是面向连接的可靠的，而</a:t>
            </a:r>
            <a:r>
              <a:rPr lang="en-US" altLang="zh-CN" sz="2800" b="1">
                <a:latin typeface="宋体" panose="02010600030101010101" pitchFamily="2" charset="-122"/>
              </a:rPr>
              <a:t>UDP</a:t>
            </a:r>
            <a:r>
              <a:rPr lang="zh-CN" altLang="en-US" sz="2800" b="1">
                <a:latin typeface="宋体" panose="02010600030101010101" pitchFamily="2" charset="-122"/>
              </a:rPr>
              <a:t>是无连接的不可靠的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622</TotalTime>
  <Words>1072</Words>
  <Application>Microsoft Office PowerPoint</Application>
  <PresentationFormat>全屏显示(4:3)</PresentationFormat>
  <Paragraphs>86</Paragraphs>
  <Slides>11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宋体</vt:lpstr>
      <vt:lpstr>DengXian</vt:lpstr>
      <vt:lpstr>Arial</vt:lpstr>
      <vt:lpstr>Tahoma</vt:lpstr>
      <vt:lpstr>Times</vt:lpstr>
      <vt:lpstr>Wingdings</vt:lpstr>
      <vt:lpstr>Blends</vt:lpstr>
      <vt:lpstr>公式</vt:lpstr>
      <vt:lpstr>《计算机网络》习题课</vt:lpstr>
      <vt:lpstr>Ch1 概述</vt:lpstr>
      <vt:lpstr>Ch1 概述</vt:lpstr>
      <vt:lpstr>Ch1 概述</vt:lpstr>
      <vt:lpstr>Ch1 概述</vt:lpstr>
      <vt:lpstr>Ch1 概述</vt:lpstr>
      <vt:lpstr>Ch1 概述</vt:lpstr>
      <vt:lpstr>Ch1 概述</vt:lpstr>
      <vt:lpstr>Ch1 概述</vt:lpstr>
      <vt:lpstr>Ch1 概述</vt:lpstr>
      <vt:lpstr>Ch1 概述</vt:lpstr>
    </vt:vector>
  </TitlesOfParts>
  <Company>bjut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计算机网络作业答案</dc:title>
  <dc:creator>renxt</dc:creator>
  <cp:lastModifiedBy>LC State</cp:lastModifiedBy>
  <cp:revision>248</cp:revision>
  <dcterms:created xsi:type="dcterms:W3CDTF">2007-03-15T10:32:50Z</dcterms:created>
  <dcterms:modified xsi:type="dcterms:W3CDTF">2026-01-06T07:13:41Z</dcterms:modified>
</cp:coreProperties>
</file>