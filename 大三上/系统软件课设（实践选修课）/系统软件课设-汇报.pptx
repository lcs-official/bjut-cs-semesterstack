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8" r:id="rId3"/>
    <p:sldId id="272" r:id="rId4"/>
    <p:sldId id="270" r:id="rId5"/>
    <p:sldId id="271" r:id="rId6"/>
    <p:sldId id="259" r:id="rId7"/>
    <p:sldId id="273" r:id="rId8"/>
    <p:sldId id="260" r:id="rId9"/>
    <p:sldId id="261" r:id="rId10"/>
    <p:sldId id="274" r:id="rId11"/>
    <p:sldId id="275" r:id="rId12"/>
    <p:sldId id="276" r:id="rId13"/>
    <p:sldId id="262" r:id="rId14"/>
    <p:sldId id="277" r:id="rId15"/>
    <p:sldId id="263" r:id="rId16"/>
    <p:sldId id="264" r:id="rId17"/>
    <p:sldId id="278" r:id="rId18"/>
    <p:sldId id="266" r:id="rId19"/>
    <p:sldId id="268" r:id="rId20"/>
  </p:sldIdLst>
  <p:sldSz cx="12192000" cy="6858000"/>
  <p:notesSz cx="6858000" cy="9144000"/>
  <p:embeddedFontLst>
    <p:embeddedFont>
      <p:font typeface="Consolas" panose="020B0609020204030204" pitchFamily="49" charset="0"/>
      <p:regular r:id="rId22"/>
      <p:bold r:id="rId23"/>
      <p:italic r:id="rId24"/>
      <p:boldItalic r:id="rId25"/>
    </p:embeddedFont>
    <p:embeddedFont>
      <p:font typeface="Urbanist" panose="02010600030101010101" charset="0"/>
      <p:regular r:id="rId26"/>
      <p:bold r:id="rId27"/>
      <p:italic r:id="rId28"/>
      <p:boldItalic r:id="rId29"/>
    </p:embeddedFont>
    <p:embeddedFont>
      <p:font typeface="Urbanist SemiBold" panose="02010600030101010101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E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34" autoAdjust="0"/>
    <p:restoredTop sz="95861" autoAdjust="0"/>
  </p:normalViewPr>
  <p:slideViewPr>
    <p:cSldViewPr snapToGrid="0">
      <p:cViewPr varScale="1">
        <p:scale>
          <a:sx n="133" d="100"/>
          <a:sy n="133" d="100"/>
        </p:scale>
        <p:origin x="747" y="7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8669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6058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5003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41886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34968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31042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98804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0251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55094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8125" y="2366069"/>
            <a:ext cx="11715750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Linux</a:t>
            </a:r>
            <a:r>
              <a:rPr lang="en-US" sz="4800" b="1" i="0" u="none" strike="noStrike" cap="none" dirty="0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4800" b="1" i="0" u="none" strike="noStrike" cap="none" dirty="0" err="1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内核时间管理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 dirty="0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4800" b="1" i="0" u="none" strike="noStrike" cap="none" dirty="0" err="1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源码深度分析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476250" y="3897510"/>
            <a:ext cx="11239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基于</a:t>
            </a:r>
            <a:r>
              <a:rPr lang="en-US" sz="1800" b="0" i="0" u="none" strike="noStrike" cap="none" dirty="0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linux</a:t>
            </a:r>
            <a:r>
              <a:rPr lang="en-US" sz="1800" b="0" i="0" u="none" strike="noStrike" cap="none" dirty="0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/arch/i386/kernel/</a:t>
            </a:r>
            <a:r>
              <a:rPr lang="en-US" sz="1800" b="0" i="0" u="none" strike="noStrike" cap="none" dirty="0" err="1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time.c</a:t>
            </a:r>
            <a:r>
              <a:rPr lang="en-US" sz="1800" b="0" i="0" u="none" strike="noStrike" cap="none" dirty="0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和 </a:t>
            </a:r>
            <a:r>
              <a:rPr lang="en-US" sz="1800" b="0" i="0" u="none" strike="noStrike" cap="none" dirty="0" err="1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linux</a:t>
            </a:r>
            <a:r>
              <a:rPr lang="en-US" sz="1800" b="0" i="0" u="none" strike="noStrike" cap="none" dirty="0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/kernel/</a:t>
            </a:r>
            <a:r>
              <a:rPr lang="en-US" sz="1800" b="0" i="0" u="none" strike="noStrike" cap="none" dirty="0" err="1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timer.c</a:t>
            </a:r>
            <a:endParaRPr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9E009A0-3B84-ABAF-B59F-D4DF7642A2AF}"/>
              </a:ext>
            </a:extLst>
          </p:cNvPr>
          <p:cNvSpPr txBox="1"/>
          <p:nvPr/>
        </p:nvSpPr>
        <p:spPr>
          <a:xfrm>
            <a:off x="11076317" y="6308786"/>
            <a:ext cx="7024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6BEFE2"/>
                </a:solidFill>
              </a:rPr>
              <a:t>By LC</a:t>
            </a:r>
            <a:endParaRPr lang="zh-CN" altLang="en-US" b="1" dirty="0">
              <a:solidFill>
                <a:srgbClr val="6BEFE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2567511" y="2176115"/>
            <a:ext cx="7056975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第一部分</a:t>
            </a:r>
            <a:endParaRPr lang="en-US" sz="5400" b="1" dirty="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54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系统时钟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初始化</a:t>
            </a:r>
            <a:endParaRPr dirty="0"/>
          </a:p>
        </p:txBody>
      </p:sp>
      <p:sp>
        <p:nvSpPr>
          <p:cNvPr id="2" name="Google Shape;157;p18">
            <a:extLst>
              <a:ext uri="{FF2B5EF4-FFF2-40B4-BE49-F238E27FC236}">
                <a16:creationId xmlns:a16="http://schemas.microsoft.com/office/drawing/2014/main" id="{2F9F075E-05A5-713E-6520-40262BFD21B1}"/>
              </a:ext>
            </a:extLst>
          </p:cNvPr>
          <p:cNvSpPr/>
          <p:nvPr/>
        </p:nvSpPr>
        <p:spPr>
          <a:xfrm>
            <a:off x="5619749" y="3939481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58;p18">
            <a:extLst>
              <a:ext uri="{FF2B5EF4-FFF2-40B4-BE49-F238E27FC236}">
                <a16:creationId xmlns:a16="http://schemas.microsoft.com/office/drawing/2014/main" id="{47E89624-0C75-3BFA-B655-D023FF4B1393}"/>
              </a:ext>
            </a:extLst>
          </p:cNvPr>
          <p:cNvSpPr txBox="1"/>
          <p:nvPr/>
        </p:nvSpPr>
        <p:spPr>
          <a:xfrm>
            <a:off x="4719637" y="3998565"/>
            <a:ext cx="27527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time_init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72350" y="814240"/>
            <a:ext cx="4343400" cy="5567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666750" y="476250"/>
            <a:ext cx="115252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150" b="0" i="0" u="none" strike="noStrike" cap="none" dirty="0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系统时钟初始化 </a:t>
            </a:r>
            <a:r>
              <a:rPr lang="en-US" altLang="zh-CN" sz="3150" b="0" i="0" u="none" strike="noStrike" cap="none" dirty="0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– </a:t>
            </a:r>
            <a:r>
              <a:rPr lang="zh-CN" altLang="en-US" sz="3150" b="0" i="0" u="none" strike="noStrike" cap="none" dirty="0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总</a:t>
            </a:r>
            <a:r>
              <a:rPr lang="zh-CN" altLang="en-US" sz="3150" dirty="0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述</a:t>
            </a:r>
            <a:endParaRPr dirty="0"/>
          </a:p>
        </p:txBody>
      </p:sp>
      <p:sp>
        <p:nvSpPr>
          <p:cNvPr id="100" name="Google Shape;100;p14"/>
          <p:cNvSpPr/>
          <p:nvPr/>
        </p:nvSpPr>
        <p:spPr>
          <a:xfrm>
            <a:off x="476250" y="476250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118;p16" descr="image.png">
            <a:extLst>
              <a:ext uri="{FF2B5EF4-FFF2-40B4-BE49-F238E27FC236}">
                <a16:creationId xmlns:a16="http://schemas.microsoft.com/office/drawing/2014/main" id="{95787017-9772-EAC5-D4E0-2916EE9C813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2300" y="1537274"/>
            <a:ext cx="8921750" cy="459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1F37964-4A7A-DC3E-07E2-B8E11EA943D1}"/>
              </a:ext>
            </a:extLst>
          </p:cNvPr>
          <p:cNvSpPr txBox="1"/>
          <p:nvPr/>
        </p:nvSpPr>
        <p:spPr>
          <a:xfrm>
            <a:off x="960688" y="1636189"/>
            <a:ext cx="8500993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10B981"/>
                </a:solidFill>
                <a:latin typeface="Urbanist"/>
                <a:cs typeface="Urbanist"/>
              </a:rPr>
              <a:t>核心任务</a:t>
            </a:r>
            <a:endParaRPr lang="en-US" altLang="zh-CN" sz="2000" b="1" dirty="0">
              <a:solidFill>
                <a:srgbClr val="10B981"/>
              </a:solidFill>
              <a:latin typeface="Urbanist"/>
              <a:cs typeface="Urbanist"/>
            </a:endParaRPr>
          </a:p>
          <a:p>
            <a:endParaRPr lang="zh-CN" altLang="en-US" sz="1500" b="1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确立时间基准 </a:t>
            </a:r>
            <a:endParaRPr lang="en-US" altLang="zh-CN" sz="1500" b="1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动作：读取 CMOS/RTC 芯片。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目的：查看当前时间。将硬件记录的“年月日时分秒”转换为内核的 Wall Time ，存入 xtime 变量。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zh-CN" altLang="en-US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校准 CPU 频率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动作：利用慢速的 PIT 去测量快速的 TSC 。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目的：测量 CPU 的运行速度。计算出精确的 CPU 频率 (cpu_khz)，为后续的高精度计时提供标尺。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zh-CN" altLang="en-US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激活系统心跳 </a:t>
            </a:r>
            <a:endParaRPr lang="en-US" altLang="zh-CN" sz="1500" b="1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动作：调用 setup_irq(0, ...)。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目的：注册 IRQ 0 中断处理函数。一旦完成，硬件时钟的每一次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tick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都会触发内核的 timer_interrupt，标志着操作系统“生命特征”的开始。</a:t>
            </a:r>
          </a:p>
        </p:txBody>
      </p:sp>
      <p:pic>
        <p:nvPicPr>
          <p:cNvPr id="7" name="Google Shape;128;p16" descr="image.png">
            <a:extLst>
              <a:ext uri="{FF2B5EF4-FFF2-40B4-BE49-F238E27FC236}">
                <a16:creationId xmlns:a16="http://schemas.microsoft.com/office/drawing/2014/main" id="{746A6F6C-20E9-60CE-66AD-32166A29A64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0188" y="2252869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28;p16" descr="image.png">
            <a:extLst>
              <a:ext uri="{FF2B5EF4-FFF2-40B4-BE49-F238E27FC236}">
                <a16:creationId xmlns:a16="http://schemas.microsoft.com/office/drawing/2014/main" id="{8D52746C-78B9-9169-3C0A-33D64AF440D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0188" y="3634829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8;p16" descr="image.png">
            <a:extLst>
              <a:ext uri="{FF2B5EF4-FFF2-40B4-BE49-F238E27FC236}">
                <a16:creationId xmlns:a16="http://schemas.microsoft.com/office/drawing/2014/main" id="{5AF36559-3A27-99EA-D2A9-D964DE62406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0188" y="5001879"/>
            <a:ext cx="95250" cy="152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94FB027-A16A-5E41-E04B-47031547F56B}"/>
              </a:ext>
            </a:extLst>
          </p:cNvPr>
          <p:cNvCxnSpPr/>
          <p:nvPr/>
        </p:nvCxnSpPr>
        <p:spPr>
          <a:xfrm>
            <a:off x="865438" y="2072309"/>
            <a:ext cx="835310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420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72350" y="814240"/>
            <a:ext cx="4343400" cy="5567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666750" y="476250"/>
            <a:ext cx="115252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150" b="0" i="0" u="none" strike="noStrike" cap="none" dirty="0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时钟数据结构与变量定义</a:t>
            </a:r>
            <a:endParaRPr dirty="0"/>
          </a:p>
        </p:txBody>
      </p:sp>
      <p:sp>
        <p:nvSpPr>
          <p:cNvPr id="100" name="Google Shape;100;p14"/>
          <p:cNvSpPr/>
          <p:nvPr/>
        </p:nvSpPr>
        <p:spPr>
          <a:xfrm>
            <a:off x="476250" y="476250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118;p16" descr="image.png">
            <a:extLst>
              <a:ext uri="{FF2B5EF4-FFF2-40B4-BE49-F238E27FC236}">
                <a16:creationId xmlns:a16="http://schemas.microsoft.com/office/drawing/2014/main" id="{817723E3-BD9C-AC63-3550-38B6F5EAF8A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874" y="2241274"/>
            <a:ext cx="4828347" cy="3250096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E35F6F94-D53D-9F2A-2F92-2C384DEABCA9}"/>
              </a:ext>
            </a:extLst>
          </p:cNvPr>
          <p:cNvSpPr txBox="1"/>
          <p:nvPr/>
        </p:nvSpPr>
        <p:spPr>
          <a:xfrm>
            <a:off x="741295" y="2355046"/>
            <a:ext cx="4476748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10B981"/>
                </a:solidFill>
                <a:latin typeface="Urbanist"/>
                <a:cs typeface="Urbanist"/>
              </a:rPr>
              <a:t>核心数据结构</a:t>
            </a:r>
            <a:endParaRPr lang="en-US" altLang="zh-CN" sz="2000" b="1" dirty="0">
              <a:solidFill>
                <a:srgbClr val="10B981"/>
              </a:solidFill>
              <a:latin typeface="Urbanist"/>
              <a:ea typeface="Urbanist"/>
              <a:cs typeface="Urbanist"/>
            </a:endParaRPr>
          </a:p>
          <a:p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xtime (struct timeval)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定义：内核中的 Wall Time。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结构：包含 tv_sec (秒) 和 tv_usec (微秒)。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作用：记录从 1970年1月1日 至今的时间。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zh-CN" altLang="en-US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jiffies (unsigned long)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定义：系统启动以来的“心跳总数”。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作用：每次时钟中断 (timer_interrupt) 发生时加 1。用于计算时间流逝和简单的定时。</a:t>
            </a:r>
          </a:p>
        </p:txBody>
      </p:sp>
      <p:pic>
        <p:nvPicPr>
          <p:cNvPr id="27" name="Google Shape;118;p16" descr="image.png">
            <a:extLst>
              <a:ext uri="{FF2B5EF4-FFF2-40B4-BE49-F238E27FC236}">
                <a16:creationId xmlns:a16="http://schemas.microsoft.com/office/drawing/2014/main" id="{D8F4C5C1-9ED9-C8B0-2198-F48D75CC8EA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00190" y="894935"/>
            <a:ext cx="5167935" cy="5377694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CB294A8-6DDE-7B37-945B-DFF0CCDC37E0}"/>
              </a:ext>
            </a:extLst>
          </p:cNvPr>
          <p:cNvSpPr txBox="1"/>
          <p:nvPr/>
        </p:nvSpPr>
        <p:spPr>
          <a:xfrm>
            <a:off x="6692346" y="966505"/>
            <a:ext cx="4832903" cy="5370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10B981"/>
                </a:solidFill>
                <a:latin typeface="Urbanist"/>
                <a:cs typeface="Urbanist"/>
              </a:rPr>
              <a:t>硬件层面 核心变量</a:t>
            </a:r>
            <a:endParaRPr lang="en-US" altLang="zh-CN" sz="2000" b="1" dirty="0">
              <a:solidFill>
                <a:srgbClr val="10B981"/>
              </a:solidFill>
              <a:latin typeface="Urbanist"/>
              <a:cs typeface="Urbanist"/>
            </a:endParaRPr>
          </a:p>
          <a:p>
            <a:endParaRPr lang="en-US" altLang="zh-CN" sz="1800" b="1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RTC (</a:t>
            </a:r>
            <a:r>
              <a:rPr lang="zh-CN" altLang="en-US" sz="1500" b="1" dirty="0">
                <a:solidFill>
                  <a:srgbClr val="00B0F0"/>
                </a:solidFill>
                <a:latin typeface="Urbanist"/>
                <a:cs typeface="Urbanist"/>
              </a:rPr>
              <a:t>提供“开机那一刻”的真实时间</a:t>
            </a:r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)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定义：基于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CMOS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芯片的独立硬件时钟。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特性：由主板电池独立供电，系统断电仍能持续计时。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功能：维护物理世界的绝对时间。在系统启动阶段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(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cs typeface="Urbanist"/>
              </a:rPr>
              <a:t>time_init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)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，内核读取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RTC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以初始化 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cs typeface="Urbanist"/>
              </a:rPr>
              <a:t>xtime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zh-CN" altLang="en-US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PIT (</a:t>
            </a:r>
            <a:r>
              <a:rPr lang="zh-CN" altLang="en-US" sz="1500" b="1" dirty="0">
                <a:solidFill>
                  <a:srgbClr val="00B0F0"/>
                </a:solidFill>
                <a:latin typeface="Urbanist"/>
                <a:cs typeface="Urbanist"/>
              </a:rPr>
              <a:t>提供稳定、慢速、可预期的节拍</a:t>
            </a:r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)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定义：可编程间隔定时器。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特性：能够以软件设定的频率产生周期性的脉冲信号。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功能：系统时间驱动的核心。它周期性地触发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IRQ 0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中断，驱动操作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 System Tick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，从而维持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jiffies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计数并触发进程调度。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zh-CN" altLang="en-US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TSC (</a:t>
            </a:r>
            <a:r>
              <a:rPr lang="zh-CN" altLang="en-US" sz="1500" b="1" dirty="0">
                <a:solidFill>
                  <a:srgbClr val="00B0F0"/>
                </a:solidFill>
                <a:latin typeface="Urbanist"/>
                <a:cs typeface="Urbanist"/>
              </a:rPr>
              <a:t>提供高速、精细的时间测量</a:t>
            </a:r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)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定义：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CPU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内部的高精度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64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位寄存器。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特性：记录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CPU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自上电复位以来经过的时钟周期总数，频率与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CPU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主频一致。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功能：提供指令周期级的高分辨率计时能力。主要用于微秒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/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纳秒级的时间测量、性能分析以及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CPU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频率的校准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(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cs typeface="Urbanist"/>
              </a:rPr>
              <a:t>calibrate_tsc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)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。</a:t>
            </a:r>
          </a:p>
        </p:txBody>
      </p:sp>
      <p:pic>
        <p:nvPicPr>
          <p:cNvPr id="30" name="Google Shape;128;p16" descr="image.png">
            <a:extLst>
              <a:ext uri="{FF2B5EF4-FFF2-40B4-BE49-F238E27FC236}">
                <a16:creationId xmlns:a16="http://schemas.microsoft.com/office/drawing/2014/main" id="{1AEBE9C3-B910-1156-0EB2-1B135B02FF7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7278" y="298340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128;p16" descr="image.png">
            <a:extLst>
              <a:ext uri="{FF2B5EF4-FFF2-40B4-BE49-F238E27FC236}">
                <a16:creationId xmlns:a16="http://schemas.microsoft.com/office/drawing/2014/main" id="{2D12E532-618C-4DE4-F24A-69CE13B3B41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2662" y="4359973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128;p16" descr="image.png">
            <a:extLst>
              <a:ext uri="{FF2B5EF4-FFF2-40B4-BE49-F238E27FC236}">
                <a16:creationId xmlns:a16="http://schemas.microsoft.com/office/drawing/2014/main" id="{27F39950-6E30-6B0D-ABAE-E54D52EC587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97096" y="1631674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128;p16" descr="image.png">
            <a:extLst>
              <a:ext uri="{FF2B5EF4-FFF2-40B4-BE49-F238E27FC236}">
                <a16:creationId xmlns:a16="http://schemas.microsoft.com/office/drawing/2014/main" id="{7B9E0B86-0E26-AFB2-C9F9-7EB49A38CBC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97915" y="299831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128;p16" descr="image.png">
            <a:extLst>
              <a:ext uri="{FF2B5EF4-FFF2-40B4-BE49-F238E27FC236}">
                <a16:creationId xmlns:a16="http://schemas.microsoft.com/office/drawing/2014/main" id="{4F100366-E96B-9A39-03B7-BDE337EE1FA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97096" y="4603957"/>
            <a:ext cx="95250" cy="152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2A331C4-AEF5-09EC-4F06-D420CD7CF2DD}"/>
              </a:ext>
            </a:extLst>
          </p:cNvPr>
          <p:cNvCxnSpPr>
            <a:cxnSpLocks/>
          </p:cNvCxnSpPr>
          <p:nvPr/>
        </p:nvCxnSpPr>
        <p:spPr>
          <a:xfrm>
            <a:off x="666750" y="2797866"/>
            <a:ext cx="4486689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237D30E-7F42-C0DB-5386-2C04C3F51737}"/>
              </a:ext>
            </a:extLst>
          </p:cNvPr>
          <p:cNvCxnSpPr>
            <a:cxnSpLocks/>
          </p:cNvCxnSpPr>
          <p:nvPr/>
        </p:nvCxnSpPr>
        <p:spPr>
          <a:xfrm>
            <a:off x="6692346" y="1431236"/>
            <a:ext cx="483290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128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666750" y="476250"/>
            <a:ext cx="115252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函数调用流程</a:t>
            </a:r>
            <a:endParaRPr dirty="0"/>
          </a:p>
        </p:txBody>
      </p:sp>
      <p:sp>
        <p:nvSpPr>
          <p:cNvPr id="100" name="Google Shape;100;p14"/>
          <p:cNvSpPr/>
          <p:nvPr/>
        </p:nvSpPr>
        <p:spPr>
          <a:xfrm>
            <a:off x="476250" y="476250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373B3A7-F5C3-389A-731B-1F6EE0701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6718" y="1253024"/>
            <a:ext cx="1714739" cy="4991797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E7088493-241E-F942-2CD4-8915E30AB1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4280453"/>
            <a:ext cx="6854468" cy="2301319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C198D58-E2D4-937D-BBC2-B07D3DE32361}"/>
              </a:ext>
            </a:extLst>
          </p:cNvPr>
          <p:cNvSpPr txBox="1"/>
          <p:nvPr/>
        </p:nvSpPr>
        <p:spPr>
          <a:xfrm>
            <a:off x="667192" y="4431586"/>
            <a:ext cx="65427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time_init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linux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/arch/i386/kernel/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time.c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├── 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get_cmos_time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│     └── </a:t>
            </a:r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读取 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RTC </a:t>
            </a:r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硬件时间，确立系统启动基准时间 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(Wall Time)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│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├── 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calibrate_tsc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│     └── </a:t>
            </a:r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利用慢速 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PIT </a:t>
            </a:r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校准快速 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TSC</a:t>
            </a:r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，计算出 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CPU </a:t>
            </a:r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精确频率</a:t>
            </a:r>
          </a:p>
          <a:p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│</a:t>
            </a:r>
          </a:p>
          <a:p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└── 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setup_irq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└── </a:t>
            </a:r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注册 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IRQ0 </a:t>
            </a:r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中断，绑定 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timer_interrupt</a:t>
            </a:r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，正式启动系统心跳</a:t>
            </a:r>
          </a:p>
        </p:txBody>
      </p:sp>
      <p:pic>
        <p:nvPicPr>
          <p:cNvPr id="6" name="Google Shape;118;p16" descr="image.png">
            <a:extLst>
              <a:ext uri="{FF2B5EF4-FFF2-40B4-BE49-F238E27FC236}">
                <a16:creationId xmlns:a16="http://schemas.microsoft.com/office/drawing/2014/main" id="{6467E4EB-A0EC-DFB9-D910-35399F1572E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8820" y="1348032"/>
            <a:ext cx="6829523" cy="274688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703FDC4-5FDF-1437-7C63-C904E0C1EE4C}"/>
              </a:ext>
            </a:extLst>
          </p:cNvPr>
          <p:cNvSpPr txBox="1"/>
          <p:nvPr/>
        </p:nvSpPr>
        <p:spPr>
          <a:xfrm>
            <a:off x="770283" y="1388917"/>
            <a:ext cx="6515100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确立基准 </a:t>
            </a:r>
            <a:r>
              <a:rPr lang="en-US" altLang="zh-CN" sz="1500" b="1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(Sync RTC)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系统启动时，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time_init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首先调用 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get_cmos_time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从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CMOS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芯片读取“年月日时分秒”，将其作为操作系统的初始墙钟时间（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Wall Time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）。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zh-CN" altLang="en-US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校准频率 </a:t>
            </a:r>
            <a:r>
              <a:rPr lang="en-US" altLang="zh-CN" sz="1500" b="1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(Calibrate TSC)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通过 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calibrate_tsc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函数，利用已知频率的硬件定时器（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PIT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）去测量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CPU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的时间戳计数器（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TSC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），从而精确计算出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CPU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的运行频率（即 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cpu_khz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）。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zh-CN" altLang="en-US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激活中断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最后调用 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setup_irq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注册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IRQ0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中断处理函数。至此，内核正式开始接收时钟中断，操作系统的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Tick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开始工作。</a:t>
            </a:r>
          </a:p>
        </p:txBody>
      </p:sp>
      <p:pic>
        <p:nvPicPr>
          <p:cNvPr id="7" name="Google Shape;128;p16" descr="image.png">
            <a:extLst>
              <a:ext uri="{FF2B5EF4-FFF2-40B4-BE49-F238E27FC236}">
                <a16:creationId xmlns:a16="http://schemas.microsoft.com/office/drawing/2014/main" id="{84C6A8FF-FF0C-137F-7652-35EC95D768C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5033" y="148258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28;p16" descr="image.png">
            <a:extLst>
              <a:ext uri="{FF2B5EF4-FFF2-40B4-BE49-F238E27FC236}">
                <a16:creationId xmlns:a16="http://schemas.microsoft.com/office/drawing/2014/main" id="{74E5B30E-F309-A4D8-EE43-E26A17637F4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5033" y="239212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8;p16" descr="image.png">
            <a:extLst>
              <a:ext uri="{FF2B5EF4-FFF2-40B4-BE49-F238E27FC236}">
                <a16:creationId xmlns:a16="http://schemas.microsoft.com/office/drawing/2014/main" id="{95D0CCA4-473C-2916-AB4C-1AB0197C1AD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5033" y="3301663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4766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1361649"/>
            <a:ext cx="5381625" cy="4522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7936" y="1366613"/>
            <a:ext cx="5381625" cy="452232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771524" y="1479883"/>
            <a:ext cx="183749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函数职责</a:t>
            </a:r>
            <a:endParaRPr dirty="0"/>
          </a:p>
        </p:txBody>
      </p:sp>
      <p:sp>
        <p:nvSpPr>
          <p:cNvPr id="122" name="Google Shape;122;p16"/>
          <p:cNvSpPr txBox="1"/>
          <p:nvPr/>
        </p:nvSpPr>
        <p:spPr>
          <a:xfrm>
            <a:off x="6637497" y="1499275"/>
            <a:ext cx="503062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关键代码</a:t>
            </a:r>
            <a:endParaRPr dirty="0"/>
          </a:p>
        </p:txBody>
      </p:sp>
      <p:sp>
        <p:nvSpPr>
          <p:cNvPr id="123" name="Google Shape;123;p16"/>
          <p:cNvSpPr txBox="1"/>
          <p:nvPr/>
        </p:nvSpPr>
        <p:spPr>
          <a:xfrm>
            <a:off x="1034176" y="2100459"/>
            <a:ext cx="45053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读取</a:t>
            </a:r>
            <a:r>
              <a:rPr 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CMOS </a:t>
            </a:r>
            <a:r>
              <a:rPr lang="en-US" sz="15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时间</a:t>
            </a:r>
            <a:r>
              <a:rPr 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作为系统启动时的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Wall Time。</a:t>
            </a:r>
            <a:endParaRPr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1034175" y="3514927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校准</a:t>
            </a:r>
            <a:r>
              <a:rPr 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TSC: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计算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CPU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频率，用于高精度计时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。</a:t>
            </a:r>
            <a:endParaRPr dirty="0"/>
          </a:p>
        </p:txBody>
      </p:sp>
      <p:sp>
        <p:nvSpPr>
          <p:cNvPr id="125" name="Google Shape;125;p16"/>
          <p:cNvSpPr txBox="1"/>
          <p:nvPr/>
        </p:nvSpPr>
        <p:spPr>
          <a:xfrm>
            <a:off x="1034176" y="4869972"/>
            <a:ext cx="46808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注册中断</a:t>
            </a:r>
            <a:r>
              <a:rPr 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设置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IRQ 0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的处理函数为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timer_interrupt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。</a:t>
            </a:r>
            <a:endParaRPr dirty="0"/>
          </a:p>
        </p:txBody>
      </p:sp>
      <p:sp>
        <p:nvSpPr>
          <p:cNvPr id="126" name="Google Shape;126;p16"/>
          <p:cNvSpPr txBox="1"/>
          <p:nvPr/>
        </p:nvSpPr>
        <p:spPr>
          <a:xfrm>
            <a:off x="666750" y="476250"/>
            <a:ext cx="115252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核心函数：time_init</a:t>
            </a:r>
            <a:endParaRPr dirty="0"/>
          </a:p>
        </p:txBody>
      </p:sp>
      <p:sp>
        <p:nvSpPr>
          <p:cNvPr id="127" name="Google Shape;127;p16"/>
          <p:cNvSpPr/>
          <p:nvPr/>
        </p:nvSpPr>
        <p:spPr>
          <a:xfrm>
            <a:off x="476250" y="476250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2252859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4" y="364413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4989035"/>
            <a:ext cx="95250" cy="152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10F62F-897F-58DB-1BFC-47D9F5082E01}"/>
              </a:ext>
            </a:extLst>
          </p:cNvPr>
          <p:cNvCxnSpPr>
            <a:cxnSpLocks/>
          </p:cNvCxnSpPr>
          <p:nvPr/>
        </p:nvCxnSpPr>
        <p:spPr>
          <a:xfrm>
            <a:off x="731354" y="1957999"/>
            <a:ext cx="480814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13644A3-1AEF-EE23-1CF0-8F442A67CDA5}"/>
              </a:ext>
            </a:extLst>
          </p:cNvPr>
          <p:cNvCxnSpPr>
            <a:cxnSpLocks/>
          </p:cNvCxnSpPr>
          <p:nvPr/>
        </p:nvCxnSpPr>
        <p:spPr>
          <a:xfrm>
            <a:off x="6637497" y="1957999"/>
            <a:ext cx="464521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25B7628D-0453-C6A9-32B1-5D5F4F6051ED}"/>
              </a:ext>
            </a:extLst>
          </p:cNvPr>
          <p:cNvSpPr txBox="1"/>
          <p:nvPr/>
        </p:nvSpPr>
        <p:spPr>
          <a:xfrm>
            <a:off x="6474559" y="2033123"/>
            <a:ext cx="514837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__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time_init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从硬件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RTC</a:t>
            </a:r>
            <a:r>
              <a:rPr lang="zh-CN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读取当前时间</a:t>
            </a:r>
            <a:br>
              <a:rPr lang="zh-CN" alt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zh-CN" alt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xtime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tv_sec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get_cmos_time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xtime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tv_usec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dodgy_tsc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zh-CN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检查是否有不稳定的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TSC (</a:t>
            </a:r>
            <a:r>
              <a:rPr lang="zh-CN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时间戳计数器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zh-CN" alt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zh-CN" alt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cpu_has_tsc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tsc_quotient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calibrate_tsc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zh-CN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校准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TSC</a:t>
            </a:r>
            <a:endParaRPr lang="en-US" altLang="zh-C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000" dirty="0">
                <a:solidFill>
                  <a:srgbClr val="6A9955"/>
                </a:solidFill>
                <a:latin typeface="Consolas" panose="020B0609020204030204" pitchFamily="49" charset="0"/>
              </a:rPr>
              <a:t>    //  ……  //</a:t>
            </a:r>
          </a:p>
          <a:p>
            <a:r>
              <a:rPr lang="en-US" altLang="zh-C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      // </a:t>
            </a:r>
            <a:r>
              <a:rPr lang="zh-CN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根据校准结果计算并报告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CPU</a:t>
            </a:r>
            <a:r>
              <a:rPr lang="zh-CN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频率</a:t>
            </a:r>
            <a:endParaRPr lang="zh-CN" alt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edx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zh-CN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asm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divl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%2"</a:t>
            </a:r>
            <a:endParaRPr lang="en-US" altLang="zh-C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: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"=a"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cpu_khz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"=d"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edx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: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tsc_quotient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edx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printk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"Detected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%lu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%03lu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MHz processor.</a:t>
            </a:r>
            <a:r>
              <a:rPr lang="en-US" altLang="zh-CN" sz="1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cpu_khz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cpu_khz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setup_irq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irq0);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zh-CN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注册时钟中断</a:t>
            </a:r>
            <a:endParaRPr lang="zh-CN" alt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666750" y="476250"/>
            <a:ext cx="115252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函数</a:t>
            </a:r>
            <a:r>
              <a:rPr lang="en-US" sz="3150" dirty="0" err="1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：</a:t>
            </a:r>
            <a:r>
              <a:rPr lang="en-US" altLang="zh-CN" sz="3150" dirty="0" err="1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</a:rPr>
              <a:t>get_cmos_time</a:t>
            </a:r>
            <a:endParaRPr sz="3150" dirty="0">
              <a:solidFill>
                <a:srgbClr val="F3F4F6"/>
              </a:solidFill>
              <a:latin typeface="Urbanist SemiBold"/>
              <a:ea typeface="Urbanist SemiBold"/>
              <a:cs typeface="Urbanist SemiBold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476250" y="476250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19;p16" descr="image.png">
            <a:extLst>
              <a:ext uri="{FF2B5EF4-FFF2-40B4-BE49-F238E27FC236}">
                <a16:creationId xmlns:a16="http://schemas.microsoft.com/office/drawing/2014/main" id="{52A67B55-E850-B046-7E5D-610D933B14C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6" y="2484873"/>
            <a:ext cx="5909960" cy="2337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684351" y="3221667"/>
            <a:ext cx="5000211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从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CMOS/RTC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芯片读取当前时间。</a:t>
            </a:r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4351" y="4088128"/>
            <a:ext cx="952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21;p16">
            <a:extLst>
              <a:ext uri="{FF2B5EF4-FFF2-40B4-BE49-F238E27FC236}">
                <a16:creationId xmlns:a16="http://schemas.microsoft.com/office/drawing/2014/main" id="{36632711-1762-CDA1-3FBD-C94CE3E5856C}"/>
              </a:ext>
            </a:extLst>
          </p:cNvPr>
          <p:cNvSpPr txBox="1"/>
          <p:nvPr/>
        </p:nvSpPr>
        <p:spPr>
          <a:xfrm>
            <a:off x="731976" y="2641958"/>
            <a:ext cx="183749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b="1" i="0" u="none" strike="noStrike" cap="none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主要</a:t>
            </a:r>
            <a:r>
              <a:rPr lang="en-US" sz="2100" b="1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职责</a:t>
            </a:r>
            <a:endParaRPr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B55397F-D546-249C-4A32-51094A01E867}"/>
              </a:ext>
            </a:extLst>
          </p:cNvPr>
          <p:cNvCxnSpPr>
            <a:cxnSpLocks/>
          </p:cNvCxnSpPr>
          <p:nvPr/>
        </p:nvCxnSpPr>
        <p:spPr>
          <a:xfrm>
            <a:off x="684351" y="3082799"/>
            <a:ext cx="5749484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F73244AE-61E4-1254-9F10-A6CC7E388F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9884" y="419121"/>
            <a:ext cx="1563809" cy="601975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13AC837-18C4-CE1B-0B56-2094E309DF7B}"/>
              </a:ext>
            </a:extLst>
          </p:cNvPr>
          <p:cNvSpPr txBox="1"/>
          <p:nvPr/>
        </p:nvSpPr>
        <p:spPr>
          <a:xfrm>
            <a:off x="814113" y="4010439"/>
            <a:ext cx="55386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500" dirty="0" err="1">
                <a:solidFill>
                  <a:srgbClr val="D1D5DB"/>
                </a:solidFill>
                <a:latin typeface="Urbanist"/>
                <a:cs typeface="Urbanist"/>
              </a:rPr>
              <a:t>get_cmos_time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通过安全窗口读取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RTC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，并转换为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Unix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时间戳</a:t>
            </a:r>
          </a:p>
        </p:txBody>
      </p:sp>
    </p:spTree>
    <p:extLst>
      <p:ext uri="{BB962C8B-B14F-4D97-AF65-F5344CB8AC3E}">
        <p14:creationId xmlns:p14="http://schemas.microsoft.com/office/powerpoint/2010/main" val="4195350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666750" y="476250"/>
            <a:ext cx="115252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核心函数：calibrate_tsc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476250" y="476250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19;p16" descr="image.png">
            <a:extLst>
              <a:ext uri="{FF2B5EF4-FFF2-40B4-BE49-F238E27FC236}">
                <a16:creationId xmlns:a16="http://schemas.microsoft.com/office/drawing/2014/main" id="{52A67B55-E850-B046-7E5D-610D933B14C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2150" y="1702004"/>
            <a:ext cx="5152818" cy="370238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632625" y="2388907"/>
            <a:ext cx="4903177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利用已知的慢速时钟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(PIT)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来测量未知的快速时钟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(TSC)</a:t>
            </a: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dirty="0">
                <a:solidFill>
                  <a:srgbClr val="00B0F0"/>
                </a:solidFill>
                <a:latin typeface="Urbanist"/>
                <a:cs typeface="Urbanist"/>
              </a:rPr>
              <a:t>在系统启动阶段，获取 </a:t>
            </a:r>
            <a:r>
              <a:rPr lang="en-US" altLang="zh-CN" sz="1500" dirty="0">
                <a:solidFill>
                  <a:srgbClr val="00B0F0"/>
                </a:solidFill>
                <a:latin typeface="Urbanist"/>
                <a:ea typeface="Urbanist"/>
                <a:cs typeface="Urbanist"/>
              </a:rPr>
              <a:t>CPU </a:t>
            </a:r>
            <a:r>
              <a:rPr lang="zh-CN" altLang="en-US" sz="1500" dirty="0">
                <a:solidFill>
                  <a:srgbClr val="00B0F0"/>
                </a:solidFill>
                <a:latin typeface="Urbanist"/>
                <a:cs typeface="Urbanist"/>
              </a:rPr>
              <a:t>的真实运行频率</a:t>
            </a:r>
            <a:endParaRPr sz="1500" dirty="0">
              <a:solidFill>
                <a:srgbClr val="00B0F0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960202" y="3197359"/>
            <a:ext cx="43367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准备</a:t>
            </a:r>
            <a:r>
              <a:rPr 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PIT: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设置一次性计数模式</a:t>
            </a:r>
            <a:endParaRPr dirty="0"/>
          </a:p>
        </p:txBody>
      </p:sp>
      <p:sp>
        <p:nvSpPr>
          <p:cNvPr id="140" name="Google Shape;140;p17"/>
          <p:cNvSpPr txBox="1"/>
          <p:nvPr/>
        </p:nvSpPr>
        <p:spPr>
          <a:xfrm>
            <a:off x="960202" y="3747183"/>
            <a:ext cx="37255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开始计时</a:t>
            </a:r>
            <a:r>
              <a:rPr lang="en-US" altLang="zh-CN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读取 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TSC 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起始值</a:t>
            </a:r>
            <a:endParaRPr dirty="0"/>
          </a:p>
        </p:txBody>
      </p:sp>
      <p:sp>
        <p:nvSpPr>
          <p:cNvPr id="141" name="Google Shape;141;p17"/>
          <p:cNvSpPr txBox="1"/>
          <p:nvPr/>
        </p:nvSpPr>
        <p:spPr>
          <a:xfrm>
            <a:off x="960202" y="4262983"/>
            <a:ext cx="37255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等待</a:t>
            </a:r>
            <a:r>
              <a:rPr 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等待 </a:t>
            </a:r>
            <a:r>
              <a:rPr lang="en-US" altLang="zh-CN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PIT 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时间窗口结束</a:t>
            </a:r>
            <a:endParaRPr dirty="0"/>
          </a:p>
        </p:txBody>
      </p:sp>
      <p:sp>
        <p:nvSpPr>
          <p:cNvPr id="143" name="Google Shape;143;p17"/>
          <p:cNvSpPr txBox="1"/>
          <p:nvPr/>
        </p:nvSpPr>
        <p:spPr>
          <a:xfrm>
            <a:off x="959375" y="4781930"/>
            <a:ext cx="41181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计算</a:t>
            </a:r>
            <a:r>
              <a:rPr 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结束值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-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开始值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) /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时间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= CPU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频率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。</a:t>
            </a:r>
            <a:endParaRPr dirty="0"/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4452" y="334360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4452" y="387467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4452" y="439047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3625" y="4909417"/>
            <a:ext cx="952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21;p16">
            <a:extLst>
              <a:ext uri="{FF2B5EF4-FFF2-40B4-BE49-F238E27FC236}">
                <a16:creationId xmlns:a16="http://schemas.microsoft.com/office/drawing/2014/main" id="{36632711-1762-CDA1-3FBD-C94CE3E5856C}"/>
              </a:ext>
            </a:extLst>
          </p:cNvPr>
          <p:cNvSpPr txBox="1"/>
          <p:nvPr/>
        </p:nvSpPr>
        <p:spPr>
          <a:xfrm>
            <a:off x="680250" y="1862470"/>
            <a:ext cx="183749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函数职责</a:t>
            </a:r>
            <a:endParaRPr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B55397F-D546-249C-4A32-51094A01E867}"/>
              </a:ext>
            </a:extLst>
          </p:cNvPr>
          <p:cNvCxnSpPr>
            <a:cxnSpLocks/>
          </p:cNvCxnSpPr>
          <p:nvPr/>
        </p:nvCxnSpPr>
        <p:spPr>
          <a:xfrm>
            <a:off x="632625" y="2303311"/>
            <a:ext cx="4689199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16656298-E2AA-350A-C6AF-F715BF6ECE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3616" y="750379"/>
            <a:ext cx="2713345" cy="54523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2920368" y="2156292"/>
            <a:ext cx="6351262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第二部分</a:t>
            </a:r>
            <a:endParaRPr lang="en-US" sz="5400" b="1" i="0" u="none" strike="noStrike" cap="none" dirty="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54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时钟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中断处理</a:t>
            </a:r>
            <a:endParaRPr dirty="0"/>
          </a:p>
        </p:txBody>
      </p:sp>
      <p:sp>
        <p:nvSpPr>
          <p:cNvPr id="157" name="Google Shape;157;p18"/>
          <p:cNvSpPr/>
          <p:nvPr/>
        </p:nvSpPr>
        <p:spPr>
          <a:xfrm>
            <a:off x="5619749" y="3939481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4719637" y="3998565"/>
            <a:ext cx="27527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timer_interrupt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666750" y="476250"/>
            <a:ext cx="9715500" cy="70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zh-CN" altLang="en-US" sz="3150" b="0" i="0" u="none" strike="noStrike" cap="none" dirty="0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回忆时钟初始化时的</a:t>
            </a:r>
            <a:r>
              <a:rPr lang="en-US" sz="3150" b="0" i="0" u="none" strike="noStrike" cap="none" dirty="0" err="1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函数</a:t>
            </a:r>
            <a:r>
              <a:rPr lang="zh-CN" altLang="en-US" sz="3150" b="0" i="0" u="none" strike="noStrike" cap="none" dirty="0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调用</a:t>
            </a:r>
            <a:r>
              <a:rPr lang="en-US" sz="3150" dirty="0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：</a:t>
            </a:r>
            <a:r>
              <a:rPr lang="en-US" altLang="zh-CN" sz="3150" dirty="0" err="1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</a:rPr>
              <a:t>setup_irq</a:t>
            </a:r>
            <a:r>
              <a:rPr lang="en-US" altLang="zh-CN" sz="3150" dirty="0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</a:rPr>
              <a:t>(0, &amp;irq0)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p17"/>
          <p:cNvSpPr/>
          <p:nvPr/>
        </p:nvSpPr>
        <p:spPr>
          <a:xfrm>
            <a:off x="476250" y="476250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19;p16" descr="image.png">
            <a:extLst>
              <a:ext uri="{FF2B5EF4-FFF2-40B4-BE49-F238E27FC236}">
                <a16:creationId xmlns:a16="http://schemas.microsoft.com/office/drawing/2014/main" id="{52A67B55-E850-B046-7E5D-610D933B14C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704409"/>
            <a:ext cx="5010150" cy="347084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970652" y="2563329"/>
            <a:ext cx="43367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挂载</a:t>
            </a:r>
            <a:r>
              <a:rPr lang="en-US" altLang="zh-CN" sz="1500" b="1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irq0</a:t>
            </a:r>
            <a:r>
              <a:rPr 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把</a:t>
            </a:r>
            <a:r>
              <a:rPr lang="en-US" altLang="zh-CN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irq0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结构体挂载在内核</a:t>
            </a:r>
            <a:r>
              <a:rPr lang="en-US" altLang="zh-CN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0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号中断插槽</a:t>
            </a:r>
            <a:endParaRPr dirty="0"/>
          </a:p>
        </p:txBody>
      </p:sp>
      <p:sp>
        <p:nvSpPr>
          <p:cNvPr id="143" name="Google Shape;143;p17"/>
          <p:cNvSpPr txBox="1"/>
          <p:nvPr/>
        </p:nvSpPr>
        <p:spPr>
          <a:xfrm>
            <a:off x="964302" y="3933753"/>
            <a:ext cx="411811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与内核交流</a:t>
            </a:r>
            <a:r>
              <a:rPr 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通知内核接受</a:t>
            </a:r>
            <a:r>
              <a:rPr lang="en-US" altLang="zh-CN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0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号中断时，调用</a:t>
            </a:r>
            <a:r>
              <a:rPr lang="en-US" altLang="zh-CN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timer_interrupt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函数</a:t>
            </a:r>
            <a:endParaRPr dirty="0"/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8552" y="270322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8552" y="4061240"/>
            <a:ext cx="952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21;p16">
            <a:extLst>
              <a:ext uri="{FF2B5EF4-FFF2-40B4-BE49-F238E27FC236}">
                <a16:creationId xmlns:a16="http://schemas.microsoft.com/office/drawing/2014/main" id="{36632711-1762-CDA1-3FBD-C94CE3E5856C}"/>
              </a:ext>
            </a:extLst>
          </p:cNvPr>
          <p:cNvSpPr txBox="1"/>
          <p:nvPr/>
        </p:nvSpPr>
        <p:spPr>
          <a:xfrm>
            <a:off x="684350" y="1869790"/>
            <a:ext cx="183749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函数职责</a:t>
            </a:r>
            <a:endParaRPr dirty="0"/>
          </a:p>
        </p:txBody>
      </p:sp>
      <p:pic>
        <p:nvPicPr>
          <p:cNvPr id="6" name="Google Shape;119;p16" descr="image.png">
            <a:extLst>
              <a:ext uri="{FF2B5EF4-FFF2-40B4-BE49-F238E27FC236}">
                <a16:creationId xmlns:a16="http://schemas.microsoft.com/office/drawing/2014/main" id="{EF745DF7-03F5-B83F-3311-F2790F21553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04409"/>
            <a:ext cx="5010150" cy="34708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B55397F-D546-249C-4A32-51094A01E867}"/>
              </a:ext>
            </a:extLst>
          </p:cNvPr>
          <p:cNvCxnSpPr>
            <a:cxnSpLocks/>
          </p:cNvCxnSpPr>
          <p:nvPr/>
        </p:nvCxnSpPr>
        <p:spPr>
          <a:xfrm>
            <a:off x="636725" y="2310631"/>
            <a:ext cx="4689199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BF853092-2454-E497-8358-A472378C3308}"/>
              </a:ext>
            </a:extLst>
          </p:cNvPr>
          <p:cNvSpPr txBox="1"/>
          <p:nvPr/>
        </p:nvSpPr>
        <p:spPr>
          <a:xfrm>
            <a:off x="6682477" y="2612831"/>
            <a:ext cx="306477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内核正式接管了时间的控制权</a:t>
            </a:r>
          </a:p>
        </p:txBody>
      </p:sp>
      <p:sp>
        <p:nvSpPr>
          <p:cNvPr id="12" name="Google Shape;121;p16">
            <a:extLst>
              <a:ext uri="{FF2B5EF4-FFF2-40B4-BE49-F238E27FC236}">
                <a16:creationId xmlns:a16="http://schemas.microsoft.com/office/drawing/2014/main" id="{AF208B28-E60E-6E75-CFBF-787667E8FD9A}"/>
              </a:ext>
            </a:extLst>
          </p:cNvPr>
          <p:cNvSpPr txBox="1"/>
          <p:nvPr/>
        </p:nvSpPr>
        <p:spPr>
          <a:xfrm>
            <a:off x="6551750" y="1869789"/>
            <a:ext cx="183749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b="1" i="0" u="none" strike="noStrike" cap="none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意义</a:t>
            </a:r>
            <a:endParaRPr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544ABAF-DEDF-6473-94E4-FA9CA7EE1CFC}"/>
              </a:ext>
            </a:extLst>
          </p:cNvPr>
          <p:cNvCxnSpPr>
            <a:cxnSpLocks/>
          </p:cNvCxnSpPr>
          <p:nvPr/>
        </p:nvCxnSpPr>
        <p:spPr>
          <a:xfrm>
            <a:off x="6494600" y="2310631"/>
            <a:ext cx="4689199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oogle Shape;146;p17" descr="image.png">
            <a:extLst>
              <a:ext uri="{FF2B5EF4-FFF2-40B4-BE49-F238E27FC236}">
                <a16:creationId xmlns:a16="http://schemas.microsoft.com/office/drawing/2014/main" id="{5ABCD80C-EADE-0960-4EEE-6EDCE1E86DC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35529" y="270322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46;p17" descr="image.png">
            <a:extLst>
              <a:ext uri="{FF2B5EF4-FFF2-40B4-BE49-F238E27FC236}">
                <a16:creationId xmlns:a16="http://schemas.microsoft.com/office/drawing/2014/main" id="{20013648-B1EF-D2D7-C6DA-D077260548D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35529" y="4067002"/>
            <a:ext cx="952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DAA32BA5-CC28-EF55-5A3E-0D44AC3EEA1B}"/>
              </a:ext>
            </a:extLst>
          </p:cNvPr>
          <p:cNvSpPr txBox="1"/>
          <p:nvPr/>
        </p:nvSpPr>
        <p:spPr>
          <a:xfrm>
            <a:off x="6682477" y="3975857"/>
            <a:ext cx="450132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调度器可以开始工作，时间片开始流转，任务开始切换</a:t>
            </a:r>
          </a:p>
        </p:txBody>
      </p:sp>
      <p:pic>
        <p:nvPicPr>
          <p:cNvPr id="20" name="Google Shape;119;p16" descr="image.png">
            <a:extLst>
              <a:ext uri="{FF2B5EF4-FFF2-40B4-BE49-F238E27FC236}">
                <a16:creationId xmlns:a16="http://schemas.microsoft.com/office/drawing/2014/main" id="{0C7E829D-8F16-5B6D-D06B-D441480540C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0" y="5673509"/>
            <a:ext cx="9893300" cy="678182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F1C6A575-79D4-B226-CCAB-29E1C5F828A0}"/>
              </a:ext>
            </a:extLst>
          </p:cNvPr>
          <p:cNvSpPr txBox="1"/>
          <p:nvPr/>
        </p:nvSpPr>
        <p:spPr>
          <a:xfrm>
            <a:off x="853178" y="5724183"/>
            <a:ext cx="9715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从此之后，硬件定时器（PIT）产生的每一次脉冲都会被 CPU 捕获，并自动跳转到 timer_interrupt 执行。</a:t>
            </a:r>
            <a:endParaRPr lang="en-US" altLang="zh-CN" dirty="0">
              <a:solidFill>
                <a:schemeClr val="bg1"/>
              </a:solidFill>
              <a:latin typeface="+mn-ea"/>
              <a:ea typeface="+mn-ea"/>
            </a:endParaRPr>
          </a:p>
          <a:p>
            <a:r>
              <a:rPr lang="zh-CN" altLang="en-US" dirty="0">
                <a:solidFill>
                  <a:srgbClr val="00B0F0"/>
                </a:solidFill>
                <a:latin typeface="+mn-ea"/>
                <a:ea typeface="+mn-ea"/>
              </a:rPr>
              <a:t>系统的时间驱动机制正式从‘初始化阶段’切换到了‘中断驱动阶段’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，Linux 内核的心跳也就此开始跳动。</a:t>
            </a:r>
          </a:p>
        </p:txBody>
      </p:sp>
    </p:spTree>
    <p:extLst>
      <p:ext uri="{BB962C8B-B14F-4D97-AF65-F5344CB8AC3E}">
        <p14:creationId xmlns:p14="http://schemas.microsoft.com/office/powerpoint/2010/main" val="4082577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72350" y="814240"/>
            <a:ext cx="4343400" cy="5567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666750" y="476250"/>
            <a:ext cx="115252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150" dirty="0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中断相关</a:t>
            </a:r>
            <a:r>
              <a:rPr lang="zh-CN" altLang="en-US" sz="3150" b="0" i="0" u="none" strike="noStrike" cap="none" dirty="0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数据结构与变量定义</a:t>
            </a:r>
            <a:endParaRPr dirty="0"/>
          </a:p>
        </p:txBody>
      </p:sp>
      <p:sp>
        <p:nvSpPr>
          <p:cNvPr id="100" name="Google Shape;100;p14"/>
          <p:cNvSpPr/>
          <p:nvPr/>
        </p:nvSpPr>
        <p:spPr>
          <a:xfrm>
            <a:off x="476250" y="476250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118;p16" descr="image.png">
            <a:extLst>
              <a:ext uri="{FF2B5EF4-FFF2-40B4-BE49-F238E27FC236}">
                <a16:creationId xmlns:a16="http://schemas.microsoft.com/office/drawing/2014/main" id="{817723E3-BD9C-AC63-3550-38B6F5EAF8A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6400" y="1638024"/>
            <a:ext cx="5238749" cy="444541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E35F6F94-D53D-9F2A-2F92-2C384DEABCA9}"/>
              </a:ext>
            </a:extLst>
          </p:cNvPr>
          <p:cNvSpPr txBox="1"/>
          <p:nvPr/>
        </p:nvSpPr>
        <p:spPr>
          <a:xfrm>
            <a:off x="676690" y="1815296"/>
            <a:ext cx="4968459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10B981"/>
                </a:solidFill>
                <a:latin typeface="Urbanist"/>
                <a:cs typeface="Urbanist"/>
              </a:rPr>
              <a:t>核心数据结构</a:t>
            </a:r>
            <a:endParaRPr lang="en-US" altLang="zh-CN" sz="2000" b="1" dirty="0">
              <a:solidFill>
                <a:srgbClr val="10B981"/>
              </a:solidFill>
              <a:latin typeface="Urbanist"/>
              <a:ea typeface="Urbanist"/>
              <a:cs typeface="Urbanist"/>
            </a:endParaRPr>
          </a:p>
          <a:p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irq0</a:t>
            </a:r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（时钟中断信息结构体）</a:t>
            </a:r>
            <a:endParaRPr lang="en-US" altLang="zh-CN" sz="1500" b="1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定义： 包含中断处理函数 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cs typeface="Urbanist"/>
              </a:rPr>
              <a:t>timer_interrupt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、标志位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SA_INTERRUPT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（表示快速中断）以及名称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"timer"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作用： 进行时钟中断的身份登记。将硬件层面的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0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号中断线与软件层面的处理逻辑（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cs typeface="Urbanist"/>
              </a:rPr>
              <a:t>timer_interrupt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）绑定，确立了系统时钟的中断入口。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zh-CN" altLang="en-US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en-US" altLang="zh-CN" sz="1500" b="1" dirty="0" err="1">
                <a:solidFill>
                  <a:srgbClr val="D1D5DB"/>
                </a:solidFill>
                <a:latin typeface="Urbanist"/>
                <a:cs typeface="Urbanist"/>
              </a:rPr>
              <a:t>tvecs</a:t>
            </a:r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 </a:t>
            </a:r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（时间轮数组）</a:t>
            </a:r>
            <a:endParaRPr lang="en-US" altLang="zh-CN" sz="1500" b="1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定义： 一个包含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5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个元素的指针数组。依次指向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tv1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到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tv5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这五个定时器向量结构。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作用： 定时器的核心数据结构，实现了时间轮算法。将所有待处理的定时任务按照“到期时间”的远近，分层挂载到不同的链表上，实现对大量定时器的高效管理。</a:t>
            </a:r>
          </a:p>
        </p:txBody>
      </p:sp>
      <p:pic>
        <p:nvPicPr>
          <p:cNvPr id="27" name="Google Shape;118;p16" descr="image.png">
            <a:extLst>
              <a:ext uri="{FF2B5EF4-FFF2-40B4-BE49-F238E27FC236}">
                <a16:creationId xmlns:a16="http://schemas.microsoft.com/office/drawing/2014/main" id="{D8F4C5C1-9ED9-C8B0-2198-F48D75CC8EA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7550" y="1371600"/>
            <a:ext cx="5167935" cy="472321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CB294A8-6DDE-7B37-945B-DFF0CCDC37E0}"/>
              </a:ext>
            </a:extLst>
          </p:cNvPr>
          <p:cNvSpPr txBox="1"/>
          <p:nvPr/>
        </p:nvSpPr>
        <p:spPr>
          <a:xfrm>
            <a:off x="6692346" y="1493555"/>
            <a:ext cx="4832903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10B981"/>
                </a:solidFill>
                <a:latin typeface="Urbanist"/>
                <a:cs typeface="Urbanist"/>
              </a:rPr>
              <a:t>核心变量</a:t>
            </a:r>
            <a:endParaRPr lang="en-US" altLang="zh-CN" sz="2000" b="1" dirty="0">
              <a:solidFill>
                <a:srgbClr val="10B981"/>
              </a:solidFill>
              <a:latin typeface="Urbanist"/>
              <a:cs typeface="Urbanist"/>
            </a:endParaRPr>
          </a:p>
          <a:p>
            <a:endParaRPr lang="en-US" altLang="zh-CN" sz="1800" b="1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jiffies</a:t>
            </a:r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（全局节拍数）</a:t>
            </a:r>
            <a:endParaRPr lang="en-US" altLang="zh-CN" sz="1500" b="1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作用：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Linux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内核的心跳计数器。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机制：每次时钟中断，这个变量就会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+1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。是系统计算时间片、超时等待的基础单位。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en-US" altLang="zh-CN" sz="1500" dirty="0" err="1">
                <a:solidFill>
                  <a:srgbClr val="00B0F0"/>
                </a:solidFill>
                <a:latin typeface="Urbanist"/>
                <a:cs typeface="Urbanist"/>
              </a:rPr>
              <a:t>xtime</a:t>
            </a:r>
            <a:r>
              <a:rPr lang="en-US" altLang="zh-CN" sz="1500" dirty="0">
                <a:solidFill>
                  <a:srgbClr val="00B0F0"/>
                </a:solidFill>
                <a:latin typeface="Urbanist"/>
                <a:cs typeface="Urbanist"/>
              </a:rPr>
              <a:t> </a:t>
            </a:r>
            <a:r>
              <a:rPr lang="zh-CN" altLang="en-US" sz="1500" dirty="0">
                <a:solidFill>
                  <a:srgbClr val="00B0F0"/>
                </a:solidFill>
                <a:latin typeface="Urbanist"/>
                <a:cs typeface="Urbanist"/>
              </a:rPr>
              <a:t>记录绝对时间，</a:t>
            </a:r>
            <a:r>
              <a:rPr lang="en-US" altLang="zh-CN" sz="1500" dirty="0">
                <a:solidFill>
                  <a:srgbClr val="00B0F0"/>
                </a:solidFill>
                <a:latin typeface="Urbanist"/>
                <a:cs typeface="Urbanist"/>
              </a:rPr>
              <a:t>jiffies </a:t>
            </a:r>
            <a:r>
              <a:rPr lang="zh-CN" altLang="en-US" sz="1500" dirty="0">
                <a:solidFill>
                  <a:srgbClr val="00B0F0"/>
                </a:solidFill>
                <a:latin typeface="Urbanist"/>
                <a:cs typeface="Urbanist"/>
              </a:rPr>
              <a:t>记录相对时间</a:t>
            </a:r>
            <a:endParaRPr lang="en-US" altLang="zh-CN" sz="1500" dirty="0">
              <a:solidFill>
                <a:srgbClr val="00B0F0"/>
              </a:solidFill>
              <a:latin typeface="Urbanist"/>
              <a:cs typeface="Urbanist"/>
            </a:endParaRPr>
          </a:p>
          <a:p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zh-CN" altLang="en-US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tick</a:t>
            </a:r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（节拍长度）</a:t>
            </a:r>
            <a:endParaRPr lang="en-US" altLang="zh-CN" sz="1500" b="1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作用：定义了两次时钟中断之间的时间间隔（微秒）。是时间更新的步长。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zh-CN" altLang="en-US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counter</a:t>
            </a:r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（时间片数量记录）</a:t>
            </a:r>
            <a:endParaRPr lang="en-US" altLang="zh-CN" sz="1500" b="1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定义：当前剩余的时间片数量。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特性：当前正在执行的任务在每次时钟中断时都会扣除时间片，时间片还会被检测是否已经用完。</a:t>
            </a:r>
          </a:p>
        </p:txBody>
      </p:sp>
      <p:pic>
        <p:nvPicPr>
          <p:cNvPr id="30" name="Google Shape;128;p16" descr="image.png">
            <a:extLst>
              <a:ext uri="{FF2B5EF4-FFF2-40B4-BE49-F238E27FC236}">
                <a16:creationId xmlns:a16="http://schemas.microsoft.com/office/drawing/2014/main" id="{1AEBE9C3-B910-1156-0EB2-1B135B02FF7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6515" y="245000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128;p16" descr="image.png">
            <a:extLst>
              <a:ext uri="{FF2B5EF4-FFF2-40B4-BE49-F238E27FC236}">
                <a16:creationId xmlns:a16="http://schemas.microsoft.com/office/drawing/2014/main" id="{2D12E532-618C-4DE4-F24A-69CE13B3B41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6575" y="426671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128;p16" descr="image.png">
            <a:extLst>
              <a:ext uri="{FF2B5EF4-FFF2-40B4-BE49-F238E27FC236}">
                <a16:creationId xmlns:a16="http://schemas.microsoft.com/office/drawing/2014/main" id="{27F39950-6E30-6B0D-ABAE-E54D52EC587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97096" y="2158724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128;p16" descr="image.png">
            <a:extLst>
              <a:ext uri="{FF2B5EF4-FFF2-40B4-BE49-F238E27FC236}">
                <a16:creationId xmlns:a16="http://schemas.microsoft.com/office/drawing/2014/main" id="{7B9E0B86-0E26-AFB2-C9F9-7EB49A38CBC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97096" y="3763313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128;p16" descr="image.png">
            <a:extLst>
              <a:ext uri="{FF2B5EF4-FFF2-40B4-BE49-F238E27FC236}">
                <a16:creationId xmlns:a16="http://schemas.microsoft.com/office/drawing/2014/main" id="{4F100366-E96B-9A39-03B7-BDE337EE1FA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97096" y="4929064"/>
            <a:ext cx="95250" cy="152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2A331C4-AEF5-09EC-4F06-D420CD7CF2DD}"/>
              </a:ext>
            </a:extLst>
          </p:cNvPr>
          <p:cNvCxnSpPr>
            <a:cxnSpLocks/>
          </p:cNvCxnSpPr>
          <p:nvPr/>
        </p:nvCxnSpPr>
        <p:spPr>
          <a:xfrm>
            <a:off x="694903" y="2270816"/>
            <a:ext cx="481689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237D30E-7F42-C0DB-5386-2C04C3F51737}"/>
              </a:ext>
            </a:extLst>
          </p:cNvPr>
          <p:cNvCxnSpPr>
            <a:cxnSpLocks/>
          </p:cNvCxnSpPr>
          <p:nvPr/>
        </p:nvCxnSpPr>
        <p:spPr>
          <a:xfrm>
            <a:off x="6692346" y="1958286"/>
            <a:ext cx="483290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1113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666750" y="476250"/>
            <a:ext cx="115252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函数调用流程</a:t>
            </a:r>
            <a:endParaRPr dirty="0"/>
          </a:p>
        </p:txBody>
      </p:sp>
      <p:sp>
        <p:nvSpPr>
          <p:cNvPr id="100" name="Google Shape;100;p14"/>
          <p:cNvSpPr/>
          <p:nvPr/>
        </p:nvSpPr>
        <p:spPr>
          <a:xfrm>
            <a:off x="476250" y="476250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118;p16" descr="image.png">
            <a:extLst>
              <a:ext uri="{FF2B5EF4-FFF2-40B4-BE49-F238E27FC236}">
                <a16:creationId xmlns:a16="http://schemas.microsoft.com/office/drawing/2014/main" id="{6467E4EB-A0EC-DFB9-D910-35399F1572E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821" y="1348032"/>
            <a:ext cx="4645479" cy="47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703FDC4-5FDF-1437-7C63-C904E0C1EE4C}"/>
              </a:ext>
            </a:extLst>
          </p:cNvPr>
          <p:cNvSpPr txBox="1"/>
          <p:nvPr/>
        </p:nvSpPr>
        <p:spPr>
          <a:xfrm>
            <a:off x="850051" y="1391136"/>
            <a:ext cx="404301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中断入口 </a:t>
            </a:r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(</a:t>
            </a:r>
            <a:r>
              <a:rPr lang="en-US" altLang="zh-CN" sz="1500" b="1" dirty="0" err="1">
                <a:solidFill>
                  <a:srgbClr val="D1D5DB"/>
                </a:solidFill>
                <a:latin typeface="Urbanist"/>
                <a:cs typeface="Urbanist"/>
              </a:rPr>
              <a:t>timer_interrupt</a:t>
            </a:r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)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职责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: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记录当前精确时间戳，计算中断延迟，调用通用处理函数。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zh-CN" altLang="en-US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核心处理 </a:t>
            </a:r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(</a:t>
            </a:r>
            <a:r>
              <a:rPr lang="en-US" altLang="zh-CN" sz="1500" b="1" dirty="0" err="1">
                <a:solidFill>
                  <a:srgbClr val="D1D5DB"/>
                </a:solidFill>
                <a:latin typeface="Urbanist"/>
                <a:cs typeface="Urbanist"/>
              </a:rPr>
              <a:t>do_timer</a:t>
            </a:r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)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职责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:</a:t>
            </a:r>
          </a:p>
          <a:p>
            <a:pPr lvl="3"/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  jiffies++: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增加系统节拍数。</a:t>
            </a:r>
          </a:p>
          <a:p>
            <a:pPr lvl="3"/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  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cs typeface="Urbanist"/>
              </a:rPr>
              <a:t>update_process_times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: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扣除当前进程时间片 ，若归零则标记需要调度。</a:t>
            </a:r>
          </a:p>
          <a:p>
            <a:pPr lvl="3"/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  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cs typeface="Urbanist"/>
              </a:rPr>
              <a:t>mark_bh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: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标记底半部任务，将其推迟到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CPU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稍空闲时执行。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zh-CN" altLang="en-US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底半部执行 </a:t>
            </a:r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(</a:t>
            </a:r>
            <a:r>
              <a:rPr lang="en-US" altLang="zh-CN" sz="1500" b="1" dirty="0" err="1">
                <a:solidFill>
                  <a:srgbClr val="D1D5DB"/>
                </a:solidFill>
                <a:latin typeface="Urbanist"/>
                <a:cs typeface="Urbanist"/>
              </a:rPr>
              <a:t>timer_bh</a:t>
            </a:r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)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职责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:</a:t>
            </a:r>
          </a:p>
          <a:p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  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cs typeface="Urbanist"/>
              </a:rPr>
              <a:t>update_times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: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将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jiffies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增量转换为人类可读的时间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(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cs typeface="Urbanist"/>
              </a:rPr>
              <a:t>xtime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)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。</a:t>
            </a:r>
          </a:p>
          <a:p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  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cs typeface="Urbanist"/>
              </a:rPr>
              <a:t>run_timer_list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: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运转时间轮，检查并执行所有到期的软件定时器。</a:t>
            </a:r>
          </a:p>
        </p:txBody>
      </p:sp>
      <p:pic>
        <p:nvPicPr>
          <p:cNvPr id="7" name="Google Shape;128;p16" descr="image.png">
            <a:extLst>
              <a:ext uri="{FF2B5EF4-FFF2-40B4-BE49-F238E27FC236}">
                <a16:creationId xmlns:a16="http://schemas.microsoft.com/office/drawing/2014/main" id="{84C6A8FF-FF0C-137F-7652-35EC95D768C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5033" y="148258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28;p16" descr="image.png">
            <a:extLst>
              <a:ext uri="{FF2B5EF4-FFF2-40B4-BE49-F238E27FC236}">
                <a16:creationId xmlns:a16="http://schemas.microsoft.com/office/drawing/2014/main" id="{74E5B30E-F309-A4D8-EE43-E26A17637F4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5033" y="2622213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8;p16" descr="image.png">
            <a:extLst>
              <a:ext uri="{FF2B5EF4-FFF2-40B4-BE49-F238E27FC236}">
                <a16:creationId xmlns:a16="http://schemas.microsoft.com/office/drawing/2014/main" id="{95D0CCA4-473C-2916-AB4C-1AB0197C1AD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5033" y="4673263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A3CD4F5-D95C-FE47-D59A-965981CB74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1658" y="1348032"/>
            <a:ext cx="6423336" cy="478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657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666750" y="476250"/>
            <a:ext cx="115252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核心函数：timer_interrupt</a:t>
            </a:r>
            <a:endParaRPr dirty="0"/>
          </a:p>
        </p:txBody>
      </p:sp>
      <p:sp>
        <p:nvSpPr>
          <p:cNvPr id="170" name="Google Shape;170;p19"/>
          <p:cNvSpPr/>
          <p:nvPr/>
        </p:nvSpPr>
        <p:spPr>
          <a:xfrm>
            <a:off x="476250" y="476250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18;p16" descr="image.png">
            <a:extLst>
              <a:ext uri="{FF2B5EF4-FFF2-40B4-BE49-F238E27FC236}">
                <a16:creationId xmlns:a16="http://schemas.microsoft.com/office/drawing/2014/main" id="{ADAB96E8-78EF-75F7-1F2D-C3A7E8D1383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190" y="1775140"/>
            <a:ext cx="5797260" cy="364141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695325" y="2525411"/>
            <a:ext cx="5650706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4" b="1" i="0" u="none" strike="noStrike" cap="none" dirty="0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系统时钟</a:t>
            </a:r>
            <a:r>
              <a:rPr lang="en-US" sz="1404" b="1" i="0" u="none" strike="noStrike" cap="none" dirty="0" err="1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中断入口</a:t>
            </a:r>
            <a:r>
              <a:rPr lang="zh-CN" altLang="en-US" sz="1404" b="1" i="0" u="none" strike="noStrike" cap="none" dirty="0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，</a:t>
            </a:r>
            <a:r>
              <a:rPr lang="en-US" altLang="zh-CN" sz="14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zh-CN" altLang="en-US" b="1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属于</a:t>
            </a:r>
            <a:r>
              <a:rPr lang="en-US" altLang="zh-CN" sz="14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“</a:t>
            </a:r>
            <a:r>
              <a:rPr lang="en-US" altLang="zh-CN" sz="14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顶半部</a:t>
            </a:r>
            <a:r>
              <a:rPr lang="en-US" altLang="zh-CN" sz="14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”，</a:t>
            </a:r>
            <a:r>
              <a:rPr lang="en-US" altLang="zh-CN" sz="14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要求执行速度极快</a:t>
            </a:r>
            <a:r>
              <a:rPr lang="en-US" altLang="zh-CN" sz="14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。</a:t>
            </a:r>
            <a:endParaRPr b="1" dirty="0"/>
          </a:p>
        </p:txBody>
      </p:sp>
      <p:sp>
        <p:nvSpPr>
          <p:cNvPr id="167" name="Google Shape;167;p19"/>
          <p:cNvSpPr txBox="1"/>
          <p:nvPr/>
        </p:nvSpPr>
        <p:spPr>
          <a:xfrm>
            <a:off x="771524" y="2775978"/>
            <a:ext cx="525462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精确计时</a:t>
            </a:r>
            <a:r>
              <a:rPr 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如果系统支持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TSC，它会计算中断实际发生时刻与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CPU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处理时刻之间的微小延迟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，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用于修正时间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。</a:t>
            </a:r>
            <a:endParaRPr dirty="0"/>
          </a:p>
        </p:txBody>
      </p:sp>
      <p:sp>
        <p:nvSpPr>
          <p:cNvPr id="168" name="Google Shape;168;p19"/>
          <p:cNvSpPr txBox="1"/>
          <p:nvPr/>
        </p:nvSpPr>
        <p:spPr>
          <a:xfrm>
            <a:off x="752474" y="3771814"/>
            <a:ext cx="51911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锁保护</a:t>
            </a:r>
            <a:r>
              <a:rPr 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使用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write_lock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(&amp;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xtime_lock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)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确保在更新系统时间时，没有其他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CPU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或进程能读取不一致的时间数据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。</a:t>
            </a:r>
            <a:endParaRPr dirty="0"/>
          </a:p>
        </p:txBody>
      </p:sp>
      <p:pic>
        <p:nvPicPr>
          <p:cNvPr id="171" name="Google Shape;17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2450" y="290470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2450" y="3889794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DEFD61A-3761-78FF-74BF-9006BD84B9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4298" y="641507"/>
            <a:ext cx="2271108" cy="5740243"/>
          </a:xfrm>
          <a:prstGeom prst="rect">
            <a:avLst/>
          </a:prstGeom>
        </p:spPr>
      </p:pic>
      <p:sp>
        <p:nvSpPr>
          <p:cNvPr id="5" name="Google Shape;121;p16">
            <a:extLst>
              <a:ext uri="{FF2B5EF4-FFF2-40B4-BE49-F238E27FC236}">
                <a16:creationId xmlns:a16="http://schemas.microsoft.com/office/drawing/2014/main" id="{1B09CA12-E667-E2E0-42B4-1D935255EFBD}"/>
              </a:ext>
            </a:extLst>
          </p:cNvPr>
          <p:cNvSpPr txBox="1"/>
          <p:nvPr/>
        </p:nvSpPr>
        <p:spPr>
          <a:xfrm>
            <a:off x="752475" y="1939925"/>
            <a:ext cx="183749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函数职责</a:t>
            </a:r>
            <a:endParaRPr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799CF5A-B74D-0E7A-CDA5-673C197510EB}"/>
              </a:ext>
            </a:extLst>
          </p:cNvPr>
          <p:cNvCxnSpPr>
            <a:cxnSpLocks/>
          </p:cNvCxnSpPr>
          <p:nvPr/>
        </p:nvCxnSpPr>
        <p:spPr>
          <a:xfrm>
            <a:off x="695325" y="2348731"/>
            <a:ext cx="524827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168;p19">
            <a:extLst>
              <a:ext uri="{FF2B5EF4-FFF2-40B4-BE49-F238E27FC236}">
                <a16:creationId xmlns:a16="http://schemas.microsoft.com/office/drawing/2014/main" id="{DA65CEED-DD33-7BF5-D628-7D4B19C8206F}"/>
              </a:ext>
            </a:extLst>
          </p:cNvPr>
          <p:cNvSpPr txBox="1"/>
          <p:nvPr/>
        </p:nvSpPr>
        <p:spPr>
          <a:xfrm>
            <a:off x="752474" y="4767650"/>
            <a:ext cx="51911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dirty="0">
                <a:solidFill>
                  <a:srgbClr val="00B0F0"/>
                </a:solidFill>
                <a:latin typeface="Urbanist"/>
                <a:ea typeface="Urbanist"/>
                <a:cs typeface="Urbanist"/>
                <a:sym typeface="Urbanist"/>
              </a:rPr>
              <a:t>启动核心业务</a:t>
            </a:r>
            <a:r>
              <a:rPr 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调度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do_timer_interrupt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，也就是中断处理函数。</a:t>
            </a:r>
            <a:endParaRPr dirty="0"/>
          </a:p>
        </p:txBody>
      </p:sp>
      <p:pic>
        <p:nvPicPr>
          <p:cNvPr id="9" name="Google Shape;172;p19" descr="image.png">
            <a:extLst>
              <a:ext uri="{FF2B5EF4-FFF2-40B4-BE49-F238E27FC236}">
                <a16:creationId xmlns:a16="http://schemas.microsoft.com/office/drawing/2014/main" id="{BE9BA112-9A45-C9B3-F581-19894551C12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2450" y="4907014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666750" y="476250"/>
            <a:ext cx="115252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核心函数：do_timer_interrupt</a:t>
            </a:r>
            <a:endParaRPr dirty="0"/>
          </a:p>
        </p:txBody>
      </p:sp>
      <p:sp>
        <p:nvSpPr>
          <p:cNvPr id="170" name="Google Shape;170;p19"/>
          <p:cNvSpPr/>
          <p:nvPr/>
        </p:nvSpPr>
        <p:spPr>
          <a:xfrm>
            <a:off x="476250" y="476250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18;p16" descr="image.png">
            <a:extLst>
              <a:ext uri="{FF2B5EF4-FFF2-40B4-BE49-F238E27FC236}">
                <a16:creationId xmlns:a16="http://schemas.microsoft.com/office/drawing/2014/main" id="{ADAB96E8-78EF-75F7-1F2D-C3A7E8D1383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7350" y="1386448"/>
            <a:ext cx="5886160" cy="505590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758535" y="1972082"/>
            <a:ext cx="5254626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硬件应答 </a:t>
            </a:r>
            <a:r>
              <a:rPr lang="en-US" altLang="zh-CN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(ACK) </a:t>
            </a: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：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向中断控制器发送确认指令，解除硬件阻塞，确保后续中断能正常触发。</a:t>
            </a:r>
            <a:endParaRPr lang="en-US" altLang="zh-CN" sz="1500" b="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b="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驱动核心：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调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用内核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通用接口 </a:t>
            </a:r>
            <a:r>
              <a:rPr lang="en-US" altLang="zh-CN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do_timer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，执行更新系统节拍 </a:t>
            </a:r>
            <a:r>
              <a:rPr lang="en-US" altLang="zh-CN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(jiffies)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、统计进程时间片、标记底半部任务等核心业务。</a:t>
            </a:r>
            <a:endParaRPr lang="en-US" altLang="zh-CN" sz="1500" b="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b="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b="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60000"/>
              </a:lnSpc>
            </a:pP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性能</a:t>
            </a:r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  <a:sym typeface="Urbanist"/>
              </a:rPr>
              <a:t>分析：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  <a:sym typeface="Urbanist"/>
              </a:rPr>
              <a:t>采样中断发生时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的 </a:t>
            </a:r>
            <a:r>
              <a:rPr lang="en-US" altLang="zh-CN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CPU 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指令指针 </a:t>
            </a:r>
            <a:r>
              <a:rPr lang="en-US" altLang="zh-CN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(EIP)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。</a:t>
            </a:r>
            <a:endParaRPr lang="en-US" altLang="zh-CN" sz="1500" b="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60000"/>
              </a:lnSpc>
            </a:pPr>
            <a:endParaRPr lang="en-US" altLang="zh-CN" sz="1500" b="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60000"/>
              </a:lnSpc>
            </a:pPr>
            <a:endParaRPr lang="en-US" altLang="zh-CN" sz="1500" b="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同步硬件时钟 </a:t>
            </a:r>
            <a:r>
              <a:rPr lang="en-US" altLang="zh-CN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(Sync RTC) </a:t>
            </a: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：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周期性将内存时间 </a:t>
            </a:r>
            <a:r>
              <a:rPr lang="en-US" altLang="zh-CN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(Wall Time) 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回写至 </a:t>
            </a:r>
            <a:r>
              <a:rPr lang="en-US" altLang="zh-CN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CMOS 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芯片，消除长时间运行产生的硬件时钟偏差。</a:t>
            </a:r>
            <a:endParaRPr dirty="0"/>
          </a:p>
        </p:txBody>
      </p:sp>
      <p:pic>
        <p:nvPicPr>
          <p:cNvPr id="171" name="Google Shape;17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2345" y="2077206"/>
            <a:ext cx="95250" cy="21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1765" y="3166600"/>
            <a:ext cx="95250" cy="2115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21;p16">
            <a:extLst>
              <a:ext uri="{FF2B5EF4-FFF2-40B4-BE49-F238E27FC236}">
                <a16:creationId xmlns:a16="http://schemas.microsoft.com/office/drawing/2014/main" id="{1B09CA12-E667-E2E0-42B4-1D935255EFBD}"/>
              </a:ext>
            </a:extLst>
          </p:cNvPr>
          <p:cNvSpPr txBox="1"/>
          <p:nvPr/>
        </p:nvSpPr>
        <p:spPr>
          <a:xfrm>
            <a:off x="758535" y="1551233"/>
            <a:ext cx="183749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函数职责</a:t>
            </a:r>
            <a:endParaRPr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799CF5A-B74D-0E7A-CDA5-673C197510EB}"/>
              </a:ext>
            </a:extLst>
          </p:cNvPr>
          <p:cNvCxnSpPr>
            <a:cxnSpLocks/>
          </p:cNvCxnSpPr>
          <p:nvPr/>
        </p:nvCxnSpPr>
        <p:spPr>
          <a:xfrm>
            <a:off x="701385" y="1960039"/>
            <a:ext cx="524827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oogle Shape;172;p19" descr="image.png">
            <a:extLst>
              <a:ext uri="{FF2B5EF4-FFF2-40B4-BE49-F238E27FC236}">
                <a16:creationId xmlns:a16="http://schemas.microsoft.com/office/drawing/2014/main" id="{BE9BA112-9A45-C9B3-F581-19894551C12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4940" y="4629248"/>
            <a:ext cx="95250" cy="21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E4466E0-6693-75BC-BD56-5A7135D5BB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1965" y="1241466"/>
            <a:ext cx="2095520" cy="4946567"/>
          </a:xfrm>
          <a:prstGeom prst="rect">
            <a:avLst/>
          </a:prstGeom>
        </p:spPr>
      </p:pic>
      <p:pic>
        <p:nvPicPr>
          <p:cNvPr id="14" name="Google Shape;172;p19" descr="image.png">
            <a:extLst>
              <a:ext uri="{FF2B5EF4-FFF2-40B4-BE49-F238E27FC236}">
                <a16:creationId xmlns:a16="http://schemas.microsoft.com/office/drawing/2014/main" id="{67FD3A4A-4E5A-D40D-3922-E96C269712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1765" y="5739333"/>
            <a:ext cx="95250" cy="211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8683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666750" y="476250"/>
            <a:ext cx="115252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核心函数：do_timer</a:t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476250" y="476250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18;p16" descr="image.png">
            <a:extLst>
              <a:ext uri="{FF2B5EF4-FFF2-40B4-BE49-F238E27FC236}">
                <a16:creationId xmlns:a16="http://schemas.microsoft.com/office/drawing/2014/main" id="{FA917203-64F3-DFBC-E042-360FE722613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7350" y="1600200"/>
            <a:ext cx="5886160" cy="44640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67;p19">
            <a:extLst>
              <a:ext uri="{FF2B5EF4-FFF2-40B4-BE49-F238E27FC236}">
                <a16:creationId xmlns:a16="http://schemas.microsoft.com/office/drawing/2014/main" id="{A803DC8D-9538-A373-4307-D897F7D2DC8A}"/>
              </a:ext>
            </a:extLst>
          </p:cNvPr>
          <p:cNvSpPr txBox="1"/>
          <p:nvPr/>
        </p:nvSpPr>
        <p:spPr>
          <a:xfrm>
            <a:off x="758535" y="2266782"/>
            <a:ext cx="5254626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00B0F0"/>
                </a:solidFill>
                <a:latin typeface="Urbanist"/>
                <a:ea typeface="Urbanist"/>
                <a:cs typeface="Urbanist"/>
                <a:sym typeface="Urbanist"/>
              </a:rPr>
              <a:t>维护系统心跳 </a:t>
            </a: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：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递增全局变量 </a:t>
            </a:r>
            <a:r>
              <a:rPr lang="en-US" altLang="zh-CN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jiffies(</a:t>
            </a:r>
            <a:r>
              <a:rPr lang="en-US" altLang="zh-CN" sz="1500" i="0" u="none" strike="noStrike" cap="none" dirty="0">
                <a:solidFill>
                  <a:srgbClr val="00B0F0"/>
                </a:solidFill>
                <a:latin typeface="Urbanist"/>
                <a:ea typeface="Urbanist"/>
                <a:cs typeface="Urbanist"/>
                <a:sym typeface="Urbanist"/>
              </a:rPr>
              <a:t>jiffies++</a:t>
            </a:r>
            <a:r>
              <a:rPr lang="en-US" altLang="zh-CN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。驱动所有相对时间的计算与超时机制。</a:t>
            </a:r>
            <a:endParaRPr lang="en-US" altLang="zh-CN" sz="150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进程记账 （对单核处理器）：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调用 </a:t>
            </a:r>
            <a:r>
              <a:rPr lang="en-US" altLang="zh-CN" sz="150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update_process_times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。统计当前进程在用户态或内核态的运行时间，扣除剩余时间片 </a:t>
            </a:r>
            <a:r>
              <a:rPr lang="en-US" altLang="zh-CN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(counter)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，并在时间片耗尽时设置调度标志。</a:t>
            </a:r>
            <a:endParaRPr lang="en-US" altLang="zh-CN" sz="150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激活底半部：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调用 </a:t>
            </a:r>
            <a:r>
              <a:rPr lang="en-US" altLang="zh-CN" sz="150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mark_bh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。将耗时的操作（如更新墙上时间、执行软件定时器链表）标记为挂起状态。</a:t>
            </a:r>
            <a:endParaRPr dirty="0"/>
          </a:p>
        </p:txBody>
      </p:sp>
      <p:pic>
        <p:nvPicPr>
          <p:cNvPr id="4" name="Google Shape;171;p19" descr="image.png">
            <a:extLst>
              <a:ext uri="{FF2B5EF4-FFF2-40B4-BE49-F238E27FC236}">
                <a16:creationId xmlns:a16="http://schemas.microsoft.com/office/drawing/2014/main" id="{5D193C13-219F-5B50-69B2-EE1A5521DC9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1765" y="2366500"/>
            <a:ext cx="95250" cy="21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72;p19" descr="image.png">
            <a:extLst>
              <a:ext uri="{FF2B5EF4-FFF2-40B4-BE49-F238E27FC236}">
                <a16:creationId xmlns:a16="http://schemas.microsoft.com/office/drawing/2014/main" id="{FD29C9CA-3BDB-56FC-5428-5ACDA76722F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1765" y="3470235"/>
            <a:ext cx="95250" cy="21159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21;p16">
            <a:extLst>
              <a:ext uri="{FF2B5EF4-FFF2-40B4-BE49-F238E27FC236}">
                <a16:creationId xmlns:a16="http://schemas.microsoft.com/office/drawing/2014/main" id="{AB9CFC0B-9A55-FEA3-0F9E-3EF6FAF48F2D}"/>
              </a:ext>
            </a:extLst>
          </p:cNvPr>
          <p:cNvSpPr txBox="1"/>
          <p:nvPr/>
        </p:nvSpPr>
        <p:spPr>
          <a:xfrm>
            <a:off x="758535" y="1771909"/>
            <a:ext cx="183749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函数职责</a:t>
            </a:r>
            <a:endParaRPr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014375C-F1C6-7B61-D44F-C0458F7985D7}"/>
              </a:ext>
            </a:extLst>
          </p:cNvPr>
          <p:cNvCxnSpPr>
            <a:cxnSpLocks/>
          </p:cNvCxnSpPr>
          <p:nvPr/>
        </p:nvCxnSpPr>
        <p:spPr>
          <a:xfrm>
            <a:off x="701385" y="2180715"/>
            <a:ext cx="524827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oogle Shape;172;p19" descr="image.png">
            <a:extLst>
              <a:ext uri="{FF2B5EF4-FFF2-40B4-BE49-F238E27FC236}">
                <a16:creationId xmlns:a16="http://schemas.microsoft.com/office/drawing/2014/main" id="{25424810-871A-F65C-FCE7-60CCB01AA87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7390" y="4939233"/>
            <a:ext cx="95250" cy="21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A007D6A-BD7D-6BF3-4977-B68629BF00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788" y="1261281"/>
            <a:ext cx="2468177" cy="49847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666750" y="476250"/>
            <a:ext cx="115252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核心函数：update_process_times</a:t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476250" y="476250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8E6291-3978-B2F9-033D-2A9328733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72" y="817562"/>
            <a:ext cx="3358284" cy="5659438"/>
          </a:xfrm>
          <a:prstGeom prst="rect">
            <a:avLst/>
          </a:prstGeom>
        </p:spPr>
      </p:pic>
      <p:pic>
        <p:nvPicPr>
          <p:cNvPr id="13" name="Google Shape;118;p16" descr="image.png">
            <a:extLst>
              <a:ext uri="{FF2B5EF4-FFF2-40B4-BE49-F238E27FC236}">
                <a16:creationId xmlns:a16="http://schemas.microsoft.com/office/drawing/2014/main" id="{383E08D6-A53D-BF70-5DEB-E53B39F1DB4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350" y="1380865"/>
            <a:ext cx="5886160" cy="468338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67;p19">
            <a:extLst>
              <a:ext uri="{FF2B5EF4-FFF2-40B4-BE49-F238E27FC236}">
                <a16:creationId xmlns:a16="http://schemas.microsoft.com/office/drawing/2014/main" id="{8A62F506-6BEE-9760-7B63-EF4C60EEC16C}"/>
              </a:ext>
            </a:extLst>
          </p:cNvPr>
          <p:cNvSpPr txBox="1"/>
          <p:nvPr/>
        </p:nvSpPr>
        <p:spPr>
          <a:xfrm>
            <a:off x="758535" y="1948583"/>
            <a:ext cx="5254626" cy="406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进程记账：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调用 </a:t>
            </a:r>
            <a:r>
              <a:rPr lang="en-US" altLang="zh-CN" sz="150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update_one_process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，根据当前运行模式（用户态</a:t>
            </a:r>
            <a:r>
              <a:rPr lang="en-US" altLang="zh-CN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/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内核态），精确统计当前进程在 </a:t>
            </a:r>
            <a:r>
              <a:rPr lang="en-US" altLang="zh-CN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CPU 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上的累计运行时间，用于系统审计与资源限制检查。</a:t>
            </a:r>
            <a:endParaRPr lang="en-US" altLang="zh-CN" sz="150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b="1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00B0F0"/>
                </a:solidFill>
                <a:latin typeface="Urbanist"/>
                <a:ea typeface="Urbanist"/>
                <a:cs typeface="Urbanist"/>
                <a:sym typeface="Urbanist"/>
              </a:rPr>
              <a:t>时间片管理</a:t>
            </a: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：</a:t>
            </a:r>
            <a:r>
              <a:rPr lang="en-US" altLang="zh-CN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递减当前进程的时间片余额 </a:t>
            </a:r>
            <a:r>
              <a:rPr lang="en-US" altLang="zh-CN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</a:t>
            </a:r>
            <a:r>
              <a:rPr lang="en-US" altLang="zh-CN" sz="1500" i="0" u="none" strike="noStrike" cap="none" dirty="0">
                <a:solidFill>
                  <a:srgbClr val="00B0F0"/>
                </a:solidFill>
                <a:latin typeface="Urbanist"/>
                <a:ea typeface="Urbanist"/>
                <a:cs typeface="Urbanist"/>
                <a:sym typeface="Urbanist"/>
              </a:rPr>
              <a:t>counter--</a:t>
            </a:r>
            <a:r>
              <a:rPr lang="en-US" altLang="zh-CN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。若时间片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  <a:sym typeface="Urbanist"/>
              </a:rPr>
              <a:t>耗尽，则重置计数器并置位调度标志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</a:t>
            </a:r>
            <a:r>
              <a:rPr lang="en-US" altLang="zh-CN" sz="1500" dirty="0" err="1">
                <a:solidFill>
                  <a:srgbClr val="00B0F0"/>
                </a:solidFill>
                <a:latin typeface="Urbanist"/>
                <a:ea typeface="Urbanist"/>
                <a:cs typeface="Urbanist"/>
              </a:rPr>
              <a:t>need_resched</a:t>
            </a:r>
            <a:r>
              <a:rPr lang="en-US" altLang="zh-CN" sz="1500" dirty="0">
                <a:solidFill>
                  <a:srgbClr val="00B0F0"/>
                </a:solidFill>
                <a:latin typeface="Urbanist"/>
                <a:ea typeface="Urbanist"/>
                <a:cs typeface="Urbanist"/>
              </a:rPr>
              <a:t>=1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  <a:sym typeface="Urbanist"/>
              </a:rPr>
              <a:t>，从而请求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调度器在中断返回时剥夺该进程的 </a:t>
            </a:r>
            <a:r>
              <a:rPr lang="en-US" altLang="zh-CN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CPU 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使用权。</a:t>
            </a:r>
            <a:endParaRPr lang="en-US" altLang="zh-CN" sz="150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b="1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全局统计：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根据当前进程的优先级（</a:t>
            </a:r>
            <a:r>
              <a:rPr lang="en-US" altLang="zh-CN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Nice 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值）及类型（普通进程或空闲进程），更新系统全局的 </a:t>
            </a:r>
            <a:r>
              <a:rPr lang="en-US" altLang="zh-CN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CPU 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使用率统计数据 </a:t>
            </a:r>
            <a:r>
              <a:rPr lang="en-US" altLang="zh-CN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</a:t>
            </a:r>
            <a:r>
              <a:rPr lang="en-US" altLang="zh-CN" sz="150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kstat</a:t>
            </a:r>
            <a:r>
              <a:rPr lang="en-US" altLang="zh-CN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，为 </a:t>
            </a:r>
            <a:r>
              <a:rPr lang="en-US" altLang="zh-CN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top 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等性能监控工具提供数据支撑。</a:t>
            </a:r>
            <a:endParaRPr dirty="0"/>
          </a:p>
        </p:txBody>
      </p:sp>
      <p:pic>
        <p:nvPicPr>
          <p:cNvPr id="15" name="Google Shape;171;p19" descr="image.png">
            <a:extLst>
              <a:ext uri="{FF2B5EF4-FFF2-40B4-BE49-F238E27FC236}">
                <a16:creationId xmlns:a16="http://schemas.microsoft.com/office/drawing/2014/main" id="{C10F225B-2F4C-120D-0852-42DB4A7E157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1765" y="2048301"/>
            <a:ext cx="95250" cy="21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72;p19" descr="image.png">
            <a:extLst>
              <a:ext uri="{FF2B5EF4-FFF2-40B4-BE49-F238E27FC236}">
                <a16:creationId xmlns:a16="http://schemas.microsoft.com/office/drawing/2014/main" id="{16968F44-767C-D342-7F9C-0F429CFCBE7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1765" y="3534965"/>
            <a:ext cx="95250" cy="21159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21;p16">
            <a:extLst>
              <a:ext uri="{FF2B5EF4-FFF2-40B4-BE49-F238E27FC236}">
                <a16:creationId xmlns:a16="http://schemas.microsoft.com/office/drawing/2014/main" id="{6D63CA5F-89C9-1B84-890C-78A32A42A1F8}"/>
              </a:ext>
            </a:extLst>
          </p:cNvPr>
          <p:cNvSpPr txBox="1"/>
          <p:nvPr/>
        </p:nvSpPr>
        <p:spPr>
          <a:xfrm>
            <a:off x="758535" y="1486760"/>
            <a:ext cx="183749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函数职责</a:t>
            </a:r>
            <a:endParaRPr dirty="0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0F212D5-803F-74C6-FAD9-013869996643}"/>
              </a:ext>
            </a:extLst>
          </p:cNvPr>
          <p:cNvCxnSpPr>
            <a:cxnSpLocks/>
          </p:cNvCxnSpPr>
          <p:nvPr/>
        </p:nvCxnSpPr>
        <p:spPr>
          <a:xfrm>
            <a:off x="701385" y="1895566"/>
            <a:ext cx="524827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oogle Shape;172;p19" descr="image.png">
            <a:extLst>
              <a:ext uri="{FF2B5EF4-FFF2-40B4-BE49-F238E27FC236}">
                <a16:creationId xmlns:a16="http://schemas.microsoft.com/office/drawing/2014/main" id="{870599E5-B055-F02B-ECBD-6F8E4A7CA27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0565" y="4970284"/>
            <a:ext cx="95250" cy="21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666750" y="476250"/>
            <a:ext cx="115252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150" b="0" i="0" u="none" strike="noStrike" cap="none" dirty="0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时间片流转演示</a:t>
            </a:r>
            <a:endParaRPr dirty="0"/>
          </a:p>
        </p:txBody>
      </p:sp>
      <p:sp>
        <p:nvSpPr>
          <p:cNvPr id="201" name="Google Shape;201;p21"/>
          <p:cNvSpPr/>
          <p:nvPr/>
        </p:nvSpPr>
        <p:spPr>
          <a:xfrm>
            <a:off x="476250" y="476250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A36AACD-0921-2E50-00DC-1F13300EB5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0699290"/>
              </p:ext>
            </p:extLst>
          </p:nvPr>
        </p:nvGraphicFramePr>
        <p:xfrm>
          <a:off x="4905375" y="3169443"/>
          <a:ext cx="2109788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4" imgW="2109978" imgH="519313" progId="Package">
                  <p:embed/>
                </p:oleObj>
              </mc:Choice>
              <mc:Fallback>
                <p:oleObj name="Packager Shell Object" showAsIcon="1" r:id="rId4" imgW="2109978" imgH="519313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05375" y="3169443"/>
                        <a:ext cx="2109788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6593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0062" y="1238250"/>
            <a:ext cx="5381625" cy="523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1069173" y="1876744"/>
            <a:ext cx="4505325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追赶时间：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通过 </a:t>
            </a:r>
            <a:r>
              <a:rPr lang="en-US" altLang="zh-CN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while 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循环比较当前</a:t>
            </a:r>
            <a:r>
              <a:rPr lang="en-US" altLang="zh-CN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jiffies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与上次处理时间 </a:t>
            </a:r>
            <a:r>
              <a:rPr lang="en-US" altLang="zh-CN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</a:t>
            </a:r>
            <a:r>
              <a:rPr lang="en-US" altLang="zh-CN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timer_jiffies</a:t>
            </a:r>
            <a:r>
              <a:rPr lang="en-US" altLang="zh-CN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。逐一补偿所有落后的时间刻度</a:t>
            </a:r>
            <a:endParaRPr lang="en-US" altLang="zh-CN" sz="1500" b="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b="1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级联迁移 </a:t>
            </a:r>
            <a:r>
              <a:rPr lang="en-US" altLang="zh-CN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(Cascade)</a:t>
            </a: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：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维护多级时间轮结构。</a:t>
            </a:r>
            <a:endParaRPr lang="en-US" altLang="zh-CN" sz="1500" b="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b="1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b="1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安全执行：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遍历当前时间槽内的定时器链表，摘除到期任务。</a:t>
            </a:r>
            <a:endParaRPr dirty="0"/>
          </a:p>
        </p:txBody>
      </p:sp>
      <p:sp>
        <p:nvSpPr>
          <p:cNvPr id="224" name="Google Shape;224;p23"/>
          <p:cNvSpPr txBox="1"/>
          <p:nvPr/>
        </p:nvSpPr>
        <p:spPr>
          <a:xfrm>
            <a:off x="666750" y="476250"/>
            <a:ext cx="115252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150" b="0" i="0" u="none" strike="noStrike" cap="none" dirty="0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底半部</a:t>
            </a:r>
            <a:r>
              <a:rPr lang="en-US" sz="3150" b="0" i="0" u="none" strike="noStrike" cap="none" dirty="0" err="1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函数：run_timer_list</a:t>
            </a:r>
            <a:endParaRPr dirty="0"/>
          </a:p>
        </p:txBody>
      </p:sp>
      <p:sp>
        <p:nvSpPr>
          <p:cNvPr id="225" name="Google Shape;225;p23"/>
          <p:cNvSpPr/>
          <p:nvPr/>
        </p:nvSpPr>
        <p:spPr>
          <a:xfrm>
            <a:off x="476250" y="476250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4692" y="2009411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7859" y="347345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4692" y="4943384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E2EFA06-2C27-8244-4015-E7FD4CF36E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217" y="606204"/>
            <a:ext cx="3236228" cy="5777023"/>
          </a:xfrm>
          <a:prstGeom prst="rect">
            <a:avLst/>
          </a:prstGeom>
        </p:spPr>
      </p:pic>
      <p:sp>
        <p:nvSpPr>
          <p:cNvPr id="5" name="Google Shape;121;p16">
            <a:extLst>
              <a:ext uri="{FF2B5EF4-FFF2-40B4-BE49-F238E27FC236}">
                <a16:creationId xmlns:a16="http://schemas.microsoft.com/office/drawing/2014/main" id="{8F04E27B-0680-9162-57D6-D1060A5A5F55}"/>
              </a:ext>
            </a:extLst>
          </p:cNvPr>
          <p:cNvSpPr txBox="1"/>
          <p:nvPr/>
        </p:nvSpPr>
        <p:spPr>
          <a:xfrm>
            <a:off x="771525" y="1413424"/>
            <a:ext cx="183749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函数职责</a:t>
            </a:r>
            <a:endParaRPr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433D954-CFC6-638D-E650-8BA1DA840138}"/>
              </a:ext>
            </a:extLst>
          </p:cNvPr>
          <p:cNvCxnSpPr>
            <a:cxnSpLocks/>
          </p:cNvCxnSpPr>
          <p:nvPr/>
        </p:nvCxnSpPr>
        <p:spPr>
          <a:xfrm>
            <a:off x="609600" y="1806666"/>
            <a:ext cx="508635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5"/>
          <p:cNvSpPr txBox="1"/>
          <p:nvPr/>
        </p:nvSpPr>
        <p:spPr>
          <a:xfrm>
            <a:off x="4684573" y="2265015"/>
            <a:ext cx="282285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谢谢观看</a:t>
            </a:r>
            <a:endParaRPr/>
          </a:p>
        </p:txBody>
      </p:sp>
      <p:sp>
        <p:nvSpPr>
          <p:cNvPr id="251" name="Google Shape;251;p25"/>
          <p:cNvSpPr/>
          <p:nvPr/>
        </p:nvSpPr>
        <p:spPr>
          <a:xfrm>
            <a:off x="5619750" y="3446115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 txBox="1"/>
          <p:nvPr/>
        </p:nvSpPr>
        <p:spPr>
          <a:xfrm>
            <a:off x="5791200" y="3998565"/>
            <a:ext cx="6096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</TotalTime>
  <Words>1980</Words>
  <Application>Microsoft Office PowerPoint</Application>
  <PresentationFormat>宽屏</PresentationFormat>
  <Paragraphs>207</Paragraphs>
  <Slides>19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Urbanist</vt:lpstr>
      <vt:lpstr>Urbanist SemiBold</vt:lpstr>
      <vt:lpstr>Consolas</vt:lpstr>
      <vt:lpstr>Arial</vt:lpstr>
      <vt:lpstr>Calibri</vt:lpstr>
      <vt:lpstr>Office Theme</vt:lpstr>
      <vt:lpstr>Packager Shell Object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LC State</cp:lastModifiedBy>
  <cp:revision>164</cp:revision>
  <dcterms:modified xsi:type="dcterms:W3CDTF">2025-12-16T15:00:11Z</dcterms:modified>
</cp:coreProperties>
</file>